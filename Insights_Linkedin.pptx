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4"/>
  </p:notesMasterIdLst>
  <p:sldIdLst>
    <p:sldId id="288" r:id="rId2"/>
    <p:sldId id="518" r:id="rId3"/>
    <p:sldId id="595" r:id="rId4"/>
    <p:sldId id="573" r:id="rId5"/>
    <p:sldId id="583" r:id="rId6"/>
    <p:sldId id="496" r:id="rId7"/>
    <p:sldId id="580" r:id="rId8"/>
    <p:sldId id="509" r:id="rId9"/>
    <p:sldId id="557" r:id="rId10"/>
    <p:sldId id="565" r:id="rId11"/>
    <p:sldId id="536" r:id="rId12"/>
    <p:sldId id="485" r:id="rId13"/>
    <p:sldId id="483" r:id="rId14"/>
    <p:sldId id="495" r:id="rId15"/>
    <p:sldId id="482" r:id="rId16"/>
    <p:sldId id="478" r:id="rId17"/>
    <p:sldId id="475" r:id="rId18"/>
    <p:sldId id="480" r:id="rId19"/>
    <p:sldId id="472" r:id="rId20"/>
    <p:sldId id="468" r:id="rId21"/>
    <p:sldId id="454" r:id="rId22"/>
    <p:sldId id="467" r:id="rId23"/>
    <p:sldId id="442" r:id="rId24"/>
    <p:sldId id="440" r:id="rId25"/>
    <p:sldId id="439" r:id="rId26"/>
    <p:sldId id="429" r:id="rId27"/>
    <p:sldId id="422" r:id="rId28"/>
    <p:sldId id="419" r:id="rId29"/>
    <p:sldId id="416" r:id="rId30"/>
    <p:sldId id="413" r:id="rId31"/>
    <p:sldId id="412" r:id="rId32"/>
    <p:sldId id="406" r:id="rId33"/>
    <p:sldId id="405" r:id="rId34"/>
    <p:sldId id="404" r:id="rId35"/>
    <p:sldId id="399" r:id="rId36"/>
    <p:sldId id="394" r:id="rId37"/>
    <p:sldId id="393" r:id="rId38"/>
    <p:sldId id="391" r:id="rId39"/>
    <p:sldId id="390" r:id="rId40"/>
    <p:sldId id="373" r:id="rId41"/>
    <p:sldId id="385" r:id="rId42"/>
    <p:sldId id="384" r:id="rId43"/>
    <p:sldId id="378" r:id="rId44"/>
    <p:sldId id="375" r:id="rId45"/>
    <p:sldId id="256" r:id="rId46"/>
    <p:sldId id="336" r:id="rId47"/>
    <p:sldId id="368" r:id="rId48"/>
    <p:sldId id="329" r:id="rId49"/>
    <p:sldId id="321" r:id="rId50"/>
    <p:sldId id="299" r:id="rId51"/>
    <p:sldId id="324" r:id="rId52"/>
    <p:sldId id="300" r:id="rId53"/>
    <p:sldId id="307" r:id="rId54"/>
    <p:sldId id="301" r:id="rId55"/>
    <p:sldId id="309" r:id="rId56"/>
    <p:sldId id="310" r:id="rId57"/>
    <p:sldId id="315" r:id="rId58"/>
    <p:sldId id="319" r:id="rId59"/>
    <p:sldId id="272" r:id="rId60"/>
    <p:sldId id="289" r:id="rId61"/>
    <p:sldId id="578" r:id="rId62"/>
    <p:sldId id="587" r:id="rId63"/>
    <p:sldId id="588" r:id="rId64"/>
    <p:sldId id="584" r:id="rId65"/>
    <p:sldId id="570" r:id="rId66"/>
    <p:sldId id="591" r:id="rId67"/>
    <p:sldId id="559" r:id="rId68"/>
    <p:sldId id="574" r:id="rId69"/>
    <p:sldId id="575" r:id="rId70"/>
    <p:sldId id="560" r:id="rId71"/>
    <p:sldId id="556" r:id="rId72"/>
    <p:sldId id="563" r:id="rId73"/>
    <p:sldId id="561" r:id="rId74"/>
    <p:sldId id="562" r:id="rId75"/>
    <p:sldId id="522" r:id="rId76"/>
    <p:sldId id="568" r:id="rId77"/>
    <p:sldId id="566" r:id="rId78"/>
    <p:sldId id="567" r:id="rId79"/>
    <p:sldId id="552" r:id="rId80"/>
    <p:sldId id="544" r:id="rId81"/>
    <p:sldId id="551" r:id="rId82"/>
    <p:sldId id="542" r:id="rId83"/>
    <p:sldId id="539" r:id="rId84"/>
    <p:sldId id="534" r:id="rId85"/>
    <p:sldId id="529" r:id="rId86"/>
    <p:sldId id="530" r:id="rId87"/>
    <p:sldId id="515" r:id="rId88"/>
    <p:sldId id="311" r:id="rId89"/>
    <p:sldId id="517" r:id="rId90"/>
    <p:sldId id="512" r:id="rId91"/>
    <p:sldId id="506" r:id="rId92"/>
    <p:sldId id="487" r:id="rId93"/>
    <p:sldId id="479" r:id="rId94"/>
    <p:sldId id="508" r:id="rId95"/>
    <p:sldId id="481" r:id="rId96"/>
    <p:sldId id="477" r:id="rId97"/>
    <p:sldId id="476" r:id="rId98"/>
    <p:sldId id="474" r:id="rId99"/>
    <p:sldId id="473" r:id="rId100"/>
    <p:sldId id="470" r:id="rId101"/>
    <p:sldId id="469" r:id="rId102"/>
    <p:sldId id="466" r:id="rId103"/>
    <p:sldId id="465" r:id="rId104"/>
    <p:sldId id="462" r:id="rId105"/>
    <p:sldId id="463" r:id="rId106"/>
    <p:sldId id="461" r:id="rId107"/>
    <p:sldId id="460" r:id="rId108"/>
    <p:sldId id="459" r:id="rId109"/>
    <p:sldId id="458" r:id="rId110"/>
    <p:sldId id="456" r:id="rId111"/>
    <p:sldId id="455" r:id="rId112"/>
    <p:sldId id="453" r:id="rId113"/>
    <p:sldId id="450" r:id="rId114"/>
    <p:sldId id="449" r:id="rId115"/>
    <p:sldId id="448" r:id="rId116"/>
    <p:sldId id="447" r:id="rId117"/>
    <p:sldId id="446" r:id="rId118"/>
    <p:sldId id="444" r:id="rId119"/>
    <p:sldId id="441" r:id="rId120"/>
    <p:sldId id="437" r:id="rId121"/>
    <p:sldId id="436" r:id="rId122"/>
    <p:sldId id="435" r:id="rId123"/>
    <p:sldId id="434" r:id="rId124"/>
    <p:sldId id="433" r:id="rId125"/>
    <p:sldId id="431" r:id="rId126"/>
    <p:sldId id="430" r:id="rId127"/>
    <p:sldId id="428" r:id="rId128"/>
    <p:sldId id="427" r:id="rId129"/>
    <p:sldId id="426" r:id="rId130"/>
    <p:sldId id="425" r:id="rId131"/>
    <p:sldId id="424" r:id="rId132"/>
    <p:sldId id="423" r:id="rId133"/>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C1DA39-2198-4131-AEF3-0D26FF1302BC}" v="283" dt="2026-04-24T12:57:17.8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67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notesMaster" Target="notesMasters/notesMaster1.xml"/><Relationship Id="rId139"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24T15:53:08.486"/>
    </inkml:context>
    <inkml:brush xml:id="br0">
      <inkml:brushProperty name="width" value="0.1" units="cm"/>
      <inkml:brushProperty name="height" value="0.1" units="cm"/>
    </inkml:brush>
  </inkml:definitions>
  <inkml:trace contextRef="#ctx0" brushRef="#br0">17764 6429 16383 0 0,'0'15'0'0'0,"0"12"0"0"0,0 9 0 0 0,0 5 0 0 0,0 11 0 0 0,0 4 0 0 0,0-1 0 0 0,0 6 0 0 0,0-1 0 0 0,0-3 0 0 0,0-4 0 0 0,0 4 0 0 0,0 0 0 0 0,0-3 0 0 0,0 4 0 0 0,0 0 0 0 0,0-3 0 0 0,0 4 0 0 0,0 6 0 0 0,0 8 0 0 0,0-2 0 0 0,0-6 0 0 0,0-6 0 0 0,0 9 0 0 0,0-7 0 0 0,0-7 0 0 0,0 2 0 0 0,0-1 0 0 0,0-2 0 0 0,0 4 0 0 0,0 0 0 0 0,0-3 0 0 0,0-3 0 0 0,0 5 0 0 0,0 0 0 0 0,0-2 0 0 0,0 4 0 0 0,0 0 0 0 0,0 12 0 0 0,0 1 0 0 0,0 4 0 0 0,0-4 0 0 0,0-7 0 0 0,0-6 0 0 0,0 1 0 0 0,0 5 0 0 0,0 7 0 0 0,0 13 0 0 0,0 0 0 0 0,0-8 0 0 0,0-8 0 0 0,0-2 0 0 0,0-5 0 0 0,0-5 0 0 0,0 3 0 0 0,0-2 0 0 0,0 12 0 0 0,0 1 0 0 0,0-4 0 0 0,0 10 0 0 0,0 5 0 0 0,0-3 0 0 0,0-7 0 0 0,0-2 0 0 0,0-4 0 0 0,0-7 0 0 0,0-5 0 0 0,0 2 0 0 0,0 0 0 0 0,0-2 0 0 0,0-3 0 0 0,0 4 0 0 0,0 1 0 0 0,0-1 0 0 0,0 4 0 0 0,0 7 0 0 0,0 8 0 0 0,0-2 0 0 0,0-6 0 0 0,0-6 0 0 0,0-6 0 0 0,0 3 0 0 0,0-1 0 0 0,0-2 0 0 0,0 4 0 0 0,0 0 0 0 0,0-2 0 0 0,0-4 0 0 0,0 5 0 0 0,0 15 0 0 0,0 2 0 0 0,0-4 0 0 0,0 9 0 0 0,0 6 0 0 0,0 10 0 0 0,0-3 0 0 0,0-10 0 0 0,0-12 0 0 0,0-2 0 0 0,0-5 0 0 0,0 8 0 0 0,0 0 0 0 0,0-4 0 0 0,0 0 0 0 0,0-2 0 0 0,0-6 0 0 0,0 10 0 0 0,0 7 0 0 0,0 0 0 0 0,0-7 0 0 0,0-7 0 0 0,0 0 0 0 0,0-2 0 0 0,0-4 0 0 0,0 3 0 0 0,0-1 0 0 0,0-2 0 0 0,0-4 0 0 0,0 4 0 0 0,0 8 0 0 0,0 0 0 0 0,0 5 0 0 0,0-3 0 0 0,0-5 0 0 0,0 3 0 0 0,0 12 0 0 0,0 1 0 0 0,0-6 0 0 0,0 8 0 0 0,0-2 0 0 0,0-7 0 0 0,0 8 0 0 0,0 4 0 0 0,0-4 0 0 0,0-7 0 0 0,0-1 0 0 0,0-5 0 0 0,0-6 0 0 0,0-6 0 0 0,0-4 0 0 0,0-3 0 0 0,0-2 0 0 0,0 0 0 0 0,0-1 0 0 0,0 7 0 0 0,0 3 0 0 0,0 0 0 0 0,0 6 0 0 0,0 0 0 0 0,0-2 0 0 0,0-4 0 0 0,0 5 0 0 0,0-1 0 0 0,0-2 0 0 0,0-3 0 0 0,0 5 0 0 0,0-1 0 0 0,0-1 0 0 0,0 4 0 0 0,0 0 0 0 0,0-3 0 0 0,0-3 0 0 0,0 4 0 0 0,0 0 0 0 0,0-2 0 0 0,0-10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24T17:43:06.919"/>
    </inkml:context>
    <inkml:brush xml:id="br0">
      <inkml:brushProperty name="width" value="0.1" units="cm"/>
      <inkml:brushProperty name="height" value="0.1" units="cm"/>
    </inkml:brush>
  </inkml:definitions>
  <inkml:trace contextRef="#ctx0" brushRef="#br0">14615 11116 16383 0 0,'0'-7'0'0'0,"0"5"0"0"0,0 9 0 0 0,0 12 0 0 0,0 17 0 0 0,0 3 0 0 0,0 1 0 0 0,0 2 0 0 0,0 1 0 0 0,0 7 0 0 0,0 4 0 0 0,0-1 0 0 0,0 5 0 0 0,0 1 0 0 0,0-3 0 0 0,0-3 0 0 0,0 3 0 0 0,0 0 0 0 0,0-2 0 0 0,0 5 0 0 0,0-1 0 0 0,0-3 0 0 0,0-3 0 0 0,0-4 0 0 0,0 6 0 0 0,0 0 0 0 0,0-1 0 0 0,0 4 0 0 0,0 1 0 0 0,0-3 0 0 0,0 4 0 0 0,0 0 0 0 0,0-3 0 0 0,0-4 0 0 0,0 4 0 0 0,0 0 0 0 0,0-3 0 0 0,0 5 0 0 0,0 22 0 0 0,0-3 0 0 0,0-7 0 0 0,0-1 0 0 0,0-4 0 0 0,0-7 0 0 0,0 2 0 0 0,0-1 0 0 0,0-5 0 0 0,0-3 0 0 0,0 4 0 0 0,0 0 0 0 0,0-9 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24T17:43:06.920"/>
    </inkml:context>
    <inkml:brush xml:id="br0">
      <inkml:brushProperty name="width" value="0.1" units="cm"/>
      <inkml:brushProperty name="height" value="0.1" units="cm"/>
    </inkml:brush>
  </inkml:definitions>
  <inkml:trace contextRef="#ctx0" brushRef="#br0">14817 10970 16383 0 0,'0'0'0'0'0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24T17:43:06.921"/>
    </inkml:context>
    <inkml:brush xml:id="br0">
      <inkml:brushProperty name="width" value="0.1" units="cm"/>
      <inkml:brushProperty name="height" value="0.1" units="cm"/>
    </inkml:brush>
  </inkml:definitions>
  <inkml:trace contextRef="#ctx0" brushRef="#br0">14817 10970 16383 0 0,'0'0'0'0'0,"14"0"0"0"0,13 0 0 0 0,9 0 0 0 0,5 0 0 0 0,11 0 0 0 0,4 0 0 0 0,0 0 0 0 0,-3 0 0 0 0,5 0 0 0 0,-1 0 0 0 0,-2 0 0 0 0,4 0 0 0 0,14 0 0 0 0,2 0 0 0 0,-4 0 0 0 0,0 0 0 0 0,-5 0 0 0 0,-5 0 0 0 0,-7 0 0 0 0,3 0 0 0 0,-1 0 0 0 0,11 0 0 0 0,17 0 0 0 0,17 0 0 0 0,12 0 0 0 0,9 0 0 0 0,7 0 0 0 0,2 0 0 0 0,2 0 0 0 0,-15 0 0 0 0,-13 0 0 0 0,-9 0 0 0 0,-6 0 0 0 0,-12 0 0 0 0,4 0 0 0 0,9 0 0 0 0,12 0 0 0 0,10 0 0 0 0,8 0 0 0 0,12 0 0 0 0,-1 0 0 0 0,-1 0 0 0 0,6 0 0 0 0,3 0 0 0 0,-2 0 0 0 0,-1 0 0 0 0,-17 0 0 0 0,-22 0 0 0 0,-19 0 0 0 0,-10 0 0 0 0,-8 0 0 0 0,7 0 0 0 0,29 0 0 0 0,13 0 0 0 0,1 0 0 0 0,5 0 0 0 0,5 0 0 0 0,-4 0 0 0 0,-15 0 0 0 0,-16 0 0 0 0,-17 0 0 0 0,-4 0 0 0 0,-7 0 0 0 0,-5 0 0 0 0,10 0 0 0 0,9 0 0 0 0,14 0 0 0 0,15 0 0 0 0,-3 0 0 0 0,-10 0 0 0 0,-6 0 0 0 0,-2 0 0 0 0,8 0 0 0 0,3 0 0 0 0,-6 0 0 0 0,4 0 0 0 0,-6 0 0 0 0,-9 0 0 0 0,-3 0 0 0 0,-6 0 0 0 0,8 0 0 0 0,-1 0 0 0 0,9 0 0 0 0,13 0 0 0 0,5 0 0 0 0,8 0 0 0 0,8 0 0 0 0,-9 0 0 0 0,0 0 0 0 0,-10 0 0 0 0,0 0 0 0 0,-9 0 0 0 0,-5 0 0 0 0,-8 0 0 0 0,-10 0 0 0 0,6 0 0 0 0,14 0 0 0 0,14 0 0 0 0,12 0 0 0 0,18 0 0 0 0,1 0 0 0 0,1 0 0 0 0,0 0 0 0 0,0 0 0 0 0,0 0 0 0 0,-7 0 0 0 0,-18 0 0 0 0,-4 0 0 0 0,-12 0 0 0 0,1 0 0 0 0,-8 0 0 0 0,-3 0 0 0 0,8 0 0 0 0,-5 0 0 0 0,-8 0 0 0 0,5 0 0 0 0,-3 0 0 0 0,7 0 0 0 0,11 0 0 0 0,5 0 0 0 0,-7 0 0 0 0,-12 0 0 0 0,2 0 0 0 0,3 0 0 0 0,-7 0 0 0 0,6 0 0 0 0,25 0 0 0 0,17 0 0 0 0,22 0 0 0 0,24 0 0 0 0,27 0 0 0 0,15 0 0 0 0,17 0 0 0 0,-10 0 0 0 0,-21 0 0 0 0,-36 0 0 0 0,-39 0 0 0 0,-33 0 0 0 0,-25 0 0 0 0,-17 0 0 0 0,-2 0 0 0 0,5 0 0 0 0,2 0 0 0 0,-2 0 0 0 0,13 0 0 0 0,1 0 0 0 0,5 0 0 0 0,12 0 0 0 0,0 0 0 0 0,6 0 0 0 0,-4 0 0 0 0,-9 0 0 0 0,-3 0 0 0 0,-8 0 0 0 0,-13 0 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24T17:43:06.922"/>
    </inkml:context>
    <inkml:brush xml:id="br0">
      <inkml:brushProperty name="width" value="0.1" units="cm"/>
      <inkml:brushProperty name="height" value="0.1" units="cm"/>
    </inkml:brush>
  </inkml:definitions>
  <inkml:trace contextRef="#ctx0" brushRef="#br0">14605 10970 16383 0 0,'7'0'0'0'0,"18"0"0"0"0,11 0 0 0 0,7 0 0 0 0,11 0 0 0 0,4 0 0 0 0,-8 0 0 0 0,-6 0 0 0 0,-2 0 0 0 0,6 0 0 0 0,2 0 0 0 0,0 0 0 0 0,-1 0 0 0 0,-1 0 0 0 0,-2 0 0 0 0,-2 0 0 0 0,-14 0 0 0 0,-21 0 0 0 0,-19 0 0 0 0,-15 0 0 0 0,-26 0 0 0 0,-10 0 0 0 0,-4 0 0 0 0,3 0 0 0 0,12 0 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24T17:43:06.923"/>
    </inkml:context>
    <inkml:brush xml:id="br0">
      <inkml:brushProperty name="width" value="0.1" units="cm"/>
      <inkml:brushProperty name="height" value="0.1" units="cm"/>
    </inkml:brush>
  </inkml:definitions>
  <inkml:trace contextRef="#ctx0" brushRef="#br0">14552 10970 16383 0 0,'0'0'0'0'0,"7"0"0"0"0,11 0 0 0 0,1 0 0 0 0,5 0 0 0 0,6 0 0 0 0,-3 0 0 0 0,-5 0 0 0 0,-6 0 0 0 0,-7 0 0 0 0,-4 0 0 0 0,-3 0 0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24T17:43:06.924"/>
    </inkml:context>
    <inkml:brush xml:id="br0">
      <inkml:brushProperty name="width" value="0.1" units="cm"/>
      <inkml:brushProperty name="height" value="0.1" units="cm"/>
    </inkml:brush>
  </inkml:definitions>
  <inkml:trace contextRef="#ctx0" brushRef="#br0">5133 2884 16383 0 0,'0'0'0'0'0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24T15:53:18.611"/>
    </inkml:context>
    <inkml:brush xml:id="br0">
      <inkml:brushProperty name="width" value="0.1" units="cm"/>
      <inkml:brushProperty name="height" value="0.1" units="cm"/>
    </inkml:brush>
  </inkml:definitions>
  <inkml:trace contextRef="#ctx0" brushRef="#br0">16821 8467 16383 0 0,'0'0'0'0'0,"0"7"0"0"0,0 10 0 0 0,0 10 0 0 0,0 14 0 0 0,0 8 0 0 0,0 3 0 0 0,0 7 0 0 0,0 16 0 0 0,0 2 0 0 0,0-4 0 0 0,0-8 0 0 0,0-14 0 0 0,0-9 0 0 0,0 3 0 0 0,0 16 0 0 0,0 5 0 0 0,0-1 0 0 0,0 3 0 0 0,0-3 0 0 0,0-6 0 0 0,0-4 0 0 0,0 2 0 0 0,0 0 0 0 0,0-4 0 0 0,0-2 0 0 0,0 3 0 0 0,0 2 0 0 0,0-3 0 0 0,0 5 0 0 0,0 0 0 0 0,0-3 0 0 0,0-3 0 0 0,0 4 0 0 0,0 0 0 0 0,0-2 0 0 0,0 4 0 0 0,0 0 0 0 0,0-3 0 0 0,0-3 0 0 0,0 4 0 0 0,0 0 0 0 0,0-2 0 0 0,0 4 0 0 0,0 0 0 0 0,0-3 0 0 0,0-3 0 0 0,0 4 0 0 0,0 0 0 0 0,0-3 0 0 0,0-2 0 0 0,0 5 0 0 0,0-1 0 0 0,0-1 0 0 0,0 4 0 0 0,0 0 0 0 0,0-3 0 0 0,0-3 0 0 0,0 5 0 0 0,0-2 0 0 0,0-1 0 0 0,0 4 0 0 0,0 0 0 0 0,0-2 0 0 0,0-5 0 0 0,0 5 0 0 0,0 0 0 0 0,0-2 0 0 0,0-3 0 0 0,0 12 0 0 0,0 2 0 0 0,0 5 0 0 0,0-1 0 0 0,0-7 0 0 0,0 10 0 0 0,0-1 0 0 0,0 10 0 0 0,0-9 0 0 0,0-10 0 0 0,0 0 0 0 0,0-3 0 0 0,0-5 0 0 0,0 3 0 0 0,0 0 0 0 0,0-3 0 0 0,0 4 0 0 0,0 0 0 0 0,0-3 0 0 0,0-4 0 0 0,0 5 0 0 0,0 0 0 0 0,0-2 0 0 0,0 4 0 0 0,0 0 0 0 0,0-3 0 0 0,0-3 0 0 0,0 4 0 0 0,0 0 0 0 0,0-2 0 0 0,0 4 0 0 0,0 0 0 0 0,0-3 0 0 0,0-3 0 0 0,0 4 0 0 0,0 0 0 0 0,0-3 0 0 0,0 5 0 0 0,0 0 0 0 0,0-2 0 0 0,0-5 0 0 0,0 5 0 0 0,0 0 0 0 0,0-2 0 0 0,0-3 0 0 0,0 4 0 0 0,0 1 0 0 0,0-2 0 0 0,0 4 0 0 0,0 0 0 0 0,0-3 0 0 0,0-3 0 0 0,0 4 0 0 0,0-7 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6C771F-C82B-4B14-A1BA-98F1CDBB6832}" type="datetimeFigureOut">
              <a:rPr lang="pt-BR" smtClean="0"/>
              <a:t>27/04/2026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245F1B-C8D9-4CCE-B83F-A8EF4F7729E3}" type="slidenum">
              <a:rPr lang="pt-BR" smtClean="0"/>
              <a:t>‹nº›</a:t>
            </a:fld>
            <a:endParaRPr lang="pt-BR"/>
          </a:p>
        </p:txBody>
      </p:sp>
    </p:spTree>
    <p:extLst>
      <p:ext uri="{BB962C8B-B14F-4D97-AF65-F5344CB8AC3E}">
        <p14:creationId xmlns:p14="http://schemas.microsoft.com/office/powerpoint/2010/main" val="308676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ECA3459-D6B0-4CC5-8DA4-2E6BE1F6BC5F}"/>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2FD39B99-1B89-421D-9C1B-EF2113FABD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91991674-B7CC-4659-B369-258180CD6B6D}"/>
              </a:ext>
            </a:extLst>
          </p:cNvPr>
          <p:cNvSpPr>
            <a:spLocks noGrp="1"/>
          </p:cNvSpPr>
          <p:nvPr>
            <p:ph type="dt" sz="half" idx="10"/>
          </p:nvPr>
        </p:nvSpPr>
        <p:spPr/>
        <p:txBody>
          <a:bodyPr/>
          <a:lstStyle/>
          <a:p>
            <a:fld id="{44AD02AC-F81E-4210-AFE1-B9936EFE145E}" type="datetime1">
              <a:rPr lang="pt-BR" smtClean="0"/>
              <a:t>27/04/2026</a:t>
            </a:fld>
            <a:endParaRPr lang="pt-BR"/>
          </a:p>
        </p:txBody>
      </p:sp>
      <p:sp>
        <p:nvSpPr>
          <p:cNvPr id="5" name="Espaço Reservado para Rodapé 4">
            <a:extLst>
              <a:ext uri="{FF2B5EF4-FFF2-40B4-BE49-F238E27FC236}">
                <a16:creationId xmlns:a16="http://schemas.microsoft.com/office/drawing/2014/main" id="{86DF92C7-5116-4F0B-93BA-5F755D09CD4E}"/>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2E4C63EB-5D86-442C-856A-78A8FB22E2DB}"/>
              </a:ext>
            </a:extLst>
          </p:cNvPr>
          <p:cNvSpPr>
            <a:spLocks noGrp="1"/>
          </p:cNvSpPr>
          <p:nvPr>
            <p:ph type="sldNum" sz="quarter" idx="12"/>
          </p:nvPr>
        </p:nvSpPr>
        <p:spPr/>
        <p:txBody>
          <a:bodyPr/>
          <a:lstStyle/>
          <a:p>
            <a:fld id="{43EF2F8B-375C-4C95-AD1F-E7AE87E0EC47}" type="slidenum">
              <a:rPr lang="pt-BR" smtClean="0"/>
              <a:t>‹nº›</a:t>
            </a:fld>
            <a:endParaRPr lang="pt-BR"/>
          </a:p>
        </p:txBody>
      </p:sp>
    </p:spTree>
    <p:extLst>
      <p:ext uri="{BB962C8B-B14F-4D97-AF65-F5344CB8AC3E}">
        <p14:creationId xmlns:p14="http://schemas.microsoft.com/office/powerpoint/2010/main" val="39388258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7A7FA0-904D-416E-8A9B-C80A814D74B2}"/>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DC6049FE-9E60-41F5-AD97-102EEAD8C90A}"/>
              </a:ext>
            </a:extLst>
          </p:cNvPr>
          <p:cNvSpPr>
            <a:spLocks noGrp="1"/>
          </p:cNvSpPr>
          <p:nvPr>
            <p:ph idx="1"/>
          </p:nvPr>
        </p:nvSpPr>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C4F4F3B5-9B8D-4A2E-BE0C-569799765388}"/>
              </a:ext>
            </a:extLst>
          </p:cNvPr>
          <p:cNvSpPr>
            <a:spLocks noGrp="1"/>
          </p:cNvSpPr>
          <p:nvPr>
            <p:ph type="dt" sz="half" idx="10"/>
          </p:nvPr>
        </p:nvSpPr>
        <p:spPr/>
        <p:txBody>
          <a:bodyPr/>
          <a:lstStyle/>
          <a:p>
            <a:fld id="{F27B9D81-A5B9-48AA-BA34-F10023D3A73C}" type="datetime1">
              <a:rPr lang="pt-BR" smtClean="0"/>
              <a:t>27/04/2026</a:t>
            </a:fld>
            <a:endParaRPr lang="pt-BR"/>
          </a:p>
        </p:txBody>
      </p:sp>
      <p:sp>
        <p:nvSpPr>
          <p:cNvPr id="5" name="Espaço Reservado para Rodapé 4">
            <a:extLst>
              <a:ext uri="{FF2B5EF4-FFF2-40B4-BE49-F238E27FC236}">
                <a16:creationId xmlns:a16="http://schemas.microsoft.com/office/drawing/2014/main" id="{35B233A0-59A9-4CD7-BDA6-516F52CA58DD}"/>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1BEB6804-C90F-43EC-826B-631863EB1452}"/>
              </a:ext>
            </a:extLst>
          </p:cNvPr>
          <p:cNvSpPr>
            <a:spLocks noGrp="1"/>
          </p:cNvSpPr>
          <p:nvPr>
            <p:ph type="sldNum" sz="quarter" idx="12"/>
          </p:nvPr>
        </p:nvSpPr>
        <p:spPr/>
        <p:txBody>
          <a:bodyPr/>
          <a:lstStyle/>
          <a:p>
            <a:fld id="{43EF2F8B-375C-4C95-AD1F-E7AE87E0EC47}" type="slidenum">
              <a:rPr lang="pt-BR" smtClean="0"/>
              <a:t>‹nº›</a:t>
            </a:fld>
            <a:endParaRPr lang="pt-BR"/>
          </a:p>
        </p:txBody>
      </p:sp>
    </p:spTree>
    <p:extLst>
      <p:ext uri="{BB962C8B-B14F-4D97-AF65-F5344CB8AC3E}">
        <p14:creationId xmlns:p14="http://schemas.microsoft.com/office/powerpoint/2010/main" val="17814497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422292-6BBB-43E5-8281-5EB859C98245}"/>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1314E4AB-3F3D-48C8-BF1C-558A03403E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Editar estilos de texto Mestre</a:t>
            </a:r>
          </a:p>
        </p:txBody>
      </p:sp>
      <p:sp>
        <p:nvSpPr>
          <p:cNvPr id="4" name="Espaço Reservado para Data 3">
            <a:extLst>
              <a:ext uri="{FF2B5EF4-FFF2-40B4-BE49-F238E27FC236}">
                <a16:creationId xmlns:a16="http://schemas.microsoft.com/office/drawing/2014/main" id="{5D93B940-F8E3-4E11-809E-3D3FDAC66EA8}"/>
              </a:ext>
            </a:extLst>
          </p:cNvPr>
          <p:cNvSpPr>
            <a:spLocks noGrp="1"/>
          </p:cNvSpPr>
          <p:nvPr>
            <p:ph type="dt" sz="half" idx="10"/>
          </p:nvPr>
        </p:nvSpPr>
        <p:spPr/>
        <p:txBody>
          <a:bodyPr/>
          <a:lstStyle/>
          <a:p>
            <a:fld id="{BA0339D9-37EB-46B2-82C4-2F7B6246D7BE}" type="datetime1">
              <a:rPr lang="pt-BR" smtClean="0"/>
              <a:t>27/04/2026</a:t>
            </a:fld>
            <a:endParaRPr lang="pt-BR"/>
          </a:p>
        </p:txBody>
      </p:sp>
      <p:sp>
        <p:nvSpPr>
          <p:cNvPr id="5" name="Espaço Reservado para Rodapé 4">
            <a:extLst>
              <a:ext uri="{FF2B5EF4-FFF2-40B4-BE49-F238E27FC236}">
                <a16:creationId xmlns:a16="http://schemas.microsoft.com/office/drawing/2014/main" id="{2EB71CE7-DAE9-4B3F-964A-1D1FC7DCA1D5}"/>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C2572C53-3AAD-441B-A5C1-5815A23DE1B2}"/>
              </a:ext>
            </a:extLst>
          </p:cNvPr>
          <p:cNvSpPr>
            <a:spLocks noGrp="1"/>
          </p:cNvSpPr>
          <p:nvPr>
            <p:ph type="sldNum" sz="quarter" idx="12"/>
          </p:nvPr>
        </p:nvSpPr>
        <p:spPr/>
        <p:txBody>
          <a:bodyPr/>
          <a:lstStyle/>
          <a:p>
            <a:fld id="{43EF2F8B-375C-4C95-AD1F-E7AE87E0EC47}" type="slidenum">
              <a:rPr lang="pt-BR" smtClean="0"/>
              <a:t>‹nº›</a:t>
            </a:fld>
            <a:endParaRPr lang="pt-BR"/>
          </a:p>
        </p:txBody>
      </p:sp>
    </p:spTree>
    <p:extLst>
      <p:ext uri="{BB962C8B-B14F-4D97-AF65-F5344CB8AC3E}">
        <p14:creationId xmlns:p14="http://schemas.microsoft.com/office/powerpoint/2010/main" val="3162719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D77CBC-C718-4081-AC8D-8CB395FD51BF}"/>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DCA4984E-A2E9-4B6E-817F-216EA5D616E6}"/>
              </a:ext>
            </a:extLst>
          </p:cNvPr>
          <p:cNvSpPr>
            <a:spLocks noGrp="1"/>
          </p:cNvSpPr>
          <p:nvPr>
            <p:ph sz="half" idx="1"/>
          </p:nvPr>
        </p:nvSpPr>
        <p:spPr>
          <a:xfrm>
            <a:off x="838200" y="1825625"/>
            <a:ext cx="51816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437AD6AD-4DE6-4A24-AFFC-1AE0C16CEF08}"/>
              </a:ext>
            </a:extLst>
          </p:cNvPr>
          <p:cNvSpPr>
            <a:spLocks noGrp="1"/>
          </p:cNvSpPr>
          <p:nvPr>
            <p:ph sz="half" idx="2"/>
          </p:nvPr>
        </p:nvSpPr>
        <p:spPr>
          <a:xfrm>
            <a:off x="6172200" y="1825625"/>
            <a:ext cx="51816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6DFCB383-0367-4C5F-8F07-63295F9436E7}"/>
              </a:ext>
            </a:extLst>
          </p:cNvPr>
          <p:cNvSpPr>
            <a:spLocks noGrp="1"/>
          </p:cNvSpPr>
          <p:nvPr>
            <p:ph type="dt" sz="half" idx="10"/>
          </p:nvPr>
        </p:nvSpPr>
        <p:spPr/>
        <p:txBody>
          <a:bodyPr/>
          <a:lstStyle/>
          <a:p>
            <a:fld id="{6C46B53E-34C9-42AA-8768-BA9CC402317E}" type="datetime1">
              <a:rPr lang="pt-BR" smtClean="0"/>
              <a:t>27/04/2026</a:t>
            </a:fld>
            <a:endParaRPr lang="pt-BR"/>
          </a:p>
        </p:txBody>
      </p:sp>
      <p:sp>
        <p:nvSpPr>
          <p:cNvPr id="6" name="Espaço Reservado para Rodapé 5">
            <a:extLst>
              <a:ext uri="{FF2B5EF4-FFF2-40B4-BE49-F238E27FC236}">
                <a16:creationId xmlns:a16="http://schemas.microsoft.com/office/drawing/2014/main" id="{1AA6A88F-5B98-4B0F-9231-DE2DD4C2F320}"/>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72AE3CBF-D333-4C9A-9FD3-5A96EF6D9A65}"/>
              </a:ext>
            </a:extLst>
          </p:cNvPr>
          <p:cNvSpPr>
            <a:spLocks noGrp="1"/>
          </p:cNvSpPr>
          <p:nvPr>
            <p:ph type="sldNum" sz="quarter" idx="12"/>
          </p:nvPr>
        </p:nvSpPr>
        <p:spPr/>
        <p:txBody>
          <a:bodyPr/>
          <a:lstStyle/>
          <a:p>
            <a:fld id="{43EF2F8B-375C-4C95-AD1F-E7AE87E0EC47}" type="slidenum">
              <a:rPr lang="pt-BR" smtClean="0"/>
              <a:t>‹nº›</a:t>
            </a:fld>
            <a:endParaRPr lang="pt-BR"/>
          </a:p>
        </p:txBody>
      </p:sp>
    </p:spTree>
    <p:extLst>
      <p:ext uri="{BB962C8B-B14F-4D97-AF65-F5344CB8AC3E}">
        <p14:creationId xmlns:p14="http://schemas.microsoft.com/office/powerpoint/2010/main" val="175773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012A49-56E5-444B-8CC2-FE8463F0E1B5}"/>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7D7F56C5-7326-420F-9B05-2550C89B7F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4" name="Espaço Reservado para Conteúdo 3">
            <a:extLst>
              <a:ext uri="{FF2B5EF4-FFF2-40B4-BE49-F238E27FC236}">
                <a16:creationId xmlns:a16="http://schemas.microsoft.com/office/drawing/2014/main" id="{5508B474-8418-42CF-9725-127A086AD688}"/>
              </a:ext>
            </a:extLst>
          </p:cNvPr>
          <p:cNvSpPr>
            <a:spLocks noGrp="1"/>
          </p:cNvSpPr>
          <p:nvPr>
            <p:ph sz="half" idx="2"/>
          </p:nvPr>
        </p:nvSpPr>
        <p:spPr>
          <a:xfrm>
            <a:off x="839788" y="2505075"/>
            <a:ext cx="5157787"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5921572D-FCE3-48E7-A8AE-80E65FF6F8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6" name="Espaço Reservado para Conteúdo 5">
            <a:extLst>
              <a:ext uri="{FF2B5EF4-FFF2-40B4-BE49-F238E27FC236}">
                <a16:creationId xmlns:a16="http://schemas.microsoft.com/office/drawing/2014/main" id="{828CE401-FB59-4405-B169-6CCEECD87FB7}"/>
              </a:ext>
            </a:extLst>
          </p:cNvPr>
          <p:cNvSpPr>
            <a:spLocks noGrp="1"/>
          </p:cNvSpPr>
          <p:nvPr>
            <p:ph sz="quarter" idx="4"/>
          </p:nvPr>
        </p:nvSpPr>
        <p:spPr>
          <a:xfrm>
            <a:off x="6172200" y="2505075"/>
            <a:ext cx="5183188"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EF0E710F-3D51-4CD9-9758-ACC47DFD9A98}"/>
              </a:ext>
            </a:extLst>
          </p:cNvPr>
          <p:cNvSpPr>
            <a:spLocks noGrp="1"/>
          </p:cNvSpPr>
          <p:nvPr>
            <p:ph type="dt" sz="half" idx="10"/>
          </p:nvPr>
        </p:nvSpPr>
        <p:spPr/>
        <p:txBody>
          <a:bodyPr/>
          <a:lstStyle/>
          <a:p>
            <a:fld id="{E547DC04-7496-4314-B934-0C3982A253B0}" type="datetime1">
              <a:rPr lang="pt-BR" smtClean="0"/>
              <a:t>27/04/2026</a:t>
            </a:fld>
            <a:endParaRPr lang="pt-BR"/>
          </a:p>
        </p:txBody>
      </p:sp>
      <p:sp>
        <p:nvSpPr>
          <p:cNvPr id="8" name="Espaço Reservado para Rodapé 7">
            <a:extLst>
              <a:ext uri="{FF2B5EF4-FFF2-40B4-BE49-F238E27FC236}">
                <a16:creationId xmlns:a16="http://schemas.microsoft.com/office/drawing/2014/main" id="{F27BD37C-C397-466F-9616-CB8B0CB0038F}"/>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14A20611-3C81-45D4-931B-D13373872E5E}"/>
              </a:ext>
            </a:extLst>
          </p:cNvPr>
          <p:cNvSpPr>
            <a:spLocks noGrp="1"/>
          </p:cNvSpPr>
          <p:nvPr>
            <p:ph type="sldNum" sz="quarter" idx="12"/>
          </p:nvPr>
        </p:nvSpPr>
        <p:spPr/>
        <p:txBody>
          <a:bodyPr/>
          <a:lstStyle/>
          <a:p>
            <a:fld id="{43EF2F8B-375C-4C95-AD1F-E7AE87E0EC47}" type="slidenum">
              <a:rPr lang="pt-BR" smtClean="0"/>
              <a:t>‹nº›</a:t>
            </a:fld>
            <a:endParaRPr lang="pt-BR"/>
          </a:p>
        </p:txBody>
      </p:sp>
    </p:spTree>
    <p:extLst>
      <p:ext uri="{BB962C8B-B14F-4D97-AF65-F5344CB8AC3E}">
        <p14:creationId xmlns:p14="http://schemas.microsoft.com/office/powerpoint/2010/main" val="21315235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EA912F-00BD-4C29-9443-FB2F68ADA424}"/>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D8188C26-EEA5-4D8B-8BFD-4ACA89275097}"/>
              </a:ext>
            </a:extLst>
          </p:cNvPr>
          <p:cNvSpPr>
            <a:spLocks noGrp="1"/>
          </p:cNvSpPr>
          <p:nvPr>
            <p:ph type="dt" sz="half" idx="10"/>
          </p:nvPr>
        </p:nvSpPr>
        <p:spPr/>
        <p:txBody>
          <a:bodyPr/>
          <a:lstStyle/>
          <a:p>
            <a:fld id="{A2534BF2-1C9E-45CE-8170-1B6BBCC63A1A}" type="datetime1">
              <a:rPr lang="pt-BR" smtClean="0"/>
              <a:t>27/04/2026</a:t>
            </a:fld>
            <a:endParaRPr lang="pt-BR"/>
          </a:p>
        </p:txBody>
      </p:sp>
      <p:sp>
        <p:nvSpPr>
          <p:cNvPr id="4" name="Espaço Reservado para Rodapé 3">
            <a:extLst>
              <a:ext uri="{FF2B5EF4-FFF2-40B4-BE49-F238E27FC236}">
                <a16:creationId xmlns:a16="http://schemas.microsoft.com/office/drawing/2014/main" id="{3DCD607B-ABE3-4979-85F7-8D4CA111B090}"/>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225AA243-84FE-4C55-94A8-198BDE0087AB}"/>
              </a:ext>
            </a:extLst>
          </p:cNvPr>
          <p:cNvSpPr>
            <a:spLocks noGrp="1"/>
          </p:cNvSpPr>
          <p:nvPr>
            <p:ph type="sldNum" sz="quarter" idx="12"/>
          </p:nvPr>
        </p:nvSpPr>
        <p:spPr/>
        <p:txBody>
          <a:bodyPr/>
          <a:lstStyle/>
          <a:p>
            <a:fld id="{43EF2F8B-375C-4C95-AD1F-E7AE87E0EC47}" type="slidenum">
              <a:rPr lang="pt-BR" smtClean="0"/>
              <a:t>‹nº›</a:t>
            </a:fld>
            <a:endParaRPr lang="pt-BR"/>
          </a:p>
        </p:txBody>
      </p:sp>
    </p:spTree>
    <p:extLst>
      <p:ext uri="{BB962C8B-B14F-4D97-AF65-F5344CB8AC3E}">
        <p14:creationId xmlns:p14="http://schemas.microsoft.com/office/powerpoint/2010/main" val="20267504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828F792B-9EA6-442D-91BC-6F0610DA7364}"/>
              </a:ext>
            </a:extLst>
          </p:cNvPr>
          <p:cNvSpPr>
            <a:spLocks noGrp="1"/>
          </p:cNvSpPr>
          <p:nvPr>
            <p:ph type="dt" sz="half" idx="10"/>
          </p:nvPr>
        </p:nvSpPr>
        <p:spPr/>
        <p:txBody>
          <a:bodyPr/>
          <a:lstStyle/>
          <a:p>
            <a:fld id="{5320B356-17B0-4D37-A2FF-BB6B40E3DD86}" type="datetime1">
              <a:rPr lang="pt-BR" smtClean="0"/>
              <a:t>27/04/2026</a:t>
            </a:fld>
            <a:endParaRPr lang="pt-BR"/>
          </a:p>
        </p:txBody>
      </p:sp>
      <p:sp>
        <p:nvSpPr>
          <p:cNvPr id="3" name="Espaço Reservado para Rodapé 2">
            <a:extLst>
              <a:ext uri="{FF2B5EF4-FFF2-40B4-BE49-F238E27FC236}">
                <a16:creationId xmlns:a16="http://schemas.microsoft.com/office/drawing/2014/main" id="{9323618B-3191-4E30-9DB4-161DC04BE713}"/>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02FB1A0D-4036-4CAE-8AF0-41BFC40DB89A}"/>
              </a:ext>
            </a:extLst>
          </p:cNvPr>
          <p:cNvSpPr>
            <a:spLocks noGrp="1"/>
          </p:cNvSpPr>
          <p:nvPr>
            <p:ph type="sldNum" sz="quarter" idx="12"/>
          </p:nvPr>
        </p:nvSpPr>
        <p:spPr/>
        <p:txBody>
          <a:bodyPr/>
          <a:lstStyle/>
          <a:p>
            <a:fld id="{43EF2F8B-375C-4C95-AD1F-E7AE87E0EC47}" type="slidenum">
              <a:rPr lang="pt-BR" smtClean="0"/>
              <a:t>‹nº›</a:t>
            </a:fld>
            <a:endParaRPr lang="pt-BR"/>
          </a:p>
        </p:txBody>
      </p:sp>
    </p:spTree>
    <p:extLst>
      <p:ext uri="{BB962C8B-B14F-4D97-AF65-F5344CB8AC3E}">
        <p14:creationId xmlns:p14="http://schemas.microsoft.com/office/powerpoint/2010/main" val="3836786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DBD67F2-BDF7-4A94-9DE6-2E89378FD567}"/>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5339D884-8D75-45E9-8B85-2EDB64525F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F5978A88-7217-4DF1-B535-D688BFCC06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a:extLst>
              <a:ext uri="{FF2B5EF4-FFF2-40B4-BE49-F238E27FC236}">
                <a16:creationId xmlns:a16="http://schemas.microsoft.com/office/drawing/2014/main" id="{CD3CA469-8B24-4798-B852-EA73C591FCCB}"/>
              </a:ext>
            </a:extLst>
          </p:cNvPr>
          <p:cNvSpPr>
            <a:spLocks noGrp="1"/>
          </p:cNvSpPr>
          <p:nvPr>
            <p:ph type="dt" sz="half" idx="10"/>
          </p:nvPr>
        </p:nvSpPr>
        <p:spPr/>
        <p:txBody>
          <a:bodyPr/>
          <a:lstStyle/>
          <a:p>
            <a:fld id="{EE3300FF-D96B-4451-B9AA-AD758F468C7F}" type="datetime1">
              <a:rPr lang="pt-BR" smtClean="0"/>
              <a:t>27/04/2026</a:t>
            </a:fld>
            <a:endParaRPr lang="pt-BR"/>
          </a:p>
        </p:txBody>
      </p:sp>
      <p:sp>
        <p:nvSpPr>
          <p:cNvPr id="6" name="Espaço Reservado para Rodapé 5">
            <a:extLst>
              <a:ext uri="{FF2B5EF4-FFF2-40B4-BE49-F238E27FC236}">
                <a16:creationId xmlns:a16="http://schemas.microsoft.com/office/drawing/2014/main" id="{F8304951-CF01-477D-B792-D4B0A9E27940}"/>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2B9938BE-0C08-4E91-A1FC-5CAC50CEF18C}"/>
              </a:ext>
            </a:extLst>
          </p:cNvPr>
          <p:cNvSpPr>
            <a:spLocks noGrp="1"/>
          </p:cNvSpPr>
          <p:nvPr>
            <p:ph type="sldNum" sz="quarter" idx="12"/>
          </p:nvPr>
        </p:nvSpPr>
        <p:spPr/>
        <p:txBody>
          <a:bodyPr/>
          <a:lstStyle/>
          <a:p>
            <a:fld id="{43EF2F8B-375C-4C95-AD1F-E7AE87E0EC47}" type="slidenum">
              <a:rPr lang="pt-BR" smtClean="0"/>
              <a:t>‹nº›</a:t>
            </a:fld>
            <a:endParaRPr lang="pt-BR"/>
          </a:p>
        </p:txBody>
      </p:sp>
    </p:spTree>
    <p:extLst>
      <p:ext uri="{BB962C8B-B14F-4D97-AF65-F5344CB8AC3E}">
        <p14:creationId xmlns:p14="http://schemas.microsoft.com/office/powerpoint/2010/main" val="14434737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0D29ED-E672-464A-8971-276F44F0212A}"/>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EE0D0A0A-D428-4CED-91A0-1F74988FB6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48125932-2AD3-474F-8DCA-61498FDA1C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a:extLst>
              <a:ext uri="{FF2B5EF4-FFF2-40B4-BE49-F238E27FC236}">
                <a16:creationId xmlns:a16="http://schemas.microsoft.com/office/drawing/2014/main" id="{44A7A28B-6D53-4352-9023-4DB0DCABA81D}"/>
              </a:ext>
            </a:extLst>
          </p:cNvPr>
          <p:cNvSpPr>
            <a:spLocks noGrp="1"/>
          </p:cNvSpPr>
          <p:nvPr>
            <p:ph type="dt" sz="half" idx="10"/>
          </p:nvPr>
        </p:nvSpPr>
        <p:spPr/>
        <p:txBody>
          <a:bodyPr/>
          <a:lstStyle/>
          <a:p>
            <a:fld id="{AD5E84DC-BF0F-4F17-A065-A848C2F721FE}" type="datetime1">
              <a:rPr lang="pt-BR" smtClean="0"/>
              <a:t>27/04/2026</a:t>
            </a:fld>
            <a:endParaRPr lang="pt-BR"/>
          </a:p>
        </p:txBody>
      </p:sp>
      <p:sp>
        <p:nvSpPr>
          <p:cNvPr id="6" name="Espaço Reservado para Rodapé 5">
            <a:extLst>
              <a:ext uri="{FF2B5EF4-FFF2-40B4-BE49-F238E27FC236}">
                <a16:creationId xmlns:a16="http://schemas.microsoft.com/office/drawing/2014/main" id="{C274AE75-3687-4E96-8A7A-B72237B2932C}"/>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D12F1849-5CE1-4591-9E93-CADF711E4CFB}"/>
              </a:ext>
            </a:extLst>
          </p:cNvPr>
          <p:cNvSpPr>
            <a:spLocks noGrp="1"/>
          </p:cNvSpPr>
          <p:nvPr>
            <p:ph type="sldNum" sz="quarter" idx="12"/>
          </p:nvPr>
        </p:nvSpPr>
        <p:spPr/>
        <p:txBody>
          <a:bodyPr/>
          <a:lstStyle/>
          <a:p>
            <a:fld id="{43EF2F8B-375C-4C95-AD1F-E7AE87E0EC47}" type="slidenum">
              <a:rPr lang="pt-BR" smtClean="0"/>
              <a:t>‹nº›</a:t>
            </a:fld>
            <a:endParaRPr lang="pt-BR"/>
          </a:p>
        </p:txBody>
      </p:sp>
    </p:spTree>
    <p:extLst>
      <p:ext uri="{BB962C8B-B14F-4D97-AF65-F5344CB8AC3E}">
        <p14:creationId xmlns:p14="http://schemas.microsoft.com/office/powerpoint/2010/main" val="14218460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91DA36-BD63-4A59-8A23-587EC3E46C28}"/>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0745F036-3136-413F-94E8-AFAE61DB7CD6}"/>
              </a:ext>
            </a:extLst>
          </p:cNvPr>
          <p:cNvSpPr>
            <a:spLocks noGrp="1"/>
          </p:cNvSpPr>
          <p:nvPr>
            <p:ph type="body" orient="vert" idx="1"/>
          </p:nvPr>
        </p:nvSpPr>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09C188AC-F665-48F5-9F1C-04563D235DBB}"/>
              </a:ext>
            </a:extLst>
          </p:cNvPr>
          <p:cNvSpPr>
            <a:spLocks noGrp="1"/>
          </p:cNvSpPr>
          <p:nvPr>
            <p:ph type="dt" sz="half" idx="10"/>
          </p:nvPr>
        </p:nvSpPr>
        <p:spPr/>
        <p:txBody>
          <a:bodyPr/>
          <a:lstStyle/>
          <a:p>
            <a:fld id="{B65339D4-9078-4CE7-AF39-A7C03F2679DB}" type="datetime1">
              <a:rPr lang="pt-BR" smtClean="0"/>
              <a:t>27/04/2026</a:t>
            </a:fld>
            <a:endParaRPr lang="pt-BR"/>
          </a:p>
        </p:txBody>
      </p:sp>
      <p:sp>
        <p:nvSpPr>
          <p:cNvPr id="5" name="Espaço Reservado para Rodapé 4">
            <a:extLst>
              <a:ext uri="{FF2B5EF4-FFF2-40B4-BE49-F238E27FC236}">
                <a16:creationId xmlns:a16="http://schemas.microsoft.com/office/drawing/2014/main" id="{BC0E2087-E248-464A-9315-C56B90D76C5D}"/>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18996D19-5EDE-4A58-99F2-1AF6CB88250E}"/>
              </a:ext>
            </a:extLst>
          </p:cNvPr>
          <p:cNvSpPr>
            <a:spLocks noGrp="1"/>
          </p:cNvSpPr>
          <p:nvPr>
            <p:ph type="sldNum" sz="quarter" idx="12"/>
          </p:nvPr>
        </p:nvSpPr>
        <p:spPr/>
        <p:txBody>
          <a:bodyPr/>
          <a:lstStyle/>
          <a:p>
            <a:fld id="{43EF2F8B-375C-4C95-AD1F-E7AE87E0EC47}" type="slidenum">
              <a:rPr lang="pt-BR" smtClean="0"/>
              <a:t>‹nº›</a:t>
            </a:fld>
            <a:endParaRPr lang="pt-BR"/>
          </a:p>
        </p:txBody>
      </p:sp>
    </p:spTree>
    <p:extLst>
      <p:ext uri="{BB962C8B-B14F-4D97-AF65-F5344CB8AC3E}">
        <p14:creationId xmlns:p14="http://schemas.microsoft.com/office/powerpoint/2010/main" val="28981564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8F4D9BD-82B8-43E2-83D2-2BEC67D226C3}"/>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88993AFE-610E-4122-9567-ED04369830A0}"/>
              </a:ext>
            </a:extLst>
          </p:cNvPr>
          <p:cNvSpPr>
            <a:spLocks noGrp="1"/>
          </p:cNvSpPr>
          <p:nvPr>
            <p:ph type="body" orient="vert" idx="1"/>
          </p:nvPr>
        </p:nvSpPr>
        <p:spPr>
          <a:xfrm>
            <a:off x="838200" y="365125"/>
            <a:ext cx="7734300" cy="5811838"/>
          </a:xfrm>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65C8500C-77D0-40BE-83D7-4E3D6DFD3161}"/>
              </a:ext>
            </a:extLst>
          </p:cNvPr>
          <p:cNvSpPr>
            <a:spLocks noGrp="1"/>
          </p:cNvSpPr>
          <p:nvPr>
            <p:ph type="dt" sz="half" idx="10"/>
          </p:nvPr>
        </p:nvSpPr>
        <p:spPr/>
        <p:txBody>
          <a:bodyPr/>
          <a:lstStyle/>
          <a:p>
            <a:fld id="{D8C12D8E-66BD-491D-8FA1-C508DC4662F4}" type="datetime1">
              <a:rPr lang="pt-BR" smtClean="0"/>
              <a:t>27/04/2026</a:t>
            </a:fld>
            <a:endParaRPr lang="pt-BR"/>
          </a:p>
        </p:txBody>
      </p:sp>
      <p:sp>
        <p:nvSpPr>
          <p:cNvPr id="5" name="Espaço Reservado para Rodapé 4">
            <a:extLst>
              <a:ext uri="{FF2B5EF4-FFF2-40B4-BE49-F238E27FC236}">
                <a16:creationId xmlns:a16="http://schemas.microsoft.com/office/drawing/2014/main" id="{3E4EF04B-4559-42F9-A756-4433FE14ADEE}"/>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34FA1DB0-E9D9-4A14-B5EA-179B9EA3B8A3}"/>
              </a:ext>
            </a:extLst>
          </p:cNvPr>
          <p:cNvSpPr>
            <a:spLocks noGrp="1"/>
          </p:cNvSpPr>
          <p:nvPr>
            <p:ph type="sldNum" sz="quarter" idx="12"/>
          </p:nvPr>
        </p:nvSpPr>
        <p:spPr/>
        <p:txBody>
          <a:bodyPr/>
          <a:lstStyle/>
          <a:p>
            <a:fld id="{43EF2F8B-375C-4C95-AD1F-E7AE87E0EC47}" type="slidenum">
              <a:rPr lang="pt-BR" smtClean="0"/>
              <a:t>‹nº›</a:t>
            </a:fld>
            <a:endParaRPr lang="pt-BR"/>
          </a:p>
        </p:txBody>
      </p:sp>
    </p:spTree>
    <p:extLst>
      <p:ext uri="{BB962C8B-B14F-4D97-AF65-F5344CB8AC3E}">
        <p14:creationId xmlns:p14="http://schemas.microsoft.com/office/powerpoint/2010/main" val="2925135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FBFD5865-864E-441C-BD92-0AFB7EA647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9981B979-E680-4DB9-B4E4-402E696474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B5BCD048-5614-448E-ABB1-2D35DDC1C5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262ED2-F3AA-49D7-8345-360F0BD7EB07}" type="datetime1">
              <a:rPr lang="pt-BR" smtClean="0"/>
              <a:t>27/04/2026</a:t>
            </a:fld>
            <a:endParaRPr lang="pt-BR"/>
          </a:p>
        </p:txBody>
      </p:sp>
      <p:sp>
        <p:nvSpPr>
          <p:cNvPr id="5" name="Espaço Reservado para Rodapé 4">
            <a:extLst>
              <a:ext uri="{FF2B5EF4-FFF2-40B4-BE49-F238E27FC236}">
                <a16:creationId xmlns:a16="http://schemas.microsoft.com/office/drawing/2014/main" id="{E62C0895-3610-46BC-B1DA-B53A370DBB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71438280-C546-40A7-9755-6AA3B877F2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EF2F8B-375C-4C95-AD1F-E7AE87E0EC47}" type="slidenum">
              <a:rPr lang="pt-BR" smtClean="0"/>
              <a:t>‹nº›</a:t>
            </a:fld>
            <a:endParaRPr lang="pt-BR"/>
          </a:p>
        </p:txBody>
      </p:sp>
    </p:spTree>
    <p:extLst>
      <p:ext uri="{BB962C8B-B14F-4D97-AF65-F5344CB8AC3E}">
        <p14:creationId xmlns:p14="http://schemas.microsoft.com/office/powerpoint/2010/main" val="5546862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linkedin.com/in/thiago-becker-b947777/" TargetMode="External"/><Relationship Id="rId2" Type="http://schemas.openxmlformats.org/officeDocument/2006/relationships/hyperlink" Target="https://www.linkedin.com/in/vcarazzai/" TargetMode="Externa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linkedin.com/search/results/all/?keywords=%23esriwater&amp;origin=HASH_TAG_FROM_FEED" TargetMode="External"/><Relationship Id="rId2" Type="http://schemas.openxmlformats.org/officeDocument/2006/relationships/hyperlink" Target="https://lnkd.in/gzAnieVD" TargetMode="Externa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www.linkedin.com/search/results/all/?keywords=%23arcgis&amp;origin=HASH_TAG_FROM_FEED"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www.linkedin.com/in/anil-jayavarapu-pmp-sa-7878242/" TargetMode="External"/><Relationship Id="rId7" Type="http://schemas.openxmlformats.org/officeDocument/2006/relationships/image" Target="../media/image4.png"/><Relationship Id="rId2" Type="http://schemas.openxmlformats.org/officeDocument/2006/relationships/hyperlink" Target="https://www.linkedin.com/in/pulikallu-giri-venkata-ramana-reddy-b4668611/" TargetMode="External"/><Relationship Id="rId1" Type="http://schemas.openxmlformats.org/officeDocument/2006/relationships/slideLayout" Target="../slideLayouts/slideLayout2.xml"/><Relationship Id="rId6" Type="http://schemas.openxmlformats.org/officeDocument/2006/relationships/hyperlink" Target="https://www.linkedin.com/company/safesoftware/" TargetMode="External"/><Relationship Id="rId5" Type="http://schemas.openxmlformats.org/officeDocument/2006/relationships/hyperlink" Target="https://www.linkedin.com/in/mbarek-azzouzi/" TargetMode="External"/><Relationship Id="rId4" Type="http://schemas.openxmlformats.org/officeDocument/2006/relationships/hyperlink" Target="https://www.linkedin.com/company/esri/"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lnkd.in/ghNPhMzM"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linkedin.com/search/results/all/?keywords=%23pipeline&amp;origin=HASH_TAG_FROM_FEED" TargetMode="External"/><Relationship Id="rId2" Type="http://schemas.openxmlformats.org/officeDocument/2006/relationships/hyperlink" Target="https://www.linkedin.com/search/results/all/?keywords=%23gas&amp;origin=HASH_TAG_FROM_FEED" TargetMode="Externa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hyperlink" Target="https://www.linkedin.com/search/results/all/?keywords=%23utilitymapping&amp;origin=HASH_TAG_FROM_FEED"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lnkd.in/dzzkYHyW"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lnkd.in/eaiViWYv" TargetMode="External"/><Relationship Id="rId2" Type="http://schemas.openxmlformats.org/officeDocument/2006/relationships/hyperlink" Target="https://lnkd.in/esinW-aY" TargetMode="Externa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hyperlink" Target="https://lnkd.in/g59-F48Q"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linkedin.com/in/david-crawford-02379146/" TargetMode="External"/><Relationship Id="rId2" Type="http://schemas.openxmlformats.org/officeDocument/2006/relationships/hyperlink" Target="https://www.linkedin.com/in/remi-myers-39010331/" TargetMode="External"/><Relationship Id="rId1" Type="http://schemas.openxmlformats.org/officeDocument/2006/relationships/slideLayout" Target="../slideLayouts/slideLayout2.xml"/><Relationship Id="rId6" Type="http://schemas.openxmlformats.org/officeDocument/2006/relationships/image" Target="../media/image11.jpeg"/><Relationship Id="rId5" Type="http://schemas.openxmlformats.org/officeDocument/2006/relationships/hyperlink" Target="https://www.linkedin.com/search/results/all/?keywords=%23esriuc2024&amp;origin=HASH_TAG_FROM_FEED" TargetMode="External"/><Relationship Id="rId4" Type="http://schemas.openxmlformats.org/officeDocument/2006/relationships/hyperlink" Target="https://lnkd.in/eqtaMiVd"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www.linkedin.com/search/results/all/?keywords=%23esriuc2024&amp;origin=HASH_TAG_FROM_FEED" TargetMode="External"/><Relationship Id="rId2" Type="http://schemas.openxmlformats.org/officeDocument/2006/relationships/hyperlink" Target="https://lnkd.in/gYEHMwag" TargetMode="Externa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4.xml.rels><?xml version="1.0" encoding="UTF-8" standalone="yes"?>
<Relationships xmlns="http://schemas.openxmlformats.org/package/2006/relationships"><Relationship Id="rId3" Type="http://schemas.openxmlformats.org/officeDocument/2006/relationships/hyperlink" Target="https://lnkd.in/gCcwUDhG" TargetMode="External"/><Relationship Id="rId2" Type="http://schemas.openxmlformats.org/officeDocument/2006/relationships/hyperlink" Target="https://lnkd.in/g6fwrXqJ" TargetMode="Externa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5.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hyperlink" Target="https://www.linkedin.com/in/dave-wrazien-9a93933/" TargetMode="External"/><Relationship Id="rId7" Type="http://schemas.openxmlformats.org/officeDocument/2006/relationships/hyperlink" Target="https://www.linkedin.com/search/results/all/?keywords=%23esriuc2024&amp;origin=HASH_TAG_FROM_FEED" TargetMode="External"/><Relationship Id="rId2" Type="http://schemas.openxmlformats.org/officeDocument/2006/relationships/hyperlink" Target="https://lnkd.in/gwx-yaxA" TargetMode="External"/><Relationship Id="rId1" Type="http://schemas.openxmlformats.org/officeDocument/2006/relationships/slideLayout" Target="../slideLayouts/slideLayout2.xml"/><Relationship Id="rId6" Type="http://schemas.openxmlformats.org/officeDocument/2006/relationships/hyperlink" Target="https://lnkd.in/g9jjUKa5" TargetMode="External"/><Relationship Id="rId5" Type="http://schemas.openxmlformats.org/officeDocument/2006/relationships/hyperlink" Target="https://lnkd.in/gDYavjkz" TargetMode="External"/><Relationship Id="rId4" Type="http://schemas.openxmlformats.org/officeDocument/2006/relationships/hyperlink" Target="https://www.linkedin.com/in/michael-mirobelli-mea-9117b432/"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www.linkedin.com/in/kaitlyn-stevens-485268140/" TargetMode="External"/><Relationship Id="rId2" Type="http://schemas.openxmlformats.org/officeDocument/2006/relationships/hyperlink" Target="https://lnkd.in/gWsGwNqr" TargetMode="External"/><Relationship Id="rId1" Type="http://schemas.openxmlformats.org/officeDocument/2006/relationships/slideLayout" Target="../slideLayouts/slideLayout2.xml"/><Relationship Id="rId5" Type="http://schemas.openxmlformats.org/officeDocument/2006/relationships/image" Target="../media/image15.jpeg"/><Relationship Id="rId4" Type="http://schemas.openxmlformats.org/officeDocument/2006/relationships/hyperlink" Target="https://www.linkedin.com/in/jon-emch/"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www.linkedin.com/in/lucasalvessc/" TargetMode="External"/><Relationship Id="rId2" Type="http://schemas.openxmlformats.org/officeDocument/2006/relationships/hyperlink" Target="https://www.linkedin.com/company/esri/" TargetMode="External"/><Relationship Id="rId1" Type="http://schemas.openxmlformats.org/officeDocument/2006/relationships/slideLayout" Target="../slideLayouts/slideLayout2.xml"/><Relationship Id="rId6" Type="http://schemas.openxmlformats.org/officeDocument/2006/relationships/image" Target="../media/image16.jpeg"/><Relationship Id="rId5" Type="http://schemas.openxmlformats.org/officeDocument/2006/relationships/hyperlink" Target="https://lnkd.in/dhzYZVE7" TargetMode="External"/><Relationship Id="rId4" Type="http://schemas.openxmlformats.org/officeDocument/2006/relationships/hyperlink" Target="https://lnkd.in/dy8fbmjG"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lnkd.in/exx4VzWT"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linkedin.com/in/anne-yvonne-blin-814a2a82/" TargetMode="External"/><Relationship Id="rId2" Type="http://schemas.openxmlformats.org/officeDocument/2006/relationships/hyperlink" Target="https://lnkd.in/gVWsSsRS" TargetMode="External"/><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2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hyperlink" Target="https://lnkd.in/g78PZz8G"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164.png"/><Relationship Id="rId3" Type="http://schemas.openxmlformats.org/officeDocument/2006/relationships/hyperlink" Target="https://lnkd.in/dvVhZQKE" TargetMode="External"/><Relationship Id="rId7" Type="http://schemas.openxmlformats.org/officeDocument/2006/relationships/customXml" Target="../ink/ink1.xml"/><Relationship Id="rId2" Type="http://schemas.openxmlformats.org/officeDocument/2006/relationships/hyperlink" Target="https://lnkd.in/dVPVNRwc" TargetMode="External"/><Relationship Id="rId1" Type="http://schemas.openxmlformats.org/officeDocument/2006/relationships/slideLayout" Target="../slideLayouts/slideLayout2.xml"/><Relationship Id="rId6" Type="http://schemas.openxmlformats.org/officeDocument/2006/relationships/hyperlink" Target="https://lnkd.in/dXCxEcvV" TargetMode="External"/><Relationship Id="rId5" Type="http://schemas.openxmlformats.org/officeDocument/2006/relationships/hyperlink" Target="https://lnkd.in/dxPQFV8B" TargetMode="External"/><Relationship Id="rId4" Type="http://schemas.openxmlformats.org/officeDocument/2006/relationships/hyperlink" Target="https://lnkd.in/dxafGdnr"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lnkd.in/ghNPhMzM" TargetMode="External"/><Relationship Id="rId2" Type="http://schemas.openxmlformats.org/officeDocument/2006/relationships/hyperlink" Target="https://lnkd.in/eJBDXR9K" TargetMode="Externa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www.linkedin.com/in/michaelmillergis/" TargetMode="External"/><Relationship Id="rId2" Type="http://schemas.openxmlformats.org/officeDocument/2006/relationships/hyperlink" Target="https://lnkd.in/giUPvtAM" TargetMode="External"/><Relationship Id="rId1" Type="http://schemas.openxmlformats.org/officeDocument/2006/relationships/slideLayout" Target="../slideLayouts/slideLayout2.xml"/><Relationship Id="rId5" Type="http://schemas.openxmlformats.org/officeDocument/2006/relationships/image" Target="../media/image22.jpeg"/><Relationship Id="rId4" Type="http://schemas.openxmlformats.org/officeDocument/2006/relationships/hyperlink" Target="https://www.linkedin.com/in/patrickcowan/"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s://lnkd.in/gzXgGmRR" TargetMode="External"/><Relationship Id="rId2" Type="http://schemas.openxmlformats.org/officeDocument/2006/relationships/hyperlink" Target="https://lnkd.in/gQszEKcf" TargetMode="Externa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26.xml.rels><?xml version="1.0" encoding="UTF-8" standalone="yes"?>
<Relationships xmlns="http://schemas.openxmlformats.org/package/2006/relationships"><Relationship Id="rId3" Type="http://schemas.openxmlformats.org/officeDocument/2006/relationships/hyperlink" Target="https://lnkd.in/gvwkDukD" TargetMode="External"/><Relationship Id="rId2" Type="http://schemas.openxmlformats.org/officeDocument/2006/relationships/hyperlink" Target="https://lnkd.in/gzThaQgJ" TargetMode="External"/><Relationship Id="rId1" Type="http://schemas.openxmlformats.org/officeDocument/2006/relationships/slideLayout" Target="../slideLayouts/slideLayout2.xml"/><Relationship Id="rId5" Type="http://schemas.openxmlformats.org/officeDocument/2006/relationships/image" Target="../media/image24.jpeg"/><Relationship Id="rId4" Type="http://schemas.openxmlformats.org/officeDocument/2006/relationships/hyperlink" Target="https://lnkd.in/esinW-aY"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hyperlink" Target="https://lnkd.in/gaqdfNys"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hyperlink" Target="https://lnkd.in/gAWa6GJF"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hyperlink" Target="https://lnkd.in/gscvc7RT"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s://lnkd.in/gThHVgXz"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hyperlink" Target="https://ow.ly/Poaz30sKzQm"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www.linkedin.com/search/results/all/?keywords=%23utilitynetwork" TargetMode="External"/><Relationship Id="rId2" Type="http://schemas.openxmlformats.org/officeDocument/2006/relationships/hyperlink" Target="https://www.linkedin.com/search/results/all/?keywords=%23arcgis" TargetMode="Externa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3" Type="http://schemas.openxmlformats.org/officeDocument/2006/relationships/hyperlink" Target="https://lnkd.in/gAvj3QK7" TargetMode="External"/><Relationship Id="rId2" Type="http://schemas.openxmlformats.org/officeDocument/2006/relationships/hyperlink" Target="https://lnkd.in/g-nVkN5P" TargetMode="External"/><Relationship Id="rId1" Type="http://schemas.openxmlformats.org/officeDocument/2006/relationships/slideLayout" Target="../slideLayouts/slideLayout2.xml"/><Relationship Id="rId4" Type="http://schemas.openxmlformats.org/officeDocument/2006/relationships/image" Target="../media/image31.jpeg"/></Relationships>
</file>

<file path=ppt/slides/_rels/slide3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hyperlink" Target="https://www.linkedin.com/search/results/all/?keywords=%23gis&amp;origin=HASH_TAG_FROM_FEED"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www.linkedin.com/redir/redirect/?url=https%3A%2F%2Fow%2Ely%2Fb9Qf50W5SAb&amp;urlhash=5gtF&amp;mt=JM7n-pT3Isyp85WqQ3xE2E7x62gLHt0NWCf4s3aJs0lwrNhlhxglY-arRWK0Ki-HFTkjPFTUdprOUWz3XLhXQ09wZFA-fg3FXi6LTpzqL69DCaIar8R7GwU9&amp;isSdui=true" TargetMode="External"/><Relationship Id="rId2" Type="http://schemas.openxmlformats.org/officeDocument/2006/relationships/hyperlink" Target="https://www.linkedin.com/redir/redirect/?url=https%3A%2F%2Fow%2Ely%2Fcgme50W5SAa&amp;urlhash=7m_R&amp;mt=uFCdLYh_RbJzf76Ir3sJaJ8A7SQtbJBNVVmarbJRBoNtZTinmtBVwpSeu9xoAS4po-aJBztLbNfnNgWihidfzpHTsFeeEJZLvRfLdqMZq-9pdpfDz_KujgTn&amp;isSdui=true" TargetMode="External"/><Relationship Id="rId1" Type="http://schemas.openxmlformats.org/officeDocument/2006/relationships/slideLayout" Target="../slideLayouts/slideLayout2.xml"/><Relationship Id="rId4" Type="http://schemas.openxmlformats.org/officeDocument/2006/relationships/image" Target="../media/image33.jpeg"/></Relationships>
</file>

<file path=ppt/slides/_rels/slide36.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hyperlink" Target="https://www.linkedin.com/redir/redirect/?url=https%3A%2F%2Fow%2Ely%2FXlrz50W3kha&amp;urlhash=roMs&amp;mt=QaJfeBBnKtPncvGKG8GUuYKgeDbfY2AuVp4Jh2s9uinWQYeMsKg1zqbuDaNz3eydCl4lJwXaaYzcgY100LIp2ktyb4yKYbNieHS8bNgGNg9ZLXA7yhiXHyFf&amp;isSdui=true"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hyperlink" Target="https://www.linkedin.com/search/results/all/?keywords=%23esri&amp;origin=HASH_TAG_FROM_FEED" TargetMode="External"/><Relationship Id="rId3" Type="http://schemas.openxmlformats.org/officeDocument/2006/relationships/hyperlink" Target="https://www.linkedin.com/search/results/all/?keywords=%23apple&amp;origin=HASH_TAG_FROM_FEED" TargetMode="External"/><Relationship Id="rId7" Type="http://schemas.openxmlformats.org/officeDocument/2006/relationships/hyperlink" Target="https://www.linkedin.com/search/results/all/?keywords=%23arcgis&amp;origin=HASH_TAG_FROM_FEED" TargetMode="External"/><Relationship Id="rId12" Type="http://schemas.openxmlformats.org/officeDocument/2006/relationships/hyperlink" Target="https://www.linkedin.com/search/results/all/?keywords=%23gis&amp;origin=HASH_TAG_FROM_FEED" TargetMode="External"/><Relationship Id="rId2" Type="http://schemas.openxmlformats.org/officeDocument/2006/relationships/hyperlink" Target="https://www.linkedin.com/search/results/all/?keywords=%23datacollection&amp;origin=HASH_TAG_FROM_FEED" TargetMode="External"/><Relationship Id="rId1" Type="http://schemas.openxmlformats.org/officeDocument/2006/relationships/slideLayout" Target="../slideLayouts/slideLayout2.xml"/><Relationship Id="rId6" Type="http://schemas.openxmlformats.org/officeDocument/2006/relationships/hyperlink" Target="https://www.linkedin.com/search/results/all/?keywords=%23ios13&amp;origin=HASH_TAG_FROM_FEED" TargetMode="External"/><Relationship Id="rId11" Type="http://schemas.openxmlformats.org/officeDocument/2006/relationships/hyperlink" Target="https://www.linkedin.com/search/results/all/?keywords=%23scienceofwhere&amp;origin=HASH_TAG_FROM_FEED" TargetMode="External"/><Relationship Id="rId5" Type="http://schemas.openxmlformats.org/officeDocument/2006/relationships/hyperlink" Target="https://www.linkedin.com/search/results/all/?keywords=%23google&amp;origin=HASH_TAG_FROM_FEED" TargetMode="External"/><Relationship Id="rId10" Type="http://schemas.openxmlformats.org/officeDocument/2006/relationships/hyperlink" Target="https://www.linkedin.com/search/results/all/?keywords=%23quickcapture&amp;origin=HASH_TAG_FROM_FEED" TargetMode="External"/><Relationship Id="rId4" Type="http://schemas.openxmlformats.org/officeDocument/2006/relationships/hyperlink" Target="https://www.linkedin.com/search/results/all/?keywords=%23voice&amp;origin=HASH_TAG_FROM_FEED" TargetMode="External"/><Relationship Id="rId9" Type="http://schemas.openxmlformats.org/officeDocument/2006/relationships/hyperlink" Target="https://www.linkedin.com/search/results/all/?keywords=%23geospatial&amp;origin=HASH_TAG_FROM_FEED" TargetMode="External"/></Relationships>
</file>

<file path=ppt/slides/_rels/slide39.xml.rels><?xml version="1.0" encoding="UTF-8" standalone="yes"?>
<Relationships xmlns="http://schemas.openxmlformats.org/package/2006/relationships"><Relationship Id="rId3" Type="http://schemas.openxmlformats.org/officeDocument/2006/relationships/hyperlink" Target="https://lnkd.in/g9hgmKGx" TargetMode="External"/><Relationship Id="rId7" Type="http://schemas.openxmlformats.org/officeDocument/2006/relationships/image" Target="../media/image36.jpeg"/><Relationship Id="rId2" Type="http://schemas.openxmlformats.org/officeDocument/2006/relationships/hyperlink" Target="https://lnkd.in/gmY8eRaK" TargetMode="External"/><Relationship Id="rId1" Type="http://schemas.openxmlformats.org/officeDocument/2006/relationships/slideLayout" Target="../slideLayouts/slideLayout2.xml"/><Relationship Id="rId6" Type="http://schemas.openxmlformats.org/officeDocument/2006/relationships/hyperlink" Target="https://lnkd.in/gAvj3QK7" TargetMode="External"/><Relationship Id="rId5" Type="http://schemas.openxmlformats.org/officeDocument/2006/relationships/hyperlink" Target="https://lnkd.in/ghZ6WAtx" TargetMode="External"/><Relationship Id="rId4" Type="http://schemas.openxmlformats.org/officeDocument/2006/relationships/hyperlink" Target="https://lnkd.in/gES_VQ9y" TargetMode="External"/></Relationships>
</file>

<file path=ppt/slides/_rels/slide40.xml.rels><?xml version="1.0" encoding="UTF-8" standalone="yes"?>
<Relationships xmlns="http://schemas.openxmlformats.org/package/2006/relationships"><Relationship Id="rId2" Type="http://schemas.openxmlformats.org/officeDocument/2006/relationships/hyperlink" Target="https://lnkd.in/gyH3ue5r"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s://www.linkedin.com/company/here/" TargetMode="External"/><Relationship Id="rId2" Type="http://schemas.openxmlformats.org/officeDocument/2006/relationships/hyperlink" Target="https://www.linkedin.com/company/esri/" TargetMode="Externa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hyperlink" Target="https://www.linkedin.com/company/near-location/" TargetMode="External"/></Relationships>
</file>

<file path=ppt/slides/_rels/slide4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lnkd.in/gh2jb9-J" TargetMode="External"/><Relationship Id="rId2" Type="http://schemas.openxmlformats.org/officeDocument/2006/relationships/hyperlink" Target="https://lnkd.in/g33QD6Fs" TargetMode="Externa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4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hyperlink" Target="https://lnkd.in/gRpmhKZP"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hyperlink" Target="https://lnkd.in/gRQ2gr5e"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hyperlink" Target="https://www.linkedin.com/search/results/all/?keywords=%23datamigration&amp;origin=HASH_TAG_FROM_FEED" TargetMode="External"/><Relationship Id="rId3" Type="http://schemas.openxmlformats.org/officeDocument/2006/relationships/hyperlink" Target="https://www.linkedin.com/search/results/all/?keywords=%23arcgis&amp;origin=HASH_TAG_FROM_FEED" TargetMode="External"/><Relationship Id="rId7" Type="http://schemas.openxmlformats.org/officeDocument/2006/relationships/hyperlink" Target="https://www.linkedin.com/search/results/all/?keywords=%23utilitynetwork&amp;origin=HASH_TAG_FROM_FEED" TargetMode="External"/><Relationship Id="rId2" Type="http://schemas.openxmlformats.org/officeDocument/2006/relationships/hyperlink" Target="https://ow.ly/hy4k50Xgc3Q" TargetMode="External"/><Relationship Id="rId1" Type="http://schemas.openxmlformats.org/officeDocument/2006/relationships/slideLayout" Target="../slideLayouts/slideLayout2.xml"/><Relationship Id="rId6" Type="http://schemas.openxmlformats.org/officeDocument/2006/relationships/hyperlink" Target="https://www.linkedin.com/search/results/all/?keywords=%23arcgisutilitynetwork&amp;origin=HASH_TAG_FROM_FEED" TargetMode="External"/><Relationship Id="rId5" Type="http://schemas.openxmlformats.org/officeDocument/2006/relationships/hyperlink" Target="https://www.linkedin.com/search/results/all/?keywords=%23telecom&amp;origin=HASH_TAG_FROM_FEED" TargetMode="External"/><Relationship Id="rId4" Type="http://schemas.openxmlformats.org/officeDocument/2006/relationships/hyperlink" Target="https://www.linkedin.com/search/results/all/?keywords=%23utilities&amp;origin=HASH_TAG_FROM_FEED" TargetMode="External"/><Relationship Id="rId9" Type="http://schemas.openxmlformats.org/officeDocument/2006/relationships/image" Target="../media/image43.png"/></Relationships>
</file>

<file path=ppt/slides/_rels/slide48.xml.rels><?xml version="1.0" encoding="UTF-8" standalone="yes"?>
<Relationships xmlns="http://schemas.openxmlformats.org/package/2006/relationships"><Relationship Id="rId3" Type="http://schemas.openxmlformats.org/officeDocument/2006/relationships/hyperlink" Target="https://www.linkedin.com/in/tom-dewitte-esriengineer/" TargetMode="External"/><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hyperlink" Target="https://www.linkedin.com/in/tom-coolidge-92b5102/" TargetMode="External"/></Relationships>
</file>

<file path=ppt/slides/_rels/slide4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hyperlink" Target="https://lnkd.in/dpdHzY8x" TargetMode="External"/><Relationship Id="rId2" Type="http://schemas.openxmlformats.org/officeDocument/2006/relationships/hyperlink" Target="https://www.linkedin.com/in/robert-krisher-5a989438/" TargetMode="Externa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hyperlink" Target="https://lnkd.in/gBdXbB8J" TargetMode="External"/><Relationship Id="rId4" Type="http://schemas.openxmlformats.org/officeDocument/2006/relationships/hyperlink" Target="https://www.linkedin.com/in/sherif-osama-elsherif-94082233/" TargetMode="External"/></Relationships>
</file>

<file path=ppt/slides/_rels/slide5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hyperlink" Target="https://lnkd.in/g_sCZHRB"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hyperlink" Target="https://www.linkedin.com/in/xuteng123/" TargetMode="External"/><Relationship Id="rId2" Type="http://schemas.openxmlformats.org/officeDocument/2006/relationships/hyperlink" Target="https://lnkd.in/grCgQmXu" TargetMode="External"/><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hyperlink" Target="https://lnkd.in/g-3TFtYH" TargetMode="External"/></Relationships>
</file>

<file path=ppt/slides/_rels/slide5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hyperlink" Target="https://lnkd.in/gq3YPSmu" TargetMode="External"/><Relationship Id="rId2" Type="http://schemas.openxmlformats.org/officeDocument/2006/relationships/hyperlink" Target="https://www.linkedin.com/search/results/all/?keywords=%23arcgiswebeditor&amp;origin=HASH_TAG_FROM_FEED" TargetMode="External"/><Relationship Id="rId1" Type="http://schemas.openxmlformats.org/officeDocument/2006/relationships/slideLayout" Target="../slideLayouts/slideLayout2.xml"/><Relationship Id="rId4" Type="http://schemas.openxmlformats.org/officeDocument/2006/relationships/image" Target="../media/image56.jpeg"/></Relationships>
</file>

<file path=ppt/slides/_rels/slide63.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hyperlink" Target="http://gabriellagis.com/" TargetMode="Externa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8" Type="http://schemas.openxmlformats.org/officeDocument/2006/relationships/hyperlink" Target="https://lnkd.in/d23VEYRY" TargetMode="External"/><Relationship Id="rId3" Type="http://schemas.openxmlformats.org/officeDocument/2006/relationships/hyperlink" Target="https://lnkd.in/dQ-mYWmJ" TargetMode="External"/><Relationship Id="rId7" Type="http://schemas.openxmlformats.org/officeDocument/2006/relationships/hyperlink" Target="https://www.linkedin.com/in/ankur-s-803497126/" TargetMode="External"/><Relationship Id="rId2" Type="http://schemas.openxmlformats.org/officeDocument/2006/relationships/hyperlink" Target="https://lnkd.in/d_XsY5QB" TargetMode="External"/><Relationship Id="rId1" Type="http://schemas.openxmlformats.org/officeDocument/2006/relationships/slideLayout" Target="../slideLayouts/slideLayout2.xml"/><Relationship Id="rId6" Type="http://schemas.openxmlformats.org/officeDocument/2006/relationships/hyperlink" Target="https://lnkd.in/d6evYf2U" TargetMode="External"/><Relationship Id="rId5" Type="http://schemas.openxmlformats.org/officeDocument/2006/relationships/hyperlink" Target="https://lnkd.in/duAUAMjG" TargetMode="External"/><Relationship Id="rId4" Type="http://schemas.openxmlformats.org/officeDocument/2006/relationships/hyperlink" Target="https://lnkd.in/dgsRRQab" TargetMode="External"/><Relationship Id="rId9" Type="http://schemas.openxmlformats.org/officeDocument/2006/relationships/image" Target="../media/image58.jpeg"/></Relationships>
</file>

<file path=ppt/slides/_rels/slide65.xml.rels><?xml version="1.0" encoding="UTF-8" standalone="yes"?>
<Relationships xmlns="http://schemas.openxmlformats.org/package/2006/relationships"><Relationship Id="rId8" Type="http://schemas.openxmlformats.org/officeDocument/2006/relationships/hyperlink" Target="https://www.linkedin.com/in/ankur-s-803497126/" TargetMode="External"/><Relationship Id="rId3" Type="http://schemas.openxmlformats.org/officeDocument/2006/relationships/hyperlink" Target="https://lnkd.in/dCtyrdcn" TargetMode="External"/><Relationship Id="rId7" Type="http://schemas.openxmlformats.org/officeDocument/2006/relationships/hyperlink" Target="https://lnkd.in/dmRmmmgU" TargetMode="External"/><Relationship Id="rId2" Type="http://schemas.openxmlformats.org/officeDocument/2006/relationships/hyperlink" Target="https://lnkd.in/dus4UnhD" TargetMode="External"/><Relationship Id="rId1" Type="http://schemas.openxmlformats.org/officeDocument/2006/relationships/slideLayout" Target="../slideLayouts/slideLayout2.xml"/><Relationship Id="rId6" Type="http://schemas.openxmlformats.org/officeDocument/2006/relationships/hyperlink" Target="https://lnkd.in/dakSU4b6" TargetMode="External"/><Relationship Id="rId5" Type="http://schemas.openxmlformats.org/officeDocument/2006/relationships/hyperlink" Target="https://lnkd.in/dvk6mgdQ" TargetMode="External"/><Relationship Id="rId4" Type="http://schemas.openxmlformats.org/officeDocument/2006/relationships/hyperlink" Target="https://lnkd.in/dhcKr78g" TargetMode="External"/><Relationship Id="rId9" Type="http://schemas.openxmlformats.org/officeDocument/2006/relationships/image" Target="../media/image59.jpeg"/></Relationships>
</file>

<file path=ppt/slides/_rels/slide66.xml.rels><?xml version="1.0" encoding="UTF-8" standalone="yes"?>
<Relationships xmlns="http://schemas.openxmlformats.org/package/2006/relationships"><Relationship Id="rId3" Type="http://schemas.openxmlformats.org/officeDocument/2006/relationships/hyperlink" Target="https://www.linkedin.com/search/results/all/?keywords=%23arcgis&amp;origin=HASH_TAG_FROM_FEED" TargetMode="External"/><Relationship Id="rId2" Type="http://schemas.openxmlformats.org/officeDocument/2006/relationships/hyperlink" Target="https://www.linkedin.com/search/results/all/?keywords=%23esriwater&amp;origin=HASH_TAG_FROM_FEED" TargetMode="External"/><Relationship Id="rId1" Type="http://schemas.openxmlformats.org/officeDocument/2006/relationships/slideLayout" Target="../slideLayouts/slideLayout2.xml"/><Relationship Id="rId5" Type="http://schemas.openxmlformats.org/officeDocument/2006/relationships/image" Target="../media/image60.jpeg"/><Relationship Id="rId4" Type="http://schemas.openxmlformats.org/officeDocument/2006/relationships/hyperlink" Target="https://ow.ly/Smzu50YJ7Z1" TargetMode="External"/></Relationships>
</file>

<file path=ppt/slides/_rels/slide67.xml.rels><?xml version="1.0" encoding="UTF-8" standalone="yes"?>
<Relationships xmlns="http://schemas.openxmlformats.org/package/2006/relationships"><Relationship Id="rId3" Type="http://schemas.openxmlformats.org/officeDocument/2006/relationships/hyperlink" Target="https://lnkd.in/ggNr-5VF" TargetMode="External"/><Relationship Id="rId2" Type="http://schemas.openxmlformats.org/officeDocument/2006/relationships/hyperlink" Target="https://lnkd.in/g5eeRivG" TargetMode="External"/><Relationship Id="rId1" Type="http://schemas.openxmlformats.org/officeDocument/2006/relationships/slideLayout" Target="../slideLayouts/slideLayout2.xml"/><Relationship Id="rId5" Type="http://schemas.openxmlformats.org/officeDocument/2006/relationships/image" Target="../media/image61.jpeg"/><Relationship Id="rId4" Type="http://schemas.openxmlformats.org/officeDocument/2006/relationships/hyperlink" Target="https://lnkd.in/gpeGNmQ6" TargetMode="External"/></Relationships>
</file>

<file path=ppt/slides/_rels/slide68.xml.rels><?xml version="1.0" encoding="UTF-8" standalone="yes"?>
<Relationships xmlns="http://schemas.openxmlformats.org/package/2006/relationships"><Relationship Id="rId8" Type="http://schemas.openxmlformats.org/officeDocument/2006/relationships/hyperlink" Target="https://lnkd.in/fp_gDan" TargetMode="External"/><Relationship Id="rId3" Type="http://schemas.openxmlformats.org/officeDocument/2006/relationships/hyperlink" Target="https://www.linkedin.com/search/results/all/?keywords=%23deeplearning&amp;origin=HASH_TAG_FROM_FEED" TargetMode="External"/><Relationship Id="rId7" Type="http://schemas.openxmlformats.org/officeDocument/2006/relationships/hyperlink" Target="https://www.linkedin.com/search/results/all/?keywords=%23newdelhi&amp;origin=HASH_TAG_FROM_FEED" TargetMode="External"/><Relationship Id="rId2" Type="http://schemas.openxmlformats.org/officeDocument/2006/relationships/hyperlink" Target="https://www.linkedin.com/search/results/all/?keywords=%23arcgis&amp;origin=HASH_TAG_FROM_FEED" TargetMode="External"/><Relationship Id="rId1" Type="http://schemas.openxmlformats.org/officeDocument/2006/relationships/slideLayout" Target="../slideLayouts/slideLayout2.xml"/><Relationship Id="rId6" Type="http://schemas.openxmlformats.org/officeDocument/2006/relationships/hyperlink" Target="https://www.linkedin.com/search/results/all/?keywords=%23esri&amp;origin=HASH_TAG_FROM_FEED" TargetMode="External"/><Relationship Id="rId5" Type="http://schemas.openxmlformats.org/officeDocument/2006/relationships/hyperlink" Target="https://www.linkedin.com/search/results/all/?keywords=%23arcgispro&amp;origin=HASH_TAG_FROM_FEED" TargetMode="External"/><Relationship Id="rId4" Type="http://schemas.openxmlformats.org/officeDocument/2006/relationships/hyperlink" Target="https://lnkd.in/fpuadFG" TargetMode="External"/><Relationship Id="rId9" Type="http://schemas.openxmlformats.org/officeDocument/2006/relationships/image" Target="../media/image62.png"/></Relationships>
</file>

<file path=ppt/slides/_rels/slide69.xml.rels><?xml version="1.0" encoding="UTF-8" standalone="yes"?>
<Relationships xmlns="http://schemas.openxmlformats.org/package/2006/relationships"><Relationship Id="rId3" Type="http://schemas.openxmlformats.org/officeDocument/2006/relationships/hyperlink" Target="https://www.linkedin.com/company/feltmaps/" TargetMode="External"/><Relationship Id="rId2" Type="http://schemas.openxmlformats.org/officeDocument/2006/relationships/hyperlink" Target="https://www.linkedin.com/search/results/all/?keywords=%23gis&amp;origin=HASH_TAG_FROM_FEED" TargetMode="External"/><Relationship Id="rId1" Type="http://schemas.openxmlformats.org/officeDocument/2006/relationships/slideLayout" Target="../slideLayouts/slideLayout2.xml"/><Relationship Id="rId4" Type="http://schemas.openxmlformats.org/officeDocument/2006/relationships/image" Target="../media/image63.jpeg"/></Relationships>
</file>

<file path=ppt/slides/_rels/slide70.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hyperlink" Target="https://lnkd.in/gJRmj-dP" TargetMode="Externa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hyperlink" Target="https://lnkd.in/gTCW5ABk" TargetMode="Externa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hyperlink" Target="https://lnkd.in/eVgxUejg" TargetMode="External"/><Relationship Id="rId2" Type="http://schemas.openxmlformats.org/officeDocument/2006/relationships/hyperlink" Target="https://www.linkedin.com/search/results/all/?keywords=%23esri&amp;origin=HASH_TAG_FROM_FEED" TargetMode="External"/><Relationship Id="rId1" Type="http://schemas.openxmlformats.org/officeDocument/2006/relationships/slideLayout" Target="../slideLayouts/slideLayout2.xml"/><Relationship Id="rId4" Type="http://schemas.openxmlformats.org/officeDocument/2006/relationships/image" Target="../media/image66.jpeg"/></Relationships>
</file>

<file path=ppt/slides/_rels/slide7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hyperlink" Target="https://lnkd.in/gfvSjmjs" TargetMode="Externa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hyperlink" Target="https://www.linkedin.com/in/jose-l-huerta-m-s-gisp-507131225/" TargetMode="External"/><Relationship Id="rId2" Type="http://schemas.openxmlformats.org/officeDocument/2006/relationships/hyperlink" Target="https://lnkd.in/expVYkAZ" TargetMode="External"/><Relationship Id="rId1" Type="http://schemas.openxmlformats.org/officeDocument/2006/relationships/slideLayout" Target="../slideLayouts/slideLayout2.xml"/><Relationship Id="rId6" Type="http://schemas.openxmlformats.org/officeDocument/2006/relationships/image" Target="../media/image68.jpeg"/><Relationship Id="rId5" Type="http://schemas.openxmlformats.org/officeDocument/2006/relationships/hyperlink" Target="https://lnkd.in/gY3_sHyF" TargetMode="External"/><Relationship Id="rId4" Type="http://schemas.openxmlformats.org/officeDocument/2006/relationships/hyperlink" Target="https://lnkd.in/efNGEzrV" TargetMode="External"/></Relationships>
</file>

<file path=ppt/slides/_rels/slide75.xml.rels><?xml version="1.0" encoding="UTF-8" standalone="yes"?>
<Relationships xmlns="http://schemas.openxmlformats.org/package/2006/relationships"><Relationship Id="rId3" Type="http://schemas.openxmlformats.org/officeDocument/2006/relationships/hyperlink" Target="https://www.linkedin.com/safety/go/?url=https%3A%2F%2Flnkd%2Ein%2FdRgMbGXy&amp;urlhash=wjcf&amp;mt=iCL7JTPuX9jajRr_9sxddRbLConfdnvz3sdLrvp3clR00M8mnZJ7JUGy96rh7TElv93vpriBhqtLwV2wqTfSktkCzYYg3duI5MRchgEpXQucmIpwRV__EJh-&amp;isSdui=true" TargetMode="External"/><Relationship Id="rId7" Type="http://schemas.openxmlformats.org/officeDocument/2006/relationships/image" Target="../media/image69.jpeg"/><Relationship Id="rId2" Type="http://schemas.openxmlformats.org/officeDocument/2006/relationships/hyperlink" Target="https://www.linkedin.com/safety/go/?url=https%3A%2F%2Flnkd%2Ein%2Fdz5KBKa2&amp;urlhash=hX6F&amp;mt=ST5UVaPxQcdmBJMg_ohCdK_2eDptvsQw6FkNXVwZjBtOkAhNxeheKmoH9FJFGnD5zvaQHwT7Tw5Q6bHqn5PB3iNFpHOk8kH6qUpw9UWN-sY2Cc_-myxUFc06&amp;isSdui=true" TargetMode="External"/><Relationship Id="rId1" Type="http://schemas.openxmlformats.org/officeDocument/2006/relationships/slideLayout" Target="../slideLayouts/slideLayout2.xml"/><Relationship Id="rId6" Type="http://schemas.openxmlformats.org/officeDocument/2006/relationships/hyperlink" Target="https://www.linkedin.com/safety/go/?url=https%3A%2F%2Flnkd%2Ein%2Fd7WuRk28&amp;urlhash=L7xH&amp;mt=HhOIpyqWywXzF183POYOmAKPJpTh9VuheFVEkEPkOyfnK_JFHyr_bz4QUmm9d41pITCC2Y0IXEoYrAYDc51BGT6puSkvrb-SXwSaD7v7x72NZ50GtZ5rfS22&amp;isSdui=true" TargetMode="External"/><Relationship Id="rId5" Type="http://schemas.openxmlformats.org/officeDocument/2006/relationships/hyperlink" Target="https://www.linkedin.com/safety/go/?url=https%3A%2F%2Flnkd%2Ein%2Fdm2f26mc&amp;urlhash=Fspq&amp;mt=6AGfAhLcLr1RZNlRWLYVy6TWGeotiB2o4VsS-yf9RUoxJpP0GNVpV3cWzH5sPg5Fj61-CVEKadC0RaFh5AKJA9iGjD7FN7FgCkUMwDQYsUyLvz0tFoZbu5L_&amp;isSdui=true" TargetMode="External"/><Relationship Id="rId4" Type="http://schemas.openxmlformats.org/officeDocument/2006/relationships/hyperlink" Target="https://www.linkedin.com/safety/go/?url=https%3A%2F%2Flnkd%2Ein%2FdrzPYiph&amp;urlhash=BqJe&amp;mt=fSBMPDjq1rNioJ16txqf-MlpjKHd2H944bPmf0kI54TNWgYw26xD2AyjkLeNhMdUae5NTRCU1uGUISSyakFF-FVZ52vSK_fdrvuht2sh0Wrqn_kPU2i-n3TU&amp;isSdui=true" TargetMode="External"/></Relationships>
</file>

<file path=ppt/slides/_rels/slide7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hyperlink" Target="https://www.linkedin.com/in/gisgeek/" TargetMode="Externa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8" Type="http://schemas.openxmlformats.org/officeDocument/2006/relationships/hyperlink" Target="https://arcg.is/08Cur01" TargetMode="External"/><Relationship Id="rId3" Type="http://schemas.openxmlformats.org/officeDocument/2006/relationships/hyperlink" Target="https://www.linkedin.com/search/results/all/?keywords=%23watermanagement&amp;origin=HASH_TAG_FROM_FEED" TargetMode="External"/><Relationship Id="rId7" Type="http://schemas.openxmlformats.org/officeDocument/2006/relationships/hyperlink" Target="https://www.linkedin.com/search/results/all/?keywords=%23smartcampus&amp;origin=HASH_TAG_FROM_FEED" TargetMode="External"/><Relationship Id="rId2" Type="http://schemas.openxmlformats.org/officeDocument/2006/relationships/hyperlink" Target="https://www.linkedin.com/search/results/all/?keywords=%23gis&amp;origin=HASH_TAG_FROM_FEED" TargetMode="External"/><Relationship Id="rId1" Type="http://schemas.openxmlformats.org/officeDocument/2006/relationships/slideLayout" Target="../slideLayouts/slideLayout2.xml"/><Relationship Id="rId6" Type="http://schemas.openxmlformats.org/officeDocument/2006/relationships/hyperlink" Target="https://www.linkedin.com/search/results/all/?keywords=%23arcgis&amp;origin=HASH_TAG_FROM_FEED" TargetMode="External"/><Relationship Id="rId5" Type="http://schemas.openxmlformats.org/officeDocument/2006/relationships/hyperlink" Target="https://www.linkedin.com/search/results/all/?keywords=%23emergencyresponse&amp;origin=HASH_TAG_FROM_FEED" TargetMode="External"/><Relationship Id="rId10" Type="http://schemas.openxmlformats.org/officeDocument/2006/relationships/image" Target="../media/image72.png"/><Relationship Id="rId4" Type="http://schemas.openxmlformats.org/officeDocument/2006/relationships/hyperlink" Target="https://www.linkedin.com/search/results/all/?keywords=%23utilities&amp;origin=HASH_TAG_FROM_FEED" TargetMode="External"/><Relationship Id="rId9" Type="http://schemas.openxmlformats.org/officeDocument/2006/relationships/hyperlink" Target="https://lnkd.in/gX-nexmB" TargetMode="External"/></Relationships>
</file>

<file path=ppt/slides/_rels/slide79.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hyperlink" Target="https://lnkd.in/gVNJNBjA" TargetMode="Externa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hyperlink" Target="https://www.linkedin.com/search/results/all/?keywords=%23gis&amp;origin=HASH_TAG_FROM_FEED" TargetMode="External"/><Relationship Id="rId2" Type="http://schemas.openxmlformats.org/officeDocument/2006/relationships/hyperlink" Target="https://www.linkedin.com/search/results/all/?keywords=%23arcgispro&amp;origin=HASH_TAG_FROM_FEED" TargetMode="External"/><Relationship Id="rId1" Type="http://schemas.openxmlformats.org/officeDocument/2006/relationships/slideLayout" Target="../slideLayouts/slideLayout2.xml"/><Relationship Id="rId4" Type="http://schemas.openxmlformats.org/officeDocument/2006/relationships/image" Target="../media/image74.jpeg"/></Relationships>
</file>

<file path=ppt/slides/_rels/slide81.xml.rels><?xml version="1.0" encoding="UTF-8" standalone="yes"?>
<Relationships xmlns="http://schemas.openxmlformats.org/package/2006/relationships"><Relationship Id="rId3" Type="http://schemas.openxmlformats.org/officeDocument/2006/relationships/hyperlink" Target="https://lnkd.in/gZinka7P" TargetMode="External"/><Relationship Id="rId2" Type="http://schemas.openxmlformats.org/officeDocument/2006/relationships/hyperlink" Target="https://lnkd.in/gab5ZQWb" TargetMode="External"/><Relationship Id="rId1" Type="http://schemas.openxmlformats.org/officeDocument/2006/relationships/slideLayout" Target="../slideLayouts/slideLayout2.xml"/><Relationship Id="rId4" Type="http://schemas.openxmlformats.org/officeDocument/2006/relationships/image" Target="../media/image75.jpeg"/></Relationships>
</file>

<file path=ppt/slides/_rels/slide82.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hyperlink" Target="https://www.linkedin.com/search/results/all/?keywords=%23imgis&amp;origin=HASH_TAG_FROM_FEED" TargetMode="Externa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hyperlink" Target="https://www.linkedin.com/search/results/all/?keywords=%23gis&amp;origin=HASH_TAG_FROM_FEED" TargetMode="External"/><Relationship Id="rId2" Type="http://schemas.openxmlformats.org/officeDocument/2006/relationships/hyperlink" Target="https://www.linkedin.com/search/results/all/?keywords=%23esri&amp;origin=HASH_TAG_FROM_FEED" TargetMode="External"/><Relationship Id="rId1" Type="http://schemas.openxmlformats.org/officeDocument/2006/relationships/slideLayout" Target="../slideLayouts/slideLayout2.xml"/><Relationship Id="rId4" Type="http://schemas.openxmlformats.org/officeDocument/2006/relationships/hyperlink" Target="https://www.linkedin.com/search/results/all/?keywords=%23arcgis&amp;origin=HASH_TAG_FROM_FEED" TargetMode="External"/></Relationships>
</file>

<file path=ppt/slides/_rels/slide85.xml.rels><?xml version="1.0" encoding="UTF-8" standalone="yes"?>
<Relationships xmlns="http://schemas.openxmlformats.org/package/2006/relationships"><Relationship Id="rId3" Type="http://schemas.openxmlformats.org/officeDocument/2006/relationships/hyperlink" Target="https://www.linkedin.com/search/results/all/?keywords=%23utilitynetwork&amp;origin=HASH_TAG_FROM_FEED" TargetMode="External"/><Relationship Id="rId2" Type="http://schemas.openxmlformats.org/officeDocument/2006/relationships/hyperlink" Target="https://www.linkedin.com/search/results/all/?keywords=%23arcgisenterprise&amp;origin=HASH_TAG_FROM_FEED&amp;lipi=urn%3Ali%3Apage%3Ad_flagship3_detail_base%3BuDVuHYV2Rl6c1Vrx%2Bnr73A%3D%3D" TargetMode="External"/><Relationship Id="rId1" Type="http://schemas.openxmlformats.org/officeDocument/2006/relationships/slideLayout" Target="../slideLayouts/slideLayout2.xml"/><Relationship Id="rId5" Type="http://schemas.openxmlformats.org/officeDocument/2006/relationships/image" Target="../media/image78.png"/><Relationship Id="rId4" Type="http://schemas.openxmlformats.org/officeDocument/2006/relationships/hyperlink" Target="https://www.linkedin.com/safety/go/?url=https%3A%2F%2Fow%2Ely%2Fw7tR50S7qCP&amp;urlhash=9Rg2&amp;mt=m4OMR4gYAgbDUjWUEmt-emFOonEJmgb62ai45vDX0CjyCxfmFpPr2IDx-IC6lhCYEGXAKv_Cdtd68ID8uNusnLDoCxbgT8eD53KOCZaL8d2bwc6R5C2JE79e&amp;isSdui=true" TargetMode="External"/></Relationships>
</file>

<file path=ppt/slides/_rels/slide8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hyperlink" Target="https://www.linkedin.com/safety/go/?url=https%3A%2F%2Flnkd%2Ein%2FdFF3Z8Pt&amp;urlhash=q6cK&amp;mt=ySF1LW9eQcO96NeWfhihgiM6t-tDC_VeOTeh00-Ytsb6OWh1H4fpk82q5xHIJ0zcrSZuZf_3S5PFSpLu081_gbeOMAXjDwr5XcWfugzPrzZt7RmHeTHQ0z_N&amp;isSdui=true" TargetMode="External"/><Relationship Id="rId2" Type="http://schemas.openxmlformats.org/officeDocument/2006/relationships/hyperlink" Target="https://www.linkedin.com/company/ff-solutions/" TargetMode="External"/><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88.xml.rels><?xml version="1.0" encoding="UTF-8" standalone="yes"?>
<Relationships xmlns="http://schemas.openxmlformats.org/package/2006/relationships"><Relationship Id="rId2" Type="http://schemas.openxmlformats.org/officeDocument/2006/relationships/image" Target="../media/image81.jpe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hyperlink" Target="https://www.linkedin.com/safety/go/?url=https%3A%2F%2Flnkd%2Ein%2Fd9c8VAVe&amp;urlhash=Aqwb&amp;mt=XleJEBuhn1KyXTjQObxKzqnsgB0Lc59ARVsYzUi6Q21Y-63cO9R9Wtq57xW6AxTc3etK0fESY4_yy3vI6lyt3jnG8z3TGt74t8-kfgry5Q3per6ExiRfgtyo&amp;isSdui=true" TargetMode="Externa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hyperlink" Target="https://ow.ly/QjKg30sCI1O" TargetMode="Externa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hyperlink" Target="https://lnkd.in/d9c8VAVe" TargetMode="Externa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hyperlink" Target="https://lnkd.in/dwqWqbMG" TargetMode="Externa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hyperlink" Target="https://www.linkedin.com/search/results/all/?keywords=%23gis&amp;origin=HASH_TAG_FROM_FEED" TargetMode="External"/><Relationship Id="rId2" Type="http://schemas.openxmlformats.org/officeDocument/2006/relationships/hyperlink" Target="https://www.linkedin.com/search/results/all/?keywords=%23arcgispro&amp;origin=HASH_TAG_FROM_FEED" TargetMode="External"/><Relationship Id="rId1" Type="http://schemas.openxmlformats.org/officeDocument/2006/relationships/slideLayout" Target="../slideLayouts/slideLayout2.xml"/><Relationship Id="rId4" Type="http://schemas.openxmlformats.org/officeDocument/2006/relationships/image" Target="../media/image87.png"/></Relationships>
</file>

<file path=ppt/slides/_rels/slide96.xml.rels><?xml version="1.0" encoding="UTF-8" standalone="yes"?>
<Relationships xmlns="http://schemas.openxmlformats.org/package/2006/relationships"><Relationship Id="rId3" Type="http://schemas.openxmlformats.org/officeDocument/2006/relationships/hyperlink" Target="https://www.linkedin.com/in/rleclair12/" TargetMode="External"/><Relationship Id="rId2" Type="http://schemas.openxmlformats.org/officeDocument/2006/relationships/hyperlink" Target="https://lnkd.in/gdWSNWFk" TargetMode="External"/><Relationship Id="rId1" Type="http://schemas.openxmlformats.org/officeDocument/2006/relationships/slideLayout" Target="../slideLayouts/slideLayout2.xml"/><Relationship Id="rId6" Type="http://schemas.openxmlformats.org/officeDocument/2006/relationships/image" Target="../media/image88.jpeg"/><Relationship Id="rId5" Type="http://schemas.openxmlformats.org/officeDocument/2006/relationships/hyperlink" Target="https://www.linkedin.com/search/results/all/?keywords=%23esriuc2024&amp;origin=HASH_TAG_FROM_FEED" TargetMode="External"/><Relationship Id="rId4" Type="http://schemas.openxmlformats.org/officeDocument/2006/relationships/hyperlink" Target="https://www.linkedin.com/in/leah-wells-bailey/" TargetMode="External"/></Relationships>
</file>

<file path=ppt/slides/_rels/slide97.xml.rels><?xml version="1.0" encoding="UTF-8" standalone="yes"?>
<Relationships xmlns="http://schemas.openxmlformats.org/package/2006/relationships"><Relationship Id="rId3" Type="http://schemas.openxmlformats.org/officeDocument/2006/relationships/hyperlink" Target="https://lnkd.in/gAeQArBj" TargetMode="External"/><Relationship Id="rId2" Type="http://schemas.openxmlformats.org/officeDocument/2006/relationships/hyperlink" Target="https://www.linkedin.com/in/jennifer-cadkin-516257a/" TargetMode="External"/><Relationship Id="rId1" Type="http://schemas.openxmlformats.org/officeDocument/2006/relationships/slideLayout" Target="../slideLayouts/slideLayout2.xml"/><Relationship Id="rId4" Type="http://schemas.openxmlformats.org/officeDocument/2006/relationships/image" Target="../media/image89.jpeg"/></Relationships>
</file>

<file path=ppt/slides/_rels/slide9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hyperlink" Target="https://lnkd.in/d9c8VAVe" TargetMode="Externa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hyperlink" Target="https://lnkd.in/eaPhMZag" TargetMode="External"/><Relationship Id="rId2" Type="http://schemas.openxmlformats.org/officeDocument/2006/relationships/hyperlink" Target="https://lnkd.in/eaXvVBKS" TargetMode="External"/><Relationship Id="rId1" Type="http://schemas.openxmlformats.org/officeDocument/2006/relationships/slideLayout" Target="../slideLayouts/slideLayout2.xml"/><Relationship Id="rId4" Type="http://schemas.openxmlformats.org/officeDocument/2006/relationships/image" Target="../media/image91.jpeg"/></Relationships>
</file>

<file path=ppt/slides/_rels/slide100.xml.rels><?xml version="1.0" encoding="UTF-8" standalone="yes"?>
<Relationships xmlns="http://schemas.openxmlformats.org/package/2006/relationships"><Relationship Id="rId3" Type="http://schemas.openxmlformats.org/officeDocument/2006/relationships/hyperlink" Target="https://lnkd.in/dFCjEkym" TargetMode="External"/><Relationship Id="rId2" Type="http://schemas.openxmlformats.org/officeDocument/2006/relationships/hyperlink" Target="https://lnkd.in/dN4vAkT6" TargetMode="External"/><Relationship Id="rId1" Type="http://schemas.openxmlformats.org/officeDocument/2006/relationships/slideLayout" Target="../slideLayouts/slideLayout2.xml"/><Relationship Id="rId4" Type="http://schemas.openxmlformats.org/officeDocument/2006/relationships/image" Target="../media/image92.png"/></Relationships>
</file>

<file path=ppt/slides/_rels/slide101.xml.rels><?xml version="1.0" encoding="UTF-8" standalone="yes"?>
<Relationships xmlns="http://schemas.openxmlformats.org/package/2006/relationships"><Relationship Id="rId2" Type="http://schemas.openxmlformats.org/officeDocument/2006/relationships/image" Target="../media/image93.jpe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hyperlink" Target="http://ilovegis.com.br/" TargetMode="Externa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hyperlink" Target="https://www.linkedin.com/company/brabant-water/" TargetMode="External"/><Relationship Id="rId7" Type="http://schemas.openxmlformats.org/officeDocument/2006/relationships/image" Target="../media/image96.jpeg"/><Relationship Id="rId2" Type="http://schemas.openxmlformats.org/officeDocument/2006/relationships/hyperlink" Target="https://www.linkedin.com/search/results/all/?keywords=%23arcgis&amp;origin=HASH_TAG_FROM_FEED" TargetMode="External"/><Relationship Id="rId1" Type="http://schemas.openxmlformats.org/officeDocument/2006/relationships/slideLayout" Target="../slideLayouts/slideLayout2.xml"/><Relationship Id="rId6" Type="http://schemas.openxmlformats.org/officeDocument/2006/relationships/hyperlink" Target="https://www.linkedin.com/company/esri-nederland/" TargetMode="External"/><Relationship Id="rId5" Type="http://schemas.openxmlformats.org/officeDocument/2006/relationships/hyperlink" Target="https://lnkd.in/gNr6Khpg" TargetMode="External"/><Relationship Id="rId4" Type="http://schemas.openxmlformats.org/officeDocument/2006/relationships/hyperlink" Target="https://www.linkedin.com/search/results/all/?keywords=%23esriwater&amp;origin=HASH_TAG_FROM_FEED" TargetMode="External"/></Relationships>
</file>

<file path=ppt/slides/_rels/slide105.xml.rels><?xml version="1.0" encoding="UTF-8" standalone="yes"?>
<Relationships xmlns="http://schemas.openxmlformats.org/package/2006/relationships"><Relationship Id="rId8" Type="http://schemas.openxmlformats.org/officeDocument/2006/relationships/customXml" Target="../ink/ink5.xml"/><Relationship Id="rId3" Type="http://schemas.openxmlformats.org/officeDocument/2006/relationships/image" Target="../media/image860.png"/><Relationship Id="rId7" Type="http://schemas.openxmlformats.org/officeDocument/2006/relationships/image" Target="../media/image880.png"/><Relationship Id="rId12" Type="http://schemas.openxmlformats.org/officeDocument/2006/relationships/customXml" Target="../ink/ink7.xml"/><Relationship Id="rId2" Type="http://schemas.openxmlformats.org/officeDocument/2006/relationships/customXml" Target="../ink/ink2.xml"/><Relationship Id="rId1" Type="http://schemas.openxmlformats.org/officeDocument/2006/relationships/slideLayout" Target="../slideLayouts/slideLayout2.xml"/><Relationship Id="rId6" Type="http://schemas.openxmlformats.org/officeDocument/2006/relationships/customXml" Target="../ink/ink4.xml"/><Relationship Id="rId11" Type="http://schemas.openxmlformats.org/officeDocument/2006/relationships/image" Target="../media/image900.png"/><Relationship Id="rId5" Type="http://schemas.openxmlformats.org/officeDocument/2006/relationships/image" Target="../media/image870.png"/><Relationship Id="rId10" Type="http://schemas.openxmlformats.org/officeDocument/2006/relationships/customXml" Target="../ink/ink6.xml"/><Relationship Id="rId4" Type="http://schemas.openxmlformats.org/officeDocument/2006/relationships/customXml" Target="../ink/ink3.xml"/><Relationship Id="rId9" Type="http://schemas.openxmlformats.org/officeDocument/2006/relationships/image" Target="../media/image890.png"/></Relationships>
</file>

<file path=ppt/slides/_rels/slide106.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hyperlink" Target="https://www.linkedin.com/in/mashford-mahute-012487178/" TargetMode="Externa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hyperlink" Target="https://lnkd.in/ecZSMU4i" TargetMode="External"/><Relationship Id="rId7" Type="http://schemas.openxmlformats.org/officeDocument/2006/relationships/image" Target="../media/image99.png"/><Relationship Id="rId2" Type="http://schemas.openxmlformats.org/officeDocument/2006/relationships/hyperlink" Target="https://lnkd.in/gxutgrHq" TargetMode="External"/><Relationship Id="rId1" Type="http://schemas.openxmlformats.org/officeDocument/2006/relationships/slideLayout" Target="../slideLayouts/slideLayout2.xml"/><Relationship Id="rId6" Type="http://schemas.openxmlformats.org/officeDocument/2006/relationships/hyperlink" Target="https://lnkd.in/gKMaNxsd" TargetMode="External"/><Relationship Id="rId5" Type="http://schemas.openxmlformats.org/officeDocument/2006/relationships/hyperlink" Target="https://www.linkedin.com/in/patrick-demer-7596999a/" TargetMode="External"/><Relationship Id="rId4" Type="http://schemas.openxmlformats.org/officeDocument/2006/relationships/hyperlink" Target="https://lnkd.in/gZWSa5Nb" TargetMode="External"/></Relationships>
</file>

<file path=ppt/slides/_rels/slide109.xml.rels><?xml version="1.0" encoding="UTF-8" standalone="yes"?>
<Relationships xmlns="http://schemas.openxmlformats.org/package/2006/relationships"><Relationship Id="rId2" Type="http://schemas.openxmlformats.org/officeDocument/2006/relationships/image" Target="../media/image100.jpe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jpe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103.jpe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hyperlink" Target="https://lnkd.in/deMtAuRf" TargetMode="Externa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hyperlink" Target="https://lnkd.in/dq26DHak" TargetMode="External"/><Relationship Id="rId2" Type="http://schemas.openxmlformats.org/officeDocument/2006/relationships/hyperlink" Target="https://lnkd.in/dFvgfaE2" TargetMode="External"/><Relationship Id="rId1" Type="http://schemas.openxmlformats.org/officeDocument/2006/relationships/slideLayout" Target="../slideLayouts/slideLayout2.xml"/><Relationship Id="rId5" Type="http://schemas.openxmlformats.org/officeDocument/2006/relationships/image" Target="../media/image105.png"/><Relationship Id="rId4" Type="http://schemas.openxmlformats.org/officeDocument/2006/relationships/hyperlink" Target="https://lnkd.in/dWpTj55V" TargetMode="External"/></Relationships>
</file>

<file path=ppt/slides/_rels/slide114.xml.rels><?xml version="1.0" encoding="UTF-8" standalone="yes"?>
<Relationships xmlns="http://schemas.openxmlformats.org/package/2006/relationships"><Relationship Id="rId2" Type="http://schemas.openxmlformats.org/officeDocument/2006/relationships/image" Target="../media/image106.jpe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hyperlink" Target="https://lnkd.in/dya9Z8Je" TargetMode="External"/><Relationship Id="rId2" Type="http://schemas.openxmlformats.org/officeDocument/2006/relationships/hyperlink" Target="https://lnkd.in/dvN3Nyqk" TargetMode="External"/><Relationship Id="rId1" Type="http://schemas.openxmlformats.org/officeDocument/2006/relationships/slideLayout" Target="../slideLayouts/slideLayout2.xml"/><Relationship Id="rId5" Type="http://schemas.openxmlformats.org/officeDocument/2006/relationships/image" Target="../media/image107.png"/><Relationship Id="rId4" Type="http://schemas.openxmlformats.org/officeDocument/2006/relationships/hyperlink" Target="https://lnkd.in/dVhR7dCe" TargetMode="External"/></Relationships>
</file>

<file path=ppt/slides/_rels/slide116.xml.rels><?xml version="1.0" encoding="UTF-8" standalone="yes"?>
<Relationships xmlns="http://schemas.openxmlformats.org/package/2006/relationships"><Relationship Id="rId2" Type="http://schemas.openxmlformats.org/officeDocument/2006/relationships/image" Target="../media/image108.jpe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hyperlink" Target="https://www.linkedin.com/search/results/all/?keywords=%23mobilegis&amp;origin=HASH_TAG_FROM_FEED" TargetMode="External"/><Relationship Id="rId2" Type="http://schemas.openxmlformats.org/officeDocument/2006/relationships/hyperlink" Target="https://www.linkedin.com/search/results/all/?keywords=%23gis&amp;origin=HASH_TAG_FROM_FEED" TargetMode="External"/><Relationship Id="rId1" Type="http://schemas.openxmlformats.org/officeDocument/2006/relationships/slideLayout" Target="../slideLayouts/slideLayout2.xml"/><Relationship Id="rId5" Type="http://schemas.openxmlformats.org/officeDocument/2006/relationships/image" Target="../media/image109.jpeg"/><Relationship Id="rId4" Type="http://schemas.openxmlformats.org/officeDocument/2006/relationships/hyperlink" Target="https://ow.ly/IU0450TPShZ" TargetMode="External"/></Relationships>
</file>

<file path=ppt/slides/_rels/slide118.xml.rels><?xml version="1.0" encoding="UTF-8" standalone="yes"?>
<Relationships xmlns="http://schemas.openxmlformats.org/package/2006/relationships"><Relationship Id="rId3" Type="http://schemas.openxmlformats.org/officeDocument/2006/relationships/image" Target="../media/image1040.png"/><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110.jpe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111.jpe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8" Type="http://schemas.openxmlformats.org/officeDocument/2006/relationships/hyperlink" Target="https://www.linkedin.com/search/results/all/?keywords=%23pro&amp;origin=HASH_TAG_FROM_FEED" TargetMode="External"/><Relationship Id="rId3" Type="http://schemas.openxmlformats.org/officeDocument/2006/relationships/hyperlink" Target="https://www.linkedin.com/in/rohitgeo/" TargetMode="External"/><Relationship Id="rId7" Type="http://schemas.openxmlformats.org/officeDocument/2006/relationships/hyperlink" Target="https://www.linkedin.com/search/results/all/?keywords=%23arcgis&amp;origin=HASH_TAG_FROM_FEED" TargetMode="External"/><Relationship Id="rId2" Type="http://schemas.openxmlformats.org/officeDocument/2006/relationships/hyperlink" Target="https://www.linkedin.com/in/ahmed-noureldeen-phd-mba-12b91231/" TargetMode="External"/><Relationship Id="rId1" Type="http://schemas.openxmlformats.org/officeDocument/2006/relationships/slideLayout" Target="../slideLayouts/slideLayout2.xml"/><Relationship Id="rId6" Type="http://schemas.openxmlformats.org/officeDocument/2006/relationships/hyperlink" Target="https://www.linkedin.com/search/results/all/?keywords=%23esri&amp;origin=HASH_TAG_FROM_FEED" TargetMode="External"/><Relationship Id="rId5" Type="http://schemas.openxmlformats.org/officeDocument/2006/relationships/hyperlink" Target="https://www.linkedin.com/in/ahmed-al-humaidi-3a574b109/" TargetMode="External"/><Relationship Id="rId4" Type="http://schemas.openxmlformats.org/officeDocument/2006/relationships/hyperlink" Target="https://www.linkedin.com/in/vinayviswambharan/" TargetMode="External"/><Relationship Id="rId9" Type="http://schemas.openxmlformats.org/officeDocument/2006/relationships/image" Target="../media/image112.png"/></Relationships>
</file>

<file path=ppt/slides/_rels/slide122.xml.rels><?xml version="1.0" encoding="UTF-8" standalone="yes"?>
<Relationships xmlns="http://schemas.openxmlformats.org/package/2006/relationships"><Relationship Id="rId8" Type="http://schemas.openxmlformats.org/officeDocument/2006/relationships/hyperlink" Target="https://www.linkedin.com/in/matt-piper-esri/" TargetMode="External"/><Relationship Id="rId3" Type="http://schemas.openxmlformats.org/officeDocument/2006/relationships/hyperlink" Target="https://www.linkedin.com/search/results/all/?keywords=%23arcgis&amp;origin=HASH_TAG_FROM_FEED" TargetMode="External"/><Relationship Id="rId7" Type="http://schemas.openxmlformats.org/officeDocument/2006/relationships/hyperlink" Target="https://www.linkedin.com/in/tom-coolidge-92b5102/" TargetMode="External"/><Relationship Id="rId2" Type="http://schemas.openxmlformats.org/officeDocument/2006/relationships/hyperlink" Target="https://ow.ly/mCoM50TYvAC" TargetMode="External"/><Relationship Id="rId1" Type="http://schemas.openxmlformats.org/officeDocument/2006/relationships/slideLayout" Target="../slideLayouts/slideLayout2.xml"/><Relationship Id="rId6" Type="http://schemas.openxmlformats.org/officeDocument/2006/relationships/hyperlink" Target="https://www.linkedin.com/in/bimeehan/" TargetMode="External"/><Relationship Id="rId11" Type="http://schemas.openxmlformats.org/officeDocument/2006/relationships/image" Target="../media/image113.png"/><Relationship Id="rId5" Type="http://schemas.openxmlformats.org/officeDocument/2006/relationships/hyperlink" Target="https://www.linkedin.com/search/results/all/?keywords=%23utilities&amp;origin=HASH_TAG_FROM_FEED" TargetMode="External"/><Relationship Id="rId10" Type="http://schemas.openxmlformats.org/officeDocument/2006/relationships/hyperlink" Target="https://www.linkedin.com/search/results/all/?keywords=%23kaukauna&amp;origin=HASH_TAG_FROM_FEED" TargetMode="External"/><Relationship Id="rId4" Type="http://schemas.openxmlformats.org/officeDocument/2006/relationships/hyperlink" Target="https://www.linkedin.com/search/results/all/?keywords=%23electric&amp;origin=HASH_TAG_FROM_FEED" TargetMode="External"/><Relationship Id="rId9" Type="http://schemas.openxmlformats.org/officeDocument/2006/relationships/hyperlink" Target="https://www.linkedin.com/search/results/all/?keywords=%23utilitynetwork&amp;origin=HASH_TAG_FROM_FEED" TargetMode="External"/></Relationships>
</file>

<file path=ppt/slides/_rels/slide123.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115.jpe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116.jpe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hyperlink" Target="https://lnkd.in/gzee2ccd" TargetMode="External"/><Relationship Id="rId2" Type="http://schemas.openxmlformats.org/officeDocument/2006/relationships/hyperlink" Target="https://www.linkedin.com/in/hnaser/" TargetMode="External"/><Relationship Id="rId1" Type="http://schemas.openxmlformats.org/officeDocument/2006/relationships/slideLayout" Target="../slideLayouts/slideLayout2.xml"/><Relationship Id="rId4" Type="http://schemas.openxmlformats.org/officeDocument/2006/relationships/image" Target="../media/image117.png"/></Relationships>
</file>

<file path=ppt/slides/_rels/slide127.xml.rels><?xml version="1.0" encoding="UTF-8" standalone="yes"?>
<Relationships xmlns="http://schemas.openxmlformats.org/package/2006/relationships"><Relationship Id="rId2" Type="http://schemas.openxmlformats.org/officeDocument/2006/relationships/image" Target="../media/image118.jpe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8" Type="http://schemas.openxmlformats.org/officeDocument/2006/relationships/hyperlink" Target="https://www.linkedin.com/search/results/all/?keywords=%23onpremises&amp;origin=HASH_TAG_FROM_FEED" TargetMode="External"/><Relationship Id="rId13" Type="http://schemas.openxmlformats.org/officeDocument/2006/relationships/hyperlink" Target="https://www.linkedin.com/search/results/all/?keywords=%23data&amp;origin=HASH_TAG_FROM_FEED" TargetMode="External"/><Relationship Id="rId18" Type="http://schemas.openxmlformats.org/officeDocument/2006/relationships/hyperlink" Target="https://www.linkedin.com/search/results/all/?keywords=%23organization&amp;origin=HASH_TAG_FROM_FEED" TargetMode="External"/><Relationship Id="rId26" Type="http://schemas.openxmlformats.org/officeDocument/2006/relationships/hyperlink" Target="https://www.linkedin.com/search/results/all/?keywords=%23products&amp;origin=HASH_TAG_FROM_FEED" TargetMode="External"/><Relationship Id="rId3" Type="http://schemas.openxmlformats.org/officeDocument/2006/relationships/hyperlink" Target="https://www.linkedin.com/search/results/all/?keywords=%23mapping&amp;origin=HASH_TAG_FROM_FEED" TargetMode="External"/><Relationship Id="rId21" Type="http://schemas.openxmlformats.org/officeDocument/2006/relationships/hyperlink" Target="https://www.linkedin.com/search/results/all/?keywords=%23field&amp;origin=HASH_TAG_FROM_FEED" TargetMode="External"/><Relationship Id="rId7" Type="http://schemas.openxmlformats.org/officeDocument/2006/relationships/hyperlink" Target="https://www.linkedin.com/search/results/all/?keywords=%23private&amp;origin=HASH_TAG_FROM_FEED" TargetMode="External"/><Relationship Id="rId12" Type="http://schemas.openxmlformats.org/officeDocument/2006/relationships/hyperlink" Target="https://www.linkedin.com/search/results/all/?keywords=%23datamanagement&amp;origin=HASH_TAG_FROM_FEED" TargetMode="External"/><Relationship Id="rId17" Type="http://schemas.openxmlformats.org/officeDocument/2006/relationships/hyperlink" Target="https://www.linkedin.com/search/results/all/?keywords=%23collaborate&amp;origin=HASH_TAG_FROM_FEED" TargetMode="External"/><Relationship Id="rId25" Type="http://schemas.openxmlformats.org/officeDocument/2006/relationships/hyperlink" Target="https://www.linkedin.com/search/results/all/?keywords=%23capabilities&amp;origin=HASH_TAG_FROM_FEED" TargetMode="External"/><Relationship Id="rId2" Type="http://schemas.openxmlformats.org/officeDocument/2006/relationships/hyperlink" Target="https://www.linkedin.com/search/results/all/?keywords=%23gis&amp;origin=HASH_TAG_FROM_FEED" TargetMode="External"/><Relationship Id="rId16" Type="http://schemas.openxmlformats.org/officeDocument/2006/relationships/hyperlink" Target="https://www.linkedin.com/search/results/all/?keywords=%23share&amp;origin=HASH_TAG_FROM_FEED" TargetMode="External"/><Relationship Id="rId20" Type="http://schemas.openxmlformats.org/officeDocument/2006/relationships/hyperlink" Target="https://www.linkedin.com/search/results/all/?keywords=%23bigdata&amp;origin=HASH_TAG_FROM_FEED" TargetMode="External"/><Relationship Id="rId29" Type="http://schemas.openxmlformats.org/officeDocument/2006/relationships/hyperlink" Target="https://www.linkedin.com/search/results/all/?keywords=%23extensions&amp;origin=HASH_TAG_FROM_FEED" TargetMode="External"/><Relationship Id="rId1" Type="http://schemas.openxmlformats.org/officeDocument/2006/relationships/slideLayout" Target="../slideLayouts/slideLayout2.xml"/><Relationship Id="rId6" Type="http://schemas.openxmlformats.org/officeDocument/2006/relationships/hyperlink" Target="https://www.linkedin.com/search/results/all/?keywords=%23public&amp;origin=HASH_TAG_FROM_FEED" TargetMode="External"/><Relationship Id="rId11" Type="http://schemas.openxmlformats.org/officeDocument/2006/relationships/hyperlink" Target="https://www.linkedin.com/search/results/all/?keywords=%23kubernetes&amp;origin=HASH_TAG_FROM_FEED" TargetMode="External"/><Relationship Id="rId24" Type="http://schemas.openxmlformats.org/officeDocument/2006/relationships/hyperlink" Target="https://www.linkedin.com/search/results/all/?keywords=%23tracking&amp;origin=HASH_TAG_FROM_FEED" TargetMode="External"/><Relationship Id="rId5" Type="http://schemas.openxmlformats.org/officeDocument/2006/relationships/hyperlink" Target="https://www.linkedin.com/search/results/all/?keywords=%23analytics&amp;origin=HASH_TAG_FROM_FEED" TargetMode="External"/><Relationship Id="rId15" Type="http://schemas.openxmlformats.org/officeDocument/2006/relationships/hyperlink" Target="https://www.linkedin.com/search/results/all/?keywords=%23trends&amp;origin=HASH_TAG_FROM_FEED" TargetMode="External"/><Relationship Id="rId23" Type="http://schemas.openxmlformats.org/officeDocument/2006/relationships/hyperlink" Target="https://www.linkedin.com/search/results/all/?keywords=%23operational&amp;origin=HASH_TAG_FROM_FEED" TargetMode="External"/><Relationship Id="rId28" Type="http://schemas.openxmlformats.org/officeDocument/2006/relationships/hyperlink" Target="https://www.linkedin.com/search/results/all/?keywords=%23usertypes&amp;origin=HASH_TAG_FROM_FEED" TargetMode="External"/><Relationship Id="rId10" Type="http://schemas.openxmlformats.org/officeDocument/2006/relationships/hyperlink" Target="https://www.linkedin.com/search/results/all/?keywords=%23linux&amp;origin=HASH_TAG_FROM_FEED" TargetMode="External"/><Relationship Id="rId19" Type="http://schemas.openxmlformats.org/officeDocument/2006/relationships/hyperlink" Target="https://www.linkedin.com/search/results/all/?keywords=%23realtime&amp;origin=HASH_TAG_FROM_FEED" TargetMode="External"/><Relationship Id="rId31" Type="http://schemas.openxmlformats.org/officeDocument/2006/relationships/image" Target="../media/image119.png"/><Relationship Id="rId4" Type="http://schemas.openxmlformats.org/officeDocument/2006/relationships/hyperlink" Target="https://www.linkedin.com/search/results/all/?keywords=%23visualization&amp;origin=HASH_TAG_FROM_FEED" TargetMode="External"/><Relationship Id="rId9" Type="http://schemas.openxmlformats.org/officeDocument/2006/relationships/hyperlink" Target="https://www.linkedin.com/search/results/all/?keywords=%23windows&amp;origin=HASH_TAG_FROM_FEED" TargetMode="External"/><Relationship Id="rId14" Type="http://schemas.openxmlformats.org/officeDocument/2006/relationships/hyperlink" Target="https://www.linkedin.com/search/results/all/?keywords=%23patterns&amp;origin=HASH_TAG_FROM_FEED" TargetMode="External"/><Relationship Id="rId22" Type="http://schemas.openxmlformats.org/officeDocument/2006/relationships/hyperlink" Target="https://www.linkedin.com/search/results/all/?keywords=%23collection&amp;origin=HASH_TAG_FROM_FEED" TargetMode="External"/><Relationship Id="rId27" Type="http://schemas.openxmlformats.org/officeDocument/2006/relationships/hyperlink" Target="https://www.linkedin.com/search/results/all/?keywords=%23licenses&amp;origin=HASH_TAG_FROM_FEED" TargetMode="External"/><Relationship Id="rId30" Type="http://schemas.openxmlformats.org/officeDocument/2006/relationships/hyperlink" Target="https://www.linkedin.com/search/results/all/?keywords=%23map&amp;origin=HASH_TAG_FROM_FEED" TargetMode="External"/></Relationships>
</file>

<file path=ppt/slides/_rels/slide129.xml.rels><?xml version="1.0" encoding="UTF-8" standalone="yes"?>
<Relationships xmlns="http://schemas.openxmlformats.org/package/2006/relationships"><Relationship Id="rId3" Type="http://schemas.openxmlformats.org/officeDocument/2006/relationships/hyperlink" Target="https://lnkd.in/gSReh-2E" TargetMode="External"/><Relationship Id="rId2" Type="http://schemas.openxmlformats.org/officeDocument/2006/relationships/hyperlink" Target="https://lnkd.in/gGUsgGrV" TargetMode="External"/><Relationship Id="rId1" Type="http://schemas.openxmlformats.org/officeDocument/2006/relationships/slideLayout" Target="../slideLayouts/slideLayout2.xml"/><Relationship Id="rId4" Type="http://schemas.openxmlformats.org/officeDocument/2006/relationships/image" Target="../media/image120.png"/></Relationships>
</file>

<file path=ppt/slides/_rels/slide130.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hyperlink" Target="https://www.linkedin.com/company/tpfengenharia/" TargetMode="Externa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12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ângulo 4">
            <a:extLst>
              <a:ext uri="{FF2B5EF4-FFF2-40B4-BE49-F238E27FC236}">
                <a16:creationId xmlns:a16="http://schemas.microsoft.com/office/drawing/2014/main" id="{D463C5FB-8CD7-4151-895B-C7AA4E862EF6}"/>
              </a:ext>
            </a:extLst>
          </p:cNvPr>
          <p:cNvSpPr/>
          <p:nvPr/>
        </p:nvSpPr>
        <p:spPr>
          <a:xfrm>
            <a:off x="3320947" y="1792411"/>
            <a:ext cx="4945586" cy="2862322"/>
          </a:xfrm>
          <a:prstGeom prst="rect">
            <a:avLst/>
          </a:prstGeom>
        </p:spPr>
        <p:txBody>
          <a:bodyPr wrap="none">
            <a:spAutoFit/>
          </a:bodyPr>
          <a:lstStyle/>
          <a:p>
            <a:pPr algn="ctr"/>
            <a:r>
              <a:rPr lang="pt-BR" sz="6000" err="1">
                <a:solidFill>
                  <a:srgbClr val="FF0000"/>
                </a:solidFill>
              </a:rPr>
              <a:t>Esri</a:t>
            </a:r>
            <a:endParaRPr lang="pt-BR" sz="6000">
              <a:solidFill>
                <a:srgbClr val="FF0000"/>
              </a:solidFill>
            </a:endParaRPr>
          </a:p>
          <a:p>
            <a:pPr algn="ctr"/>
            <a:r>
              <a:rPr lang="pt-BR" sz="6000">
                <a:solidFill>
                  <a:srgbClr val="FF0000"/>
                </a:solidFill>
              </a:rPr>
              <a:t>&amp;</a:t>
            </a:r>
          </a:p>
          <a:p>
            <a:pPr algn="ctr"/>
            <a:r>
              <a:rPr lang="pt-BR" sz="6000" err="1">
                <a:solidFill>
                  <a:srgbClr val="FF0000"/>
                </a:solidFill>
              </a:rPr>
              <a:t>Utility</a:t>
            </a:r>
            <a:r>
              <a:rPr lang="pt-BR" sz="6000">
                <a:solidFill>
                  <a:srgbClr val="FF0000"/>
                </a:solidFill>
              </a:rPr>
              <a:t> Network</a:t>
            </a:r>
          </a:p>
        </p:txBody>
      </p:sp>
    </p:spTree>
    <p:extLst>
      <p:ext uri="{BB962C8B-B14F-4D97-AF65-F5344CB8AC3E}">
        <p14:creationId xmlns:p14="http://schemas.microsoft.com/office/powerpoint/2010/main" val="3771916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7AFB4C04-67C8-5B4B-3109-3A08CE214A1C}"/>
              </a:ext>
            </a:extLst>
          </p:cNvPr>
          <p:cNvSpPr txBox="1"/>
          <p:nvPr/>
        </p:nvSpPr>
        <p:spPr>
          <a:xfrm>
            <a:off x="5880339" y="122207"/>
            <a:ext cx="6096000" cy="61863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system-ui"/>
                <a:ea typeface="system-ui"/>
                <a:cs typeface="system-ui"/>
              </a:rPr>
              <a:t>Concluímos na última sexta-feira a Esri User Conference 2024 em San Diego, Califórnia, e foi uma experiência incrível! O evento reuniu cerca de 20 mil pessoas de todo o mundo e tivemos a honra de contar com a presença de clientes como Copel, Eletrobrás, Itaipu, TIM, Vivo, Sanepar, Sabesp e Caesb.</a:t>
            </a:r>
            <a:br>
              <a:rPr lang="en-US"/>
            </a:br>
            <a:br>
              <a:rPr lang="en-US"/>
            </a:br>
            <a:r>
              <a:rPr lang="en-US">
                <a:latin typeface="system-ui"/>
                <a:ea typeface="system-ui"/>
                <a:cs typeface="system-ui"/>
              </a:rPr>
              <a:t>As apresentações da </a:t>
            </a:r>
            <a:r>
              <a:rPr lang="en-US" b="1" u="none" strike="noStrike">
                <a:solidFill>
                  <a:srgbClr val="0A66C2"/>
                </a:solidFill>
                <a:latin typeface="inherit"/>
                <a:ea typeface="inherit"/>
                <a:cs typeface="inherit"/>
                <a:hlinkClick r:id="rId2"/>
              </a:rPr>
              <a:t>Valeria Carazzai</a:t>
            </a:r>
            <a:r>
              <a:rPr lang="en-US">
                <a:latin typeface="system-ui"/>
                <a:ea typeface="system-ui"/>
                <a:cs typeface="system-ui"/>
              </a:rPr>
              <a:t> Gerente Executiva da Eletrobrás e do </a:t>
            </a:r>
            <a:r>
              <a:rPr lang="en-US" b="1" u="none" strike="noStrike">
                <a:solidFill>
                  <a:srgbClr val="0A66C2"/>
                </a:solidFill>
                <a:latin typeface="inherit"/>
                <a:ea typeface="inherit"/>
                <a:cs typeface="inherit"/>
                <a:hlinkClick r:id="rId3"/>
              </a:rPr>
              <a:t>Thiago Becker</a:t>
            </a:r>
            <a:r>
              <a:rPr lang="en-US">
                <a:latin typeface="system-ui"/>
                <a:ea typeface="system-ui"/>
                <a:cs typeface="system-ui"/>
              </a:rPr>
              <a:t> Gerente de TI da Itaipu foram sensacionais, enriquecedoras em conhecimento e representaram com excelência o Brasil.</a:t>
            </a:r>
            <a:br>
              <a:rPr lang="en-US"/>
            </a:br>
            <a:br>
              <a:rPr lang="en-US"/>
            </a:br>
            <a:r>
              <a:rPr lang="en-US">
                <a:latin typeface="system-ui"/>
                <a:ea typeface="system-ui"/>
                <a:cs typeface="system-ui"/>
              </a:rPr>
              <a:t>Foi uma semana repleta de aprendizado, networking, novas ideias e orientações. Agradecemos a todos que participaram e contribuíram para tornar este evento tão especial.</a:t>
            </a:r>
            <a:br>
              <a:rPr lang="en-US"/>
            </a:br>
            <a:br>
              <a:rPr lang="en-US"/>
            </a:br>
            <a:r>
              <a:rPr lang="en-US">
                <a:latin typeface="system-ui"/>
                <a:ea typeface="system-ui"/>
                <a:cs typeface="system-ui"/>
              </a:rPr>
              <a:t>Volto para o Brasil energizado e ansioso para evoluir com nossos clientes nas últimas inovações em GeoAI, IA generativa, integração do GIS com BIM/CAD, entre outros temas que lá foram discutidos.</a:t>
            </a:r>
            <a:br>
              <a:rPr lang="en-US"/>
            </a:br>
            <a:br>
              <a:rPr lang="en-US"/>
            </a:br>
            <a:r>
              <a:rPr lang="en-US">
                <a:latin typeface="system-ui"/>
                <a:ea typeface="system-ui"/>
                <a:cs typeface="system-ui"/>
              </a:rPr>
              <a:t>GIS - Uniting our world.</a:t>
            </a:r>
            <a:endParaRPr lang="en-US"/>
          </a:p>
          <a:p>
            <a:pPr algn="ctr"/>
            <a:endParaRPr lang="pt-BR"/>
          </a:p>
        </p:txBody>
      </p:sp>
      <p:pic>
        <p:nvPicPr>
          <p:cNvPr id="5" name="Imagem 4" descr="Tela de computador com jogo&#10;&#10;O conteúdo gerado por IA pode estar incorreto.">
            <a:extLst>
              <a:ext uri="{FF2B5EF4-FFF2-40B4-BE49-F238E27FC236}">
                <a16:creationId xmlns:a16="http://schemas.microsoft.com/office/drawing/2014/main" id="{32F256DF-BBAF-C7C3-5835-06B749655945}"/>
              </a:ext>
            </a:extLst>
          </p:cNvPr>
          <p:cNvPicPr>
            <a:picLocks noChangeAspect="1"/>
          </p:cNvPicPr>
          <p:nvPr/>
        </p:nvPicPr>
        <p:blipFill>
          <a:blip r:embed="rId4"/>
          <a:stretch>
            <a:fillRect/>
          </a:stretch>
        </p:blipFill>
        <p:spPr>
          <a:xfrm>
            <a:off x="428625" y="461873"/>
            <a:ext cx="5238750" cy="4381500"/>
          </a:xfrm>
          <a:prstGeom prst="rect">
            <a:avLst/>
          </a:prstGeom>
        </p:spPr>
      </p:pic>
      <p:sp>
        <p:nvSpPr>
          <p:cNvPr id="6" name="CaixaDeTexto 5">
            <a:extLst>
              <a:ext uri="{FF2B5EF4-FFF2-40B4-BE49-F238E27FC236}">
                <a16:creationId xmlns:a16="http://schemas.microsoft.com/office/drawing/2014/main" id="{1AFA6FCC-EB3F-D03E-81FA-C1F7F6E3ABBF}"/>
              </a:ext>
            </a:extLst>
          </p:cNvPr>
          <p:cNvSpPr txBox="1"/>
          <p:nvPr/>
        </p:nvSpPr>
        <p:spPr>
          <a:xfrm>
            <a:off x="431321" y="5139906"/>
            <a:ext cx="4773284" cy="18466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https://www.linkedin.com/posts/joaopauloiolle_conclu%C3%ADmos-na-%C3%BAltima-sexta-feira-a-esri-user-ugcPost-7220936618688278528-oawD?utm_source=share&amp;utm_medium=member_desktop&amp;rcm=ACoAAAMQtAUB5UouXqdBJgo_gWpNVZ7Imay_2Tg</a:t>
            </a:r>
          </a:p>
          <a:p>
            <a:pPr algn="ctr"/>
            <a:endParaRPr lang="pt-BR"/>
          </a:p>
        </p:txBody>
      </p:sp>
    </p:spTree>
    <p:extLst>
      <p:ext uri="{BB962C8B-B14F-4D97-AF65-F5344CB8AC3E}">
        <p14:creationId xmlns:p14="http://schemas.microsoft.com/office/powerpoint/2010/main" val="408212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9964165C-CCFC-0656-AE03-D97442E377B9}"/>
              </a:ext>
            </a:extLst>
          </p:cNvPr>
          <p:cNvSpPr txBox="1"/>
          <p:nvPr/>
        </p:nvSpPr>
        <p:spPr>
          <a:xfrm>
            <a:off x="5952226" y="1919377"/>
            <a:ext cx="6096000"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0" i="0">
                <a:latin typeface="-apple-system"/>
                <a:ea typeface="-apple-system"/>
                <a:cs typeface="-apple-system"/>
              </a:rPr>
              <a:t>Our international team of Esri Utility Network Specialists joins forces with great frequency. We do so because in this way our approach around advice, implementation and maintenance of the Esri Utility Network remains the absolute best. This way we’re able to maintain our position as knowledge leader around the Utility Network worldwide. All with one goal: serving our Utility customers optimally.</a:t>
            </a:r>
            <a:endParaRPr lang="en-US"/>
          </a:p>
          <a:p>
            <a:pPr algn="ctr"/>
            <a:endParaRPr lang="pt-BR"/>
          </a:p>
        </p:txBody>
      </p:sp>
      <p:pic>
        <p:nvPicPr>
          <p:cNvPr id="5" name="Imagem 4" descr="Grupo de pessoas sentadas ao redor de uma mesa de escritório&#10;&#10;O conteúdo gerado por IA pode estar incorreto.">
            <a:extLst>
              <a:ext uri="{FF2B5EF4-FFF2-40B4-BE49-F238E27FC236}">
                <a16:creationId xmlns:a16="http://schemas.microsoft.com/office/drawing/2014/main" id="{3D921995-3396-0681-72AC-663DF90C6708}"/>
              </a:ext>
            </a:extLst>
          </p:cNvPr>
          <p:cNvPicPr>
            <a:picLocks noChangeAspect="1"/>
          </p:cNvPicPr>
          <p:nvPr/>
        </p:nvPicPr>
        <p:blipFill>
          <a:blip r:embed="rId2"/>
          <a:stretch>
            <a:fillRect/>
          </a:stretch>
        </p:blipFill>
        <p:spPr>
          <a:xfrm>
            <a:off x="323221" y="799112"/>
            <a:ext cx="5248275" cy="4943475"/>
          </a:xfrm>
          <a:prstGeom prst="rect">
            <a:avLst/>
          </a:prstGeom>
        </p:spPr>
      </p:pic>
      <p:sp>
        <p:nvSpPr>
          <p:cNvPr id="6" name="CaixaDeTexto 5">
            <a:extLst>
              <a:ext uri="{FF2B5EF4-FFF2-40B4-BE49-F238E27FC236}">
                <a16:creationId xmlns:a16="http://schemas.microsoft.com/office/drawing/2014/main" id="{583BAEC2-D31D-C461-5C67-D38D597A1646}"/>
              </a:ext>
            </a:extLst>
          </p:cNvPr>
          <p:cNvSpPr txBox="1"/>
          <p:nvPr/>
        </p:nvSpPr>
        <p:spPr>
          <a:xfrm>
            <a:off x="5952226" y="5499339"/>
            <a:ext cx="6096000" cy="13542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t>https://www.linkedin.com/posts/avineon-tensing_esriutilitynetwork-elevatingspatialintelligence-activity-7166823083297751040-khaT?utm_source=share&amp;utm_medium=member_desktop&amp;rcm=ACoAAAMQtAUB5UouXqdBJgo_gWpNVZ7Imay_2Tg</a:t>
            </a:r>
            <a:endParaRPr lang="en-US" sz="1600" dirty="0">
              <a:ea typeface="Calibri"/>
              <a:cs typeface="Calibri"/>
            </a:endParaRPr>
          </a:p>
          <a:p>
            <a:pPr algn="ctr"/>
            <a:endParaRPr lang="pt-BR"/>
          </a:p>
        </p:txBody>
      </p:sp>
    </p:spTree>
    <p:extLst>
      <p:ext uri="{BB962C8B-B14F-4D97-AF65-F5344CB8AC3E}">
        <p14:creationId xmlns:p14="http://schemas.microsoft.com/office/powerpoint/2010/main" val="13513723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73999C4B-748D-E4E6-1984-0706694902E0}"/>
              </a:ext>
            </a:extLst>
          </p:cNvPr>
          <p:cNvSpPr txBox="1"/>
          <p:nvPr/>
        </p:nvSpPr>
        <p:spPr>
          <a:xfrm>
            <a:off x="5822830" y="2235679"/>
            <a:ext cx="609600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Esri's Water Utilities web pages provide a good introduction to how GIS helps the water industry increase efficiency and make data driven decisions. They also provide links to eBooks, reports, customer stories, and more. </a:t>
            </a:r>
            <a:r>
              <a:rPr lang="en-US" b="1">
                <a:solidFill>
                  <a:srgbClr val="0A66C2"/>
                </a:solidFill>
                <a:latin typeface="-apple-system"/>
                <a:ea typeface="-apple-system"/>
                <a:cs typeface="-apple-system"/>
                <a:hlinkClick r:id="rId2"/>
              </a:rPr>
              <a:t>https://lnkd.in/gzAnieVD</a:t>
            </a:r>
            <a:r>
              <a:rPr lang="en-US">
                <a:latin typeface="-apple-system"/>
                <a:ea typeface="-apple-system"/>
                <a:cs typeface="-apple-system"/>
              </a:rPr>
              <a:t> </a:t>
            </a:r>
            <a:r>
              <a:rPr lang="en-US" b="1">
                <a:solidFill>
                  <a:srgbClr val="0A66C2"/>
                </a:solidFill>
                <a:latin typeface="-apple-system"/>
                <a:ea typeface="-apple-system"/>
                <a:cs typeface="-apple-system"/>
                <a:hlinkClick r:id="rId3"/>
              </a:rPr>
              <a:t>hashtag#EsriWater</a:t>
            </a:r>
            <a:r>
              <a:rPr lang="en-US">
                <a:latin typeface="-apple-system"/>
                <a:ea typeface="-apple-system"/>
                <a:cs typeface="-apple-system"/>
              </a:rPr>
              <a:t> </a:t>
            </a:r>
            <a:r>
              <a:rPr lang="en-US" b="1">
                <a:solidFill>
                  <a:srgbClr val="0A66C2"/>
                </a:solidFill>
                <a:latin typeface="-apple-system"/>
                <a:ea typeface="-apple-system"/>
                <a:cs typeface="-apple-system"/>
                <a:hlinkClick r:id="rId4"/>
              </a:rPr>
              <a:t>hashtag#ArcGIS</a:t>
            </a:r>
            <a:endParaRPr lang="en-US"/>
          </a:p>
          <a:p>
            <a:pPr algn="ctr"/>
            <a:endParaRPr lang="pt-BR"/>
          </a:p>
        </p:txBody>
      </p:sp>
      <p:pic>
        <p:nvPicPr>
          <p:cNvPr id="5" name="Imagem 4" descr="Interface gráfica do usuário, Aplicativo&#10;&#10;O conteúdo gerado por IA pode estar incorreto.">
            <a:extLst>
              <a:ext uri="{FF2B5EF4-FFF2-40B4-BE49-F238E27FC236}">
                <a16:creationId xmlns:a16="http://schemas.microsoft.com/office/drawing/2014/main" id="{2F8B7448-131C-E7FF-991E-66D041B4F71F}"/>
              </a:ext>
            </a:extLst>
          </p:cNvPr>
          <p:cNvPicPr>
            <a:picLocks noChangeAspect="1"/>
          </p:cNvPicPr>
          <p:nvPr/>
        </p:nvPicPr>
        <p:blipFill>
          <a:blip r:embed="rId5"/>
          <a:stretch>
            <a:fillRect/>
          </a:stretch>
        </p:blipFill>
        <p:spPr>
          <a:xfrm>
            <a:off x="481192" y="1720252"/>
            <a:ext cx="5119239" cy="2655498"/>
          </a:xfrm>
          <a:prstGeom prst="rect">
            <a:avLst/>
          </a:prstGeom>
        </p:spPr>
      </p:pic>
      <p:sp>
        <p:nvSpPr>
          <p:cNvPr id="6" name="CaixaDeTexto 5">
            <a:extLst>
              <a:ext uri="{FF2B5EF4-FFF2-40B4-BE49-F238E27FC236}">
                <a16:creationId xmlns:a16="http://schemas.microsoft.com/office/drawing/2014/main" id="{8B1102E7-1AFE-39B2-65A1-E27A9BF34780}"/>
              </a:ext>
            </a:extLst>
          </p:cNvPr>
          <p:cNvSpPr txBox="1"/>
          <p:nvPr/>
        </p:nvSpPr>
        <p:spPr>
          <a:xfrm>
            <a:off x="373811" y="4881113"/>
            <a:ext cx="5607170" cy="13542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t>https://www.linkedin.com/posts/crstacampbell_gis-for-water-utilities-smart-water-solutions-activity-7183841569031041024-uNT2?utm_source=share&amp;utm_medium=member_desktop&amp;rcm=ACoAAAMQtAUB5UouXqdBJgo_gWpNVZ7Imay_2Tg</a:t>
            </a:r>
          </a:p>
          <a:p>
            <a:pPr algn="ctr"/>
            <a:endParaRPr lang="pt-BR"/>
          </a:p>
        </p:txBody>
      </p:sp>
    </p:spTree>
    <p:extLst>
      <p:ext uri="{BB962C8B-B14F-4D97-AF65-F5344CB8AC3E}">
        <p14:creationId xmlns:p14="http://schemas.microsoft.com/office/powerpoint/2010/main" val="1361040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0300D3F7-4372-6211-408B-6DAF3ED70930}"/>
              </a:ext>
            </a:extLst>
          </p:cNvPr>
          <p:cNvSpPr txBox="1"/>
          <p:nvPr/>
        </p:nvSpPr>
        <p:spPr>
          <a:xfrm>
            <a:off x="4701396" y="265981"/>
            <a:ext cx="7490603" cy="67710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apple-system"/>
                <a:ea typeface="-apple-system"/>
                <a:cs typeface="-apple-system"/>
              </a:rPr>
              <a:t>Our international team of Esri Utility Network Specialists joins forces with great frequency. We do so because in this way our approach around advice, implementation and maintenance of the Esri Utility Network remains the absolute best. This way we’re able to maintain our position as knowledge leader around the Utility Network worldwide. All with one goal: serving our Utility customers optimally.</a:t>
            </a:r>
            <a:br>
              <a:rPr lang="en-US" sz="1600" dirty="0">
                <a:latin typeface="-apple-system"/>
                <a:ea typeface="-apple-system"/>
                <a:cs typeface="-apple-system"/>
              </a:rPr>
            </a:br>
            <a:br>
              <a:rPr lang="en-US" sz="1600" dirty="0">
                <a:latin typeface="-apple-system"/>
                <a:ea typeface="-apple-system"/>
                <a:cs typeface="-apple-system"/>
              </a:rPr>
            </a:br>
            <a:r>
              <a:rPr lang="en-US" sz="1600">
                <a:latin typeface="-apple-system"/>
                <a:ea typeface="-apple-system"/>
                <a:cs typeface="-apple-system"/>
              </a:rPr>
              <a:t>But what is special is that last three days a large part of those specialists came together in Utrecht (NL). Experts from the United Kingdom, Belgium, France, India and the United States came over to join our team in the Netherlands to talk about their latest experiences and newest developments, to inspire each other and to exchange knowledge. </a:t>
            </a:r>
            <a:br>
              <a:rPr lang="en-US" sz="1600" dirty="0">
                <a:latin typeface="-apple-system"/>
                <a:ea typeface="-apple-system"/>
                <a:cs typeface="-apple-system"/>
              </a:rPr>
            </a:br>
            <a:br>
              <a:rPr lang="en-US" sz="1600" dirty="0">
                <a:latin typeface="-apple-system"/>
                <a:ea typeface="-apple-system"/>
                <a:cs typeface="-apple-system"/>
              </a:rPr>
            </a:br>
            <a:r>
              <a:rPr lang="en-US" sz="1600">
                <a:latin typeface="-apple-system"/>
                <a:ea typeface="-apple-system"/>
                <a:cs typeface="-apple-system"/>
              </a:rPr>
              <a:t>For example, </a:t>
            </a:r>
            <a:r>
              <a:rPr lang="en-US" sz="1600" b="1" dirty="0" err="1">
                <a:solidFill>
                  <a:srgbClr val="0A66C2"/>
                </a:solidFill>
                <a:latin typeface="-apple-system"/>
                <a:ea typeface="-apple-system"/>
                <a:cs typeface="-apple-system"/>
                <a:hlinkClick r:id="rId2"/>
              </a:rPr>
              <a:t>Pulikallu</a:t>
            </a:r>
            <a:r>
              <a:rPr lang="en-US" sz="1600" b="1" dirty="0">
                <a:solidFill>
                  <a:srgbClr val="0A66C2"/>
                </a:solidFill>
                <a:latin typeface="-apple-system"/>
                <a:ea typeface="-apple-system"/>
                <a:cs typeface="-apple-system"/>
                <a:hlinkClick r:id="rId2"/>
              </a:rPr>
              <a:t> Giri Venkata Ramana Reddy</a:t>
            </a:r>
            <a:r>
              <a:rPr lang="en-US" sz="1600">
                <a:latin typeface="-apple-system"/>
                <a:ea typeface="-apple-system"/>
                <a:cs typeface="-apple-system"/>
              </a:rPr>
              <a:t> shared his vision and ideas about valuable partnerships and talked about the Utility Network services we provide in the Middle East. Here he talked about the fantastic data migration project at Dubai Electricity &amp; Water Authority (DEWA). </a:t>
            </a:r>
            <a:r>
              <a:rPr lang="en-US" sz="1600" b="1" dirty="0">
                <a:solidFill>
                  <a:srgbClr val="0A66C2"/>
                </a:solidFill>
                <a:latin typeface="-apple-system"/>
                <a:ea typeface="-apple-system"/>
                <a:cs typeface="-apple-system"/>
                <a:hlinkClick r:id="rId3"/>
              </a:rPr>
              <a:t>Anil </a:t>
            </a:r>
            <a:r>
              <a:rPr lang="en-US" sz="1600" b="1" dirty="0" err="1">
                <a:solidFill>
                  <a:srgbClr val="0A66C2"/>
                </a:solidFill>
                <a:latin typeface="-apple-system"/>
                <a:ea typeface="-apple-system"/>
                <a:cs typeface="-apple-system"/>
                <a:hlinkClick r:id="rId3"/>
              </a:rPr>
              <a:t>Jayavarapu</a:t>
            </a:r>
            <a:r>
              <a:rPr lang="en-US" sz="1600" b="1" dirty="0">
                <a:solidFill>
                  <a:srgbClr val="0A66C2"/>
                </a:solidFill>
                <a:latin typeface="-apple-system"/>
                <a:ea typeface="-apple-system"/>
                <a:cs typeface="-apple-system"/>
                <a:hlinkClick r:id="rId3"/>
              </a:rPr>
              <a:t>, PMP, SA</a:t>
            </a:r>
            <a:r>
              <a:rPr lang="en-US" sz="1600">
                <a:latin typeface="-apple-system"/>
                <a:ea typeface="-apple-system"/>
                <a:cs typeface="-apple-system"/>
              </a:rPr>
              <a:t> shared best practices from the Eversource project - where we deployed the </a:t>
            </a:r>
            <a:r>
              <a:rPr lang="en-US" sz="1600" b="1" dirty="0">
                <a:solidFill>
                  <a:srgbClr val="0A66C2"/>
                </a:solidFill>
                <a:latin typeface="-apple-system"/>
                <a:ea typeface="-apple-system"/>
                <a:cs typeface="-apple-system"/>
                <a:hlinkClick r:id="rId4"/>
              </a:rPr>
              <a:t>Esri</a:t>
            </a:r>
            <a:r>
              <a:rPr lang="en-US" sz="1600">
                <a:latin typeface="-apple-system"/>
                <a:ea typeface="-apple-system"/>
                <a:cs typeface="-apple-system"/>
              </a:rPr>
              <a:t> Utility Network in a sandbox environment as part of our GIS consolidation project for an electric company in Northeast America. </a:t>
            </a:r>
            <a:r>
              <a:rPr lang="en-US" sz="1600" b="1" dirty="0" err="1">
                <a:solidFill>
                  <a:srgbClr val="0A66C2"/>
                </a:solidFill>
                <a:latin typeface="-apple-system"/>
                <a:ea typeface="-apple-system"/>
                <a:cs typeface="-apple-system"/>
                <a:hlinkClick r:id="rId5"/>
              </a:rPr>
              <a:t>M'barek</a:t>
            </a:r>
            <a:r>
              <a:rPr lang="en-US" sz="1600" dirty="0">
                <a:latin typeface="-apple-system"/>
                <a:ea typeface="-apple-system"/>
                <a:cs typeface="-apple-system"/>
              </a:rPr>
              <a:t> </a:t>
            </a:r>
            <a:r>
              <a:rPr lang="en-US" sz="1600">
                <a:latin typeface="-apple-system"/>
                <a:ea typeface="-apple-system"/>
                <a:cs typeface="-apple-system"/>
              </a:rPr>
              <a:t>inspired with great work we are doing for an electric transmission company in Africa to help them explore the benefits of the Utility Network for their operations.</a:t>
            </a:r>
            <a:br>
              <a:rPr lang="en-US" sz="1600" dirty="0">
                <a:latin typeface="-apple-system"/>
                <a:ea typeface="-apple-system"/>
                <a:cs typeface="-apple-system"/>
              </a:rPr>
            </a:br>
            <a:br>
              <a:rPr lang="en-US" sz="1600" dirty="0">
                <a:latin typeface="-apple-system"/>
                <a:ea typeface="-apple-system"/>
                <a:cs typeface="-apple-system"/>
              </a:rPr>
            </a:br>
            <a:r>
              <a:rPr lang="en-US" sz="1600">
                <a:latin typeface="-apple-system"/>
                <a:ea typeface="-apple-system"/>
                <a:cs typeface="-apple-system"/>
              </a:rPr>
              <a:t>Further immersion was found around specific topics such as data modeling and data migration for Utility Network projects using our knowledge on </a:t>
            </a:r>
            <a:r>
              <a:rPr lang="en-US" sz="1600" b="1" dirty="0">
                <a:solidFill>
                  <a:srgbClr val="0A66C2"/>
                </a:solidFill>
                <a:latin typeface="-apple-system"/>
                <a:ea typeface="-apple-system"/>
                <a:cs typeface="-apple-system"/>
                <a:hlinkClick r:id="rId6"/>
              </a:rPr>
              <a:t>Safe Software</a:t>
            </a:r>
            <a:r>
              <a:rPr lang="en-US" sz="1600">
                <a:latin typeface="-apple-system"/>
                <a:ea typeface="-apple-system"/>
                <a:cs typeface="-apple-system"/>
              </a:rPr>
              <a:t> FME. </a:t>
            </a:r>
            <a:br>
              <a:rPr lang="en-US" sz="1600" dirty="0">
                <a:latin typeface="-apple-system"/>
                <a:ea typeface="-apple-system"/>
                <a:cs typeface="-apple-system"/>
              </a:rPr>
            </a:br>
            <a:br>
              <a:rPr lang="en-US" sz="1600" dirty="0">
                <a:latin typeface="-apple-system"/>
                <a:ea typeface="-apple-system"/>
                <a:cs typeface="-apple-system"/>
              </a:rPr>
            </a:br>
            <a:r>
              <a:rPr lang="en-US" sz="1600">
                <a:latin typeface="-apple-system"/>
                <a:ea typeface="-apple-system"/>
                <a:cs typeface="-apple-system"/>
              </a:rPr>
              <a:t>We look back on three great, inspiring days. That holds great promise for the future!</a:t>
            </a:r>
            <a:endParaRPr lang="en-US" sz="1600"/>
          </a:p>
          <a:p>
            <a:pPr algn="ctr"/>
            <a:endParaRPr lang="pt-BR"/>
          </a:p>
        </p:txBody>
      </p:sp>
      <p:pic>
        <p:nvPicPr>
          <p:cNvPr id="5" name="Imagem 4" descr="Grupo de pessoas sentadas ao redor de uma mesa de escritório&#10;&#10;O conteúdo gerado por IA pode estar incorreto.">
            <a:extLst>
              <a:ext uri="{FF2B5EF4-FFF2-40B4-BE49-F238E27FC236}">
                <a16:creationId xmlns:a16="http://schemas.microsoft.com/office/drawing/2014/main" id="{13F9110D-4726-DA0E-94C2-491F3AFB05FF}"/>
              </a:ext>
            </a:extLst>
          </p:cNvPr>
          <p:cNvPicPr>
            <a:picLocks noChangeAspect="1"/>
          </p:cNvPicPr>
          <p:nvPr/>
        </p:nvPicPr>
        <p:blipFill>
          <a:blip r:embed="rId7"/>
          <a:stretch>
            <a:fillRect/>
          </a:stretch>
        </p:blipFill>
        <p:spPr>
          <a:xfrm>
            <a:off x="251154" y="765325"/>
            <a:ext cx="4242220" cy="3990257"/>
          </a:xfrm>
          <a:prstGeom prst="rect">
            <a:avLst/>
          </a:prstGeom>
        </p:spPr>
      </p:pic>
      <p:sp>
        <p:nvSpPr>
          <p:cNvPr id="6" name="CaixaDeTexto 5">
            <a:extLst>
              <a:ext uri="{FF2B5EF4-FFF2-40B4-BE49-F238E27FC236}">
                <a16:creationId xmlns:a16="http://schemas.microsoft.com/office/drawing/2014/main" id="{B1F5F295-338F-C4EA-6587-77D54AAF08C2}"/>
              </a:ext>
            </a:extLst>
          </p:cNvPr>
          <p:cNvSpPr txBox="1"/>
          <p:nvPr/>
        </p:nvSpPr>
        <p:spPr>
          <a:xfrm>
            <a:off x="244415" y="4938623"/>
            <a:ext cx="4255699" cy="20928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t>https://www.linkedin.com/posts/avineon-tensing_esriutilitynetwork-elevatingspatialintelligence-activity-7166823083297751040-khaT?utm_source=share&amp;utm_medium=member_desktop&amp;rcm=ACoAAAMQtAUB5UouXqdBJgo_gWpNVZ7Imay_2Tg</a:t>
            </a:r>
          </a:p>
          <a:p>
            <a:pPr algn="ctr"/>
            <a:endParaRPr lang="pt-BR"/>
          </a:p>
        </p:txBody>
      </p:sp>
    </p:spTree>
    <p:extLst>
      <p:ext uri="{BB962C8B-B14F-4D97-AF65-F5344CB8AC3E}">
        <p14:creationId xmlns:p14="http://schemas.microsoft.com/office/powerpoint/2010/main" val="3635184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361C80BE-5A92-10E9-F766-374E9E1263E3}"/>
              </a:ext>
            </a:extLst>
          </p:cNvPr>
          <p:cNvSpPr txBox="1"/>
          <p:nvPr/>
        </p:nvSpPr>
        <p:spPr>
          <a:xfrm>
            <a:off x="6096000" y="1674962"/>
            <a:ext cx="6096000"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In my latest article (</a:t>
            </a:r>
            <a:r>
              <a:rPr lang="en-US" b="1">
                <a:solidFill>
                  <a:srgbClr val="0A66C2"/>
                </a:solidFill>
                <a:latin typeface="-apple-system"/>
                <a:ea typeface="-apple-system"/>
                <a:cs typeface="-apple-system"/>
                <a:hlinkClick r:id="rId2"/>
              </a:rPr>
              <a:t>https://lnkd.in/ghNPhMzM</a:t>
            </a:r>
            <a:r>
              <a:rPr lang="en-US">
                <a:latin typeface="-apple-system"/>
                <a:ea typeface="-apple-system"/>
                <a:cs typeface="-apple-system"/>
              </a:rPr>
              <a:t>) I discuss how key releases this year have made migrating to the utility network easier than ever. Just in time for the Esri User Conference no less!</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This article contains more detail than what I've been musing about on LinkedIn for the past few days, but there's even more technical information and guidance that I'm working on getting out there.</a:t>
            </a:r>
            <a:endParaRPr lang="en-US"/>
          </a:p>
          <a:p>
            <a:pPr algn="ctr"/>
            <a:endParaRPr lang="pt-BR"/>
          </a:p>
        </p:txBody>
      </p:sp>
      <p:pic>
        <p:nvPicPr>
          <p:cNvPr id="5" name="Imagem 4" descr="Interface gráfica do usuário, Texto, Aplicativo&#10;&#10;O conteúdo gerado por IA pode estar incorreto.">
            <a:extLst>
              <a:ext uri="{FF2B5EF4-FFF2-40B4-BE49-F238E27FC236}">
                <a16:creationId xmlns:a16="http://schemas.microsoft.com/office/drawing/2014/main" id="{880DD9C7-E34C-3508-16A4-5795D4EF0E52}"/>
              </a:ext>
            </a:extLst>
          </p:cNvPr>
          <p:cNvPicPr>
            <a:picLocks noChangeAspect="1"/>
          </p:cNvPicPr>
          <p:nvPr/>
        </p:nvPicPr>
        <p:blipFill>
          <a:blip r:embed="rId3"/>
          <a:stretch>
            <a:fillRect/>
          </a:stretch>
        </p:blipFill>
        <p:spPr>
          <a:xfrm>
            <a:off x="1052135" y="1024038"/>
            <a:ext cx="4474233" cy="4179318"/>
          </a:xfrm>
          <a:prstGeom prst="rect">
            <a:avLst/>
          </a:prstGeom>
        </p:spPr>
      </p:pic>
      <p:sp>
        <p:nvSpPr>
          <p:cNvPr id="6" name="CaixaDeTexto 5">
            <a:extLst>
              <a:ext uri="{FF2B5EF4-FFF2-40B4-BE49-F238E27FC236}">
                <a16:creationId xmlns:a16="http://schemas.microsoft.com/office/drawing/2014/main" id="{7867C7D1-7AFE-7968-4C23-BDF35D0AADFF}"/>
              </a:ext>
            </a:extLst>
          </p:cNvPr>
          <p:cNvSpPr txBox="1"/>
          <p:nvPr/>
        </p:nvSpPr>
        <p:spPr>
          <a:xfrm>
            <a:off x="776378" y="5456207"/>
            <a:ext cx="5865963" cy="16417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https://www.linkedin.com/posts/robert-krisher-5a989438_simplifying-arcgis-utility-network-migrations-activity-7215715411999219712-E1Qn?utm_source=share&amp;utm_medium=member_desktop&amp;rcm=ACoAAAMQtAUB5UouXqdBJgo_gWpNVZ7Imay_2Tg</a:t>
            </a:r>
          </a:p>
          <a:p>
            <a:pPr algn="ctr"/>
            <a:endParaRPr lang="pt-BR"/>
          </a:p>
        </p:txBody>
      </p:sp>
    </p:spTree>
    <p:extLst>
      <p:ext uri="{BB962C8B-B14F-4D97-AF65-F5344CB8AC3E}">
        <p14:creationId xmlns:p14="http://schemas.microsoft.com/office/powerpoint/2010/main" val="25841732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7869A587-6D98-287F-9BB3-9BA0A24DEA8B}"/>
              </a:ext>
            </a:extLst>
          </p:cNvPr>
          <p:cNvSpPr txBox="1"/>
          <p:nvPr/>
        </p:nvSpPr>
        <p:spPr>
          <a:xfrm>
            <a:off x="5578415" y="2408208"/>
            <a:ext cx="609600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Duplication of data entry within the Utility Construction process has been around for so long some consider this redundant work to simply be how it has to be. With the continued collaboration between Esri and AutoDesk, this legacy method of redundancy can be eliminated. </a:t>
            </a:r>
            <a:r>
              <a:rPr lang="en-US" b="1">
                <a:solidFill>
                  <a:srgbClr val="0A66C2"/>
                </a:solidFill>
                <a:latin typeface="-apple-system"/>
                <a:ea typeface="-apple-system"/>
                <a:cs typeface="-apple-system"/>
                <a:hlinkClick r:id="rId2"/>
              </a:rPr>
              <a:t>hashtag#gas</a:t>
            </a:r>
            <a:r>
              <a:rPr lang="en-US">
                <a:latin typeface="-apple-system"/>
                <a:ea typeface="-apple-system"/>
                <a:cs typeface="-apple-system"/>
              </a:rPr>
              <a:t> </a:t>
            </a:r>
            <a:r>
              <a:rPr lang="en-US" b="1">
                <a:solidFill>
                  <a:srgbClr val="0A66C2"/>
                </a:solidFill>
                <a:latin typeface="-apple-system"/>
                <a:ea typeface="-apple-system"/>
                <a:cs typeface="-apple-system"/>
                <a:hlinkClick r:id="rId3"/>
              </a:rPr>
              <a:t>hashtag#pipeline</a:t>
            </a:r>
            <a:r>
              <a:rPr lang="en-US">
                <a:latin typeface="-apple-system"/>
                <a:ea typeface="-apple-system"/>
                <a:cs typeface="-apple-system"/>
              </a:rPr>
              <a:t> </a:t>
            </a:r>
            <a:r>
              <a:rPr lang="en-US" b="1">
                <a:solidFill>
                  <a:srgbClr val="0A66C2"/>
                </a:solidFill>
                <a:latin typeface="-apple-system"/>
                <a:ea typeface="-apple-system"/>
                <a:cs typeface="-apple-system"/>
                <a:hlinkClick r:id="rId4"/>
              </a:rPr>
              <a:t>hashtag#utilitymapping</a:t>
            </a:r>
            <a:endParaRPr lang="en-US"/>
          </a:p>
          <a:p>
            <a:pPr algn="ctr"/>
            <a:endParaRPr lang="pt-BR"/>
          </a:p>
        </p:txBody>
      </p:sp>
      <p:pic>
        <p:nvPicPr>
          <p:cNvPr id="5" name="Imagem 4" descr="Padrão do plano de fundo&#10;&#10;O conteúdo gerado por IA pode estar incorreto.">
            <a:extLst>
              <a:ext uri="{FF2B5EF4-FFF2-40B4-BE49-F238E27FC236}">
                <a16:creationId xmlns:a16="http://schemas.microsoft.com/office/drawing/2014/main" id="{B0D41A72-3638-59E9-7017-E615656560E9}"/>
              </a:ext>
            </a:extLst>
          </p:cNvPr>
          <p:cNvPicPr>
            <a:picLocks noChangeAspect="1"/>
          </p:cNvPicPr>
          <p:nvPr/>
        </p:nvPicPr>
        <p:blipFill>
          <a:blip r:embed="rId5"/>
          <a:stretch>
            <a:fillRect/>
          </a:stretch>
        </p:blipFill>
        <p:spPr>
          <a:xfrm>
            <a:off x="413439" y="901640"/>
            <a:ext cx="4866557" cy="4148947"/>
          </a:xfrm>
          <a:prstGeom prst="rect">
            <a:avLst/>
          </a:prstGeom>
        </p:spPr>
      </p:pic>
      <p:sp>
        <p:nvSpPr>
          <p:cNvPr id="6" name="CaixaDeTexto 5">
            <a:extLst>
              <a:ext uri="{FF2B5EF4-FFF2-40B4-BE49-F238E27FC236}">
                <a16:creationId xmlns:a16="http://schemas.microsoft.com/office/drawing/2014/main" id="{B7425928-A941-7C73-67C9-28EE01B5EE8C}"/>
              </a:ext>
            </a:extLst>
          </p:cNvPr>
          <p:cNvSpPr txBox="1"/>
          <p:nvPr/>
        </p:nvSpPr>
        <p:spPr>
          <a:xfrm>
            <a:off x="517585" y="5341189"/>
            <a:ext cx="6096000" cy="13542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t>https://www.linkedin.com/posts/tom-dewitte-esriengineer_gas-pipeline-utilitymapping-activity-7170507372568797185-gpTZ?utm_source=share&amp;utm_medium=member_desktop&amp;rcm=ACoAAAMQtAUB5UouXqdBJgo_gWpNVZ7Imay_2Tg</a:t>
            </a:r>
          </a:p>
          <a:p>
            <a:pPr algn="ctr"/>
            <a:endParaRPr lang="pt-BR"/>
          </a:p>
        </p:txBody>
      </p:sp>
    </p:spTree>
    <p:extLst>
      <p:ext uri="{BB962C8B-B14F-4D97-AF65-F5344CB8AC3E}">
        <p14:creationId xmlns:p14="http://schemas.microsoft.com/office/powerpoint/2010/main" val="1624998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86699D15-2F06-B00E-CC10-16CAD7E292E0}"/>
              </a:ext>
            </a:extLst>
          </p:cNvPr>
          <p:cNvSpPr txBox="1"/>
          <p:nvPr/>
        </p:nvSpPr>
        <p:spPr>
          <a:xfrm>
            <a:off x="5822830" y="2379453"/>
            <a:ext cx="609600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Quer entender como funciona a gestão de ativos do Sistema de esgotamento sanitário com a Utility Network? Esse artigo traz uma uma ótima visão desse tema.</a:t>
            </a:r>
            <a:br>
              <a:rPr lang="en-US">
                <a:latin typeface="-apple-system"/>
                <a:ea typeface="-apple-system"/>
                <a:cs typeface="-apple-system"/>
              </a:rPr>
            </a:br>
            <a:br>
              <a:rPr lang="en-US">
                <a:latin typeface="-apple-system"/>
                <a:ea typeface="-apple-system"/>
                <a:cs typeface="-apple-system"/>
              </a:rPr>
            </a:br>
            <a:r>
              <a:rPr lang="en-US" b="1">
                <a:solidFill>
                  <a:srgbClr val="0A66C2"/>
                </a:solidFill>
                <a:latin typeface="-apple-system"/>
                <a:ea typeface="-apple-system"/>
                <a:cs typeface="-apple-system"/>
                <a:hlinkClick r:id="rId2"/>
              </a:rPr>
              <a:t>https://lnkd.in/dzzkYHyW</a:t>
            </a:r>
            <a:endParaRPr lang="en-US"/>
          </a:p>
          <a:p>
            <a:pPr algn="ctr"/>
            <a:endParaRPr lang="pt-BR"/>
          </a:p>
        </p:txBody>
      </p:sp>
      <p:pic>
        <p:nvPicPr>
          <p:cNvPr id="5" name="Imagem 4" descr="Interface gráfica do usuário&#10;&#10;O conteúdo gerado por IA pode estar incorreto.">
            <a:extLst>
              <a:ext uri="{FF2B5EF4-FFF2-40B4-BE49-F238E27FC236}">
                <a16:creationId xmlns:a16="http://schemas.microsoft.com/office/drawing/2014/main" id="{FE7BB3EB-85B4-F0F3-B938-5074DC8EEA00}"/>
              </a:ext>
            </a:extLst>
          </p:cNvPr>
          <p:cNvPicPr>
            <a:picLocks noChangeAspect="1"/>
          </p:cNvPicPr>
          <p:nvPr/>
        </p:nvPicPr>
        <p:blipFill>
          <a:blip r:embed="rId3"/>
          <a:stretch>
            <a:fillRect/>
          </a:stretch>
        </p:blipFill>
        <p:spPr>
          <a:xfrm>
            <a:off x="1033463" y="832359"/>
            <a:ext cx="4029075" cy="4848225"/>
          </a:xfrm>
          <a:prstGeom prst="rect">
            <a:avLst/>
          </a:prstGeom>
        </p:spPr>
      </p:pic>
      <p:sp>
        <p:nvSpPr>
          <p:cNvPr id="6" name="CaixaDeTexto 5">
            <a:extLst>
              <a:ext uri="{FF2B5EF4-FFF2-40B4-BE49-F238E27FC236}">
                <a16:creationId xmlns:a16="http://schemas.microsoft.com/office/drawing/2014/main" id="{26502204-38CE-3AA1-52D1-E11DE4FCC13C}"/>
              </a:ext>
            </a:extLst>
          </p:cNvPr>
          <p:cNvSpPr txBox="1"/>
          <p:nvPr/>
        </p:nvSpPr>
        <p:spPr>
          <a:xfrm>
            <a:off x="5822830" y="5427453"/>
            <a:ext cx="6096000"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https://www.linkedin.com/posts/wallamys-venancio_manage-wastewater-data-using-the-arcgis-utility-activity-7205986056490377217-q9Oa?utm_source=share&amp;utm_medium=member_desktop&amp;rcm=ACoAAAMQtAUB5UouXqdBJgo_gWpNVZ7Imay_2Tg</a:t>
            </a:r>
          </a:p>
          <a:p>
            <a:pPr algn="ctr"/>
            <a:endParaRPr lang="pt-BR"/>
          </a:p>
        </p:txBody>
      </p:sp>
    </p:spTree>
    <p:extLst>
      <p:ext uri="{BB962C8B-B14F-4D97-AF65-F5344CB8AC3E}">
        <p14:creationId xmlns:p14="http://schemas.microsoft.com/office/powerpoint/2010/main" val="25131807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383EC0FE-5A8C-D511-3582-ABEF68163EC0}"/>
              </a:ext>
            </a:extLst>
          </p:cNvPr>
          <p:cNvSpPr txBox="1"/>
          <p:nvPr/>
        </p:nvSpPr>
        <p:spPr>
          <a:xfrm>
            <a:off x="5779698" y="496019"/>
            <a:ext cx="6096000"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Videos from Dev Summit 2024 just went live! You can find utility network specific session on the ArcGIS Utility Network channel (</a:t>
            </a:r>
            <a:r>
              <a:rPr lang="en-US" b="1">
                <a:solidFill>
                  <a:srgbClr val="0A66C2"/>
                </a:solidFill>
                <a:latin typeface="-apple-system"/>
                <a:ea typeface="-apple-system"/>
                <a:cs typeface="-apple-system"/>
                <a:hlinkClick r:id="rId2"/>
              </a:rPr>
              <a:t>https://lnkd.in/esinW-aY</a:t>
            </a:r>
            <a:r>
              <a:rPr lang="en-US">
                <a:latin typeface="-apple-system"/>
                <a:ea typeface="-apple-system"/>
                <a:cs typeface="-apple-system"/>
              </a:rPr>
              <a:t>), or for the all the sessions you can go directly to the Developer's Summit 2024 page (</a:t>
            </a:r>
            <a:r>
              <a:rPr lang="en-US" b="1">
                <a:solidFill>
                  <a:srgbClr val="0A66C2"/>
                </a:solidFill>
                <a:latin typeface="-apple-system"/>
                <a:ea typeface="-apple-system"/>
                <a:cs typeface="-apple-system"/>
                <a:hlinkClick r:id="rId3"/>
              </a:rPr>
              <a:t>https://lnkd.in/eaiViWYv</a:t>
            </a:r>
            <a:r>
              <a:rPr lang="en-US">
                <a:latin typeface="-apple-system"/>
                <a:ea typeface="-apple-system"/>
                <a:cs typeface="-apple-system"/>
              </a:rPr>
              <a:t>).</a:t>
            </a:r>
            <a:br>
              <a:rPr lang="en-US">
                <a:latin typeface="-apple-system"/>
                <a:ea typeface="-apple-system"/>
                <a:cs typeface="-apple-system"/>
              </a:rPr>
            </a:br>
            <a:r>
              <a:rPr lang="en-US">
                <a:latin typeface="-apple-system"/>
                <a:ea typeface="-apple-system"/>
                <a:cs typeface="-apple-system"/>
              </a:rPr>
              <a:t>Not every recorded session is made public, and even though the recordings are released the slides aren't made available to the general public. If you want to get access to slides from a conference or want to have access to videos even sooner (and you didn't attend the conference) I recommend you sign up for digital access. Esri offers digital access to most of their conferences for less than the cost of a flight to get there! That'll get you access to live streams during the conference along with access to the conference proceedings site where you can access recordings and slides for recorded sessions.</a:t>
            </a:r>
            <a:endParaRPr lang="en-US"/>
          </a:p>
          <a:p>
            <a:pPr algn="ctr"/>
            <a:endParaRPr lang="pt-BR"/>
          </a:p>
        </p:txBody>
      </p:sp>
      <p:pic>
        <p:nvPicPr>
          <p:cNvPr id="5" name="Imagem 4" descr="Não foi fornecido texto alternativo para esta imagem">
            <a:extLst>
              <a:ext uri="{FF2B5EF4-FFF2-40B4-BE49-F238E27FC236}">
                <a16:creationId xmlns:a16="http://schemas.microsoft.com/office/drawing/2014/main" id="{D9C1E69C-AE4B-144C-26F8-390A58173F54}"/>
              </a:ext>
            </a:extLst>
          </p:cNvPr>
          <p:cNvPicPr>
            <a:picLocks noChangeAspect="1"/>
          </p:cNvPicPr>
          <p:nvPr/>
        </p:nvPicPr>
        <p:blipFill>
          <a:blip r:embed="rId4"/>
          <a:stretch>
            <a:fillRect/>
          </a:stretch>
        </p:blipFill>
        <p:spPr>
          <a:xfrm>
            <a:off x="431231" y="494222"/>
            <a:ext cx="5233539" cy="4187405"/>
          </a:xfrm>
          <a:prstGeom prst="rect">
            <a:avLst/>
          </a:prstGeom>
        </p:spPr>
      </p:pic>
      <p:sp>
        <p:nvSpPr>
          <p:cNvPr id="6" name="CaixaDeTexto 5">
            <a:extLst>
              <a:ext uri="{FF2B5EF4-FFF2-40B4-BE49-F238E27FC236}">
                <a16:creationId xmlns:a16="http://schemas.microsoft.com/office/drawing/2014/main" id="{1A153436-006E-81BE-0D04-1F31840284C7}"/>
              </a:ext>
            </a:extLst>
          </p:cNvPr>
          <p:cNvSpPr txBox="1"/>
          <p:nvPr/>
        </p:nvSpPr>
        <p:spPr>
          <a:xfrm>
            <a:off x="215661" y="5096774"/>
            <a:ext cx="6096000" cy="13542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https://www.linkedin.com/posts/robert-krisher-5a989438_videos-from-dev-summit-2024-just-went-live-activity-7199042312398589954-40As?utm_source=share&amp;utm_medium=member_desktop&amp;rcm=ACoAAAMQtAUB5UouXqdBJgo_gWpNVZ7Imay_2Tg</a:t>
            </a:r>
            <a:endParaRPr lang="en-US" sz="1600">
              <a:ea typeface="Calibri"/>
              <a:cs typeface="Calibri"/>
            </a:endParaRPr>
          </a:p>
          <a:p>
            <a:pPr algn="ctr"/>
            <a:endParaRPr lang="pt-BR"/>
          </a:p>
        </p:txBody>
      </p:sp>
    </p:spTree>
    <p:extLst>
      <p:ext uri="{BB962C8B-B14F-4D97-AF65-F5344CB8AC3E}">
        <p14:creationId xmlns:p14="http://schemas.microsoft.com/office/powerpoint/2010/main" val="26709672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A7875962-C3B0-F18A-D45B-1F3D56768C58}"/>
              </a:ext>
            </a:extLst>
          </p:cNvPr>
          <p:cNvSpPr txBox="1"/>
          <p:nvPr/>
        </p:nvSpPr>
        <p:spPr>
          <a:xfrm>
            <a:off x="5477773" y="1718094"/>
            <a:ext cx="6096000"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I've had many questions this past year about the best practice for modeling vertical assets in the ArcGIS Utility Network, and how this information can be integrated with an asset management system and BIM models. This presentation (</a:t>
            </a:r>
            <a:r>
              <a:rPr lang="en-US" b="1">
                <a:solidFill>
                  <a:srgbClr val="0A66C2"/>
                </a:solidFill>
                <a:latin typeface="-apple-system"/>
                <a:ea typeface="-apple-system"/>
                <a:cs typeface="-apple-system"/>
                <a:hlinkClick r:id="rId2"/>
              </a:rPr>
              <a:t>https://lnkd.in/g59-F48Q</a:t>
            </a:r>
            <a:r>
              <a:rPr lang="en-US">
                <a:latin typeface="-apple-system"/>
                <a:ea typeface="-apple-system"/>
                <a:cs typeface="-apple-system"/>
              </a:rPr>
              <a:t>) at IMGIS last year shows an example of how you can achieve this and what it looks like.</a:t>
            </a:r>
            <a:br>
              <a:rPr lang="en-US">
                <a:latin typeface="-apple-system"/>
                <a:ea typeface="-apple-system"/>
                <a:cs typeface="-apple-system"/>
              </a:rPr>
            </a:br>
            <a:r>
              <a:rPr lang="en-US">
                <a:latin typeface="-apple-system"/>
                <a:ea typeface="-apple-system"/>
                <a:cs typeface="-apple-system"/>
              </a:rPr>
              <a:t>I've got a few other examples I'll be sharing over the next few days, so make sure you're following me if you want to get notified when I post them.</a:t>
            </a:r>
            <a:endParaRPr lang="en-US"/>
          </a:p>
          <a:p>
            <a:pPr algn="ctr"/>
            <a:endParaRPr lang="pt-BR"/>
          </a:p>
        </p:txBody>
      </p:sp>
      <p:pic>
        <p:nvPicPr>
          <p:cNvPr id="5" name="Imagem 4" descr="Não foi fornecido texto alternativo para esta imagem">
            <a:extLst>
              <a:ext uri="{FF2B5EF4-FFF2-40B4-BE49-F238E27FC236}">
                <a16:creationId xmlns:a16="http://schemas.microsoft.com/office/drawing/2014/main" id="{B7A00AC0-CD87-29F9-E6D7-EC35558EECFC}"/>
              </a:ext>
            </a:extLst>
          </p:cNvPr>
          <p:cNvPicPr>
            <a:picLocks noChangeAspect="1"/>
          </p:cNvPicPr>
          <p:nvPr/>
        </p:nvPicPr>
        <p:blipFill>
          <a:blip r:embed="rId3"/>
          <a:stretch>
            <a:fillRect/>
          </a:stretch>
        </p:blipFill>
        <p:spPr>
          <a:xfrm>
            <a:off x="608162" y="1280663"/>
            <a:ext cx="4577751" cy="3477165"/>
          </a:xfrm>
          <a:prstGeom prst="rect">
            <a:avLst/>
          </a:prstGeom>
        </p:spPr>
      </p:pic>
      <p:sp>
        <p:nvSpPr>
          <p:cNvPr id="6" name="CaixaDeTexto 5">
            <a:extLst>
              <a:ext uri="{FF2B5EF4-FFF2-40B4-BE49-F238E27FC236}">
                <a16:creationId xmlns:a16="http://schemas.microsoft.com/office/drawing/2014/main" id="{E65245C1-1407-ECC4-EB8C-99B1DDDBFBE5}"/>
              </a:ext>
            </a:extLst>
          </p:cNvPr>
          <p:cNvSpPr txBox="1"/>
          <p:nvPr/>
        </p:nvSpPr>
        <p:spPr>
          <a:xfrm>
            <a:off x="603849" y="5010510"/>
            <a:ext cx="4586378" cy="18466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https://www.linkedin.com/posts/robert-krisher-5a989438_ive-had-many-questions-this-past-year-about-activity-7194340346942697472-kmTy?utm_source=share&amp;utm_medium=member_desktop&amp;rcm=ACoAAAMQtAUB5UouXqdBJgo_gWpNVZ7Imay_2Tg</a:t>
            </a:r>
          </a:p>
          <a:p>
            <a:pPr algn="ctr"/>
            <a:endParaRPr lang="pt-BR"/>
          </a:p>
        </p:txBody>
      </p:sp>
    </p:spTree>
    <p:extLst>
      <p:ext uri="{BB962C8B-B14F-4D97-AF65-F5344CB8AC3E}">
        <p14:creationId xmlns:p14="http://schemas.microsoft.com/office/powerpoint/2010/main" val="23249794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descr="Tela de computador com texto preto sobre fundo branco&#10;&#10;O conteúdo gerado por IA pode estar incorreto.">
            <a:extLst>
              <a:ext uri="{FF2B5EF4-FFF2-40B4-BE49-F238E27FC236}">
                <a16:creationId xmlns:a16="http://schemas.microsoft.com/office/drawing/2014/main" id="{4D388D35-C5D2-626C-46D2-02CB8B990CA9}"/>
              </a:ext>
            </a:extLst>
          </p:cNvPr>
          <p:cNvPicPr>
            <a:picLocks noChangeAspect="1"/>
          </p:cNvPicPr>
          <p:nvPr/>
        </p:nvPicPr>
        <p:blipFill>
          <a:blip r:embed="rId2"/>
          <a:stretch>
            <a:fillRect/>
          </a:stretch>
        </p:blipFill>
        <p:spPr>
          <a:xfrm>
            <a:off x="802616" y="557123"/>
            <a:ext cx="5295900" cy="4191000"/>
          </a:xfrm>
          <a:prstGeom prst="rect">
            <a:avLst/>
          </a:prstGeom>
        </p:spPr>
      </p:pic>
      <p:sp>
        <p:nvSpPr>
          <p:cNvPr id="6" name="CaixaDeTexto 5">
            <a:extLst>
              <a:ext uri="{FF2B5EF4-FFF2-40B4-BE49-F238E27FC236}">
                <a16:creationId xmlns:a16="http://schemas.microsoft.com/office/drawing/2014/main" id="{E083AD02-EB9C-5AA8-A879-D388E341F5D5}"/>
              </a:ext>
            </a:extLst>
          </p:cNvPr>
          <p:cNvSpPr txBox="1"/>
          <p:nvPr/>
        </p:nvSpPr>
        <p:spPr>
          <a:xfrm>
            <a:off x="546340" y="5082396"/>
            <a:ext cx="609600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https://www.linkedin.com/posts/mohamed-khalied_gisabrmohamedabrkhaled-gis-arcgispro-activity-7445153915064688640-unQA?utm_source=share&amp;utm_medium=member_desktop&amp;rcm=ACoAAAMQtAUB5UouXqdBJgo_gWpNVZ7Imay_2Tg</a:t>
            </a:r>
          </a:p>
          <a:p>
            <a:pPr algn="ctr"/>
            <a:endParaRPr lang="pt-BR"/>
          </a:p>
        </p:txBody>
      </p:sp>
      <p:sp>
        <p:nvSpPr>
          <p:cNvPr id="7" name="CaixaDeTexto 6">
            <a:extLst>
              <a:ext uri="{FF2B5EF4-FFF2-40B4-BE49-F238E27FC236}">
                <a16:creationId xmlns:a16="http://schemas.microsoft.com/office/drawing/2014/main" id="{58B3C1EB-067F-CD95-54B9-D9EA54F86CC3}"/>
              </a:ext>
            </a:extLst>
          </p:cNvPr>
          <p:cNvSpPr txBox="1"/>
          <p:nvPr/>
        </p:nvSpPr>
        <p:spPr>
          <a:xfrm>
            <a:off x="6225396" y="2494471"/>
            <a:ext cx="6096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apple-system"/>
                <a:ea typeface="-apple-system"/>
                <a:cs typeface="-apple-system"/>
              </a:rPr>
              <a:t>- 𝐄𝐝𝐢𝐭 𝐚𝐧𝐝 𝐕𝐚𝐥𝐢𝐝𝐚𝐭𝐞 𝐒𝐮𝐛𝐧𝐞𝐭𝐰𝐨𝐫𝐤𝐬 𝐢𝐧 𝐔𝐭𝐢𝐥𝐢𝐭𝐲 𝐍𝐞𝐭𝐰𝐨𝐫𝐤𝐬 𝐔𝐬𝐢𝐧𝐠 𝐀𝐫𝐜𝐆𝐈𝐒 𝐏𝐫𝐨 🌐⚡</a:t>
            </a:r>
            <a:endParaRPr lang="en-US">
              <a:ea typeface="Calibri" panose="020F0502020204030204"/>
              <a:cs typeface="Calibri" panose="020F0502020204030204"/>
            </a:endParaRPr>
          </a:p>
          <a:p>
            <a:pPr algn="ctr"/>
            <a:endParaRPr lang="pt-BR"/>
          </a:p>
        </p:txBody>
      </p:sp>
    </p:spTree>
    <p:extLst>
      <p:ext uri="{BB962C8B-B14F-4D97-AF65-F5344CB8AC3E}">
        <p14:creationId xmlns:p14="http://schemas.microsoft.com/office/powerpoint/2010/main" val="17502325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B054923B-13AB-2AAA-BF2E-09EE83F62278}"/>
              </a:ext>
            </a:extLst>
          </p:cNvPr>
          <p:cNvSpPr txBox="1"/>
          <p:nvPr/>
        </p:nvSpPr>
        <p:spPr>
          <a:xfrm>
            <a:off x="5377132" y="1387415"/>
            <a:ext cx="6096000"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Slides and videos for the 2024 Esri User Conference are starting to be made available for those who attended in person or signed up for digital access. To kick things off I'll shout out to my co-workers Chris Cremons, </a:t>
            </a:r>
            <a:r>
              <a:rPr lang="en-US" b="1">
                <a:solidFill>
                  <a:srgbClr val="0A66C2"/>
                </a:solidFill>
                <a:latin typeface="-apple-system"/>
                <a:ea typeface="-apple-system"/>
                <a:cs typeface="-apple-system"/>
                <a:hlinkClick r:id="rId2"/>
              </a:rPr>
              <a:t>Remi Myers</a:t>
            </a:r>
            <a:r>
              <a:rPr lang="en-US">
                <a:latin typeface="-apple-system"/>
                <a:ea typeface="-apple-system"/>
                <a:cs typeface="-apple-system"/>
              </a:rPr>
              <a:t>, and </a:t>
            </a:r>
            <a:r>
              <a:rPr lang="en-US" b="1">
                <a:solidFill>
                  <a:srgbClr val="0A66C2"/>
                </a:solidFill>
                <a:latin typeface="-apple-system"/>
                <a:ea typeface="-apple-system"/>
                <a:cs typeface="-apple-system"/>
                <a:hlinkClick r:id="rId3"/>
              </a:rPr>
              <a:t>David Crawford</a:t>
            </a:r>
            <a:r>
              <a:rPr lang="en-US">
                <a:latin typeface="-apple-system"/>
                <a:ea typeface="-apple-system"/>
                <a:cs typeface="-apple-system"/>
              </a:rPr>
              <a:t> for their introduction to the utility network presentation: </a:t>
            </a:r>
            <a:r>
              <a:rPr lang="en-US" b="1">
                <a:solidFill>
                  <a:srgbClr val="0A66C2"/>
                </a:solidFill>
                <a:latin typeface="-apple-system"/>
                <a:ea typeface="-apple-system"/>
                <a:cs typeface="-apple-system"/>
                <a:hlinkClick r:id="rId4"/>
              </a:rPr>
              <a:t>https://lnkd.in/eqtaMiVd</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I'll be calling out interesting presentations that you can watch on-demand over the next few weeks, so make sure you watch this space!</a:t>
            </a:r>
            <a:br>
              <a:rPr lang="en-US">
                <a:latin typeface="-apple-system"/>
                <a:ea typeface="-apple-system"/>
                <a:cs typeface="-apple-system"/>
              </a:rPr>
            </a:br>
            <a:br>
              <a:rPr lang="en-US">
                <a:latin typeface="-apple-system"/>
                <a:ea typeface="-apple-system"/>
                <a:cs typeface="-apple-system"/>
              </a:rPr>
            </a:br>
            <a:r>
              <a:rPr lang="en-US" b="1">
                <a:solidFill>
                  <a:srgbClr val="0A66C2"/>
                </a:solidFill>
                <a:latin typeface="-apple-system"/>
                <a:ea typeface="-apple-system"/>
                <a:cs typeface="-apple-system"/>
                <a:hlinkClick r:id="rId5"/>
              </a:rPr>
              <a:t>hashtag#EsriUC2024</a:t>
            </a:r>
            <a:endParaRPr lang="en-US"/>
          </a:p>
          <a:p>
            <a:pPr algn="ctr"/>
            <a:endParaRPr lang="pt-BR"/>
          </a:p>
        </p:txBody>
      </p:sp>
      <p:pic>
        <p:nvPicPr>
          <p:cNvPr id="5" name="Imagem 4" descr="Não foi fornecido texto alternativo para esta imagem">
            <a:extLst>
              <a:ext uri="{FF2B5EF4-FFF2-40B4-BE49-F238E27FC236}">
                <a16:creationId xmlns:a16="http://schemas.microsoft.com/office/drawing/2014/main" id="{4690DBE4-C56F-0E32-BF85-5AF0BABD6D55}"/>
              </a:ext>
            </a:extLst>
          </p:cNvPr>
          <p:cNvPicPr>
            <a:picLocks noChangeAspect="1"/>
          </p:cNvPicPr>
          <p:nvPr/>
        </p:nvPicPr>
        <p:blipFill>
          <a:blip r:embed="rId6"/>
          <a:stretch>
            <a:fillRect/>
          </a:stretch>
        </p:blipFill>
        <p:spPr>
          <a:xfrm>
            <a:off x="355480" y="1191973"/>
            <a:ext cx="4838700" cy="3697677"/>
          </a:xfrm>
          <a:prstGeom prst="rect">
            <a:avLst/>
          </a:prstGeom>
        </p:spPr>
      </p:pic>
      <p:sp>
        <p:nvSpPr>
          <p:cNvPr id="6" name="CaixaDeTexto 5">
            <a:extLst>
              <a:ext uri="{FF2B5EF4-FFF2-40B4-BE49-F238E27FC236}">
                <a16:creationId xmlns:a16="http://schemas.microsoft.com/office/drawing/2014/main" id="{0CBB1CB5-8DB5-D523-64CC-1BE889363F1A}"/>
              </a:ext>
            </a:extLst>
          </p:cNvPr>
          <p:cNvSpPr txBox="1"/>
          <p:nvPr/>
        </p:nvSpPr>
        <p:spPr>
          <a:xfrm>
            <a:off x="359434" y="5226170"/>
            <a:ext cx="60960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https://www.linkedin.com/posts/robert-krisher-5a989438_esriuc2024-activity-7227676447035830272-O14d?utm_source=share&amp;utm_medium=member_desktop&amp;rcm=ACoAAAMQtAUB5UouXqdBJgo_gWpNVZ7Imay_2Tg</a:t>
            </a:r>
          </a:p>
          <a:p>
            <a:pPr algn="ctr"/>
            <a:endParaRPr lang="pt-BR"/>
          </a:p>
        </p:txBody>
      </p:sp>
    </p:spTree>
    <p:extLst>
      <p:ext uri="{BB962C8B-B14F-4D97-AF65-F5344CB8AC3E}">
        <p14:creationId xmlns:p14="http://schemas.microsoft.com/office/powerpoint/2010/main" val="3678438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9B3DF99A-D255-7078-7925-2E09AC676F1D}"/>
              </a:ext>
            </a:extLst>
          </p:cNvPr>
          <p:cNvSpPr txBox="1"/>
          <p:nvPr/>
        </p:nvSpPr>
        <p:spPr>
          <a:xfrm>
            <a:off x="5779698" y="625415"/>
            <a:ext cx="6096000" cy="53553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The term "Digital Twin" has been a buzzword for a long time that means a lot of different things to different people. If you want to cut through the buzz and see some practical examples of using GIS as a digital twin, check out this recorded session from the user conference: </a:t>
            </a:r>
            <a:r>
              <a:rPr lang="en-US" b="1">
                <a:solidFill>
                  <a:srgbClr val="0A66C2"/>
                </a:solidFill>
                <a:latin typeface="-apple-system"/>
                <a:ea typeface="-apple-system"/>
                <a:cs typeface="-apple-system"/>
                <a:hlinkClick r:id="rId2"/>
              </a:rPr>
              <a:t>https://lnkd.in/gYEHMwag</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To access the video and slides you need to have attended the 2024 Esri User Conference or purchased digital access to the conference. There is so much content at the conference that I find it impossible to attend all the sessions that I want to, so being able to watch so many sessions on demand is something I am extremely grateful for.</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While I always enjoy the presentations I see in person, there's usually one or two sessions at each conference that are game-changing to me that I only saw because of digital access!</a:t>
            </a:r>
            <a:br>
              <a:rPr lang="en-US">
                <a:latin typeface="-apple-system"/>
                <a:ea typeface="-apple-system"/>
                <a:cs typeface="-apple-system"/>
              </a:rPr>
            </a:br>
            <a:br>
              <a:rPr lang="en-US">
                <a:latin typeface="-apple-system"/>
                <a:ea typeface="-apple-system"/>
                <a:cs typeface="-apple-system"/>
              </a:rPr>
            </a:br>
            <a:r>
              <a:rPr lang="en-US" b="1">
                <a:solidFill>
                  <a:srgbClr val="0A66C2"/>
                </a:solidFill>
                <a:latin typeface="-apple-system"/>
                <a:ea typeface="-apple-system"/>
                <a:cs typeface="-apple-system"/>
                <a:hlinkClick r:id="rId3"/>
              </a:rPr>
              <a:t>hashtag#EsriUC2024</a:t>
            </a:r>
            <a:endParaRPr lang="en-US"/>
          </a:p>
          <a:p>
            <a:pPr algn="ctr"/>
            <a:endParaRPr lang="pt-BR"/>
          </a:p>
        </p:txBody>
      </p:sp>
      <p:pic>
        <p:nvPicPr>
          <p:cNvPr id="5" name="Imagem 4" descr="Não foi fornecido texto alternativo para esta imagem">
            <a:extLst>
              <a:ext uri="{FF2B5EF4-FFF2-40B4-BE49-F238E27FC236}">
                <a16:creationId xmlns:a16="http://schemas.microsoft.com/office/drawing/2014/main" id="{A742E30E-1DD1-73BF-0D53-90EA7E05E65B}"/>
              </a:ext>
            </a:extLst>
          </p:cNvPr>
          <p:cNvPicPr>
            <a:picLocks noChangeAspect="1"/>
          </p:cNvPicPr>
          <p:nvPr/>
        </p:nvPicPr>
        <p:blipFill>
          <a:blip r:embed="rId4"/>
          <a:stretch>
            <a:fillRect/>
          </a:stretch>
        </p:blipFill>
        <p:spPr>
          <a:xfrm>
            <a:off x="143774" y="622540"/>
            <a:ext cx="5520906" cy="4132054"/>
          </a:xfrm>
          <a:prstGeom prst="rect">
            <a:avLst/>
          </a:prstGeom>
        </p:spPr>
      </p:pic>
      <p:sp>
        <p:nvSpPr>
          <p:cNvPr id="6" name="CaixaDeTexto 5">
            <a:extLst>
              <a:ext uri="{FF2B5EF4-FFF2-40B4-BE49-F238E27FC236}">
                <a16:creationId xmlns:a16="http://schemas.microsoft.com/office/drawing/2014/main" id="{FC231B4F-E656-8157-188F-6BF12D64069D}"/>
              </a:ext>
            </a:extLst>
          </p:cNvPr>
          <p:cNvSpPr txBox="1"/>
          <p:nvPr/>
        </p:nvSpPr>
        <p:spPr>
          <a:xfrm>
            <a:off x="143774" y="4938623"/>
            <a:ext cx="517585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https://www.linkedin.com/posts/robert-krisher-5a989438_esriuc2024-activity-7228058842821967873-o15R?utm_source=share&amp;utm_medium=member_desktop&amp;rcm=ACoAAAMQtAUB5UouXqdBJgo_gWpNVZ7Imay_2Tg</a:t>
            </a:r>
          </a:p>
          <a:p>
            <a:pPr algn="ctr"/>
            <a:endParaRPr lang="pt-BR"/>
          </a:p>
        </p:txBody>
      </p:sp>
    </p:spTree>
    <p:extLst>
      <p:ext uri="{BB962C8B-B14F-4D97-AF65-F5344CB8AC3E}">
        <p14:creationId xmlns:p14="http://schemas.microsoft.com/office/powerpoint/2010/main" val="3103851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1743B0F2-51DB-F540-6AD5-0206E3FDAA30}"/>
              </a:ext>
            </a:extLst>
          </p:cNvPr>
          <p:cNvSpPr txBox="1"/>
          <p:nvPr/>
        </p:nvSpPr>
        <p:spPr>
          <a:xfrm>
            <a:off x="5132718" y="-7188"/>
            <a:ext cx="6757358" cy="74789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latin typeface="-apple-system"/>
                <a:ea typeface="-apple-system"/>
                <a:cs typeface="-apple-system"/>
              </a:rPr>
              <a:t>Some of the most significant additions to the utility network migration process were released last week, and they seem to have flown under most people's radar. So, I figured I'd take some time to break down these changes and talk about their importance in the weeks leading up to this year's Esri User Conference.</a:t>
            </a:r>
            <a:br>
              <a:rPr lang="en-US" sz="1200">
                <a:latin typeface="-apple-system"/>
                <a:ea typeface="-apple-system"/>
                <a:cs typeface="-apple-system"/>
              </a:rPr>
            </a:br>
            <a:br>
              <a:rPr lang="en-US" sz="1200">
                <a:latin typeface="-apple-system"/>
                <a:ea typeface="-apple-system"/>
                <a:cs typeface="-apple-system"/>
              </a:rPr>
            </a:br>
            <a:r>
              <a:rPr lang="en-US" sz="1200">
                <a:latin typeface="-apple-system"/>
                <a:ea typeface="-apple-system"/>
                <a:cs typeface="-apple-system"/>
              </a:rPr>
              <a:t>The first thing I'll be talking about is the changes made to the Utility Network Foundations with the introductions of the essentials model. Since the first release of the ArcGIS Utility Network, the solutions team has provided industry-specific data models, known as Utility Network Foundations. These solutions contain everything you need to get started building your own utility network. This includes a fully configured data model, maps, editing templates, and even a sample dataset you can practice with. This was great, but over the years these models have grown as customers have wanted to see additional things added to the model to support new workflows. Customers took notice of this and started complaining that the models were becoming too complex and difficult to implement.</a:t>
            </a:r>
            <a:br>
              <a:rPr lang="en-US" sz="1200">
                <a:latin typeface="-apple-system"/>
                <a:ea typeface="-apple-system"/>
                <a:cs typeface="-apple-system"/>
              </a:rPr>
            </a:br>
            <a:br>
              <a:rPr lang="en-US" sz="1200">
                <a:latin typeface="-apple-system"/>
                <a:ea typeface="-apple-system"/>
                <a:cs typeface="-apple-system"/>
              </a:rPr>
            </a:br>
            <a:r>
              <a:rPr lang="en-US" sz="1200">
                <a:latin typeface="-apple-system"/>
                <a:ea typeface="-apple-system"/>
                <a:cs typeface="-apple-system"/>
              </a:rPr>
              <a:t>In recognition of this the solutions team now provides two separate data models inside each foundation. There is an 'expanded model', which is the same model they've been releasing that contains all the fields and configuration for all the workflows and demonstrations they've built since its release. But in addition to this they also now have what's known as an 'essentials model', which contains a paired down set of fields and configurations that represent what they believe to be the simplest data model that a utility could use to build a utility network without compromising any core business requirements.</a:t>
            </a:r>
            <a:br>
              <a:rPr lang="en-US" sz="1200">
                <a:latin typeface="-apple-system"/>
                <a:ea typeface="-apple-system"/>
                <a:cs typeface="-apple-system"/>
              </a:rPr>
            </a:br>
            <a:br>
              <a:rPr lang="en-US" sz="1200">
                <a:latin typeface="-apple-system"/>
                <a:ea typeface="-apple-system"/>
                <a:cs typeface="-apple-system"/>
              </a:rPr>
            </a:br>
            <a:r>
              <a:rPr lang="en-US" sz="1200">
                <a:latin typeface="-apple-system"/>
                <a:ea typeface="-apple-system"/>
                <a:cs typeface="-apple-system"/>
              </a:rPr>
              <a:t>The idea is that customers who want to start simple and build their model out can use the essentials model to get started, then add on their own fields and configurations to make the model match their existing business processes. What about all the capabilities of the expanded model? More mature organizations may choose to implement the expanded model, but smaller organizations that want to implement certain pieces of that model can use tools provided by the Solutions team to pick and choose features from the expanded model and add them to the essentials model.</a:t>
            </a:r>
            <a:br>
              <a:rPr lang="en-US" sz="1200">
                <a:latin typeface="-apple-system"/>
                <a:ea typeface="-apple-system"/>
                <a:cs typeface="-apple-system"/>
              </a:rPr>
            </a:br>
            <a:br>
              <a:rPr lang="en-US" sz="1200">
                <a:latin typeface="-apple-system"/>
                <a:ea typeface="-apple-system"/>
                <a:cs typeface="-apple-system"/>
              </a:rPr>
            </a:br>
            <a:r>
              <a:rPr lang="en-US" sz="1200">
                <a:latin typeface="-apple-system"/>
                <a:ea typeface="-apple-system"/>
                <a:cs typeface="-apple-system"/>
              </a:rPr>
              <a:t>There's a lot to digest here, so if you want to know more about the changes to the Utility Network Foundations, I recommend you attend the ArcGIS Solutions: Utility Network Foundations session at 8:00 AM on Tuesday, July 16 at this year's Esri User Conference (agenda: </a:t>
            </a:r>
            <a:r>
              <a:rPr lang="en-US" sz="1200" b="1">
                <a:solidFill>
                  <a:srgbClr val="0A66C2"/>
                </a:solidFill>
                <a:latin typeface="-apple-system"/>
                <a:ea typeface="-apple-system"/>
                <a:cs typeface="-apple-system"/>
                <a:hlinkClick r:id="rId2"/>
              </a:rPr>
              <a:t>https://lnkd.in/g6fwrXqJ</a:t>
            </a:r>
            <a:r>
              <a:rPr lang="en-US" sz="1200">
                <a:latin typeface="-apple-system"/>
                <a:ea typeface="-apple-system"/>
                <a:cs typeface="-apple-system"/>
              </a:rPr>
              <a:t>).</a:t>
            </a:r>
            <a:br>
              <a:rPr lang="en-US" sz="1200">
                <a:latin typeface="-apple-system"/>
                <a:ea typeface="-apple-system"/>
                <a:cs typeface="-apple-system"/>
              </a:rPr>
            </a:br>
            <a:br>
              <a:rPr lang="en-US" sz="1200">
                <a:latin typeface="-apple-system"/>
                <a:ea typeface="-apple-system"/>
                <a:cs typeface="-apple-system"/>
              </a:rPr>
            </a:br>
            <a:r>
              <a:rPr lang="en-US" sz="1200">
                <a:latin typeface="-apple-system"/>
                <a:ea typeface="-apple-system"/>
                <a:cs typeface="-apple-system"/>
              </a:rPr>
              <a:t>You can get learn about, and get access to, the Utility Network Foundations using this link: </a:t>
            </a:r>
            <a:r>
              <a:rPr lang="en-US" sz="1200" b="1">
                <a:solidFill>
                  <a:srgbClr val="0A66C2"/>
                </a:solidFill>
                <a:latin typeface="-apple-system"/>
                <a:ea typeface="-apple-system"/>
                <a:cs typeface="-apple-system"/>
                <a:hlinkClick r:id="rId3"/>
              </a:rPr>
              <a:t>https://lnkd.in/gCcwUDhG</a:t>
            </a:r>
            <a:r>
              <a:rPr lang="en-US" sz="1200">
                <a:latin typeface="-apple-system"/>
                <a:ea typeface="-apple-system"/>
                <a:cs typeface="-apple-system"/>
              </a:rPr>
              <a:t> .</a:t>
            </a:r>
            <a:br>
              <a:rPr lang="en-US" sz="1200">
                <a:latin typeface="-apple-system"/>
                <a:ea typeface="-apple-system"/>
                <a:cs typeface="-apple-system"/>
              </a:rPr>
            </a:br>
            <a:br>
              <a:rPr lang="en-US" sz="1200">
                <a:latin typeface="-apple-system"/>
                <a:ea typeface="-apple-system"/>
                <a:cs typeface="-apple-system"/>
              </a:rPr>
            </a:br>
            <a:r>
              <a:rPr lang="en-US" sz="1200">
                <a:latin typeface="-apple-system"/>
                <a:ea typeface="-apple-system"/>
                <a:cs typeface="-apple-system"/>
              </a:rPr>
              <a:t>I will continue the discussion tomorrow with some new data migration tools that were released that complement the new essentials models.</a:t>
            </a:r>
          </a:p>
          <a:p>
            <a:endParaRPr lang="en-US">
              <a:latin typeface="-apple-system"/>
              <a:ea typeface="-apple-system"/>
              <a:cs typeface="-apple-system"/>
            </a:endParaRPr>
          </a:p>
          <a:p>
            <a:pPr algn="ctr"/>
            <a:endParaRPr lang="pt-BR"/>
          </a:p>
        </p:txBody>
      </p:sp>
      <p:pic>
        <p:nvPicPr>
          <p:cNvPr id="5" name="Imagem 4" descr="Não foi fornecido texto alternativo para esta imagem">
            <a:extLst>
              <a:ext uri="{FF2B5EF4-FFF2-40B4-BE49-F238E27FC236}">
                <a16:creationId xmlns:a16="http://schemas.microsoft.com/office/drawing/2014/main" id="{99F2201D-A7F9-4C17-E67F-C96ABDFA53EC}"/>
              </a:ext>
            </a:extLst>
          </p:cNvPr>
          <p:cNvPicPr>
            <a:picLocks noChangeAspect="1"/>
          </p:cNvPicPr>
          <p:nvPr/>
        </p:nvPicPr>
        <p:blipFill>
          <a:blip r:embed="rId4"/>
          <a:stretch>
            <a:fillRect/>
          </a:stretch>
        </p:blipFill>
        <p:spPr>
          <a:xfrm>
            <a:off x="826698" y="848264"/>
            <a:ext cx="4011284" cy="4068793"/>
          </a:xfrm>
          <a:prstGeom prst="rect">
            <a:avLst/>
          </a:prstGeom>
        </p:spPr>
      </p:pic>
      <p:sp>
        <p:nvSpPr>
          <p:cNvPr id="6" name="CaixaDeTexto 5">
            <a:extLst>
              <a:ext uri="{FF2B5EF4-FFF2-40B4-BE49-F238E27FC236}">
                <a16:creationId xmlns:a16="http://schemas.microsoft.com/office/drawing/2014/main" id="{3308D09A-83AC-87D4-1CA2-7ACB47CBA977}"/>
              </a:ext>
            </a:extLst>
          </p:cNvPr>
          <p:cNvSpPr txBox="1"/>
          <p:nvPr/>
        </p:nvSpPr>
        <p:spPr>
          <a:xfrm>
            <a:off x="517585" y="5082396"/>
            <a:ext cx="4140680" cy="12926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t>https://www.linkedin.com/posts/robert-krisher-5a989438_some-of-the-most-significant-additions-to-activity-7214621242694205441-VDmp?utm_source=share&amp;utm_medium=member_desktop&amp;rcm=ACoAAAMQtAUB5UouXqdBJgo_gWpNVZ7Imay_2Tg</a:t>
            </a:r>
          </a:p>
          <a:p>
            <a:pPr algn="ctr"/>
            <a:endParaRPr lang="pt-BR"/>
          </a:p>
        </p:txBody>
      </p:sp>
    </p:spTree>
    <p:extLst>
      <p:ext uri="{BB962C8B-B14F-4D97-AF65-F5344CB8AC3E}">
        <p14:creationId xmlns:p14="http://schemas.microsoft.com/office/powerpoint/2010/main" val="10977598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E2B68EB3-440D-CD5A-B267-4954D4AC918B}"/>
              </a:ext>
            </a:extLst>
          </p:cNvPr>
          <p:cNvSpPr txBox="1"/>
          <p:nvPr/>
        </p:nvSpPr>
        <p:spPr>
          <a:xfrm>
            <a:off x="5362755" y="-7189"/>
            <a:ext cx="6627962" cy="70173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If you're not already familiar with the ArcGIS Architecture Center, check out this presentation from this year's Esri User Conference: </a:t>
            </a:r>
            <a:r>
              <a:rPr lang="en-US" b="1">
                <a:solidFill>
                  <a:srgbClr val="0A66C2"/>
                </a:solidFill>
                <a:latin typeface="-apple-system"/>
                <a:ea typeface="-apple-system"/>
                <a:cs typeface="-apple-system"/>
                <a:hlinkClick r:id="rId2"/>
              </a:rPr>
              <a:t>https://lnkd.in/gwx-yaxA</a:t>
            </a:r>
            <a:r>
              <a:rPr lang="en-US">
                <a:latin typeface="-apple-system"/>
                <a:ea typeface="-apple-system"/>
                <a:cs typeface="-apple-system"/>
              </a:rPr>
              <a:t> . Shout out to </a:t>
            </a:r>
            <a:r>
              <a:rPr lang="en-US" b="1">
                <a:solidFill>
                  <a:srgbClr val="0A66C2"/>
                </a:solidFill>
                <a:latin typeface="-apple-system"/>
                <a:ea typeface="-apple-system"/>
                <a:cs typeface="-apple-system"/>
                <a:hlinkClick r:id="rId3"/>
              </a:rPr>
              <a:t>Dave Wrazien</a:t>
            </a:r>
            <a:r>
              <a:rPr lang="en-US">
                <a:latin typeface="-apple-system"/>
                <a:ea typeface="-apple-system"/>
                <a:cs typeface="-apple-system"/>
              </a:rPr>
              <a:t> and </a:t>
            </a:r>
            <a:r>
              <a:rPr lang="en-US" b="1">
                <a:solidFill>
                  <a:srgbClr val="0A66C2"/>
                </a:solidFill>
                <a:latin typeface="-apple-system"/>
                <a:ea typeface="-apple-system"/>
                <a:cs typeface="-apple-system"/>
                <a:hlinkClick r:id="rId4"/>
              </a:rPr>
              <a:t>Michael Mirobelli, MEA</a:t>
            </a:r>
            <a:r>
              <a:rPr lang="en-US">
                <a:latin typeface="-apple-system"/>
                <a:ea typeface="-apple-system"/>
                <a:cs typeface="-apple-system"/>
              </a:rPr>
              <a:t> for delivering such a wonderful presentation!</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GIS has always been an important analytical tool, but over the past decades it has evolved into an enterprise platform found in the heart of many organizations. With this evolution came many questions from customers about reference architectures, best practices, and even test studies for different workflows. In response to this Esri created the ArcGIS Architecture Center (</a:t>
            </a:r>
            <a:r>
              <a:rPr lang="en-US" b="1">
                <a:solidFill>
                  <a:srgbClr val="0A66C2"/>
                </a:solidFill>
                <a:latin typeface="-apple-system"/>
                <a:ea typeface="-apple-system"/>
                <a:cs typeface="-apple-system"/>
                <a:hlinkClick r:id="rId5"/>
              </a:rPr>
              <a:t>https://lnkd.in/gDYavjkz</a:t>
            </a:r>
            <a:r>
              <a:rPr lang="en-US">
                <a:latin typeface="-apple-system"/>
                <a:ea typeface="-apple-system"/>
                <a:cs typeface="-apple-system"/>
              </a:rPr>
              <a:t>), which contains information about all these topics and more!</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This site went live late last year and is a resource I refer to often throughout the week in my conversations with customers. In particular, I find many utility customers moving from ArcMap to ArcGIS Pro have a lot of questions about how to best configure their ArcGIS Enterprise. For these customers, I often refer them to the "Network Management System" reference architecture (</a:t>
            </a:r>
            <a:r>
              <a:rPr lang="en-US" b="1">
                <a:solidFill>
                  <a:srgbClr val="0A66C2"/>
                </a:solidFill>
                <a:latin typeface="-apple-system"/>
                <a:ea typeface="-apple-system"/>
                <a:cs typeface="-apple-system"/>
                <a:hlinkClick r:id="rId6"/>
              </a:rPr>
              <a:t>https://lnkd.in/g9jjUKa5</a:t>
            </a:r>
            <a:r>
              <a:rPr lang="en-US">
                <a:latin typeface="-apple-system"/>
                <a:ea typeface="-apple-system"/>
                <a:cs typeface="-apple-system"/>
              </a:rPr>
              <a:t>) where they can find sample architectures, workflows, and easy-to-understand descriptions of how the different components of the system interact.</a:t>
            </a:r>
            <a:br>
              <a:rPr lang="en-US">
                <a:latin typeface="-apple-system"/>
                <a:ea typeface="-apple-system"/>
                <a:cs typeface="-apple-system"/>
              </a:rPr>
            </a:br>
            <a:br>
              <a:rPr lang="en-US">
                <a:latin typeface="-apple-system"/>
                <a:ea typeface="-apple-system"/>
                <a:cs typeface="-apple-system"/>
              </a:rPr>
            </a:br>
            <a:r>
              <a:rPr lang="en-US" b="1">
                <a:solidFill>
                  <a:srgbClr val="0A66C2"/>
                </a:solidFill>
                <a:latin typeface="-apple-system"/>
                <a:ea typeface="-apple-system"/>
                <a:cs typeface="-apple-system"/>
                <a:hlinkClick r:id="rId7"/>
              </a:rPr>
              <a:t>hashtag#EsriUC2024</a:t>
            </a:r>
            <a:endParaRPr lang="en-US"/>
          </a:p>
          <a:p>
            <a:pPr algn="ctr"/>
            <a:endParaRPr lang="pt-BR"/>
          </a:p>
        </p:txBody>
      </p:sp>
      <p:pic>
        <p:nvPicPr>
          <p:cNvPr id="5" name="Imagem 4" descr="Não foi fornecido texto alternativo para esta imagem">
            <a:extLst>
              <a:ext uri="{FF2B5EF4-FFF2-40B4-BE49-F238E27FC236}">
                <a16:creationId xmlns:a16="http://schemas.microsoft.com/office/drawing/2014/main" id="{1171D211-F65B-9A52-55F8-E8A2F7C2CDAC}"/>
              </a:ext>
            </a:extLst>
          </p:cNvPr>
          <p:cNvPicPr>
            <a:picLocks noChangeAspect="1"/>
          </p:cNvPicPr>
          <p:nvPr/>
        </p:nvPicPr>
        <p:blipFill>
          <a:blip r:embed="rId8"/>
          <a:stretch>
            <a:fillRect/>
          </a:stretch>
        </p:blipFill>
        <p:spPr>
          <a:xfrm>
            <a:off x="625146" y="613464"/>
            <a:ext cx="4241860" cy="3100658"/>
          </a:xfrm>
          <a:prstGeom prst="rect">
            <a:avLst/>
          </a:prstGeom>
        </p:spPr>
      </p:pic>
      <p:sp>
        <p:nvSpPr>
          <p:cNvPr id="6" name="CaixaDeTexto 5">
            <a:extLst>
              <a:ext uri="{FF2B5EF4-FFF2-40B4-BE49-F238E27FC236}">
                <a16:creationId xmlns:a16="http://schemas.microsoft.com/office/drawing/2014/main" id="{DFEC26FB-05A1-5C9F-3D77-4E7FD79ADE92}"/>
              </a:ext>
            </a:extLst>
          </p:cNvPr>
          <p:cNvSpPr txBox="1"/>
          <p:nvPr/>
        </p:nvSpPr>
        <p:spPr>
          <a:xfrm>
            <a:off x="416943" y="4119112"/>
            <a:ext cx="4672642"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https://www.linkedin.com/posts/robert-krisher-5a989438_esriuc2024-activity-7228380981747924992-44r7?utm_source=share&amp;utm_medium=member_desktop&amp;rcm=ACoAAAMQtAUB5UouXqdBJgo_gWpNVZ7Imay_2Tg</a:t>
            </a:r>
          </a:p>
          <a:p>
            <a:pPr algn="ctr"/>
            <a:endParaRPr lang="pt-BR"/>
          </a:p>
        </p:txBody>
      </p:sp>
    </p:spTree>
    <p:extLst>
      <p:ext uri="{BB962C8B-B14F-4D97-AF65-F5344CB8AC3E}">
        <p14:creationId xmlns:p14="http://schemas.microsoft.com/office/powerpoint/2010/main" val="28831575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CC4AD703-A1F9-E545-DE9E-753BA45660AC}"/>
              </a:ext>
            </a:extLst>
          </p:cNvPr>
          <p:cNvSpPr txBox="1"/>
          <p:nvPr/>
        </p:nvSpPr>
        <p:spPr>
          <a:xfrm>
            <a:off x="5650302" y="1042358"/>
            <a:ext cx="6096000"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If you're a Geodatabase Administrator you should check out this presentation (</a:t>
            </a:r>
            <a:r>
              <a:rPr lang="en-US" b="1">
                <a:solidFill>
                  <a:srgbClr val="0A66C2"/>
                </a:solidFill>
                <a:latin typeface="-apple-system"/>
                <a:ea typeface="-apple-system"/>
                <a:cs typeface="-apple-system"/>
                <a:hlinkClick r:id="rId2"/>
              </a:rPr>
              <a:t>https://lnkd.in/gWsGwNqr</a:t>
            </a:r>
            <a:r>
              <a:rPr lang="en-US">
                <a:latin typeface="-apple-system"/>
                <a:ea typeface="-apple-system"/>
                <a:cs typeface="-apple-system"/>
              </a:rPr>
              <a:t>) by </a:t>
            </a:r>
            <a:r>
              <a:rPr lang="en-US" b="1">
                <a:solidFill>
                  <a:srgbClr val="0A66C2"/>
                </a:solidFill>
                <a:latin typeface="-apple-system"/>
                <a:ea typeface="-apple-system"/>
                <a:cs typeface="-apple-system"/>
                <a:hlinkClick r:id="rId3"/>
              </a:rPr>
              <a:t>Kaitlyn Purcell</a:t>
            </a:r>
            <a:br>
              <a:rPr lang="en-US">
                <a:latin typeface="-apple-system"/>
                <a:ea typeface="-apple-system"/>
                <a:cs typeface="-apple-system"/>
              </a:rPr>
            </a:br>
            <a:r>
              <a:rPr lang="en-US" b="1">
                <a:solidFill>
                  <a:srgbClr val="0A66C2"/>
                </a:solidFill>
                <a:latin typeface="-apple-system"/>
                <a:ea typeface="-apple-system"/>
                <a:cs typeface="-apple-system"/>
                <a:hlinkClick r:id="rId4"/>
              </a:rPr>
              <a:t>Jon Emch</a:t>
            </a:r>
            <a:r>
              <a:rPr lang="en-US">
                <a:latin typeface="-apple-system"/>
                <a:ea typeface="-apple-system"/>
                <a:cs typeface="-apple-system"/>
              </a:rPr>
              <a:t> from this year's Esri User Conference. It contains a wealth of interesting tips and tricks as well as practical things you can do daily to keep on top of your environment and spot issues before your users do.</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The coolest thing I saw in this presentation, which wasn't previously on my radar, was the Statistics tab in ArcGIS Server Manager. It doesn't have all the bells and whistles the ArcGIS Monitor has, but there are still many quick and easy metrics you can get out of your services to help you identify system health.</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As always, make sure you stick around for the Q&amp;A session at the end for some great user questions.</a:t>
            </a:r>
            <a:endParaRPr lang="en-US"/>
          </a:p>
          <a:p>
            <a:pPr algn="ctr"/>
            <a:endParaRPr lang="pt-BR"/>
          </a:p>
        </p:txBody>
      </p:sp>
      <p:pic>
        <p:nvPicPr>
          <p:cNvPr id="5" name="Imagem 4" descr="Não foi fornecido texto alternativo para esta imagem">
            <a:extLst>
              <a:ext uri="{FF2B5EF4-FFF2-40B4-BE49-F238E27FC236}">
                <a16:creationId xmlns:a16="http://schemas.microsoft.com/office/drawing/2014/main" id="{9C6E53E9-82F2-BABB-5695-FC088DB9A13D}"/>
              </a:ext>
            </a:extLst>
          </p:cNvPr>
          <p:cNvPicPr>
            <a:picLocks noChangeAspect="1"/>
          </p:cNvPicPr>
          <p:nvPr/>
        </p:nvPicPr>
        <p:blipFill>
          <a:blip r:embed="rId5"/>
          <a:stretch>
            <a:fillRect/>
          </a:stretch>
        </p:blipFill>
        <p:spPr>
          <a:xfrm>
            <a:off x="589472" y="1037395"/>
            <a:ext cx="4902680" cy="2554721"/>
          </a:xfrm>
          <a:prstGeom prst="rect">
            <a:avLst/>
          </a:prstGeom>
        </p:spPr>
      </p:pic>
      <p:sp>
        <p:nvSpPr>
          <p:cNvPr id="6" name="CaixaDeTexto 5">
            <a:extLst>
              <a:ext uri="{FF2B5EF4-FFF2-40B4-BE49-F238E27FC236}">
                <a16:creationId xmlns:a16="http://schemas.microsoft.com/office/drawing/2014/main" id="{2BDD7BD1-C3A1-207B-EBC1-8BDF371A2229}"/>
              </a:ext>
            </a:extLst>
          </p:cNvPr>
          <p:cNvSpPr txBox="1"/>
          <p:nvPr/>
        </p:nvSpPr>
        <p:spPr>
          <a:xfrm>
            <a:off x="589472" y="3817189"/>
            <a:ext cx="4500114" cy="18466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https://www.linkedin.com/posts/robert-krisher-5a989438_esriuc2024-activity-7229111775936274432-tHtT?utm_source=share&amp;utm_medium=member_desktop&amp;rcm=ACoAAAMQtAUB5UouXqdBJgo_gWpNVZ7Imay_2Tg</a:t>
            </a:r>
            <a:endParaRPr lang="en-US" sz="1600">
              <a:ea typeface="Calibri"/>
              <a:cs typeface="Calibri"/>
            </a:endParaRPr>
          </a:p>
          <a:p>
            <a:pPr algn="ctr"/>
            <a:endParaRPr lang="pt-BR"/>
          </a:p>
        </p:txBody>
      </p:sp>
    </p:spTree>
    <p:extLst>
      <p:ext uri="{BB962C8B-B14F-4D97-AF65-F5344CB8AC3E}">
        <p14:creationId xmlns:p14="http://schemas.microsoft.com/office/powerpoint/2010/main" val="40290080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6BF3AC3C-CA17-760F-1117-F42766DD4FE9}"/>
              </a:ext>
            </a:extLst>
          </p:cNvPr>
          <p:cNvSpPr txBox="1"/>
          <p:nvPr/>
        </p:nvSpPr>
        <p:spPr>
          <a:xfrm>
            <a:off x="5909094" y="510396"/>
            <a:ext cx="6096000"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News Geo 📢 💡 </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Desde junho de 2024, a </a:t>
            </a:r>
            <a:r>
              <a:rPr lang="en-US" b="1">
                <a:solidFill>
                  <a:srgbClr val="0A66C2"/>
                </a:solidFill>
                <a:latin typeface="-apple-system"/>
                <a:ea typeface="-apple-system"/>
                <a:cs typeface="-apple-system"/>
                <a:hlinkClick r:id="rId2"/>
              </a:rPr>
              <a:t>Esri</a:t>
            </a:r>
            <a:r>
              <a:rPr lang="en-US">
                <a:latin typeface="-apple-system"/>
                <a:ea typeface="-apple-system"/>
                <a:cs typeface="-apple-system"/>
              </a:rPr>
              <a:t> atualizou seu modelo de licenças para se alinhar com as inovações na plataforma ArcGIS.</a:t>
            </a:r>
            <a:br>
              <a:rPr lang="en-US">
                <a:latin typeface="-apple-system"/>
                <a:ea typeface="-apple-system"/>
                <a:cs typeface="-apple-system"/>
              </a:rPr>
            </a:br>
            <a:r>
              <a:rPr lang="en-US">
                <a:latin typeface="-apple-system"/>
                <a:ea typeface="-apple-system"/>
                <a:cs typeface="-apple-system"/>
              </a:rPr>
              <a:t>Essa mudança simplifica a implantação do sistema, oferecendo seis tipos de usuários baseados em funções, que proporcionam acesso ampliado aos recursos, aplicativos e serviços do ArcGIS, permitindo que suas equipes colaborem de qualquer lugar, em qualquer dispositivo.</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Quer saber mais quais são essas mudanças? Veja o vídeo com a explicação do meu colega </a:t>
            </a:r>
            <a:r>
              <a:rPr lang="en-US" b="1">
                <a:solidFill>
                  <a:srgbClr val="0A66C2"/>
                </a:solidFill>
                <a:latin typeface="-apple-system"/>
                <a:ea typeface="-apple-system"/>
                <a:cs typeface="-apple-system"/>
                <a:hlinkClick r:id="rId3"/>
              </a:rPr>
              <a:t>Lucas Alves</a:t>
            </a:r>
            <a:r>
              <a:rPr lang="en-US">
                <a:latin typeface="-apple-system"/>
                <a:ea typeface="-apple-system"/>
                <a:cs typeface="-apple-system"/>
              </a:rPr>
              <a:t>: </a:t>
            </a:r>
            <a:r>
              <a:rPr lang="en-US" b="1">
                <a:solidFill>
                  <a:srgbClr val="0A66C2"/>
                </a:solidFill>
                <a:latin typeface="-apple-system"/>
                <a:ea typeface="-apple-system"/>
                <a:cs typeface="-apple-system"/>
                <a:hlinkClick r:id="rId4"/>
              </a:rPr>
              <a:t>https://lnkd.in/dy8fbmjG</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e acesse a matriz de comparação:</a:t>
            </a:r>
            <a:br>
              <a:rPr lang="en-US">
                <a:latin typeface="-apple-system"/>
                <a:ea typeface="-apple-system"/>
                <a:cs typeface="-apple-system"/>
              </a:rPr>
            </a:br>
            <a:br>
              <a:rPr lang="en-US">
                <a:latin typeface="-apple-system"/>
                <a:ea typeface="-apple-system"/>
                <a:cs typeface="-apple-system"/>
              </a:rPr>
            </a:br>
            <a:r>
              <a:rPr lang="en-US" b="1">
                <a:solidFill>
                  <a:srgbClr val="0A66C2"/>
                </a:solidFill>
                <a:latin typeface="-apple-system"/>
                <a:ea typeface="-apple-system"/>
                <a:cs typeface="-apple-system"/>
                <a:hlinkClick r:id="rId5"/>
              </a:rPr>
              <a:t>https://lnkd.in/dhzYZVE7</a:t>
            </a:r>
            <a:endParaRPr lang="en-US"/>
          </a:p>
          <a:p>
            <a:pPr algn="ctr"/>
            <a:endParaRPr lang="pt-BR"/>
          </a:p>
        </p:txBody>
      </p:sp>
      <p:pic>
        <p:nvPicPr>
          <p:cNvPr id="5" name="Imagem 4" descr="Não foi fornecido texto alternativo para esta imagem">
            <a:extLst>
              <a:ext uri="{FF2B5EF4-FFF2-40B4-BE49-F238E27FC236}">
                <a16:creationId xmlns:a16="http://schemas.microsoft.com/office/drawing/2014/main" id="{5C66CDB9-29ED-B292-7A35-A527162E9AB9}"/>
              </a:ext>
            </a:extLst>
          </p:cNvPr>
          <p:cNvPicPr>
            <a:picLocks noChangeAspect="1"/>
          </p:cNvPicPr>
          <p:nvPr/>
        </p:nvPicPr>
        <p:blipFill>
          <a:blip r:embed="rId6"/>
          <a:stretch>
            <a:fillRect/>
          </a:stretch>
        </p:blipFill>
        <p:spPr>
          <a:xfrm>
            <a:off x="573656" y="508689"/>
            <a:ext cx="4474235" cy="4417264"/>
          </a:xfrm>
          <a:prstGeom prst="rect">
            <a:avLst/>
          </a:prstGeom>
        </p:spPr>
      </p:pic>
      <p:sp>
        <p:nvSpPr>
          <p:cNvPr id="6" name="CaixaDeTexto 5">
            <a:extLst>
              <a:ext uri="{FF2B5EF4-FFF2-40B4-BE49-F238E27FC236}">
                <a16:creationId xmlns:a16="http://schemas.microsoft.com/office/drawing/2014/main" id="{20475877-7F1F-581B-BD76-F1167948421C}"/>
              </a:ext>
            </a:extLst>
          </p:cNvPr>
          <p:cNvSpPr txBox="1"/>
          <p:nvPr/>
        </p:nvSpPr>
        <p:spPr>
          <a:xfrm>
            <a:off x="345057" y="5068019"/>
            <a:ext cx="4931434"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https://www.linkedin.com/posts/alinecoimbra_news-geo-desde-junho-de-2024-a-esri-activity-7230262383930208256-RAhd?utm_source=share&amp;utm_medium=member_desktop&amp;rcm=ACoAAAMQtAUB5UouXqdBJgo_gWpNVZ7Imay_2Tg</a:t>
            </a:r>
          </a:p>
          <a:p>
            <a:pPr algn="ctr"/>
            <a:endParaRPr lang="pt-BR"/>
          </a:p>
        </p:txBody>
      </p:sp>
    </p:spTree>
    <p:extLst>
      <p:ext uri="{BB962C8B-B14F-4D97-AF65-F5344CB8AC3E}">
        <p14:creationId xmlns:p14="http://schemas.microsoft.com/office/powerpoint/2010/main" val="2778474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DE56FF9F-61AE-4D5F-4393-DA57D80260E4}"/>
              </a:ext>
            </a:extLst>
          </p:cNvPr>
          <p:cNvSpPr txBox="1"/>
          <p:nvPr/>
        </p:nvSpPr>
        <p:spPr>
          <a:xfrm>
            <a:off x="5621547" y="2221302"/>
            <a:ext cx="609600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Are you a water, sewer, or electric utility looking to migrate to the ArcGIS Utility Network? If so, you will be very interested in the major enhancements we recently made to the UN Foundations. Learn more in this blog post. </a:t>
            </a:r>
            <a:br>
              <a:rPr lang="en-US">
                <a:latin typeface="-apple-system"/>
                <a:ea typeface="-apple-system"/>
                <a:cs typeface="-apple-system"/>
              </a:rPr>
            </a:br>
            <a:br>
              <a:rPr lang="en-US">
                <a:latin typeface="-apple-system"/>
                <a:ea typeface="-apple-system"/>
                <a:cs typeface="-apple-system"/>
              </a:rPr>
            </a:br>
            <a:r>
              <a:rPr lang="en-US" b="1">
                <a:solidFill>
                  <a:srgbClr val="0A66C2"/>
                </a:solidFill>
                <a:latin typeface="-apple-system"/>
                <a:ea typeface="-apple-system"/>
                <a:cs typeface="-apple-system"/>
                <a:hlinkClick r:id="rId2"/>
              </a:rPr>
              <a:t>https://lnkd.in/exx4VzWT</a:t>
            </a:r>
            <a:endParaRPr lang="en-US"/>
          </a:p>
          <a:p>
            <a:pPr algn="ctr"/>
            <a:endParaRPr lang="pt-BR"/>
          </a:p>
        </p:txBody>
      </p:sp>
      <p:pic>
        <p:nvPicPr>
          <p:cNvPr id="5" name="Imagem 4" descr="Interface gráfica do usuário, Texto, Aplicativo, Email&#10;&#10;O conteúdo gerado por IA pode estar incorreto.">
            <a:extLst>
              <a:ext uri="{FF2B5EF4-FFF2-40B4-BE49-F238E27FC236}">
                <a16:creationId xmlns:a16="http://schemas.microsoft.com/office/drawing/2014/main" id="{12E6B113-015B-956E-73B3-FDE380AA454F}"/>
              </a:ext>
            </a:extLst>
          </p:cNvPr>
          <p:cNvPicPr>
            <a:picLocks noChangeAspect="1"/>
          </p:cNvPicPr>
          <p:nvPr/>
        </p:nvPicPr>
        <p:blipFill>
          <a:blip r:embed="rId3"/>
          <a:stretch>
            <a:fillRect/>
          </a:stretch>
        </p:blipFill>
        <p:spPr>
          <a:xfrm>
            <a:off x="933450" y="703682"/>
            <a:ext cx="4229100" cy="3552825"/>
          </a:xfrm>
          <a:prstGeom prst="rect">
            <a:avLst/>
          </a:prstGeom>
        </p:spPr>
      </p:pic>
      <p:sp>
        <p:nvSpPr>
          <p:cNvPr id="6" name="CaixaDeTexto 5">
            <a:extLst>
              <a:ext uri="{FF2B5EF4-FFF2-40B4-BE49-F238E27FC236}">
                <a16:creationId xmlns:a16="http://schemas.microsoft.com/office/drawing/2014/main" id="{0A26B1AA-41DE-D17F-56C6-7A24BCB8A8AC}"/>
              </a:ext>
            </a:extLst>
          </p:cNvPr>
          <p:cNvSpPr txBox="1"/>
          <p:nvPr/>
        </p:nvSpPr>
        <p:spPr>
          <a:xfrm>
            <a:off x="704491" y="4636698"/>
            <a:ext cx="4917057"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https://www.linkedin.com/posts/scott-oppmann_arcgis-solutions-introduces-essential-data-activity-7228866893242085377-vj5N?utm_source=share&amp;utm_medium=member_desktop&amp;rcm=ACoAAAMQtAUB5UouXqdBJgo_gWpNVZ7Imay_2Tg</a:t>
            </a:r>
          </a:p>
          <a:p>
            <a:pPr algn="ctr"/>
            <a:endParaRPr lang="pt-BR"/>
          </a:p>
        </p:txBody>
      </p:sp>
    </p:spTree>
    <p:extLst>
      <p:ext uri="{BB962C8B-B14F-4D97-AF65-F5344CB8AC3E}">
        <p14:creationId xmlns:p14="http://schemas.microsoft.com/office/powerpoint/2010/main" val="29425500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311BD59E-557C-CED6-E717-67A8AFEECAD3}"/>
              </a:ext>
            </a:extLst>
          </p:cNvPr>
          <p:cNvSpPr txBox="1"/>
          <p:nvPr/>
        </p:nvSpPr>
        <p:spPr>
          <a:xfrm>
            <a:off x="5664679" y="611038"/>
            <a:ext cx="6096000"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Another round of videos from this year's Esri User Conference has been published for digital access (</a:t>
            </a:r>
            <a:r>
              <a:rPr lang="en-US" b="1">
                <a:solidFill>
                  <a:srgbClr val="0A66C2"/>
                </a:solidFill>
                <a:latin typeface="-apple-system"/>
                <a:ea typeface="-apple-system"/>
                <a:cs typeface="-apple-system"/>
                <a:hlinkClick r:id="rId2"/>
              </a:rPr>
              <a:t>https://lnkd.in/gVWsSsRS</a:t>
            </a:r>
            <a:r>
              <a:rPr lang="en-US">
                <a:latin typeface="-apple-system"/>
                <a:ea typeface="-apple-system"/>
                <a:cs typeface="-apple-system"/>
              </a:rPr>
              <a:t>). The first one I'd like to call out is the Essential Network Diagram Workflows presentation given by </a:t>
            </a:r>
            <a:r>
              <a:rPr lang="en-US" b="1">
                <a:solidFill>
                  <a:srgbClr val="0A66C2"/>
                </a:solidFill>
                <a:latin typeface="-apple-system"/>
                <a:ea typeface="-apple-system"/>
                <a:cs typeface="-apple-system"/>
                <a:hlinkClick r:id="rId3"/>
              </a:rPr>
              <a:t>Anne-Yvonne Blin</a:t>
            </a:r>
            <a:r>
              <a:rPr lang="en-US">
                <a:latin typeface="-apple-system"/>
                <a:ea typeface="-apple-system"/>
                <a:cs typeface="-apple-system"/>
              </a:rPr>
              <a:t> and Koya Brown.</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The power of network diagrams to convey information is often overlooked when implementing the utility network, especially with all the other activities surrounding a large implementation. I recommend existing utility network customers watch this presentation to get an idea of how they could be better using the system. </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I know many customers who manually maintain CAD files or Visio diagrams of their system, and these files are out of date as soon as the GIS is updated. By using network diagrams, you get all the benefits of a schematic representation of your data, but because the data is dynamically linked to your GIS features you never have to worry about it being stale!</a:t>
            </a:r>
            <a:endParaRPr lang="en-US"/>
          </a:p>
          <a:p>
            <a:pPr algn="ctr"/>
            <a:endParaRPr lang="pt-BR"/>
          </a:p>
        </p:txBody>
      </p:sp>
      <p:pic>
        <p:nvPicPr>
          <p:cNvPr id="5" name="Imagem 4" descr="Não foi fornecido texto alternativo para esta imagem">
            <a:extLst>
              <a:ext uri="{FF2B5EF4-FFF2-40B4-BE49-F238E27FC236}">
                <a16:creationId xmlns:a16="http://schemas.microsoft.com/office/drawing/2014/main" id="{8DF12CA9-9657-A81B-3282-11B21701948E}"/>
              </a:ext>
            </a:extLst>
          </p:cNvPr>
          <p:cNvPicPr>
            <a:picLocks noChangeAspect="1"/>
          </p:cNvPicPr>
          <p:nvPr/>
        </p:nvPicPr>
        <p:blipFill>
          <a:blip r:embed="rId4"/>
          <a:stretch>
            <a:fillRect/>
          </a:stretch>
        </p:blipFill>
        <p:spPr>
          <a:xfrm>
            <a:off x="635479" y="460075"/>
            <a:ext cx="4134929" cy="4456982"/>
          </a:xfrm>
          <a:prstGeom prst="rect">
            <a:avLst/>
          </a:prstGeom>
        </p:spPr>
      </p:pic>
      <p:sp>
        <p:nvSpPr>
          <p:cNvPr id="6" name="CaixaDeTexto 5">
            <a:extLst>
              <a:ext uri="{FF2B5EF4-FFF2-40B4-BE49-F238E27FC236}">
                <a16:creationId xmlns:a16="http://schemas.microsoft.com/office/drawing/2014/main" id="{F2FB0C3B-E171-AEAF-8065-482F6039A88D}"/>
              </a:ext>
            </a:extLst>
          </p:cNvPr>
          <p:cNvSpPr txBox="1"/>
          <p:nvPr/>
        </p:nvSpPr>
        <p:spPr>
          <a:xfrm>
            <a:off x="373811" y="5053642"/>
            <a:ext cx="4658265"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https://www.linkedin.com/posts/robert-krisher-5a989438_esriuc2024-activity-7233846143619624960-t5dr?utm_source=share&amp;utm_medium=member_desktop&amp;rcm=ACoAAAMQtAUB5UouXqdBJgo_gWpNVZ7Imay_2Tg</a:t>
            </a:r>
          </a:p>
          <a:p>
            <a:pPr algn="ctr"/>
            <a:endParaRPr lang="pt-BR"/>
          </a:p>
        </p:txBody>
      </p:sp>
    </p:spTree>
    <p:extLst>
      <p:ext uri="{BB962C8B-B14F-4D97-AF65-F5344CB8AC3E}">
        <p14:creationId xmlns:p14="http://schemas.microsoft.com/office/powerpoint/2010/main" val="2698155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00B34177-5206-11E1-D303-9C46A09E2043}"/>
              </a:ext>
            </a:extLst>
          </p:cNvPr>
          <p:cNvSpPr txBox="1"/>
          <p:nvPr/>
        </p:nvSpPr>
        <p:spPr>
          <a:xfrm>
            <a:off x="6096000" y="1559943"/>
            <a:ext cx="6096000"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With all the recent changes made to provide industry-specific learning content for the utility network, we decided to make a single playlist that contains all the industries, along with a link to migration resources: </a:t>
            </a:r>
            <a:r>
              <a:rPr lang="en-US" b="1">
                <a:solidFill>
                  <a:srgbClr val="0A66C2"/>
                </a:solidFill>
                <a:latin typeface="-apple-system"/>
                <a:ea typeface="-apple-system"/>
                <a:cs typeface="-apple-system"/>
                <a:hlinkClick r:id="rId2"/>
              </a:rPr>
              <a:t>https://lnkd.in/g78PZz8G</a:t>
            </a:r>
            <a:r>
              <a:rPr lang="en-US">
                <a:latin typeface="-apple-system"/>
                <a:ea typeface="-apple-system"/>
                <a:cs typeface="-apple-system"/>
              </a:rPr>
              <a:t> </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We decided to make this change because many customers were struggling to find the new playlists. This new structure makes it easier for customers to find content relevant to their work and to quickly access content from different industries.</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Photo by Clay Banks at Unsplash.</a:t>
            </a:r>
            <a:endParaRPr lang="en-US"/>
          </a:p>
          <a:p>
            <a:pPr algn="ctr"/>
            <a:endParaRPr lang="pt-BR"/>
          </a:p>
        </p:txBody>
      </p:sp>
      <p:pic>
        <p:nvPicPr>
          <p:cNvPr id="6" name="Imagem 5" descr="Não foi fornecido texto alternativo para esta imagem">
            <a:extLst>
              <a:ext uri="{FF2B5EF4-FFF2-40B4-BE49-F238E27FC236}">
                <a16:creationId xmlns:a16="http://schemas.microsoft.com/office/drawing/2014/main" id="{8F1195BB-E862-B3C4-115C-82A4B4916894}"/>
              </a:ext>
            </a:extLst>
          </p:cNvPr>
          <p:cNvPicPr>
            <a:picLocks noChangeAspect="1"/>
          </p:cNvPicPr>
          <p:nvPr/>
        </p:nvPicPr>
        <p:blipFill>
          <a:blip r:embed="rId3"/>
          <a:stretch>
            <a:fillRect/>
          </a:stretch>
        </p:blipFill>
        <p:spPr>
          <a:xfrm>
            <a:off x="345056" y="1206890"/>
            <a:ext cx="5420265" cy="3610335"/>
          </a:xfrm>
          <a:prstGeom prst="rect">
            <a:avLst/>
          </a:prstGeom>
        </p:spPr>
      </p:pic>
      <p:sp>
        <p:nvSpPr>
          <p:cNvPr id="7" name="CaixaDeTexto 6">
            <a:extLst>
              <a:ext uri="{FF2B5EF4-FFF2-40B4-BE49-F238E27FC236}">
                <a16:creationId xmlns:a16="http://schemas.microsoft.com/office/drawing/2014/main" id="{34621930-A7C1-FCF5-11D4-9AF7CA9EF621}"/>
              </a:ext>
            </a:extLst>
          </p:cNvPr>
          <p:cNvSpPr txBox="1"/>
          <p:nvPr/>
        </p:nvSpPr>
        <p:spPr>
          <a:xfrm>
            <a:off x="402566" y="4981755"/>
            <a:ext cx="5290868"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https://www.linkedin.com/posts/robert-krisher-5a989438_with-all-the-recent-changes-made-to-provide-activity-7235291482952224768-UCzM?utm_source=share&amp;utm_medium=member_desktop&amp;rcm=ACoAAAMQtAUB5UouXqdBJgo_gWpNVZ7Imay_2Tg</a:t>
            </a:r>
          </a:p>
          <a:p>
            <a:pPr algn="ctr"/>
            <a:endParaRPr lang="pt-BR"/>
          </a:p>
        </p:txBody>
      </p:sp>
    </p:spTree>
    <p:extLst>
      <p:ext uri="{BB962C8B-B14F-4D97-AF65-F5344CB8AC3E}">
        <p14:creationId xmlns:p14="http://schemas.microsoft.com/office/powerpoint/2010/main" val="3034894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FC315582-5DC0-BC8F-0831-5CF531DDD0DA}"/>
              </a:ext>
            </a:extLst>
          </p:cNvPr>
          <p:cNvSpPr txBox="1"/>
          <p:nvPr/>
        </p:nvSpPr>
        <p:spPr>
          <a:xfrm>
            <a:off x="1595887" y="496019"/>
            <a:ext cx="6096000"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𝐀𝐫𝐜𝐆𝐈𝐒 𝐔𝐭𝐢𝐥𝐢𝐭𝐲 𝐍𝐞𝐭𝐰𝐨𝐫𝐤 𝐓𝐮𝐭𝐨𝐫𝐢𝐚𝐥𝐬 𝐬𝐞𝐫𝐢𝐞𝐬 (𝐖𝐚𝐭𝐞𝐫, 𝐄𝐥𝐞𝐜𝐭𝐫𝐢𝐜𝐢𝐭𝐲, 𝐆𝐚𝐬, 𝐒𝐞𝐰𝐞𝐫 𝐍𝐞𝐭𝐰𝐨𝐫𝐤𝐬)</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Learn ArcGIS Utility Network for Sewer and Stormwater tutorial series: </a:t>
            </a:r>
            <a:r>
              <a:rPr lang="en-US" b="1">
                <a:solidFill>
                  <a:srgbClr val="0A66C2"/>
                </a:solidFill>
                <a:latin typeface="-apple-system"/>
                <a:ea typeface="-apple-system"/>
                <a:cs typeface="-apple-system"/>
                <a:hlinkClick r:id="rId2"/>
              </a:rPr>
              <a:t>https://lnkd.in/dVPVNRwc</a:t>
            </a:r>
            <a:r>
              <a:rPr lang="en-US">
                <a:latin typeface="-apple-system"/>
                <a:ea typeface="-apple-system"/>
                <a:cs typeface="-apple-system"/>
              </a:rPr>
              <a:t> شبكات الصرف</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Learn ArcGIS Utility Network for Water Utilities tutorial series: </a:t>
            </a:r>
            <a:r>
              <a:rPr lang="en-US" b="1">
                <a:solidFill>
                  <a:srgbClr val="0A66C2"/>
                </a:solidFill>
                <a:latin typeface="-apple-system"/>
                <a:ea typeface="-apple-system"/>
                <a:cs typeface="-apple-system"/>
                <a:hlinkClick r:id="rId3"/>
              </a:rPr>
              <a:t>https://lnkd.in/dvVhZQKE</a:t>
            </a:r>
            <a:r>
              <a:rPr lang="en-US">
                <a:latin typeface="-apple-system"/>
                <a:ea typeface="-apple-system"/>
                <a:cs typeface="-apple-system"/>
              </a:rPr>
              <a:t> شبكات المياه</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Learn ArcGIS Utility Network for Electric Utilities tutorial series: </a:t>
            </a:r>
            <a:r>
              <a:rPr lang="en-US" b="1">
                <a:solidFill>
                  <a:srgbClr val="0A66C2"/>
                </a:solidFill>
                <a:latin typeface="-apple-system"/>
                <a:ea typeface="-apple-system"/>
                <a:cs typeface="-apple-system"/>
                <a:hlinkClick r:id="rId4"/>
              </a:rPr>
              <a:t>https://lnkd.in/dxafGdnr</a:t>
            </a:r>
            <a:r>
              <a:rPr lang="en-US">
                <a:latin typeface="-apple-system"/>
                <a:ea typeface="-apple-system"/>
                <a:cs typeface="-apple-system"/>
              </a:rPr>
              <a:t> شبكات الكهرباء</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Learn ArcGIS Utility Network for Gas and Pipeline tutorial series: </a:t>
            </a:r>
            <a:r>
              <a:rPr lang="en-US" b="1">
                <a:solidFill>
                  <a:srgbClr val="0A66C2"/>
                </a:solidFill>
                <a:latin typeface="-apple-system"/>
                <a:ea typeface="-apple-system"/>
                <a:cs typeface="-apple-system"/>
                <a:hlinkClick r:id="rId5"/>
              </a:rPr>
              <a:t>https://lnkd.in/dxPQFV8B</a:t>
            </a:r>
            <a:r>
              <a:rPr lang="en-US">
                <a:latin typeface="-apple-system"/>
                <a:ea typeface="-apple-system"/>
                <a:cs typeface="-apple-system"/>
              </a:rPr>
              <a:t> شبكات الغاز</a:t>
            </a:r>
            <a:br>
              <a:rPr lang="en-US">
                <a:latin typeface="-apple-system"/>
                <a:ea typeface="-apple-system"/>
                <a:cs typeface="-apple-system"/>
              </a:rPr>
            </a:br>
            <a:br>
              <a:rPr lang="en-US">
                <a:latin typeface="-apple-system"/>
                <a:ea typeface="-apple-system"/>
                <a:cs typeface="-apple-system"/>
              </a:rPr>
            </a:br>
            <a:br>
              <a:rPr lang="en-US">
                <a:latin typeface="-apple-system"/>
                <a:ea typeface="-apple-system"/>
                <a:cs typeface="-apple-system"/>
              </a:rPr>
            </a:br>
            <a:br>
              <a:rPr lang="en-US">
                <a:latin typeface="-apple-system"/>
                <a:ea typeface="-apple-system"/>
                <a:cs typeface="-apple-system"/>
              </a:rPr>
            </a:br>
            <a:br>
              <a:rPr lang="en-US">
                <a:latin typeface="-apple-system"/>
                <a:ea typeface="-apple-system"/>
                <a:cs typeface="-apple-system"/>
              </a:rPr>
            </a:br>
            <a:r>
              <a:rPr lang="en-US" b="1">
                <a:solidFill>
                  <a:srgbClr val="0A66C2"/>
                </a:solidFill>
                <a:latin typeface="-apple-system"/>
                <a:ea typeface="-apple-system"/>
                <a:cs typeface="-apple-system"/>
                <a:hlinkClick r:id="rId6"/>
              </a:rPr>
              <a:t>https://lnkd.in/dXCxEcvV</a:t>
            </a:r>
            <a:endParaRPr lang="en-US"/>
          </a:p>
          <a:p>
            <a:pPr algn="ctr"/>
            <a:endParaRPr lang="pt-BR"/>
          </a:p>
        </p:txBody>
      </p:sp>
      <p:sp>
        <p:nvSpPr>
          <p:cNvPr id="6" name="CaixaDeTexto 5">
            <a:extLst>
              <a:ext uri="{FF2B5EF4-FFF2-40B4-BE49-F238E27FC236}">
                <a16:creationId xmlns:a16="http://schemas.microsoft.com/office/drawing/2014/main" id="{8FF7BE49-E177-0FD1-0FDE-5B5D45F1F400}"/>
              </a:ext>
            </a:extLst>
          </p:cNvPr>
          <p:cNvSpPr txBox="1"/>
          <p:nvPr/>
        </p:nvSpPr>
        <p:spPr>
          <a:xfrm>
            <a:off x="7979434" y="2968924"/>
            <a:ext cx="4212567" cy="40626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Link: https://www.linkedin.com/posts/omnia-mohamed-116584157_%F0%9D%90%80%F0%9D%90%AB%F0%9D%90%9C%F0%9D%90%86%F0%9D%90%88%F0%9D%90%92-%F0%9D%90%94%F0%9D%90%AD%F0%9D%90%A2%F0%9D%90%A5%F0%9D%90%A2%F0%9D%90%AD%F0%9D%90%B2-%F0%9D%90%8D%F0%9D%90%9E%F0%9D%90%AD%F0%9D%90%B0%F0%9D%90%A8%F0%9D%90%AB%F0%9D%90%A4-activity-7247311843948417026-0zHT?utm_source=share&amp;utm_medium=member_desktop&amp;rcm=ACoAAAMQtAUB5UouXqdBJgo_gWpNVZ7Imay_2Tg</a:t>
            </a:r>
          </a:p>
          <a:p>
            <a:pPr algn="ctr"/>
            <a:endParaRPr lang="pt-BR"/>
          </a:p>
        </p:txBody>
      </p:sp>
      <mc:AlternateContent xmlns:mc="http://schemas.openxmlformats.org/markup-compatibility/2006" xmlns:p14="http://schemas.microsoft.com/office/powerpoint/2010/main">
        <mc:Choice Requires="p14">
          <p:contentPart p14:bwMode="auto" r:id="rId7">
            <p14:nvContentPartPr>
              <p14:cNvPr id="7" name="Tinta 6">
                <a:extLst>
                  <a:ext uri="{FF2B5EF4-FFF2-40B4-BE49-F238E27FC236}">
                    <a16:creationId xmlns:a16="http://schemas.microsoft.com/office/drawing/2014/main" id="{D72B40BB-24B1-DBA5-7715-C6E9B106295D}"/>
                  </a:ext>
                </a:extLst>
              </p14:cNvPr>
              <p14:cNvContentPartPr/>
              <p14:nvPr/>
            </p14:nvContentPartPr>
            <p14:xfrm>
              <a:off x="7937133" y="3187958"/>
              <a:ext cx="15551" cy="3650491"/>
            </p14:xfrm>
          </p:contentPart>
        </mc:Choice>
        <mc:Fallback xmlns="">
          <p:pic>
            <p:nvPicPr>
              <p:cNvPr id="7" name="Tinta 6">
                <a:extLst>
                  <a:ext uri="{FF2B5EF4-FFF2-40B4-BE49-F238E27FC236}">
                    <a16:creationId xmlns:a16="http://schemas.microsoft.com/office/drawing/2014/main" id="{D72B40BB-24B1-DBA5-7715-C6E9B106295D}"/>
                  </a:ext>
                </a:extLst>
              </p:cNvPr>
              <p:cNvPicPr/>
              <p:nvPr/>
            </p:nvPicPr>
            <p:blipFill>
              <a:blip r:embed="rId8"/>
              <a:stretch>
                <a:fillRect/>
              </a:stretch>
            </p:blipFill>
            <p:spPr>
              <a:xfrm>
                <a:off x="7159583" y="3169961"/>
                <a:ext cx="1555100" cy="3686125"/>
              </a:xfrm>
              <a:prstGeom prst="rect">
                <a:avLst/>
              </a:prstGeom>
            </p:spPr>
          </p:pic>
        </mc:Fallback>
      </mc:AlternateContent>
    </p:spTree>
    <p:extLst>
      <p:ext uri="{BB962C8B-B14F-4D97-AF65-F5344CB8AC3E}">
        <p14:creationId xmlns:p14="http://schemas.microsoft.com/office/powerpoint/2010/main" val="34153980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E3B1BFE3-6EDD-351E-391F-31D7D7716EFC}"/>
              </a:ext>
            </a:extLst>
          </p:cNvPr>
          <p:cNvSpPr txBox="1"/>
          <p:nvPr/>
        </p:nvSpPr>
        <p:spPr>
          <a:xfrm>
            <a:off x="5377132" y="1430547"/>
            <a:ext cx="6096000"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After several months of work with our solutions and learn team, we completely rewrote the Load data into the ArcGIS Utility Network (</a:t>
            </a:r>
            <a:r>
              <a:rPr lang="en-US" b="1">
                <a:solidFill>
                  <a:srgbClr val="0A66C2"/>
                </a:solidFill>
                <a:latin typeface="-apple-system"/>
                <a:ea typeface="-apple-system"/>
                <a:cs typeface="-apple-system"/>
                <a:hlinkClick r:id="rId2"/>
              </a:rPr>
              <a:t>https://lnkd.in/eJBDXR9K</a:t>
            </a:r>
            <a:r>
              <a:rPr lang="en-US">
                <a:latin typeface="-apple-system"/>
                <a:ea typeface="-apple-system"/>
                <a:cs typeface="-apple-system"/>
              </a:rPr>
              <a:t>) to take advantage of the new simpler data model and simpler data migration tools (</a:t>
            </a:r>
            <a:r>
              <a:rPr lang="en-US" b="1">
                <a:solidFill>
                  <a:srgbClr val="0A66C2"/>
                </a:solidFill>
                <a:latin typeface="-apple-system"/>
                <a:ea typeface="-apple-system"/>
                <a:cs typeface="-apple-system"/>
                <a:hlinkClick r:id="rId3"/>
              </a:rPr>
              <a:t>https://lnkd.in/ghNPhMzM</a:t>
            </a:r>
            <a:r>
              <a:rPr lang="en-US">
                <a:latin typeface="-apple-system"/>
                <a:ea typeface="-apple-system"/>
                <a:cs typeface="-apple-system"/>
              </a:rPr>
              <a:t>).</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The result? A tutorial that walks through the entire process for data mapping, migration, deployment, and creating a QaQc report for a full water dataset in less than an hour! The previous tutorial only covered two layers, took twice as long, and didn't include any steps for deployment or QaQc. Less time and more content, I view this as a huge win for the community of DIY migration customers out there!</a:t>
            </a:r>
            <a:endParaRPr lang="en-US"/>
          </a:p>
          <a:p>
            <a:pPr algn="ctr"/>
            <a:endParaRPr lang="pt-BR"/>
          </a:p>
        </p:txBody>
      </p:sp>
      <p:pic>
        <p:nvPicPr>
          <p:cNvPr id="5" name="Imagem 4" descr="Interface gráfica do usuário&#10;&#10;O conteúdo gerado por IA pode estar incorreto.">
            <a:extLst>
              <a:ext uri="{FF2B5EF4-FFF2-40B4-BE49-F238E27FC236}">
                <a16:creationId xmlns:a16="http://schemas.microsoft.com/office/drawing/2014/main" id="{F849B059-29CE-BF7C-7D12-75050278E527}"/>
              </a:ext>
            </a:extLst>
          </p:cNvPr>
          <p:cNvPicPr>
            <a:picLocks noChangeAspect="1"/>
          </p:cNvPicPr>
          <p:nvPr/>
        </p:nvPicPr>
        <p:blipFill>
          <a:blip r:embed="rId4"/>
          <a:stretch>
            <a:fillRect/>
          </a:stretch>
        </p:blipFill>
        <p:spPr>
          <a:xfrm>
            <a:off x="201283" y="1277392"/>
            <a:ext cx="5017699" cy="3354311"/>
          </a:xfrm>
          <a:prstGeom prst="rect">
            <a:avLst/>
          </a:prstGeom>
        </p:spPr>
      </p:pic>
      <p:sp>
        <p:nvSpPr>
          <p:cNvPr id="6" name="CaixaDeTexto 5">
            <a:extLst>
              <a:ext uri="{FF2B5EF4-FFF2-40B4-BE49-F238E27FC236}">
                <a16:creationId xmlns:a16="http://schemas.microsoft.com/office/drawing/2014/main" id="{0FAB5565-238D-5C14-3A2C-13DE448F9112}"/>
              </a:ext>
            </a:extLst>
          </p:cNvPr>
          <p:cNvSpPr txBox="1"/>
          <p:nvPr/>
        </p:nvSpPr>
        <p:spPr>
          <a:xfrm>
            <a:off x="359434" y="4823604"/>
            <a:ext cx="5017699"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https://www.linkedin.com/posts/robert-krisher-5a989438_load-data-into-the-arcgis-utility-network-activity-7237856155887128576-pNL9?utm_source=share&amp;utm_medium=member_desktop&amp;rcm=ACoAAAMQtAUB5UouXqdBJgo_gWpNVZ7Imay_2Tg</a:t>
            </a:r>
          </a:p>
          <a:p>
            <a:pPr algn="ctr"/>
            <a:endParaRPr lang="pt-BR"/>
          </a:p>
        </p:txBody>
      </p:sp>
    </p:spTree>
    <p:extLst>
      <p:ext uri="{BB962C8B-B14F-4D97-AF65-F5344CB8AC3E}">
        <p14:creationId xmlns:p14="http://schemas.microsoft.com/office/powerpoint/2010/main" val="17600911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88D549D6-AA7C-0CDA-8548-4445DC22B768}"/>
              </a:ext>
            </a:extLst>
          </p:cNvPr>
          <p:cNvSpPr txBox="1"/>
          <p:nvPr/>
        </p:nvSpPr>
        <p:spPr>
          <a:xfrm>
            <a:off x="5750943" y="1301151"/>
            <a:ext cx="6096000"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 Exciting News for Utility Companies! 🌐</a:t>
            </a:r>
            <a:br>
              <a:rPr lang="en-US">
                <a:latin typeface="-apple-system"/>
                <a:ea typeface="-apple-system"/>
                <a:cs typeface="-apple-system"/>
              </a:rPr>
            </a:br>
            <a:r>
              <a:rPr lang="en-US">
                <a:latin typeface="-apple-system"/>
                <a:ea typeface="-apple-system"/>
                <a:cs typeface="-apple-system"/>
              </a:rPr>
              <a:t>Discover how the ArcGIS Utility Network can transform your infrastructure management! This powerful tool offers advanced capabilities for modeling, analyzing, and managing utility networks - enhancing operational efficiency and decision-making in the utilities sector.</a:t>
            </a:r>
            <a:br>
              <a:rPr lang="en-US">
                <a:latin typeface="-apple-system"/>
                <a:ea typeface="-apple-system"/>
                <a:cs typeface="-apple-system"/>
              </a:rPr>
            </a:br>
            <a:r>
              <a:rPr lang="en-US">
                <a:latin typeface="-apple-system"/>
                <a:ea typeface="-apple-system"/>
                <a:cs typeface="-apple-system"/>
              </a:rPr>
              <a:t>Dive deeper into the "What, Why, and How" of the ArcGIS Utility Network in our latest article. Explore how it supports everything from outage management to real-time data integration for utilities like electric, gas, water, and more.</a:t>
            </a:r>
            <a:br>
              <a:rPr lang="en-US">
                <a:latin typeface="-apple-system"/>
                <a:ea typeface="-apple-system"/>
                <a:cs typeface="-apple-system"/>
              </a:rPr>
            </a:br>
            <a:endParaRPr lang="en-US" b="1">
              <a:solidFill>
                <a:srgbClr val="0A66C2"/>
              </a:solidFill>
              <a:latin typeface="-apple-system"/>
            </a:endParaRPr>
          </a:p>
          <a:p>
            <a:pPr algn="ctr"/>
            <a:endParaRPr lang="pt-BR"/>
          </a:p>
        </p:txBody>
      </p:sp>
      <p:pic>
        <p:nvPicPr>
          <p:cNvPr id="5" name="Imagem 4" descr="Interface gráfica do usuário, Aplicativo&#10;&#10;O conteúdo gerado por IA pode estar incorreto.">
            <a:extLst>
              <a:ext uri="{FF2B5EF4-FFF2-40B4-BE49-F238E27FC236}">
                <a16:creationId xmlns:a16="http://schemas.microsoft.com/office/drawing/2014/main" id="{3CF7EE63-FC10-1885-64C5-E28592F71856}"/>
              </a:ext>
            </a:extLst>
          </p:cNvPr>
          <p:cNvPicPr>
            <a:picLocks noChangeAspect="1"/>
          </p:cNvPicPr>
          <p:nvPr/>
        </p:nvPicPr>
        <p:blipFill>
          <a:blip r:embed="rId2"/>
          <a:stretch>
            <a:fillRect/>
          </a:stretch>
        </p:blipFill>
        <p:spPr>
          <a:xfrm>
            <a:off x="1115835" y="1864747"/>
            <a:ext cx="4305300" cy="2800350"/>
          </a:xfrm>
          <a:prstGeom prst="rect">
            <a:avLst/>
          </a:prstGeom>
        </p:spPr>
      </p:pic>
      <p:sp>
        <p:nvSpPr>
          <p:cNvPr id="6" name="CaixaDeTexto 5">
            <a:extLst>
              <a:ext uri="{FF2B5EF4-FFF2-40B4-BE49-F238E27FC236}">
                <a16:creationId xmlns:a16="http://schemas.microsoft.com/office/drawing/2014/main" id="{34E9C47A-CAEE-CA7B-73F7-3E469B27FE7F}"/>
              </a:ext>
            </a:extLst>
          </p:cNvPr>
          <p:cNvSpPr txBox="1"/>
          <p:nvPr/>
        </p:nvSpPr>
        <p:spPr>
          <a:xfrm>
            <a:off x="675736" y="5168660"/>
            <a:ext cx="60960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https://www.linkedin.com/posts/esri-saudi-arabia_esri-esrisaudiarabia-arcgis-activity-7186711649947439104-NTH9?utm_source=share&amp;utm_medium=member_desktop&amp;rcm=ACoAAAMQtAUB5UouXqdBJgo_gWpNVZ7Imay_2Tg</a:t>
            </a:r>
          </a:p>
          <a:p>
            <a:pPr algn="ctr"/>
            <a:endParaRPr lang="pt-BR"/>
          </a:p>
        </p:txBody>
      </p:sp>
    </p:spTree>
    <p:extLst>
      <p:ext uri="{BB962C8B-B14F-4D97-AF65-F5344CB8AC3E}">
        <p14:creationId xmlns:p14="http://schemas.microsoft.com/office/powerpoint/2010/main" val="25327059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637AB524-B08C-E8FA-8EDD-2A676886CC7B}"/>
              </a:ext>
            </a:extLst>
          </p:cNvPr>
          <p:cNvSpPr txBox="1"/>
          <p:nvPr/>
        </p:nvSpPr>
        <p:spPr>
          <a:xfrm>
            <a:off x="5635925" y="1473679"/>
            <a:ext cx="6326037" cy="43335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PSA: Many of the videos from the 2024 Esri User Conference are now publicly available! I've added all the utility network related videos to our UC playlist on the ArcGIS Utility Network video channel.</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The first video I'd like to call out is ArcGIS Solutions: Utility Network Foundations (</a:t>
            </a:r>
            <a:r>
              <a:rPr lang="en-US" b="1">
                <a:solidFill>
                  <a:srgbClr val="0A66C2"/>
                </a:solidFill>
                <a:latin typeface="-apple-system"/>
                <a:ea typeface="-apple-system"/>
                <a:cs typeface="-apple-system"/>
                <a:hlinkClick r:id="rId2"/>
              </a:rPr>
              <a:t>https://lnkd.in/giUPvtAM</a:t>
            </a:r>
            <a:r>
              <a:rPr lang="en-US">
                <a:latin typeface="-apple-system"/>
                <a:ea typeface="-apple-system"/>
                <a:cs typeface="-apple-system"/>
              </a:rPr>
              <a:t>). In this presentation, </a:t>
            </a:r>
            <a:r>
              <a:rPr lang="en-US" b="1">
                <a:solidFill>
                  <a:srgbClr val="0A66C2"/>
                </a:solidFill>
                <a:latin typeface="-apple-system"/>
                <a:ea typeface="-apple-system"/>
                <a:cs typeface="-apple-system"/>
                <a:hlinkClick r:id="rId3"/>
              </a:rPr>
              <a:t>Mike Miller</a:t>
            </a:r>
            <a:r>
              <a:rPr lang="en-US">
                <a:latin typeface="-apple-system"/>
                <a:ea typeface="-apple-system"/>
                <a:cs typeface="-apple-system"/>
              </a:rPr>
              <a:t> and </a:t>
            </a:r>
            <a:r>
              <a:rPr lang="en-US" b="1">
                <a:solidFill>
                  <a:srgbClr val="0A66C2"/>
                </a:solidFill>
                <a:latin typeface="-apple-system"/>
                <a:ea typeface="-apple-system"/>
                <a:cs typeface="-apple-system"/>
                <a:hlinkClick r:id="rId4"/>
              </a:rPr>
              <a:t>Patrick Cowan</a:t>
            </a:r>
            <a:r>
              <a:rPr lang="en-US">
                <a:latin typeface="-apple-system"/>
                <a:ea typeface="-apple-system"/>
                <a:cs typeface="-apple-system"/>
              </a:rPr>
              <a:t> discuss the changes they made to separate out some of their models into "essentials" and "extended' models, along with their new data mapping and migration tools. Given the announcements just made at IMGIS about basic/standard/advanced models, it's worth going back and rewatching this video to see how these tools/models fit into that larger strategy.</a:t>
            </a:r>
            <a:endParaRPr lang="en-US"/>
          </a:p>
          <a:p>
            <a:pPr algn="ctr"/>
            <a:endParaRPr lang="pt-BR"/>
          </a:p>
        </p:txBody>
      </p:sp>
      <p:pic>
        <p:nvPicPr>
          <p:cNvPr id="5" name="Imagem 4" descr="Não foi fornecido texto alternativo para esta imagem">
            <a:extLst>
              <a:ext uri="{FF2B5EF4-FFF2-40B4-BE49-F238E27FC236}">
                <a16:creationId xmlns:a16="http://schemas.microsoft.com/office/drawing/2014/main" id="{95C90D3A-091D-E53D-69FA-D9D450AF25B2}"/>
              </a:ext>
            </a:extLst>
          </p:cNvPr>
          <p:cNvPicPr>
            <a:picLocks noChangeAspect="1"/>
          </p:cNvPicPr>
          <p:nvPr/>
        </p:nvPicPr>
        <p:blipFill>
          <a:blip r:embed="rId5"/>
          <a:stretch>
            <a:fillRect/>
          </a:stretch>
        </p:blipFill>
        <p:spPr>
          <a:xfrm>
            <a:off x="316302" y="1712434"/>
            <a:ext cx="4902681" cy="2814907"/>
          </a:xfrm>
          <a:prstGeom prst="rect">
            <a:avLst/>
          </a:prstGeom>
        </p:spPr>
      </p:pic>
      <p:sp>
        <p:nvSpPr>
          <p:cNvPr id="6" name="CaixaDeTexto 5">
            <a:extLst>
              <a:ext uri="{FF2B5EF4-FFF2-40B4-BE49-F238E27FC236}">
                <a16:creationId xmlns:a16="http://schemas.microsoft.com/office/drawing/2014/main" id="{26743389-DFB2-798F-0C18-D5906B79ED36}"/>
              </a:ext>
            </a:extLst>
          </p:cNvPr>
          <p:cNvSpPr txBox="1"/>
          <p:nvPr/>
        </p:nvSpPr>
        <p:spPr>
          <a:xfrm>
            <a:off x="28755" y="5254924"/>
            <a:ext cx="5477774"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https://www.linkedin.com/posts/robert-krisher-5a989438_psa-many-of-the-videos-from-the-2024-esri-activity-7257099385304489985-YPrL?utm_source=share&amp;utm_medium=member_desktop&amp;rcm=ACoAAAMQtAUB5UouXqdBJgo_gWpNVZ7Imay_2Tg</a:t>
            </a:r>
            <a:endParaRPr lang="en-US" sz="1600">
              <a:ea typeface="Calibri"/>
              <a:cs typeface="Calibri"/>
            </a:endParaRPr>
          </a:p>
          <a:p>
            <a:pPr algn="ctr"/>
            <a:endParaRPr lang="pt-BR"/>
          </a:p>
        </p:txBody>
      </p:sp>
    </p:spTree>
    <p:extLst>
      <p:ext uri="{BB962C8B-B14F-4D97-AF65-F5344CB8AC3E}">
        <p14:creationId xmlns:p14="http://schemas.microsoft.com/office/powerpoint/2010/main" val="35053492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706636D6-E1D3-99A5-3612-32053939B1D1}"/>
              </a:ext>
            </a:extLst>
          </p:cNvPr>
          <p:cNvSpPr txBox="1"/>
          <p:nvPr/>
        </p:nvSpPr>
        <p:spPr>
          <a:xfrm>
            <a:off x="5405887" y="1272397"/>
            <a:ext cx="6096000"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Were you unable to attend Esri's IMGIS conference this year, but still want to access some of the content? Or maybe you aren't familiar with IMGIS or whether it would interest you next year? The entire plenary from the conference is freely and publicly available on Esri's video site: </a:t>
            </a:r>
            <a:r>
              <a:rPr lang="en-US" b="1">
                <a:solidFill>
                  <a:srgbClr val="0A66C2"/>
                </a:solidFill>
                <a:latin typeface="-apple-system"/>
                <a:ea typeface="-apple-system"/>
                <a:cs typeface="-apple-system"/>
                <a:hlinkClick r:id="rId2"/>
              </a:rPr>
              <a:t>https://lnkd.in/gQszEKcf</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For those of you that attended in-person or digitally you can use the detailed agenda page (</a:t>
            </a:r>
            <a:r>
              <a:rPr lang="en-US" b="1">
                <a:solidFill>
                  <a:srgbClr val="0A66C2"/>
                </a:solidFill>
                <a:latin typeface="-apple-system"/>
                <a:ea typeface="-apple-system"/>
                <a:cs typeface="-apple-system"/>
                <a:hlinkClick r:id="rId3"/>
              </a:rPr>
              <a:t>https://lnkd.in/gzXgGmRR</a:t>
            </a:r>
            <a:r>
              <a:rPr lang="en-US">
                <a:latin typeface="-apple-system"/>
                <a:ea typeface="-apple-system"/>
                <a:cs typeface="-apple-system"/>
              </a:rPr>
              <a:t>) to search for sessions that have recordings available now, or available later.</a:t>
            </a:r>
            <a:endParaRPr lang="en-US"/>
          </a:p>
          <a:p>
            <a:pPr algn="ctr"/>
            <a:endParaRPr lang="pt-BR"/>
          </a:p>
        </p:txBody>
      </p:sp>
      <p:pic>
        <p:nvPicPr>
          <p:cNvPr id="5" name="Imagem 4" descr="Não foi fornecido texto alternativo para esta imagem">
            <a:extLst>
              <a:ext uri="{FF2B5EF4-FFF2-40B4-BE49-F238E27FC236}">
                <a16:creationId xmlns:a16="http://schemas.microsoft.com/office/drawing/2014/main" id="{2DF0106A-7440-2B04-77EB-B7C9326BF3ED}"/>
              </a:ext>
            </a:extLst>
          </p:cNvPr>
          <p:cNvPicPr>
            <a:picLocks noChangeAspect="1"/>
          </p:cNvPicPr>
          <p:nvPr/>
        </p:nvPicPr>
        <p:blipFill>
          <a:blip r:embed="rId4"/>
          <a:stretch>
            <a:fillRect/>
          </a:stretch>
        </p:blipFill>
        <p:spPr>
          <a:xfrm>
            <a:off x="790755" y="1270869"/>
            <a:ext cx="4126302" cy="3108565"/>
          </a:xfrm>
          <a:prstGeom prst="rect">
            <a:avLst/>
          </a:prstGeom>
        </p:spPr>
      </p:pic>
      <p:sp>
        <p:nvSpPr>
          <p:cNvPr id="6" name="CaixaDeTexto 5">
            <a:extLst>
              <a:ext uri="{FF2B5EF4-FFF2-40B4-BE49-F238E27FC236}">
                <a16:creationId xmlns:a16="http://schemas.microsoft.com/office/drawing/2014/main" id="{69236F6A-6362-7F05-572C-F8B9354A7B0F}"/>
              </a:ext>
            </a:extLst>
          </p:cNvPr>
          <p:cNvSpPr txBox="1"/>
          <p:nvPr/>
        </p:nvSpPr>
        <p:spPr>
          <a:xfrm>
            <a:off x="575094" y="5254925"/>
            <a:ext cx="609600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https://www.linkedin.com/posts/robert-krisher-5a989438_were-you-unable-to-attend-esris-imgis-conference-activity-7257390769508921345-ZNYY?utm_source=share&amp;utm_medium=member_desktop&amp;rcm=ACoAAAMQtAUB5UouXqdBJgo_gWpNVZ7Imay_2Tg</a:t>
            </a:r>
          </a:p>
          <a:p>
            <a:pPr algn="ctr"/>
            <a:endParaRPr lang="pt-BR"/>
          </a:p>
        </p:txBody>
      </p:sp>
    </p:spTree>
    <p:extLst>
      <p:ext uri="{BB962C8B-B14F-4D97-AF65-F5344CB8AC3E}">
        <p14:creationId xmlns:p14="http://schemas.microsoft.com/office/powerpoint/2010/main" val="2773979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a:extLst>
              <a:ext uri="{FF2B5EF4-FFF2-40B4-BE49-F238E27FC236}">
                <a16:creationId xmlns:a16="http://schemas.microsoft.com/office/drawing/2014/main" id="{E287638A-ACAA-54CC-0413-17AE9E20A3DF}"/>
              </a:ext>
            </a:extLst>
          </p:cNvPr>
          <p:cNvSpPr txBox="1"/>
          <p:nvPr/>
        </p:nvSpPr>
        <p:spPr>
          <a:xfrm>
            <a:off x="5549660" y="1171755"/>
            <a:ext cx="6096000"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Every year at the Esri User Conference there are a pair of technical sessions to introduce new users to the core concepts of the utility network. If you've never attended these sessions, or you're looking for a refresher, you can now access them publicly on the ArcGIS Utility Network video channel!</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Introduction: </a:t>
            </a:r>
            <a:r>
              <a:rPr lang="en-US" b="1">
                <a:solidFill>
                  <a:srgbClr val="0A66C2"/>
                </a:solidFill>
                <a:latin typeface="-apple-system"/>
                <a:ea typeface="-apple-system"/>
                <a:cs typeface="-apple-system"/>
                <a:hlinkClick r:id="rId2"/>
              </a:rPr>
              <a:t>https://lnkd.in/gzThaQgJ</a:t>
            </a:r>
            <a:br>
              <a:rPr lang="en-US">
                <a:latin typeface="-apple-system"/>
                <a:ea typeface="-apple-system"/>
                <a:cs typeface="-apple-system"/>
              </a:rPr>
            </a:br>
            <a:r>
              <a:rPr lang="en-US">
                <a:latin typeface="-apple-system"/>
                <a:ea typeface="-apple-system"/>
                <a:cs typeface="-apple-system"/>
              </a:rPr>
              <a:t>Advanced Network Management: </a:t>
            </a:r>
            <a:r>
              <a:rPr lang="en-US" b="1">
                <a:solidFill>
                  <a:srgbClr val="0A66C2"/>
                </a:solidFill>
                <a:latin typeface="-apple-system"/>
                <a:ea typeface="-apple-system"/>
                <a:cs typeface="-apple-system"/>
                <a:hlinkClick r:id="rId3"/>
              </a:rPr>
              <a:t>https://lnkd.in/gvwkDukD</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Remember that these sessions are targeted at the user conference audience. If you want something even more technical, check out some of the videos in the Developer's Summit playlist, or better yet register to attend next year!</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Developer's Summit playlist: </a:t>
            </a:r>
            <a:r>
              <a:rPr lang="en-US" b="1">
                <a:solidFill>
                  <a:srgbClr val="0A66C2"/>
                </a:solidFill>
                <a:latin typeface="-apple-system"/>
                <a:ea typeface="-apple-system"/>
                <a:cs typeface="-apple-system"/>
                <a:hlinkClick r:id="rId4"/>
              </a:rPr>
              <a:t>https://lnkd.in/esinW-aY</a:t>
            </a:r>
            <a:endParaRPr lang="en-US"/>
          </a:p>
          <a:p>
            <a:pPr algn="ctr"/>
            <a:endParaRPr lang="pt-BR"/>
          </a:p>
        </p:txBody>
      </p:sp>
      <p:pic>
        <p:nvPicPr>
          <p:cNvPr id="6" name="Imagem 5" descr="Não foi fornecido texto alternativo para esta imagem">
            <a:extLst>
              <a:ext uri="{FF2B5EF4-FFF2-40B4-BE49-F238E27FC236}">
                <a16:creationId xmlns:a16="http://schemas.microsoft.com/office/drawing/2014/main" id="{3B2F8132-20D9-9D9B-7099-D254C84A4BC2}"/>
              </a:ext>
            </a:extLst>
          </p:cNvPr>
          <p:cNvPicPr>
            <a:picLocks noChangeAspect="1"/>
          </p:cNvPicPr>
          <p:nvPr/>
        </p:nvPicPr>
        <p:blipFill>
          <a:blip r:embed="rId5"/>
          <a:stretch>
            <a:fillRect/>
          </a:stretch>
        </p:blipFill>
        <p:spPr>
          <a:xfrm>
            <a:off x="103517" y="1494706"/>
            <a:ext cx="5443268" cy="2761531"/>
          </a:xfrm>
          <a:prstGeom prst="rect">
            <a:avLst/>
          </a:prstGeom>
        </p:spPr>
      </p:pic>
      <p:sp>
        <p:nvSpPr>
          <p:cNvPr id="7" name="CaixaDeTexto 6">
            <a:extLst>
              <a:ext uri="{FF2B5EF4-FFF2-40B4-BE49-F238E27FC236}">
                <a16:creationId xmlns:a16="http://schemas.microsoft.com/office/drawing/2014/main" id="{A233B580-384C-7240-B34F-AEF83F7E9F3F}"/>
              </a:ext>
            </a:extLst>
          </p:cNvPr>
          <p:cNvSpPr txBox="1"/>
          <p:nvPr/>
        </p:nvSpPr>
        <p:spPr>
          <a:xfrm>
            <a:off x="546340" y="4406660"/>
            <a:ext cx="4040038"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https://www.linkedin.com/posts/robert-krisher-5a989438_every-year-at-the-esri-user-conference-there-activity-7258865712750878720-MygI?utm_source=share&amp;utm_medium=member_desktop&amp;rcm=ACoAAAMQtAUB5UouXqdBJgo_gWpNVZ7Imay_2Tg</a:t>
            </a:r>
          </a:p>
          <a:p>
            <a:pPr algn="ctr"/>
            <a:endParaRPr lang="pt-BR"/>
          </a:p>
        </p:txBody>
      </p:sp>
    </p:spTree>
    <p:extLst>
      <p:ext uri="{BB962C8B-B14F-4D97-AF65-F5344CB8AC3E}">
        <p14:creationId xmlns:p14="http://schemas.microsoft.com/office/powerpoint/2010/main" val="24089965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7141B1BA-795B-F1AC-F6BA-2BC957E1B302}"/>
              </a:ext>
            </a:extLst>
          </p:cNvPr>
          <p:cNvSpPr txBox="1"/>
          <p:nvPr/>
        </p:nvSpPr>
        <p:spPr>
          <a:xfrm>
            <a:off x="5722189" y="2710132"/>
            <a:ext cx="609600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Are you interested in trying out the new Utility Network migration tools? We're looking for some more customers or partners to join our early adopter community (</a:t>
            </a:r>
            <a:r>
              <a:rPr lang="en-US" b="1">
                <a:solidFill>
                  <a:srgbClr val="0A66C2"/>
                </a:solidFill>
                <a:latin typeface="-apple-system"/>
                <a:ea typeface="-apple-system"/>
                <a:cs typeface="-apple-system"/>
                <a:hlinkClick r:id="rId2"/>
              </a:rPr>
              <a:t>https://lnkd.in/gaqdfNys</a:t>
            </a:r>
            <a:r>
              <a:rPr lang="en-US">
                <a:latin typeface="-apple-system"/>
                <a:ea typeface="-apple-system"/>
                <a:cs typeface="-apple-system"/>
              </a:rPr>
              <a:t>) and give us feedback on these tools.</a:t>
            </a:r>
            <a:endParaRPr lang="en-US"/>
          </a:p>
          <a:p>
            <a:pPr algn="ctr"/>
            <a:endParaRPr lang="pt-BR"/>
          </a:p>
        </p:txBody>
      </p:sp>
      <p:pic>
        <p:nvPicPr>
          <p:cNvPr id="5" name="Imagem 4">
            <a:extLst>
              <a:ext uri="{FF2B5EF4-FFF2-40B4-BE49-F238E27FC236}">
                <a16:creationId xmlns:a16="http://schemas.microsoft.com/office/drawing/2014/main" id="{82259B33-4144-D8F8-5961-7D249A5324D5}"/>
              </a:ext>
            </a:extLst>
          </p:cNvPr>
          <p:cNvPicPr>
            <a:picLocks noChangeAspect="1"/>
          </p:cNvPicPr>
          <p:nvPr/>
        </p:nvPicPr>
        <p:blipFill>
          <a:blip r:embed="rId3"/>
          <a:stretch>
            <a:fillRect/>
          </a:stretch>
        </p:blipFill>
        <p:spPr>
          <a:xfrm>
            <a:off x="1134913" y="2554228"/>
            <a:ext cx="4099344" cy="1490752"/>
          </a:xfrm>
          <a:prstGeom prst="rect">
            <a:avLst/>
          </a:prstGeom>
        </p:spPr>
      </p:pic>
      <p:sp>
        <p:nvSpPr>
          <p:cNvPr id="6" name="CaixaDeTexto 5">
            <a:extLst>
              <a:ext uri="{FF2B5EF4-FFF2-40B4-BE49-F238E27FC236}">
                <a16:creationId xmlns:a16="http://schemas.microsoft.com/office/drawing/2014/main" id="{9638BBE4-6CEE-128A-FA64-C6FDDE305EF3}"/>
              </a:ext>
            </a:extLst>
          </p:cNvPr>
          <p:cNvSpPr txBox="1"/>
          <p:nvPr/>
        </p:nvSpPr>
        <p:spPr>
          <a:xfrm>
            <a:off x="1006415" y="4622321"/>
            <a:ext cx="5218982"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Link: https://www.linkedin.com/posts/robert-krisher-5a989438_utility-network-builder-activity-7287914312424136704-rlee?utm_source=share&amp;utm_medium=member_desktop&amp;rcm=ACoAAAMQtAUB5UouXqdBJgo_gWpNVZ7Imay_2Tg</a:t>
            </a:r>
          </a:p>
          <a:p>
            <a:pPr algn="ctr"/>
            <a:endParaRPr lang="pt-BR"/>
          </a:p>
        </p:txBody>
      </p:sp>
    </p:spTree>
    <p:extLst>
      <p:ext uri="{BB962C8B-B14F-4D97-AF65-F5344CB8AC3E}">
        <p14:creationId xmlns:p14="http://schemas.microsoft.com/office/powerpoint/2010/main" val="10008332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ED191AB9-E046-71DF-EBF7-234C9269E8DB}"/>
              </a:ext>
            </a:extLst>
          </p:cNvPr>
          <p:cNvSpPr txBox="1"/>
          <p:nvPr/>
        </p:nvSpPr>
        <p:spPr>
          <a:xfrm>
            <a:off x="5592792" y="2408208"/>
            <a:ext cx="609600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Have you been able to try out the new Migration toolset yet? Do you want to know how the tool turns a geometric network into a utility network? Check out the Building Your Utility Network article we just released on the ArcGIS Blog site.</a:t>
            </a:r>
            <a:br>
              <a:rPr lang="en-US">
                <a:latin typeface="-apple-system"/>
                <a:ea typeface="-apple-system"/>
                <a:cs typeface="-apple-system"/>
              </a:rPr>
            </a:br>
            <a:br>
              <a:rPr lang="en-US">
                <a:latin typeface="-apple-system"/>
                <a:ea typeface="-apple-system"/>
                <a:cs typeface="-apple-system"/>
              </a:rPr>
            </a:br>
            <a:r>
              <a:rPr lang="en-US" b="1">
                <a:solidFill>
                  <a:srgbClr val="0A66C2"/>
                </a:solidFill>
                <a:latin typeface="-apple-system"/>
                <a:ea typeface="-apple-system"/>
                <a:cs typeface="-apple-system"/>
                <a:hlinkClick r:id="rId2"/>
              </a:rPr>
              <a:t>https://lnkd.in/gAWa6GJF</a:t>
            </a:r>
            <a:endParaRPr lang="en-US"/>
          </a:p>
          <a:p>
            <a:pPr algn="ctr"/>
            <a:endParaRPr lang="pt-BR"/>
          </a:p>
        </p:txBody>
      </p:sp>
      <p:pic>
        <p:nvPicPr>
          <p:cNvPr id="5" name="Imagem 4">
            <a:extLst>
              <a:ext uri="{FF2B5EF4-FFF2-40B4-BE49-F238E27FC236}">
                <a16:creationId xmlns:a16="http://schemas.microsoft.com/office/drawing/2014/main" id="{C7D0A4FC-72D8-FCD6-C296-6DDF25DD12D9}"/>
              </a:ext>
            </a:extLst>
          </p:cNvPr>
          <p:cNvPicPr>
            <a:picLocks noChangeAspect="1"/>
          </p:cNvPicPr>
          <p:nvPr/>
        </p:nvPicPr>
        <p:blipFill>
          <a:blip r:embed="rId3"/>
          <a:stretch>
            <a:fillRect/>
          </a:stretch>
        </p:blipFill>
        <p:spPr>
          <a:xfrm>
            <a:off x="865337" y="1707761"/>
            <a:ext cx="3905250" cy="2809875"/>
          </a:xfrm>
          <a:prstGeom prst="rect">
            <a:avLst/>
          </a:prstGeom>
        </p:spPr>
      </p:pic>
      <p:sp>
        <p:nvSpPr>
          <p:cNvPr id="6" name="CaixaDeTexto 5">
            <a:extLst>
              <a:ext uri="{FF2B5EF4-FFF2-40B4-BE49-F238E27FC236}">
                <a16:creationId xmlns:a16="http://schemas.microsoft.com/office/drawing/2014/main" id="{2A725FFC-3BC0-3514-91F0-077C30CA446F}"/>
              </a:ext>
            </a:extLst>
          </p:cNvPr>
          <p:cNvSpPr txBox="1"/>
          <p:nvPr/>
        </p:nvSpPr>
        <p:spPr>
          <a:xfrm>
            <a:off x="690113" y="4866736"/>
            <a:ext cx="609600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https://www.linkedin.com/posts/robert-krisher-5a989438_building-your-utility-network-activity-7302342204067323904-XQiY?utm_source=share&amp;utm_medium=member_desktop&amp;rcm=ACoAAAMQtAUB5UouXqdBJgo_gWpNVZ7Imay_2Tg</a:t>
            </a:r>
          </a:p>
          <a:p>
            <a:pPr algn="ctr"/>
            <a:endParaRPr lang="pt-BR"/>
          </a:p>
        </p:txBody>
      </p:sp>
    </p:spTree>
    <p:extLst>
      <p:ext uri="{BB962C8B-B14F-4D97-AF65-F5344CB8AC3E}">
        <p14:creationId xmlns:p14="http://schemas.microsoft.com/office/powerpoint/2010/main" val="23425388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B29EE3CA-760D-C73D-D1AE-BA99912C7A08}"/>
              </a:ext>
            </a:extLst>
          </p:cNvPr>
          <p:cNvSpPr txBox="1"/>
          <p:nvPr/>
        </p:nvSpPr>
        <p:spPr>
          <a:xfrm>
            <a:off x="5449019" y="2135038"/>
            <a:ext cx="6096000"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The Migration toolset is about more than migrating data to a utility network, it also includes a robust set of tools to identify and provide automated resolutions to the most common types of data quality issues! You can learn about this process in the new Analyzing Topology Errors article I posted on the ArcGIS Blog.</a:t>
            </a:r>
            <a:br>
              <a:rPr lang="en-US">
                <a:latin typeface="-apple-system"/>
                <a:ea typeface="-apple-system"/>
                <a:cs typeface="-apple-system"/>
              </a:rPr>
            </a:br>
            <a:br>
              <a:rPr lang="en-US">
                <a:latin typeface="-apple-system"/>
                <a:ea typeface="-apple-system"/>
                <a:cs typeface="-apple-system"/>
              </a:rPr>
            </a:br>
            <a:r>
              <a:rPr lang="en-US" b="1">
                <a:solidFill>
                  <a:srgbClr val="0A66C2"/>
                </a:solidFill>
                <a:latin typeface="-apple-system"/>
                <a:ea typeface="-apple-system"/>
                <a:cs typeface="-apple-system"/>
                <a:hlinkClick r:id="rId2"/>
              </a:rPr>
              <a:t>https://lnkd.in/gscvc7RT</a:t>
            </a:r>
            <a:endParaRPr lang="en-US"/>
          </a:p>
          <a:p>
            <a:pPr algn="ctr"/>
            <a:endParaRPr lang="pt-BR"/>
          </a:p>
        </p:txBody>
      </p:sp>
      <p:pic>
        <p:nvPicPr>
          <p:cNvPr id="6" name="Imagem 5" descr="Interface gráfica do usuário, Aplicativo&#10;&#10;O conteúdo gerado por IA pode estar incorreto.">
            <a:extLst>
              <a:ext uri="{FF2B5EF4-FFF2-40B4-BE49-F238E27FC236}">
                <a16:creationId xmlns:a16="http://schemas.microsoft.com/office/drawing/2014/main" id="{92965952-849F-6BF3-DA40-5101D3392D29}"/>
              </a:ext>
            </a:extLst>
          </p:cNvPr>
          <p:cNvPicPr>
            <a:picLocks noChangeAspect="1"/>
          </p:cNvPicPr>
          <p:nvPr/>
        </p:nvPicPr>
        <p:blipFill>
          <a:blip r:embed="rId3"/>
          <a:stretch>
            <a:fillRect/>
          </a:stretch>
        </p:blipFill>
        <p:spPr>
          <a:xfrm>
            <a:off x="134608" y="1440791"/>
            <a:ext cx="4705350" cy="3257550"/>
          </a:xfrm>
          <a:prstGeom prst="rect">
            <a:avLst/>
          </a:prstGeom>
        </p:spPr>
      </p:pic>
      <p:sp>
        <p:nvSpPr>
          <p:cNvPr id="7" name="CaixaDeTexto 6">
            <a:extLst>
              <a:ext uri="{FF2B5EF4-FFF2-40B4-BE49-F238E27FC236}">
                <a16:creationId xmlns:a16="http://schemas.microsoft.com/office/drawing/2014/main" id="{88AC85D2-FC58-7CA9-851D-B9C9E4B4F2D8}"/>
              </a:ext>
            </a:extLst>
          </p:cNvPr>
          <p:cNvSpPr txBox="1"/>
          <p:nvPr/>
        </p:nvSpPr>
        <p:spPr>
          <a:xfrm>
            <a:off x="460075" y="5082396"/>
            <a:ext cx="6096000" cy="13542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Link: https://www.linkedin.com/posts/robert-krisher-5a989438_analyzing-topology-errors-activity-7302689030012379136-Fxem?utm_source=share&amp;utm_medium=member_desktop&amp;rcm=ACoAAAMQtAUB5UouXqdBJgo_gWpNVZ7Imay_2Tg</a:t>
            </a:r>
          </a:p>
          <a:p>
            <a:pPr algn="ctr"/>
            <a:endParaRPr lang="pt-BR"/>
          </a:p>
        </p:txBody>
      </p:sp>
    </p:spTree>
    <p:extLst>
      <p:ext uri="{BB962C8B-B14F-4D97-AF65-F5344CB8AC3E}">
        <p14:creationId xmlns:p14="http://schemas.microsoft.com/office/powerpoint/2010/main" val="31619682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a:extLst>
              <a:ext uri="{FF2B5EF4-FFF2-40B4-BE49-F238E27FC236}">
                <a16:creationId xmlns:a16="http://schemas.microsoft.com/office/drawing/2014/main" id="{D5B63910-3CB2-C012-3B91-6D7C2583A61C}"/>
              </a:ext>
            </a:extLst>
          </p:cNvPr>
          <p:cNvSpPr txBox="1"/>
          <p:nvPr/>
        </p:nvSpPr>
        <p:spPr>
          <a:xfrm>
            <a:off x="5578415" y="1344283"/>
            <a:ext cx="6096000"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Do you want to learn how to AUTOMATE correcting the top 6 topology errors that account for 95% of topology errors in a utility network? If you said no, I don't believe you. Read the new Resolving Topology Errors article that was just posted on the Esri Community site for a deep-dive on how to use the Migration toolset to fix your data! </a:t>
            </a:r>
            <a:r>
              <a:rPr lang="en-US" b="1">
                <a:solidFill>
                  <a:srgbClr val="0A66C2"/>
                </a:solidFill>
                <a:latin typeface="-apple-system"/>
                <a:ea typeface="-apple-system"/>
                <a:cs typeface="-apple-system"/>
                <a:hlinkClick r:id="rId2"/>
              </a:rPr>
              <a:t>https://lnkd.in/gThHVgXz</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This article is a great companion piece to the article I published yesterday that showed you how to incorporate the Analyze Network Data and Apply Error Resolutions table into a quality assurance and quality control process for a data migration. </a:t>
            </a:r>
            <a:r>
              <a:rPr lang="en-US" b="1">
                <a:solidFill>
                  <a:srgbClr val="0A66C2"/>
                </a:solidFill>
                <a:latin typeface="-apple-system"/>
                <a:ea typeface="-apple-system"/>
                <a:cs typeface="-apple-system"/>
                <a:hlinkClick r:id="rId2"/>
              </a:rPr>
              <a:t>https://lnkd.in/gThHVgXz</a:t>
            </a:r>
            <a:endParaRPr lang="en-US"/>
          </a:p>
          <a:p>
            <a:pPr algn="ctr"/>
            <a:endParaRPr lang="pt-BR"/>
          </a:p>
        </p:txBody>
      </p:sp>
      <p:pic>
        <p:nvPicPr>
          <p:cNvPr id="6" name="Imagem 5" descr="Placa azul com letras brancas&#10;&#10;O conteúdo gerado por IA pode estar incorreto.">
            <a:extLst>
              <a:ext uri="{FF2B5EF4-FFF2-40B4-BE49-F238E27FC236}">
                <a16:creationId xmlns:a16="http://schemas.microsoft.com/office/drawing/2014/main" id="{2BEBBF15-6988-6F52-8CFF-D9FA2741F478}"/>
              </a:ext>
            </a:extLst>
          </p:cNvPr>
          <p:cNvPicPr>
            <a:picLocks noChangeAspect="1"/>
          </p:cNvPicPr>
          <p:nvPr/>
        </p:nvPicPr>
        <p:blipFill>
          <a:blip r:embed="rId3"/>
          <a:stretch>
            <a:fillRect/>
          </a:stretch>
        </p:blipFill>
        <p:spPr>
          <a:xfrm>
            <a:off x="1528" y="1961791"/>
            <a:ext cx="5575360" cy="2416834"/>
          </a:xfrm>
          <a:prstGeom prst="rect">
            <a:avLst/>
          </a:prstGeom>
        </p:spPr>
      </p:pic>
      <p:sp>
        <p:nvSpPr>
          <p:cNvPr id="7" name="CaixaDeTexto 6">
            <a:extLst>
              <a:ext uri="{FF2B5EF4-FFF2-40B4-BE49-F238E27FC236}">
                <a16:creationId xmlns:a16="http://schemas.microsoft.com/office/drawing/2014/main" id="{812F8984-F2A7-DD63-3258-D242A8AA38F4}"/>
              </a:ext>
            </a:extLst>
          </p:cNvPr>
          <p:cNvSpPr txBox="1"/>
          <p:nvPr/>
        </p:nvSpPr>
        <p:spPr>
          <a:xfrm>
            <a:off x="186906" y="4866736"/>
            <a:ext cx="4945812" cy="18466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Link: https://www.linkedin.com/posts/robert-krisher-5a989438_resolving-topology-errors-activity-7303072140881272832-5N4k?utm_source=share&amp;utm_medium=member_desktop&amp;rcm=ACoAAAMQtAUB5UouXqdBJgo_gWpNVZ7Imay_2Tg</a:t>
            </a:r>
          </a:p>
          <a:p>
            <a:pPr algn="ctr"/>
            <a:endParaRPr lang="pt-BR"/>
          </a:p>
        </p:txBody>
      </p:sp>
    </p:spTree>
    <p:extLst>
      <p:ext uri="{BB962C8B-B14F-4D97-AF65-F5344CB8AC3E}">
        <p14:creationId xmlns:p14="http://schemas.microsoft.com/office/powerpoint/2010/main" val="3073014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C86DC8D5-5AD3-C2F5-C591-15D7F967BB54}"/>
              </a:ext>
            </a:extLst>
          </p:cNvPr>
          <p:cNvSpPr txBox="1"/>
          <p:nvPr/>
        </p:nvSpPr>
        <p:spPr>
          <a:xfrm>
            <a:off x="6096000" y="1186132"/>
            <a:ext cx="6096000"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If you're looking for an easy way to find all the articles related to the new Migration toolset, check out this community article I just created. It contains links to all the articles I've published and also includes instructions on how you can access the latest version of the tools.</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If you subscribe to that page, you will also get notified whenever we add a new article or make an update to the tools.</a:t>
            </a:r>
            <a:br>
              <a:rPr lang="en-US">
                <a:latin typeface="-apple-system"/>
                <a:ea typeface="-apple-system"/>
                <a:cs typeface="-apple-system"/>
              </a:rPr>
            </a:br>
            <a:br>
              <a:rPr lang="en-US">
                <a:latin typeface="-apple-system"/>
                <a:ea typeface="-apple-system"/>
                <a:cs typeface="-apple-system"/>
              </a:rPr>
            </a:br>
            <a:r>
              <a:rPr lang="en-US" b="1">
                <a:solidFill>
                  <a:srgbClr val="0A66C2"/>
                </a:solidFill>
                <a:latin typeface="-apple-system"/>
                <a:ea typeface="-apple-system"/>
                <a:cs typeface="-apple-system"/>
                <a:hlinkClick r:id="rId2"/>
              </a:rPr>
              <a:t>https://ow.ly/Poaz30sKzQm</a:t>
            </a:r>
            <a:endParaRPr lang="en-US"/>
          </a:p>
          <a:p>
            <a:pPr algn="ctr"/>
            <a:endParaRPr lang="pt-BR"/>
          </a:p>
        </p:txBody>
      </p:sp>
      <p:pic>
        <p:nvPicPr>
          <p:cNvPr id="5" name="Imagem 4" descr="Não foi fornecido texto alternativo para esta imagem">
            <a:extLst>
              <a:ext uri="{FF2B5EF4-FFF2-40B4-BE49-F238E27FC236}">
                <a16:creationId xmlns:a16="http://schemas.microsoft.com/office/drawing/2014/main" id="{D5253A52-EC1C-8AB9-0CE6-1B35477AAB1E}"/>
              </a:ext>
            </a:extLst>
          </p:cNvPr>
          <p:cNvPicPr>
            <a:picLocks noChangeAspect="1"/>
          </p:cNvPicPr>
          <p:nvPr/>
        </p:nvPicPr>
        <p:blipFill>
          <a:blip r:embed="rId3"/>
          <a:stretch>
            <a:fillRect/>
          </a:stretch>
        </p:blipFill>
        <p:spPr>
          <a:xfrm>
            <a:off x="258792" y="900831"/>
            <a:ext cx="5592793" cy="3733621"/>
          </a:xfrm>
          <a:prstGeom prst="rect">
            <a:avLst/>
          </a:prstGeom>
        </p:spPr>
      </p:pic>
      <p:sp>
        <p:nvSpPr>
          <p:cNvPr id="6" name="CaixaDeTexto 5">
            <a:extLst>
              <a:ext uri="{FF2B5EF4-FFF2-40B4-BE49-F238E27FC236}">
                <a16:creationId xmlns:a16="http://schemas.microsoft.com/office/drawing/2014/main" id="{28D7BA7F-204A-56DC-231B-414824BEBEDB}"/>
              </a:ext>
            </a:extLst>
          </p:cNvPr>
          <p:cNvSpPr txBox="1"/>
          <p:nvPr/>
        </p:nvSpPr>
        <p:spPr>
          <a:xfrm>
            <a:off x="488830" y="5226170"/>
            <a:ext cx="6096000" cy="13542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Link: https://www.linkedin.com/posts/robert-krisher-5a989438_if-youre-looking-for-an-easy-way-to-find-activity-7303778995647455233-UHOA?utm_source=share&amp;utm_medium=member_desktop&amp;rcm=ACoAAAMQtAUB5UouXqdBJgo_gWpNVZ7Imay_2Tg</a:t>
            </a:r>
          </a:p>
          <a:p>
            <a:pPr algn="ctr"/>
            <a:endParaRPr lang="pt-BR"/>
          </a:p>
        </p:txBody>
      </p:sp>
    </p:spTree>
    <p:extLst>
      <p:ext uri="{BB962C8B-B14F-4D97-AF65-F5344CB8AC3E}">
        <p14:creationId xmlns:p14="http://schemas.microsoft.com/office/powerpoint/2010/main" val="2875865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6C444791-8963-720C-DFC9-1CC05202053F}"/>
              </a:ext>
            </a:extLst>
          </p:cNvPr>
          <p:cNvSpPr txBox="1"/>
          <p:nvPr/>
        </p:nvSpPr>
        <p:spPr>
          <a:xfrm>
            <a:off x="6096000" y="2508849"/>
            <a:ext cx="60960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system-ui"/>
                <a:ea typeface="system-ui"/>
                <a:cs typeface="system-ui"/>
              </a:rPr>
              <a:t>In this article, I share some experiences with using Calculation Attribute Rules in </a:t>
            </a:r>
            <a:r>
              <a:rPr lang="en-US" b="1" u="none" strike="noStrike">
                <a:solidFill>
                  <a:srgbClr val="0A66C2"/>
                </a:solidFill>
                <a:latin typeface="inherit"/>
                <a:ea typeface="inherit"/>
                <a:cs typeface="inherit"/>
                <a:hlinkClick r:id="rId2"/>
              </a:rPr>
              <a:t>#ArcGIS</a:t>
            </a:r>
            <a:r>
              <a:rPr lang="en-US">
                <a:latin typeface="system-ui"/>
                <a:ea typeface="system-ui"/>
                <a:cs typeface="system-ui"/>
              </a:rPr>
              <a:t> and the </a:t>
            </a:r>
            <a:r>
              <a:rPr lang="en-US" b="1" u="none" strike="noStrike">
                <a:solidFill>
                  <a:srgbClr val="0A66C2"/>
                </a:solidFill>
                <a:latin typeface="inherit"/>
                <a:ea typeface="inherit"/>
                <a:cs typeface="inherit"/>
                <a:hlinkClick r:id="rId3"/>
              </a:rPr>
              <a:t>#UtilityNetwork</a:t>
            </a:r>
            <a:r>
              <a:rPr lang="en-US">
                <a:latin typeface="system-ui"/>
                <a:ea typeface="system-ui"/>
                <a:cs typeface="system-ui"/>
              </a:rPr>
              <a:t> to create customer connections.</a:t>
            </a:r>
            <a:endParaRPr lang="en-US"/>
          </a:p>
          <a:p>
            <a:pPr algn="ctr"/>
            <a:endParaRPr lang="pt-BR"/>
          </a:p>
        </p:txBody>
      </p:sp>
      <p:pic>
        <p:nvPicPr>
          <p:cNvPr id="5" name="Imagem 4" descr="Attribute Rules for Creating Customer Connections">
            <a:extLst>
              <a:ext uri="{FF2B5EF4-FFF2-40B4-BE49-F238E27FC236}">
                <a16:creationId xmlns:a16="http://schemas.microsoft.com/office/drawing/2014/main" id="{3024D5AA-E935-39B5-6030-77A72E7D19DB}"/>
              </a:ext>
            </a:extLst>
          </p:cNvPr>
          <p:cNvPicPr>
            <a:picLocks noChangeAspect="1"/>
          </p:cNvPicPr>
          <p:nvPr/>
        </p:nvPicPr>
        <p:blipFill>
          <a:blip r:embed="rId4"/>
          <a:stretch>
            <a:fillRect/>
          </a:stretch>
        </p:blipFill>
        <p:spPr>
          <a:xfrm>
            <a:off x="1135812" y="1230792"/>
            <a:ext cx="4226943" cy="3778190"/>
          </a:xfrm>
          <a:prstGeom prst="rect">
            <a:avLst/>
          </a:prstGeom>
        </p:spPr>
      </p:pic>
      <p:sp>
        <p:nvSpPr>
          <p:cNvPr id="6" name="CaixaDeTexto 5">
            <a:extLst>
              <a:ext uri="{FF2B5EF4-FFF2-40B4-BE49-F238E27FC236}">
                <a16:creationId xmlns:a16="http://schemas.microsoft.com/office/drawing/2014/main" id="{75202471-EDA1-EF28-6281-654BA23B2189}"/>
              </a:ext>
            </a:extLst>
          </p:cNvPr>
          <p:cNvSpPr txBox="1"/>
          <p:nvPr/>
        </p:nvSpPr>
        <p:spPr>
          <a:xfrm>
            <a:off x="934528" y="5269302"/>
            <a:ext cx="60960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Link: https://www.linkedin.com/posts/xanderbakker_arcgis-utilitynetwork-ugcPost-7328536476671971328-BcjR?utm_source=share&amp;utm_medium=member_desktop&amp;rcm=ACoAAAMQtAUB5UouXqdBJgo_gWpNVZ7Imay_2Tg</a:t>
            </a:r>
          </a:p>
          <a:p>
            <a:pPr algn="ctr"/>
            <a:endParaRPr lang="pt-BR"/>
          </a:p>
        </p:txBody>
      </p:sp>
    </p:spTree>
    <p:extLst>
      <p:ext uri="{BB962C8B-B14F-4D97-AF65-F5344CB8AC3E}">
        <p14:creationId xmlns:p14="http://schemas.microsoft.com/office/powerpoint/2010/main" val="23053502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29B294A8-B593-1248-AB34-C442CBFEBD5C}"/>
              </a:ext>
            </a:extLst>
          </p:cNvPr>
          <p:cNvSpPr txBox="1"/>
          <p:nvPr/>
        </p:nvSpPr>
        <p:spPr>
          <a:xfrm>
            <a:off x="5535283" y="481641"/>
            <a:ext cx="6096000"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inherit"/>
                <a:ea typeface="inherit"/>
                <a:cs typeface="inherit"/>
              </a:rPr>
              <a:t>Do you spend a lot of time opening/closing tools in ArcGIS Pro to perform different tasks? If so, you should check out custom pane sets in ArcGIS Pro 3.5! This new feature lets you save which panes you have open at a given time to different named 'pane sets' that you can quickly toggle between.</a:t>
            </a:r>
            <a:br>
              <a:rPr lang="en-US">
                <a:latin typeface="inherit"/>
                <a:ea typeface="inherit"/>
                <a:cs typeface="inherit"/>
              </a:rPr>
            </a:br>
            <a:br>
              <a:rPr lang="en-US">
                <a:latin typeface="inherit"/>
                <a:ea typeface="inherit"/>
                <a:cs typeface="inherit"/>
              </a:rPr>
            </a:br>
            <a:r>
              <a:rPr lang="en-US">
                <a:latin typeface="inherit"/>
                <a:ea typeface="inherit"/>
                <a:cs typeface="inherit"/>
              </a:rPr>
              <a:t>Like many of you, I wear "different hats" at my job. One minute I may be knee-deep in spatial analysis, and the next I may be editing, doing quality assurance, or creating map books. Custom pane sets allow ArcGIS Pro to remember which tools/panes you use for each of these workflows so you can quickly switch back and forth between them.</a:t>
            </a:r>
            <a:br>
              <a:rPr lang="en-US">
                <a:latin typeface="inherit"/>
                <a:ea typeface="inherit"/>
                <a:cs typeface="inherit"/>
              </a:rPr>
            </a:br>
            <a:br>
              <a:rPr lang="en-US">
                <a:latin typeface="inherit"/>
                <a:ea typeface="inherit"/>
                <a:cs typeface="inherit"/>
              </a:rPr>
            </a:br>
            <a:r>
              <a:rPr lang="en-US">
                <a:latin typeface="inherit"/>
                <a:ea typeface="inherit"/>
                <a:cs typeface="inherit"/>
              </a:rPr>
              <a:t>This feature has a dedicated section in the release notes: </a:t>
            </a:r>
            <a:r>
              <a:rPr lang="en-US" b="1" u="none" strike="noStrike">
                <a:solidFill>
                  <a:srgbClr val="0A66C2"/>
                </a:solidFill>
                <a:latin typeface="inherit"/>
                <a:ea typeface="inherit"/>
                <a:cs typeface="inherit"/>
                <a:hlinkClick r:id="rId2"/>
              </a:rPr>
              <a:t>https://lnkd.in/g-nVkN5P</a:t>
            </a:r>
            <a:br>
              <a:rPr lang="en-US">
                <a:latin typeface="inherit"/>
                <a:ea typeface="inherit"/>
                <a:cs typeface="inherit"/>
              </a:rPr>
            </a:br>
            <a:br>
              <a:rPr lang="en-US">
                <a:latin typeface="inherit"/>
                <a:ea typeface="inherit"/>
                <a:cs typeface="inherit"/>
              </a:rPr>
            </a:br>
            <a:r>
              <a:rPr lang="en-US">
                <a:latin typeface="inherit"/>
                <a:ea typeface="inherit"/>
                <a:cs typeface="inherit"/>
              </a:rPr>
              <a:t>You can read the full release notes for ArcGIS Pro 3.5 here: </a:t>
            </a:r>
            <a:r>
              <a:rPr lang="en-US" b="1" u="none" strike="noStrike">
                <a:solidFill>
                  <a:srgbClr val="0A66C2"/>
                </a:solidFill>
                <a:latin typeface="inherit"/>
                <a:ea typeface="inherit"/>
                <a:cs typeface="inherit"/>
                <a:hlinkClick r:id="rId3"/>
              </a:rPr>
              <a:t>https://lnkd.in/gAvj3QK7</a:t>
            </a:r>
          </a:p>
          <a:p>
            <a:endParaRPr lang="en-US">
              <a:latin typeface="system-ui"/>
              <a:ea typeface="system-ui"/>
              <a:cs typeface="system-ui"/>
            </a:endParaRPr>
          </a:p>
          <a:p>
            <a:pPr algn="ctr"/>
            <a:endParaRPr lang="pt-BR"/>
          </a:p>
        </p:txBody>
      </p:sp>
      <p:pic>
        <p:nvPicPr>
          <p:cNvPr id="5" name="Imagem 4" descr="Ver imagem">
            <a:extLst>
              <a:ext uri="{FF2B5EF4-FFF2-40B4-BE49-F238E27FC236}">
                <a16:creationId xmlns:a16="http://schemas.microsoft.com/office/drawing/2014/main" id="{0A3BD936-8D24-6623-4445-D7C451235703}"/>
              </a:ext>
            </a:extLst>
          </p:cNvPr>
          <p:cNvPicPr>
            <a:picLocks noChangeAspect="1"/>
          </p:cNvPicPr>
          <p:nvPr/>
        </p:nvPicPr>
        <p:blipFill>
          <a:blip r:embed="rId4"/>
          <a:stretch>
            <a:fillRect/>
          </a:stretch>
        </p:blipFill>
        <p:spPr>
          <a:xfrm>
            <a:off x="555825" y="1107056"/>
            <a:ext cx="4553029" cy="2976114"/>
          </a:xfrm>
          <a:prstGeom prst="rect">
            <a:avLst/>
          </a:prstGeom>
        </p:spPr>
      </p:pic>
      <p:sp>
        <p:nvSpPr>
          <p:cNvPr id="6" name="CaixaDeTexto 5">
            <a:extLst>
              <a:ext uri="{FF2B5EF4-FFF2-40B4-BE49-F238E27FC236}">
                <a16:creationId xmlns:a16="http://schemas.microsoft.com/office/drawing/2014/main" id="{8D9D1E17-1BDE-F600-4E9C-39B00758E947}"/>
              </a:ext>
            </a:extLst>
          </p:cNvPr>
          <p:cNvSpPr txBox="1"/>
          <p:nvPr/>
        </p:nvSpPr>
        <p:spPr>
          <a:xfrm>
            <a:off x="445698" y="4406660"/>
            <a:ext cx="4226944"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Link: https://www.linkedin.com/posts/robert-krisher-5a989438_do-you-spend-a-lot-of-time-openingclosing-share-7328763602952224770-yldg?utm_source=share&amp;utm_medium=member_desktop&amp;rcm=ACoAAAMQtAUB5UouXqdBJgo_gWpNVZ7Imay_2Tg</a:t>
            </a:r>
          </a:p>
          <a:p>
            <a:pPr algn="ctr"/>
            <a:endParaRPr lang="pt-BR"/>
          </a:p>
        </p:txBody>
      </p:sp>
    </p:spTree>
    <p:extLst>
      <p:ext uri="{BB962C8B-B14F-4D97-AF65-F5344CB8AC3E}">
        <p14:creationId xmlns:p14="http://schemas.microsoft.com/office/powerpoint/2010/main" val="17625924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F455D9EC-BA56-D718-945E-8B8C25248B07}"/>
              </a:ext>
            </a:extLst>
          </p:cNvPr>
          <p:cNvSpPr txBox="1"/>
          <p:nvPr/>
        </p:nvSpPr>
        <p:spPr>
          <a:xfrm>
            <a:off x="5319623" y="1718094"/>
            <a:ext cx="6096000"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system-ui"/>
                <a:ea typeface="system-ui"/>
                <a:cs typeface="system-ui"/>
              </a:rPr>
              <a:t>ESRI have outdone themselves. ArcPro 3.5 has an estimate time to event tool. Perfect for inputting asset management data such as age, material, condition rating and performance. A risk metric such as likelihood may be used. The output that is added to the map is time units until the event reaches probability percentage. Local government have the ability to make high level decisions without a full engineering analysis, or are be able to integrate the data into other spatial analysis.</a:t>
            </a:r>
            <a:br>
              <a:rPr lang="en-US"/>
            </a:br>
            <a:r>
              <a:rPr lang="en-US" b="1" u="none" strike="noStrike">
                <a:solidFill>
                  <a:srgbClr val="0A66C2"/>
                </a:solidFill>
                <a:latin typeface="inherit"/>
                <a:ea typeface="inherit"/>
                <a:cs typeface="inherit"/>
                <a:hlinkClick r:id="rId2"/>
              </a:rPr>
              <a:t>#GIS</a:t>
            </a:r>
            <a:r>
              <a:rPr lang="en-US">
                <a:latin typeface="system-ui"/>
                <a:ea typeface="system-ui"/>
                <a:cs typeface="system-ui"/>
              </a:rPr>
              <a:t> </a:t>
            </a:r>
            <a:endParaRPr lang="en-US"/>
          </a:p>
          <a:p>
            <a:pPr algn="ctr"/>
            <a:endParaRPr lang="pt-BR"/>
          </a:p>
        </p:txBody>
      </p:sp>
      <p:pic>
        <p:nvPicPr>
          <p:cNvPr id="5" name="Imagem 4" descr="Ver imagem">
            <a:extLst>
              <a:ext uri="{FF2B5EF4-FFF2-40B4-BE49-F238E27FC236}">
                <a16:creationId xmlns:a16="http://schemas.microsoft.com/office/drawing/2014/main" id="{BAA61758-EC46-1FDF-4F10-EAC60F711D26}"/>
              </a:ext>
            </a:extLst>
          </p:cNvPr>
          <p:cNvPicPr>
            <a:picLocks noChangeAspect="1"/>
          </p:cNvPicPr>
          <p:nvPr/>
        </p:nvPicPr>
        <p:blipFill>
          <a:blip r:embed="rId3"/>
          <a:stretch>
            <a:fillRect/>
          </a:stretch>
        </p:blipFill>
        <p:spPr>
          <a:xfrm>
            <a:off x="531962" y="1066441"/>
            <a:ext cx="4572000" cy="3934364"/>
          </a:xfrm>
          <a:prstGeom prst="rect">
            <a:avLst/>
          </a:prstGeom>
        </p:spPr>
      </p:pic>
      <p:sp>
        <p:nvSpPr>
          <p:cNvPr id="6" name="CaixaDeTexto 5">
            <a:extLst>
              <a:ext uri="{FF2B5EF4-FFF2-40B4-BE49-F238E27FC236}">
                <a16:creationId xmlns:a16="http://schemas.microsoft.com/office/drawing/2014/main" id="{B61FD505-E58E-0DFC-5E74-E96DAC4E181E}"/>
              </a:ext>
            </a:extLst>
          </p:cNvPr>
          <p:cNvSpPr txBox="1"/>
          <p:nvPr/>
        </p:nvSpPr>
        <p:spPr>
          <a:xfrm>
            <a:off x="531962" y="5369943"/>
            <a:ext cx="60960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t>Linl</a:t>
            </a:r>
            <a:r>
              <a:rPr lang="en-US"/>
              <a:t>: https://www.linkedin.com/posts/marc-galle-747a361a2_gis-share-7328955563982118913-YdrS?utm_source=share&amp;utm_medium=member_desktop&amp;rcm=ACoAAAMQtAUB5UouXqdBJgo_gWpNVZ7Imay_2Tg</a:t>
            </a:r>
          </a:p>
          <a:p>
            <a:pPr algn="ctr"/>
            <a:endParaRPr lang="pt-BR"/>
          </a:p>
        </p:txBody>
      </p:sp>
    </p:spTree>
    <p:extLst>
      <p:ext uri="{BB962C8B-B14F-4D97-AF65-F5344CB8AC3E}">
        <p14:creationId xmlns:p14="http://schemas.microsoft.com/office/powerpoint/2010/main" val="2841131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72CB17E6-81A3-CDCF-9609-BB9B431D19DD}"/>
              </a:ext>
            </a:extLst>
          </p:cNvPr>
          <p:cNvSpPr txBox="1"/>
          <p:nvPr/>
        </p:nvSpPr>
        <p:spPr>
          <a:xfrm>
            <a:off x="5463396" y="222849"/>
            <a:ext cx="6096000" cy="64017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latin typeface="system-ui"/>
                <a:ea typeface="system-ui"/>
                <a:cs typeface="system-ui"/>
              </a:rPr>
              <a:t>One of the challenges that many customers have been very open about with the utility network is that to get the most out of it, you need to do a lot of data cleanup. To help with this ArcGIS Pro now includes automated data cleanup tools to assist customers who are migrating data to the utility network. Learn more about how to use these tools by reading the following articles:</a:t>
            </a:r>
            <a:br>
              <a:rPr lang="en-US" sz="1400"/>
            </a:br>
            <a:br>
              <a:rPr lang="en-US" sz="1400"/>
            </a:br>
            <a:r>
              <a:rPr lang="en-US" sz="1400">
                <a:latin typeface="system-ui"/>
                <a:ea typeface="system-ui"/>
                <a:cs typeface="system-ui"/>
              </a:rPr>
              <a:t>Analyzing network data: </a:t>
            </a:r>
            <a:r>
              <a:rPr lang="en-US" sz="1400" b="1" u="none" strike="noStrike">
                <a:solidFill>
                  <a:srgbClr val="0A66C2"/>
                </a:solidFill>
                <a:latin typeface="inherit"/>
                <a:ea typeface="inherit"/>
                <a:cs typeface="inherit"/>
                <a:hlinkClick r:id="rId2"/>
              </a:rPr>
              <a:t>https://ow.ly/cgme50W5SAa</a:t>
            </a:r>
            <a:br>
              <a:rPr lang="en-US" sz="1400"/>
            </a:br>
            <a:br>
              <a:rPr lang="en-US" sz="1400"/>
            </a:br>
            <a:r>
              <a:rPr lang="en-US" sz="1400">
                <a:latin typeface="system-ui"/>
                <a:ea typeface="system-ui"/>
                <a:cs typeface="system-ui"/>
              </a:rPr>
              <a:t>Resolving topology errors: </a:t>
            </a:r>
            <a:r>
              <a:rPr lang="en-US" sz="1400" b="1" u="none" strike="noStrike">
                <a:solidFill>
                  <a:srgbClr val="0A66C2"/>
                </a:solidFill>
                <a:latin typeface="inherit"/>
                <a:ea typeface="inherit"/>
                <a:cs typeface="inherit"/>
                <a:hlinkClick r:id="rId3"/>
              </a:rPr>
              <a:t>https://ow.ly/b9Qf50W5SAb</a:t>
            </a:r>
            <a:br>
              <a:rPr lang="en-US" sz="1400"/>
            </a:br>
            <a:br>
              <a:rPr lang="en-US" sz="1400"/>
            </a:br>
            <a:r>
              <a:rPr lang="en-US" sz="1400">
                <a:latin typeface="system-ui"/>
                <a:ea typeface="system-ui"/>
                <a:cs typeface="system-ui"/>
              </a:rPr>
              <a:t>I have had hundreds, if not thousands, of conversations with customers about the importance of data quality at an organization, and how the utility network helps fix problems they’ve likely been struggling with for decades but haven’t known about.</a:t>
            </a:r>
            <a:br>
              <a:rPr lang="en-US" sz="1400"/>
            </a:br>
            <a:br>
              <a:rPr lang="en-US" sz="1400"/>
            </a:br>
            <a:r>
              <a:rPr lang="en-US" sz="1400">
                <a:latin typeface="system-ui"/>
                <a:ea typeface="system-ui"/>
                <a:cs typeface="system-ui"/>
              </a:rPr>
              <a:t>Poor data quality is a cost multiplier on every decision your organization makes, and it directly impacts your ability to create planning models, do staking/construction design, perform analysis, and even secure permits. These costs may be hidden because you hire third parties to do the work for you. But that just means you’re paying them to clean up your data every time you work with them.</a:t>
            </a:r>
            <a:br>
              <a:rPr lang="en-US" sz="1400"/>
            </a:br>
            <a:br>
              <a:rPr lang="en-US" sz="1400"/>
            </a:br>
            <a:r>
              <a:rPr lang="en-US" sz="1400">
                <a:latin typeface="system-ui"/>
                <a:ea typeface="system-ui"/>
                <a:cs typeface="system-ui"/>
              </a:rPr>
              <a:t>By implementing the utility network and cleaning up your data (any maybe even standardizing your model) you’ll have improved decision-making capabilities directly related to your improved data quality. Maybe this means you can go back to your vendors and renegotiate how much they are charging to create your planning models? Maybe your data is good enough you can start creating the models in-house?</a:t>
            </a:r>
            <a:endParaRPr lang="en-US" sz="1400"/>
          </a:p>
          <a:p>
            <a:pPr algn="ctr"/>
            <a:endParaRPr lang="pt-BR"/>
          </a:p>
        </p:txBody>
      </p:sp>
      <p:pic>
        <p:nvPicPr>
          <p:cNvPr id="5" name="Imagem 4" descr="Ver imagem">
            <a:extLst>
              <a:ext uri="{FF2B5EF4-FFF2-40B4-BE49-F238E27FC236}">
                <a16:creationId xmlns:a16="http://schemas.microsoft.com/office/drawing/2014/main" id="{7DEE0590-D65E-2259-9442-6C571DC36212}"/>
              </a:ext>
            </a:extLst>
          </p:cNvPr>
          <p:cNvPicPr>
            <a:picLocks noChangeAspect="1"/>
          </p:cNvPicPr>
          <p:nvPr/>
        </p:nvPicPr>
        <p:blipFill>
          <a:blip r:embed="rId4"/>
          <a:stretch>
            <a:fillRect/>
          </a:stretch>
        </p:blipFill>
        <p:spPr>
          <a:xfrm>
            <a:off x="464479" y="1033642"/>
            <a:ext cx="4448175" cy="3324225"/>
          </a:xfrm>
          <a:prstGeom prst="rect">
            <a:avLst/>
          </a:prstGeom>
        </p:spPr>
      </p:pic>
      <p:sp>
        <p:nvSpPr>
          <p:cNvPr id="6" name="CaixaDeTexto 5">
            <a:extLst>
              <a:ext uri="{FF2B5EF4-FFF2-40B4-BE49-F238E27FC236}">
                <a16:creationId xmlns:a16="http://schemas.microsoft.com/office/drawing/2014/main" id="{5B33D1BE-879E-0AB5-61BD-CCF592373BB1}"/>
              </a:ext>
            </a:extLst>
          </p:cNvPr>
          <p:cNvSpPr txBox="1"/>
          <p:nvPr/>
        </p:nvSpPr>
        <p:spPr>
          <a:xfrm>
            <a:off x="258793" y="4579188"/>
            <a:ext cx="4859547"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Link: https://www.linkedin.com/posts/robert-krisher-5a989438_one-of-the-challenges-that-many-customers-share-7337101267812478976-QYBy?utm_source=share&amp;utm_medium=member_desktop&amp;rcm=ACoAAAMQtAUB5UouXqdBJgo_gWpNVZ7Imay_2Tg</a:t>
            </a:r>
          </a:p>
          <a:p>
            <a:pPr algn="ctr"/>
            <a:endParaRPr lang="pt-BR"/>
          </a:p>
        </p:txBody>
      </p:sp>
    </p:spTree>
    <p:extLst>
      <p:ext uri="{BB962C8B-B14F-4D97-AF65-F5344CB8AC3E}">
        <p14:creationId xmlns:p14="http://schemas.microsoft.com/office/powerpoint/2010/main" val="16961915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44DF6780-B662-ED4F-4ABD-0B53DD5D3827}"/>
              </a:ext>
            </a:extLst>
          </p:cNvPr>
          <p:cNvSpPr txBox="1"/>
          <p:nvPr/>
        </p:nvSpPr>
        <p:spPr>
          <a:xfrm>
            <a:off x="5679056" y="1718094"/>
            <a:ext cx="6512943"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system-ui"/>
                <a:ea typeface="system-ui"/>
                <a:cs typeface="system-ui"/>
              </a:rPr>
              <a:t>Do you want to learn more about the new, simpler way of implementing the utility network? This article shows you the magic of how the Migrate To Utility Network tool migrates any geodatabase to a utility network!</a:t>
            </a:r>
            <a:br>
              <a:rPr lang="en-US"/>
            </a:br>
            <a:r>
              <a:rPr lang="en-US" b="1" u="none" strike="noStrike">
                <a:solidFill>
                  <a:srgbClr val="0A66C2"/>
                </a:solidFill>
                <a:latin typeface="inherit"/>
                <a:ea typeface="inherit"/>
                <a:cs typeface="inherit"/>
                <a:hlinkClick r:id="rId2"/>
              </a:rPr>
              <a:t>https://ow.ly/Xlrz50W3kha</a:t>
            </a:r>
            <a:endParaRPr lang="en-US"/>
          </a:p>
          <a:p>
            <a:pPr algn="ctr"/>
            <a:endParaRPr lang="pt-BR"/>
          </a:p>
        </p:txBody>
      </p:sp>
      <p:pic>
        <p:nvPicPr>
          <p:cNvPr id="5" name="Imagem 4" descr="Ver imagem">
            <a:extLst>
              <a:ext uri="{FF2B5EF4-FFF2-40B4-BE49-F238E27FC236}">
                <a16:creationId xmlns:a16="http://schemas.microsoft.com/office/drawing/2014/main" id="{8DAD4692-703C-4E71-61AB-D19D698DEDDF}"/>
              </a:ext>
            </a:extLst>
          </p:cNvPr>
          <p:cNvPicPr>
            <a:picLocks noChangeAspect="1"/>
          </p:cNvPicPr>
          <p:nvPr/>
        </p:nvPicPr>
        <p:blipFill>
          <a:blip r:embed="rId3"/>
          <a:stretch>
            <a:fillRect/>
          </a:stretch>
        </p:blipFill>
        <p:spPr>
          <a:xfrm>
            <a:off x="172528" y="1068868"/>
            <a:ext cx="5506528" cy="2793701"/>
          </a:xfrm>
          <a:prstGeom prst="rect">
            <a:avLst/>
          </a:prstGeom>
        </p:spPr>
      </p:pic>
      <p:sp>
        <p:nvSpPr>
          <p:cNvPr id="6" name="CaixaDeTexto 5">
            <a:extLst>
              <a:ext uri="{FF2B5EF4-FFF2-40B4-BE49-F238E27FC236}">
                <a16:creationId xmlns:a16="http://schemas.microsoft.com/office/drawing/2014/main" id="{14B56279-41E4-C422-6AB7-6F02252F86A2}"/>
              </a:ext>
            </a:extLst>
          </p:cNvPr>
          <p:cNvSpPr txBox="1"/>
          <p:nvPr/>
        </p:nvSpPr>
        <p:spPr>
          <a:xfrm>
            <a:off x="330680" y="4262887"/>
            <a:ext cx="5175850"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Link: https://www.linkedin.com/posts/chasefishergis_do-you-want-to-learn-more-about-the-new-share-7338202073848520704-l3WA?utm_source=share&amp;utm_medium=member_desktop&amp;rcm=ACoAAAMQtAUB5UouXqdBJgo_gWpNVZ7Imay_2Tg</a:t>
            </a:r>
          </a:p>
          <a:p>
            <a:pPr algn="ctr"/>
            <a:endParaRPr lang="pt-BR"/>
          </a:p>
        </p:txBody>
      </p:sp>
    </p:spTree>
    <p:extLst>
      <p:ext uri="{BB962C8B-B14F-4D97-AF65-F5344CB8AC3E}">
        <p14:creationId xmlns:p14="http://schemas.microsoft.com/office/powerpoint/2010/main" val="14449389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BA90B14B-9D2A-F33A-5726-BD4CD5F6CD63}"/>
              </a:ext>
            </a:extLst>
          </p:cNvPr>
          <p:cNvSpPr txBox="1"/>
          <p:nvPr/>
        </p:nvSpPr>
        <p:spPr>
          <a:xfrm>
            <a:off x="8468264" y="2422585"/>
            <a:ext cx="60960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system-ui"/>
                <a:ea typeface="system-ui"/>
                <a:cs typeface="system-ui"/>
              </a:rPr>
              <a:t>Coincidence Features ESRI UN </a:t>
            </a:r>
            <a:br>
              <a:rPr lang="en-US"/>
            </a:br>
            <a:br>
              <a:rPr lang="en-US"/>
            </a:br>
            <a:br>
              <a:rPr lang="en-US"/>
            </a:br>
            <a:endParaRPr lang="en-US" b="1">
              <a:solidFill>
                <a:srgbClr val="0A66C2"/>
              </a:solidFill>
              <a:latin typeface="inherit"/>
            </a:endParaRPr>
          </a:p>
          <a:p>
            <a:pPr algn="ctr"/>
            <a:endParaRPr lang="pt-BR"/>
          </a:p>
        </p:txBody>
      </p:sp>
      <p:pic>
        <p:nvPicPr>
          <p:cNvPr id="5" name="Imagem 4" descr="Linha do tempo&#10;&#10;O conteúdo gerado por IA pode estar incorreto.">
            <a:extLst>
              <a:ext uri="{FF2B5EF4-FFF2-40B4-BE49-F238E27FC236}">
                <a16:creationId xmlns:a16="http://schemas.microsoft.com/office/drawing/2014/main" id="{C22208AF-65E4-1E45-DEE4-06365AE5EF81}"/>
              </a:ext>
            </a:extLst>
          </p:cNvPr>
          <p:cNvPicPr>
            <a:picLocks noChangeAspect="1"/>
          </p:cNvPicPr>
          <p:nvPr/>
        </p:nvPicPr>
        <p:blipFill>
          <a:blip r:embed="rId2"/>
          <a:stretch>
            <a:fillRect/>
          </a:stretch>
        </p:blipFill>
        <p:spPr>
          <a:xfrm>
            <a:off x="287547" y="510935"/>
            <a:ext cx="7418716" cy="5318544"/>
          </a:xfrm>
          <a:prstGeom prst="rect">
            <a:avLst/>
          </a:prstGeom>
        </p:spPr>
      </p:pic>
      <p:sp>
        <p:nvSpPr>
          <p:cNvPr id="6" name="CaixaDeTexto 5">
            <a:extLst>
              <a:ext uri="{FF2B5EF4-FFF2-40B4-BE49-F238E27FC236}">
                <a16:creationId xmlns:a16="http://schemas.microsoft.com/office/drawing/2014/main" id="{98DC2D7C-B447-3CD4-853A-D4B8D772708D}"/>
              </a:ext>
            </a:extLst>
          </p:cNvPr>
          <p:cNvSpPr txBox="1"/>
          <p:nvPr/>
        </p:nvSpPr>
        <p:spPr>
          <a:xfrm>
            <a:off x="7950679" y="4234132"/>
            <a:ext cx="3694982" cy="26131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Link: https://www.linkedin.com/posts/gowri-srinivas-guthikonda_un-esri-share-7334150950128885760-fBEP?utm_source=share&amp;utm_medium=member_desktop&amp;rcm=ACoAAAMQtAUB5UouXqdBJgo_gWpNVZ7Imay_2Tg</a:t>
            </a:r>
          </a:p>
          <a:p>
            <a:pPr algn="ctr"/>
            <a:endParaRPr lang="pt-BR"/>
          </a:p>
        </p:txBody>
      </p:sp>
    </p:spTree>
    <p:extLst>
      <p:ext uri="{BB962C8B-B14F-4D97-AF65-F5344CB8AC3E}">
        <p14:creationId xmlns:p14="http://schemas.microsoft.com/office/powerpoint/2010/main" val="42686974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C73BC15F-611E-67DC-194A-2561F65D9E78}"/>
              </a:ext>
            </a:extLst>
          </p:cNvPr>
          <p:cNvSpPr txBox="1"/>
          <p:nvPr/>
        </p:nvSpPr>
        <p:spPr>
          <a:xfrm>
            <a:off x="747623" y="1027981"/>
            <a:ext cx="6096000"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system-ui"/>
                <a:ea typeface="system-ui"/>
                <a:cs typeface="system-ui"/>
              </a:rPr>
              <a:t>Voice Controlled Data Collection... Utilizing ESRI’s QuickCapture app and, voice controls in Apple IOS 13. Here's a link to a blog with more info - https://lnkd.in/d7dkH4w</a:t>
            </a:r>
            <a:br>
              <a:rPr lang="en-US"/>
            </a:br>
            <a:br>
              <a:rPr lang="en-US"/>
            </a:br>
            <a:r>
              <a:rPr lang="en-US">
                <a:latin typeface="system-ui"/>
                <a:ea typeface="system-ui"/>
                <a:cs typeface="system-ui"/>
              </a:rPr>
              <a:t>Here is a link to it being used with Google. https://lnkd.in/d7rWxtt </a:t>
            </a:r>
            <a:r>
              <a:rPr lang="en-US" b="1" u="none" strike="noStrike">
                <a:solidFill>
                  <a:srgbClr val="0A66C2"/>
                </a:solidFill>
                <a:latin typeface="inherit"/>
                <a:ea typeface="inherit"/>
                <a:cs typeface="inherit"/>
                <a:hlinkClick r:id="rId2"/>
              </a:rPr>
              <a:t>#datacollection</a:t>
            </a:r>
            <a:r>
              <a:rPr lang="en-US">
                <a:latin typeface="system-ui"/>
                <a:ea typeface="system-ui"/>
                <a:cs typeface="system-ui"/>
              </a:rPr>
              <a:t> </a:t>
            </a:r>
            <a:r>
              <a:rPr lang="en-US" b="1" u="none" strike="noStrike">
                <a:solidFill>
                  <a:srgbClr val="0A66C2"/>
                </a:solidFill>
                <a:latin typeface="inherit"/>
                <a:ea typeface="inherit"/>
                <a:cs typeface="inherit"/>
                <a:hlinkClick r:id="rId3"/>
              </a:rPr>
              <a:t>#apple</a:t>
            </a:r>
            <a:r>
              <a:rPr lang="en-US">
                <a:latin typeface="system-ui"/>
                <a:ea typeface="system-ui"/>
                <a:cs typeface="system-ui"/>
              </a:rPr>
              <a:t> </a:t>
            </a:r>
            <a:r>
              <a:rPr lang="en-US" b="1" u="none" strike="noStrike">
                <a:solidFill>
                  <a:srgbClr val="0A66C2"/>
                </a:solidFill>
                <a:latin typeface="inherit"/>
                <a:ea typeface="inherit"/>
                <a:cs typeface="inherit"/>
                <a:hlinkClick r:id="rId4"/>
              </a:rPr>
              <a:t>#voice</a:t>
            </a:r>
            <a:r>
              <a:rPr lang="en-US">
                <a:latin typeface="system-ui"/>
                <a:ea typeface="system-ui"/>
                <a:cs typeface="system-ui"/>
              </a:rPr>
              <a:t> </a:t>
            </a:r>
            <a:r>
              <a:rPr lang="en-US" b="1" u="none" strike="noStrike">
                <a:solidFill>
                  <a:srgbClr val="0A66C2"/>
                </a:solidFill>
                <a:latin typeface="inherit"/>
                <a:ea typeface="inherit"/>
                <a:cs typeface="inherit"/>
                <a:hlinkClick r:id="rId5"/>
              </a:rPr>
              <a:t>#google</a:t>
            </a:r>
            <a:r>
              <a:rPr lang="en-US">
                <a:latin typeface="system-ui"/>
                <a:ea typeface="system-ui"/>
                <a:cs typeface="system-ui"/>
              </a:rPr>
              <a:t> </a:t>
            </a:r>
            <a:r>
              <a:rPr lang="en-US" b="1" u="none" strike="noStrike">
                <a:solidFill>
                  <a:srgbClr val="0A66C2"/>
                </a:solidFill>
                <a:latin typeface="inherit"/>
                <a:ea typeface="inherit"/>
                <a:cs typeface="inherit"/>
                <a:hlinkClick r:id="rId6"/>
              </a:rPr>
              <a:t>#ios13</a:t>
            </a:r>
            <a:r>
              <a:rPr lang="en-US">
                <a:latin typeface="system-ui"/>
                <a:ea typeface="system-ui"/>
                <a:cs typeface="system-ui"/>
              </a:rPr>
              <a:t> </a:t>
            </a:r>
            <a:r>
              <a:rPr lang="en-US" b="1" u="none" strike="noStrike">
                <a:solidFill>
                  <a:srgbClr val="0A66C2"/>
                </a:solidFill>
                <a:latin typeface="inherit"/>
                <a:ea typeface="inherit"/>
                <a:cs typeface="inherit"/>
                <a:hlinkClick r:id="rId7"/>
              </a:rPr>
              <a:t>#arcgis</a:t>
            </a:r>
            <a:r>
              <a:rPr lang="en-US">
                <a:latin typeface="system-ui"/>
                <a:ea typeface="system-ui"/>
                <a:cs typeface="system-ui"/>
              </a:rPr>
              <a:t> </a:t>
            </a:r>
            <a:r>
              <a:rPr lang="en-US" b="1" u="none" strike="noStrike">
                <a:solidFill>
                  <a:srgbClr val="0A66C2"/>
                </a:solidFill>
                <a:latin typeface="inherit"/>
                <a:ea typeface="inherit"/>
                <a:cs typeface="inherit"/>
                <a:hlinkClick r:id="rId8"/>
              </a:rPr>
              <a:t>#esri</a:t>
            </a:r>
            <a:r>
              <a:rPr lang="en-US">
                <a:latin typeface="system-ui"/>
                <a:ea typeface="system-ui"/>
                <a:cs typeface="system-ui"/>
              </a:rPr>
              <a:t> </a:t>
            </a:r>
            <a:r>
              <a:rPr lang="en-US" b="1" u="none" strike="noStrike">
                <a:solidFill>
                  <a:srgbClr val="0A66C2"/>
                </a:solidFill>
                <a:latin typeface="inherit"/>
                <a:ea typeface="inherit"/>
                <a:cs typeface="inherit"/>
                <a:hlinkClick r:id="rId9"/>
              </a:rPr>
              <a:t>#geospatial</a:t>
            </a:r>
            <a:r>
              <a:rPr lang="en-US">
                <a:latin typeface="system-ui"/>
                <a:ea typeface="system-ui"/>
                <a:cs typeface="system-ui"/>
              </a:rPr>
              <a:t> </a:t>
            </a:r>
            <a:r>
              <a:rPr lang="en-US" b="1" u="none" strike="noStrike">
                <a:solidFill>
                  <a:srgbClr val="0A66C2"/>
                </a:solidFill>
                <a:latin typeface="inherit"/>
                <a:ea typeface="inherit"/>
                <a:cs typeface="inherit"/>
                <a:hlinkClick r:id="rId10"/>
              </a:rPr>
              <a:t>#QuickCapture</a:t>
            </a:r>
            <a:r>
              <a:rPr lang="en-US">
                <a:latin typeface="system-ui"/>
                <a:ea typeface="system-ui"/>
                <a:cs typeface="system-ui"/>
              </a:rPr>
              <a:t> </a:t>
            </a:r>
            <a:r>
              <a:rPr lang="en-US" b="1" u="none" strike="noStrike">
                <a:solidFill>
                  <a:srgbClr val="0A66C2"/>
                </a:solidFill>
                <a:latin typeface="inherit"/>
                <a:ea typeface="inherit"/>
                <a:cs typeface="inherit"/>
                <a:hlinkClick r:id="rId11"/>
              </a:rPr>
              <a:t>#scienceofwhere</a:t>
            </a:r>
            <a:r>
              <a:rPr lang="en-US">
                <a:latin typeface="system-ui"/>
                <a:ea typeface="system-ui"/>
                <a:cs typeface="system-ui"/>
              </a:rPr>
              <a:t> </a:t>
            </a:r>
            <a:r>
              <a:rPr lang="en-US" b="1" u="none" strike="noStrike">
                <a:solidFill>
                  <a:srgbClr val="0A66C2"/>
                </a:solidFill>
                <a:latin typeface="inherit"/>
                <a:ea typeface="inherit"/>
                <a:cs typeface="inherit"/>
                <a:hlinkClick r:id="rId12"/>
              </a:rPr>
              <a:t>#gis</a:t>
            </a:r>
            <a:br>
              <a:rPr lang="en-US"/>
            </a:br>
            <a:br>
              <a:rPr lang="en-US"/>
            </a:br>
            <a:r>
              <a:rPr lang="en-US">
                <a:latin typeface="system-ui"/>
                <a:ea typeface="system-ui"/>
                <a:cs typeface="system-ui"/>
              </a:rPr>
              <a:t>Rob Hathcock Matthew Hoehn Marcus Kitchens Video By Earl McDowell,</a:t>
            </a:r>
            <a:endParaRPr lang="en-US"/>
          </a:p>
          <a:p>
            <a:pPr algn="ctr"/>
            <a:endParaRPr lang="pt-BR"/>
          </a:p>
        </p:txBody>
      </p:sp>
      <p:sp>
        <p:nvSpPr>
          <p:cNvPr id="5" name="CaixaDeTexto 4">
            <a:extLst>
              <a:ext uri="{FF2B5EF4-FFF2-40B4-BE49-F238E27FC236}">
                <a16:creationId xmlns:a16="http://schemas.microsoft.com/office/drawing/2014/main" id="{D558BC2D-3BFA-CED9-2EC0-8A7833A759A3}"/>
              </a:ext>
            </a:extLst>
          </p:cNvPr>
          <p:cNvSpPr txBox="1"/>
          <p:nvPr/>
        </p:nvSpPr>
        <p:spPr>
          <a:xfrm>
            <a:off x="6096000" y="5369943"/>
            <a:ext cx="60960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https://www.linkedin.com/posts/chasefishergis_datacollection-apple-voice-ugcPost-6608419571496038400-jzZz?utm_source=share&amp;utm_medium=member_desktop&amp;rcm=ACoAAAMQtAUB5UouXqdBJgo_gWpNVZ7Imay_2Tg</a:t>
            </a:r>
          </a:p>
          <a:p>
            <a:pPr algn="ctr"/>
            <a:endParaRPr lang="pt-BR"/>
          </a:p>
        </p:txBody>
      </p:sp>
    </p:spTree>
    <p:extLst>
      <p:ext uri="{BB962C8B-B14F-4D97-AF65-F5344CB8AC3E}">
        <p14:creationId xmlns:p14="http://schemas.microsoft.com/office/powerpoint/2010/main" val="10779176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B0314F32-2C26-DB2C-B032-36832DA0A0C3}"/>
              </a:ext>
            </a:extLst>
          </p:cNvPr>
          <p:cNvSpPr txBox="1"/>
          <p:nvPr/>
        </p:nvSpPr>
        <p:spPr>
          <a:xfrm>
            <a:off x="5851585" y="107830"/>
            <a:ext cx="6096000" cy="67403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inherit"/>
                <a:ea typeface="inherit"/>
                <a:cs typeface="inherit"/>
              </a:rPr>
              <a:t>I’ve been waiting a long time for the Prune Branch History tool to be released, and it’s finally here in ArcGIS Pro 3.5! This isn’t a tool that most customers will ever need to run, and those who do likely won’t need to run it often. But for those asking for a tool like this, just in case, it is here.</a:t>
            </a:r>
            <a:br>
              <a:rPr lang="en-US">
                <a:latin typeface="inherit"/>
                <a:ea typeface="inherit"/>
                <a:cs typeface="inherit"/>
              </a:rPr>
            </a:br>
            <a:br>
              <a:rPr lang="en-US">
                <a:latin typeface="inherit"/>
                <a:ea typeface="inherit"/>
                <a:cs typeface="inherit"/>
              </a:rPr>
            </a:br>
            <a:r>
              <a:rPr lang="en-US">
                <a:latin typeface="inherit"/>
                <a:ea typeface="inherit"/>
                <a:cs typeface="inherit"/>
              </a:rPr>
              <a:t>Before running the tool, you need to read the help topic that talks about branch history and why you may or may not want to prune history here, and what you stand to gain and lose: </a:t>
            </a:r>
            <a:r>
              <a:rPr lang="en-US" b="1" u="none" strike="noStrike">
                <a:solidFill>
                  <a:srgbClr val="0A66C2"/>
                </a:solidFill>
                <a:latin typeface="inherit"/>
                <a:ea typeface="inherit"/>
                <a:cs typeface="inherit"/>
                <a:hlinkClick r:id="rId2"/>
              </a:rPr>
              <a:t>https://lnkd.in/gmY8eRaK</a:t>
            </a:r>
            <a:br>
              <a:rPr lang="en-US">
                <a:latin typeface="inherit"/>
                <a:ea typeface="inherit"/>
                <a:cs typeface="inherit"/>
              </a:rPr>
            </a:br>
            <a:br>
              <a:rPr lang="en-US">
                <a:latin typeface="inherit"/>
                <a:ea typeface="inherit"/>
                <a:cs typeface="inherit"/>
              </a:rPr>
            </a:br>
            <a:r>
              <a:rPr lang="en-US">
                <a:latin typeface="inherit"/>
                <a:ea typeface="inherit"/>
                <a:cs typeface="inherit"/>
              </a:rPr>
              <a:t>You will also need to learn about the concept of referenced moments here: </a:t>
            </a:r>
            <a:r>
              <a:rPr lang="en-US" b="1" u="none" strike="noStrike">
                <a:solidFill>
                  <a:srgbClr val="0A66C2"/>
                </a:solidFill>
                <a:latin typeface="inherit"/>
                <a:ea typeface="inherit"/>
                <a:cs typeface="inherit"/>
                <a:hlinkClick r:id="rId3"/>
              </a:rPr>
              <a:t>https://lnkd.in/g9hgmKGx</a:t>
            </a:r>
            <a:br>
              <a:rPr lang="en-US">
                <a:latin typeface="inherit"/>
                <a:ea typeface="inherit"/>
                <a:cs typeface="inherit"/>
              </a:rPr>
            </a:br>
            <a:br>
              <a:rPr lang="en-US">
                <a:latin typeface="inherit"/>
                <a:ea typeface="inherit"/>
                <a:cs typeface="inherit"/>
              </a:rPr>
            </a:br>
            <a:r>
              <a:rPr lang="en-US">
                <a:latin typeface="inherit"/>
                <a:ea typeface="inherit"/>
                <a:cs typeface="inherit"/>
              </a:rPr>
              <a:t>You can find the documentation for the tool here: </a:t>
            </a:r>
            <a:r>
              <a:rPr lang="en-US" b="1" u="none" strike="noStrike">
                <a:solidFill>
                  <a:srgbClr val="0A66C2"/>
                </a:solidFill>
                <a:latin typeface="inherit"/>
                <a:ea typeface="inherit"/>
                <a:cs typeface="inherit"/>
                <a:hlinkClick r:id="rId4"/>
              </a:rPr>
              <a:t>https://lnkd.in/gES_VQ9y</a:t>
            </a:r>
            <a:br>
              <a:rPr lang="en-US">
                <a:latin typeface="inherit"/>
                <a:ea typeface="inherit"/>
                <a:cs typeface="inherit"/>
              </a:rPr>
            </a:br>
            <a:br>
              <a:rPr lang="en-US">
                <a:latin typeface="inherit"/>
                <a:ea typeface="inherit"/>
                <a:cs typeface="inherit"/>
              </a:rPr>
            </a:br>
            <a:r>
              <a:rPr lang="en-US">
                <a:latin typeface="inherit"/>
                <a:ea typeface="inherit"/>
                <a:cs typeface="inherit"/>
              </a:rPr>
              <a:t>This tool is highlighted in the ArcGIS Pro release notes: </a:t>
            </a:r>
            <a:r>
              <a:rPr lang="en-US" b="1" u="none" strike="noStrike">
                <a:solidFill>
                  <a:srgbClr val="0A66C2"/>
                </a:solidFill>
                <a:latin typeface="inherit"/>
                <a:ea typeface="inherit"/>
                <a:cs typeface="inherit"/>
                <a:hlinkClick r:id="rId5"/>
              </a:rPr>
              <a:t>https://lnkd.in/ghZ6WAtx</a:t>
            </a:r>
            <a:br>
              <a:rPr lang="en-US">
                <a:latin typeface="inherit"/>
                <a:ea typeface="inherit"/>
                <a:cs typeface="inherit"/>
              </a:rPr>
            </a:br>
            <a:br>
              <a:rPr lang="en-US">
                <a:latin typeface="inherit"/>
                <a:ea typeface="inherit"/>
                <a:cs typeface="inherit"/>
              </a:rPr>
            </a:br>
            <a:r>
              <a:rPr lang="en-US">
                <a:latin typeface="inherit"/>
                <a:ea typeface="inherit"/>
                <a:cs typeface="inherit"/>
              </a:rPr>
              <a:t>You can read the full release notes for ArcGIS Pro 3.5 here: </a:t>
            </a:r>
            <a:r>
              <a:rPr lang="en-US" b="1" u="none" strike="noStrike">
                <a:solidFill>
                  <a:srgbClr val="0A66C2"/>
                </a:solidFill>
                <a:latin typeface="inherit"/>
                <a:ea typeface="inherit"/>
                <a:cs typeface="inherit"/>
                <a:hlinkClick r:id="rId6"/>
              </a:rPr>
              <a:t>https://lnkd.in/gAvj3QK7</a:t>
            </a:r>
          </a:p>
          <a:p>
            <a:endParaRPr lang="en-US">
              <a:latin typeface="system-ui"/>
              <a:ea typeface="system-ui"/>
              <a:cs typeface="system-ui"/>
            </a:endParaRPr>
          </a:p>
          <a:p>
            <a:pPr algn="ctr"/>
            <a:endParaRPr lang="pt-BR"/>
          </a:p>
        </p:txBody>
      </p:sp>
      <p:pic>
        <p:nvPicPr>
          <p:cNvPr id="5" name="Imagem 4" descr="Ver imagem">
            <a:extLst>
              <a:ext uri="{FF2B5EF4-FFF2-40B4-BE49-F238E27FC236}">
                <a16:creationId xmlns:a16="http://schemas.microsoft.com/office/drawing/2014/main" id="{849BB131-28D7-B29E-F1FA-AFAC5D75FA66}"/>
              </a:ext>
            </a:extLst>
          </p:cNvPr>
          <p:cNvPicPr>
            <a:picLocks noChangeAspect="1"/>
          </p:cNvPicPr>
          <p:nvPr/>
        </p:nvPicPr>
        <p:blipFill>
          <a:blip r:embed="rId7"/>
          <a:stretch>
            <a:fillRect/>
          </a:stretch>
        </p:blipFill>
        <p:spPr>
          <a:xfrm>
            <a:off x="646981" y="341462"/>
            <a:ext cx="4572000" cy="3903453"/>
          </a:xfrm>
          <a:prstGeom prst="rect">
            <a:avLst/>
          </a:prstGeom>
        </p:spPr>
      </p:pic>
      <p:sp>
        <p:nvSpPr>
          <p:cNvPr id="6" name="CaixaDeTexto 5">
            <a:extLst>
              <a:ext uri="{FF2B5EF4-FFF2-40B4-BE49-F238E27FC236}">
                <a16:creationId xmlns:a16="http://schemas.microsoft.com/office/drawing/2014/main" id="{4747C3BA-F301-18FF-F8E0-E227810AC6F7}"/>
              </a:ext>
            </a:extLst>
          </p:cNvPr>
          <p:cNvSpPr txBox="1"/>
          <p:nvPr/>
        </p:nvSpPr>
        <p:spPr>
          <a:xfrm>
            <a:off x="891396" y="4536056"/>
            <a:ext cx="3810000"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https://www.linkedin.com/posts/robert-krisher-5a989438_ive-been-waiting-a-long-time-for-the-prune-share-7332386424878514177-OZ_q?utm_source=share&amp;utm_medium=member_desktop&amp;rcm=ACoAAAMQtAUB5UouXqdBJgo_gWpNVZ7Imay_2Tg</a:t>
            </a:r>
          </a:p>
          <a:p>
            <a:pPr algn="ctr"/>
            <a:endParaRPr lang="pt-BR"/>
          </a:p>
        </p:txBody>
      </p:sp>
    </p:spTree>
    <p:extLst>
      <p:ext uri="{BB962C8B-B14F-4D97-AF65-F5344CB8AC3E}">
        <p14:creationId xmlns:p14="http://schemas.microsoft.com/office/powerpoint/2010/main" val="2255633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4E6D4670-C59F-153B-8927-F8630A03A9E9}"/>
              </a:ext>
            </a:extLst>
          </p:cNvPr>
          <p:cNvSpPr txBox="1"/>
          <p:nvPr/>
        </p:nvSpPr>
        <p:spPr>
          <a:xfrm>
            <a:off x="1250830" y="381000"/>
            <a:ext cx="6096000"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I had several discussions with customers last week who were seeking ways to push the limits of analysis in their utility networks. Thinking along those lines, we published a developer's sample that includes 16 different examples of ways you can extend your utility network through batch tracing. </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You can find the Batch Tracing CoreHost developer's sample here: </a:t>
            </a:r>
            <a:r>
              <a:rPr lang="en-US" b="1">
                <a:solidFill>
                  <a:srgbClr val="0A66C2"/>
                </a:solidFill>
                <a:latin typeface="-apple-system"/>
                <a:ea typeface="-apple-system"/>
                <a:cs typeface="-apple-system"/>
                <a:hlinkClick r:id="rId2"/>
              </a:rPr>
              <a:t>https://lnkd.in/gyH3ue5r</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Most of the use cases included with the tool are based on discussions with customers and partners who sought to solve a problem with their utility network. This includes examples of risk management, exporting customer connectivity, and even doing quality assurance on pressure zones. The tool includes 16 sample configurations for 16 different use cases that were each built and tested against utility network foundations.</a:t>
            </a:r>
            <a:endParaRPr lang="en-US"/>
          </a:p>
          <a:p>
            <a:pPr algn="ctr"/>
            <a:endParaRPr lang="pt-BR"/>
          </a:p>
        </p:txBody>
      </p:sp>
      <p:sp>
        <p:nvSpPr>
          <p:cNvPr id="5" name="CaixaDeTexto 4">
            <a:extLst>
              <a:ext uri="{FF2B5EF4-FFF2-40B4-BE49-F238E27FC236}">
                <a16:creationId xmlns:a16="http://schemas.microsoft.com/office/drawing/2014/main" id="{AA2C5580-330D-4DA6-D320-E63B127E83F8}"/>
              </a:ext>
            </a:extLst>
          </p:cNvPr>
          <p:cNvSpPr txBox="1"/>
          <p:nvPr/>
        </p:nvSpPr>
        <p:spPr>
          <a:xfrm>
            <a:off x="5822830" y="5312434"/>
            <a:ext cx="609600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Link: https://www.linkedin.com/posts/robert-krisher-5a989438_i-had-several-discussions-with-customers-activity-7376246666317914112-vJpP?utm_source=share&amp;utm_medium=member_desktop&amp;rcm=ACoAAAMQtAUB5UouXqdBJgo_gWpNVZ7Imay_2Tg</a:t>
            </a:r>
          </a:p>
          <a:p>
            <a:pPr algn="ctr"/>
            <a:endParaRPr lang="pt-BR"/>
          </a:p>
        </p:txBody>
      </p:sp>
    </p:spTree>
    <p:extLst>
      <p:ext uri="{BB962C8B-B14F-4D97-AF65-F5344CB8AC3E}">
        <p14:creationId xmlns:p14="http://schemas.microsoft.com/office/powerpoint/2010/main" val="16869747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0EFAFB77-1AEF-D2CF-CF3E-72232CD2252B}"/>
              </a:ext>
            </a:extLst>
          </p:cNvPr>
          <p:cNvSpPr txBox="1"/>
          <p:nvPr/>
        </p:nvSpPr>
        <p:spPr>
          <a:xfrm>
            <a:off x="5405887" y="222849"/>
            <a:ext cx="6096000" cy="61863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system-ui"/>
                <a:ea typeface="system-ui"/>
                <a:cs typeface="system-ui"/>
              </a:rPr>
              <a:t>Durante a </a:t>
            </a:r>
            <a:r>
              <a:rPr lang="en-US" b="1" u="none" strike="noStrike">
                <a:solidFill>
                  <a:srgbClr val="0A66C2"/>
                </a:solidFill>
                <a:latin typeface="inherit"/>
                <a:ea typeface="inherit"/>
                <a:cs typeface="inherit"/>
                <a:hlinkClick r:id="rId2"/>
              </a:rPr>
              <a:t>Esri</a:t>
            </a:r>
            <a:r>
              <a:rPr lang="en-US">
                <a:latin typeface="system-ui"/>
                <a:ea typeface="system-ui"/>
                <a:cs typeface="system-ui"/>
              </a:rPr>
              <a:t> User Conference 2025, tivemos o prazer de reencontrar nossos parceiros da </a:t>
            </a:r>
            <a:r>
              <a:rPr lang="en-US" b="1" u="none" strike="noStrike">
                <a:solidFill>
                  <a:srgbClr val="0A66C2"/>
                </a:solidFill>
                <a:latin typeface="inherit"/>
                <a:ea typeface="inherit"/>
                <a:cs typeface="inherit"/>
                <a:hlinkClick r:id="rId3"/>
              </a:rPr>
              <a:t>HERE Technologies</a:t>
            </a:r>
            <a:r>
              <a:rPr lang="en-US">
                <a:latin typeface="system-ui"/>
                <a:ea typeface="system-ui"/>
                <a:cs typeface="system-ui"/>
              </a:rPr>
              <a:t> e </a:t>
            </a:r>
            <a:r>
              <a:rPr lang="en-US" b="1" u="none" strike="noStrike">
                <a:solidFill>
                  <a:srgbClr val="0A66C2"/>
                </a:solidFill>
                <a:latin typeface="inherit"/>
                <a:ea typeface="inherit"/>
                <a:cs typeface="inherit"/>
                <a:hlinkClick r:id="rId4"/>
              </a:rPr>
              <a:t>Near Location</a:t>
            </a:r>
            <a:r>
              <a:rPr lang="en-US">
                <a:latin typeface="system-ui"/>
                <a:ea typeface="system-ui"/>
                <a:cs typeface="system-ui"/>
              </a:rPr>
              <a:t>, uma parceria sólida que se fortalece a cada projeto e conversa.</a:t>
            </a:r>
            <a:br>
              <a:rPr lang="en-US"/>
            </a:br>
            <a:br>
              <a:rPr lang="en-US"/>
            </a:br>
            <a:r>
              <a:rPr lang="en-US">
                <a:latin typeface="system-ui"/>
                <a:ea typeface="system-ui"/>
                <a:cs typeface="system-ui"/>
              </a:rPr>
              <a:t>Ao longo do evento, estivemos juntos em diversas trocas estratégicas, compartilhando ideias, desafios e visões sobre o futuro da inteligência geoespacial. Essa proximidade é essencial para que possamos continuar entregando soluções para clientes no mundo inteiro. </a:t>
            </a:r>
            <a:br>
              <a:rPr lang="en-US"/>
            </a:br>
            <a:br>
              <a:rPr lang="en-US"/>
            </a:br>
            <a:r>
              <a:rPr lang="en-US">
                <a:latin typeface="system-ui"/>
                <a:ea typeface="system-ui"/>
                <a:cs typeface="system-ui"/>
              </a:rPr>
              <a:t>Um dos destaques foi o lançamento do novo produto da HERE: o GIS Data Suite, pensado especialmente para usuários do ArcGIS Pro. A novidade oferece acesso a dados com conteúdo premium, em formato file geodatabase, com quatro atualizações por ano, uma solução prática, atualizada e com alto valor agregado para análises espaciais.</a:t>
            </a:r>
            <a:br>
              <a:rPr lang="en-US"/>
            </a:br>
            <a:br>
              <a:rPr lang="en-US"/>
            </a:br>
            <a:r>
              <a:rPr lang="en-US">
                <a:latin typeface="system-ui"/>
                <a:ea typeface="system-ui"/>
                <a:cs typeface="system-ui"/>
              </a:rPr>
              <a:t>A Zukk tem orgulho de contar com parceiros que, como nós, acreditam no poder dos dados de localização para transformar operações, territórios e decisões</a:t>
            </a:r>
            <a:endParaRPr lang="en-US"/>
          </a:p>
          <a:p>
            <a:pPr algn="ctr"/>
            <a:endParaRPr lang="pt-BR"/>
          </a:p>
        </p:txBody>
      </p:sp>
      <p:pic>
        <p:nvPicPr>
          <p:cNvPr id="5" name="Imagem 4" descr="Grupo de pessoas em um evento&#10;&#10;O conteúdo gerado por IA pode estar incorreto.">
            <a:extLst>
              <a:ext uri="{FF2B5EF4-FFF2-40B4-BE49-F238E27FC236}">
                <a16:creationId xmlns:a16="http://schemas.microsoft.com/office/drawing/2014/main" id="{E72A94E9-05D1-3C82-5F2C-09B307055124}"/>
              </a:ext>
            </a:extLst>
          </p:cNvPr>
          <p:cNvPicPr>
            <a:picLocks noChangeAspect="1"/>
          </p:cNvPicPr>
          <p:nvPr/>
        </p:nvPicPr>
        <p:blipFill>
          <a:blip r:embed="rId5"/>
          <a:stretch>
            <a:fillRect/>
          </a:stretch>
        </p:blipFill>
        <p:spPr>
          <a:xfrm>
            <a:off x="537982" y="769278"/>
            <a:ext cx="4473695" cy="4154877"/>
          </a:xfrm>
          <a:prstGeom prst="rect">
            <a:avLst/>
          </a:prstGeom>
        </p:spPr>
      </p:pic>
      <p:sp>
        <p:nvSpPr>
          <p:cNvPr id="6" name="CaixaDeTexto 5">
            <a:extLst>
              <a:ext uri="{FF2B5EF4-FFF2-40B4-BE49-F238E27FC236}">
                <a16:creationId xmlns:a16="http://schemas.microsoft.com/office/drawing/2014/main" id="{742749A0-EE5C-CF91-7A2B-3145B5FABE1C}"/>
              </a:ext>
            </a:extLst>
          </p:cNvPr>
          <p:cNvSpPr txBox="1"/>
          <p:nvPr/>
        </p:nvSpPr>
        <p:spPr>
          <a:xfrm>
            <a:off x="172528" y="5096775"/>
            <a:ext cx="4845171"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err="1"/>
              <a:t>Link:https</a:t>
            </a:r>
            <a:r>
              <a:rPr lang="en-US" sz="1600"/>
              <a:t>://www.linkedin.com/posts/zukk-esri-here-ugcPost-7352040960144330752-uCIp?utm_source=share&amp;utm_medium=member_desktop&amp;rcm=ACoAAAMQtAUB5UouXqdBJgo_gWpNVZ7Imay_2Tg</a:t>
            </a:r>
          </a:p>
          <a:p>
            <a:pPr algn="ctr"/>
            <a:endParaRPr lang="pt-BR"/>
          </a:p>
        </p:txBody>
      </p:sp>
    </p:spTree>
    <p:extLst>
      <p:ext uri="{BB962C8B-B14F-4D97-AF65-F5344CB8AC3E}">
        <p14:creationId xmlns:p14="http://schemas.microsoft.com/office/powerpoint/2010/main" val="15166446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355D65E2-48B3-37E6-71B5-D26D6218D5D5}"/>
              </a:ext>
            </a:extLst>
          </p:cNvPr>
          <p:cNvSpPr txBox="1"/>
          <p:nvPr/>
        </p:nvSpPr>
        <p:spPr>
          <a:xfrm>
            <a:off x="5865962" y="1861868"/>
            <a:ext cx="6096000"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inherit"/>
                <a:ea typeface="inherit"/>
                <a:cs typeface="inherit"/>
              </a:rPr>
              <a:t>The article highlights the advanced capabilities of the ArcGIS Utility Network, particularly its ability to model real-world infrastructure and perform sophisticated tracing to support utility operations like FOG management and overflow prevention. With recent updates in ArcGIS Pro 3.3 and Utility Network version 7, users can now trace using digitized flow direction—enhancing accuracy and simplifying complex configurations.</a:t>
            </a:r>
          </a:p>
          <a:p>
            <a:endParaRPr lang="en-US">
              <a:latin typeface="system-ui"/>
              <a:ea typeface="system-ui"/>
              <a:cs typeface="system-ui"/>
            </a:endParaRPr>
          </a:p>
          <a:p>
            <a:pPr algn="ctr"/>
            <a:endParaRPr lang="pt-BR"/>
          </a:p>
        </p:txBody>
      </p:sp>
      <p:pic>
        <p:nvPicPr>
          <p:cNvPr id="5" name="Imagem 4" descr="From Modeling to Action: Leveraging ArcGIS Utility Network for Smarter Utility Operations">
            <a:extLst>
              <a:ext uri="{FF2B5EF4-FFF2-40B4-BE49-F238E27FC236}">
                <a16:creationId xmlns:a16="http://schemas.microsoft.com/office/drawing/2014/main" id="{49E4F941-F990-6A48-CF75-9F73464106BF}"/>
              </a:ext>
            </a:extLst>
          </p:cNvPr>
          <p:cNvPicPr>
            <a:picLocks noChangeAspect="1"/>
          </p:cNvPicPr>
          <p:nvPr/>
        </p:nvPicPr>
        <p:blipFill>
          <a:blip r:embed="rId2"/>
          <a:stretch>
            <a:fillRect/>
          </a:stretch>
        </p:blipFill>
        <p:spPr>
          <a:xfrm>
            <a:off x="980986" y="1011897"/>
            <a:ext cx="4579728" cy="4029075"/>
          </a:xfrm>
          <a:prstGeom prst="rect">
            <a:avLst/>
          </a:prstGeom>
        </p:spPr>
      </p:pic>
      <p:sp>
        <p:nvSpPr>
          <p:cNvPr id="6" name="CaixaDeTexto 5">
            <a:extLst>
              <a:ext uri="{FF2B5EF4-FFF2-40B4-BE49-F238E27FC236}">
                <a16:creationId xmlns:a16="http://schemas.microsoft.com/office/drawing/2014/main" id="{7E1ECAB0-74BD-B378-502D-077A55B92708}"/>
              </a:ext>
            </a:extLst>
          </p:cNvPr>
          <p:cNvSpPr txBox="1"/>
          <p:nvPr/>
        </p:nvSpPr>
        <p:spPr>
          <a:xfrm>
            <a:off x="531962" y="5211792"/>
            <a:ext cx="6096000" cy="13542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https://www.linkedin.com/posts/avtar-singh-36a7571b_the-article-highlights-the-advanced-capabilities-ugcPost-7355135574476775424-EvUx?utm_source=share&amp;utm_medium=member_desktop&amp;rcm=ACoAAAMQtAUB5UouXqdBJgo_gWpNVZ7Imay_2Tg</a:t>
            </a:r>
          </a:p>
          <a:p>
            <a:pPr algn="ctr"/>
            <a:endParaRPr lang="pt-BR"/>
          </a:p>
        </p:txBody>
      </p:sp>
    </p:spTree>
    <p:extLst>
      <p:ext uri="{BB962C8B-B14F-4D97-AF65-F5344CB8AC3E}">
        <p14:creationId xmlns:p14="http://schemas.microsoft.com/office/powerpoint/2010/main" val="20321406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09A21-9846-0D88-E655-2F6C41D3CEE0}"/>
            </a:ext>
          </a:extLst>
        </p:cNvPr>
        <p:cNvGrpSpPr/>
        <p:nvPr/>
      </p:nvGrpSpPr>
      <p:grpSpPr>
        <a:xfrm>
          <a:off x="0" y="0"/>
          <a:ext cx="0" cy="0"/>
          <a:chOff x="0" y="0"/>
          <a:chExt cx="0" cy="0"/>
        </a:xfrm>
      </p:grpSpPr>
      <p:sp>
        <p:nvSpPr>
          <p:cNvPr id="2" name="CaixaDeTexto 1">
            <a:extLst>
              <a:ext uri="{FF2B5EF4-FFF2-40B4-BE49-F238E27FC236}">
                <a16:creationId xmlns:a16="http://schemas.microsoft.com/office/drawing/2014/main" id="{7451C74D-05BB-7ED6-BB69-49F5C7B91373}"/>
              </a:ext>
            </a:extLst>
          </p:cNvPr>
          <p:cNvSpPr txBox="1"/>
          <p:nvPr/>
        </p:nvSpPr>
        <p:spPr>
          <a:xfrm>
            <a:off x="5492151" y="711680"/>
            <a:ext cx="6096000"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The topic of utility network data migration has been a big part of many conversations I've had this year with customers looking to move off ArcMap. While we've released numerous articles and videos on the topic, I'm excited to announce that we've finally released the first set of tutorials on the Migration toolset, covering everything you need to know to get started!</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Learn how to use the Utility Network Migration Wizard (</a:t>
            </a:r>
            <a:r>
              <a:rPr lang="en-US" b="1">
                <a:solidFill>
                  <a:srgbClr val="0A66C2"/>
                </a:solidFill>
                <a:latin typeface="-apple-system"/>
                <a:ea typeface="-apple-system"/>
                <a:cs typeface="-apple-system"/>
                <a:hlinkClick r:id="rId2"/>
              </a:rPr>
              <a:t>https://lnkd.in/g33QD6Fs</a:t>
            </a:r>
            <a:r>
              <a:rPr lang="en-US">
                <a:latin typeface="-apple-system"/>
                <a:ea typeface="-apple-system"/>
                <a:cs typeface="-apple-system"/>
              </a:rPr>
              <a:t>)</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Learn how to analyze and resolve topology errors (</a:t>
            </a:r>
            <a:r>
              <a:rPr lang="en-US" b="1">
                <a:solidFill>
                  <a:srgbClr val="0A66C2"/>
                </a:solidFill>
                <a:latin typeface="-apple-system"/>
                <a:ea typeface="-apple-system"/>
                <a:cs typeface="-apple-system"/>
                <a:hlinkClick r:id="rId3"/>
              </a:rPr>
              <a:t>https://lnkd.in/gh2jb9-J</a:t>
            </a:r>
            <a:r>
              <a:rPr lang="en-US">
                <a:latin typeface="-apple-system"/>
                <a:ea typeface="-apple-system"/>
                <a:cs typeface="-apple-system"/>
              </a:rPr>
              <a:t>)</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If you follow the instructions in both tutorials with your data, you'll end up creating a prototype utility network and identifying all the critical data quality issues that need to be addressed.</a:t>
            </a:r>
            <a:endParaRPr lang="en-US"/>
          </a:p>
          <a:p>
            <a:pPr algn="ctr"/>
            <a:endParaRPr lang="pt-BR"/>
          </a:p>
        </p:txBody>
      </p:sp>
      <p:pic>
        <p:nvPicPr>
          <p:cNvPr id="3" name="Imagem 2" descr="Uma imagem contendo homem, mesa, andando de, avião&#10;&#10;O conteúdo gerado por IA pode estar incorreto.">
            <a:extLst>
              <a:ext uri="{FF2B5EF4-FFF2-40B4-BE49-F238E27FC236}">
                <a16:creationId xmlns:a16="http://schemas.microsoft.com/office/drawing/2014/main" id="{898D4561-2ED0-A2E7-7732-439983628BA6}"/>
              </a:ext>
            </a:extLst>
          </p:cNvPr>
          <p:cNvPicPr>
            <a:picLocks noChangeAspect="1"/>
          </p:cNvPicPr>
          <p:nvPr/>
        </p:nvPicPr>
        <p:blipFill>
          <a:blip r:embed="rId4"/>
          <a:stretch>
            <a:fillRect/>
          </a:stretch>
        </p:blipFill>
        <p:spPr>
          <a:xfrm>
            <a:off x="660460" y="1192872"/>
            <a:ext cx="4286250" cy="2790106"/>
          </a:xfrm>
          <a:prstGeom prst="rect">
            <a:avLst/>
          </a:prstGeom>
        </p:spPr>
      </p:pic>
      <p:sp>
        <p:nvSpPr>
          <p:cNvPr id="6" name="CaixaDeTexto 5">
            <a:extLst>
              <a:ext uri="{FF2B5EF4-FFF2-40B4-BE49-F238E27FC236}">
                <a16:creationId xmlns:a16="http://schemas.microsoft.com/office/drawing/2014/main" id="{F96BA25F-36E6-9650-7E0B-543EBEA162F7}"/>
              </a:ext>
            </a:extLst>
          </p:cNvPr>
          <p:cNvSpPr txBox="1"/>
          <p:nvPr/>
        </p:nvSpPr>
        <p:spPr>
          <a:xfrm>
            <a:off x="517585" y="4536057"/>
            <a:ext cx="4557623" cy="18466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Link: https://www.linkedin.com/posts/robert-krisher-5a989438_utility-network-migration-wizard-walkthrough-activity-7358154194144415744-3PWJ?utm_source=share&amp;utm_medium=member_desktop&amp;rcm=ACoAAAMQtAUB5UouXqdBJgo_gWpNVZ7Imay_2Tg</a:t>
            </a:r>
            <a:endParaRPr lang="en-US" sz="1600">
              <a:ea typeface="Calibri"/>
              <a:cs typeface="Calibri"/>
            </a:endParaRPr>
          </a:p>
          <a:p>
            <a:pPr algn="ctr"/>
            <a:endParaRPr lang="pt-BR"/>
          </a:p>
        </p:txBody>
      </p:sp>
    </p:spTree>
    <p:extLst>
      <p:ext uri="{BB962C8B-B14F-4D97-AF65-F5344CB8AC3E}">
        <p14:creationId xmlns:p14="http://schemas.microsoft.com/office/powerpoint/2010/main" val="10070789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3197A9CE-51FE-ECF3-B69A-7330A04B8AE1}"/>
              </a:ext>
            </a:extLst>
          </p:cNvPr>
          <p:cNvSpPr txBox="1"/>
          <p:nvPr/>
        </p:nvSpPr>
        <p:spPr>
          <a:xfrm>
            <a:off x="5822830" y="1976887"/>
            <a:ext cx="6225396"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Check out the new article we just posted that shows how you can use functions when tracing a utility network to both calculate values and control your results: </a:t>
            </a:r>
            <a:r>
              <a:rPr lang="en-US" b="1">
                <a:solidFill>
                  <a:srgbClr val="0A66C2"/>
                </a:solidFill>
                <a:latin typeface="-apple-system"/>
                <a:ea typeface="-apple-system"/>
                <a:cs typeface="-apple-system"/>
                <a:hlinkClick r:id="rId2"/>
              </a:rPr>
              <a:t>https://lnkd.in/gRpmhKZP</a:t>
            </a:r>
            <a:r>
              <a:rPr lang="en-US">
                <a:latin typeface="-apple-system"/>
                <a:ea typeface="-apple-system"/>
                <a:cs typeface="-apple-system"/>
              </a:rPr>
              <a:t> . The use case at the heart of the article is using an OTDR (Optical Time-Domain Reflectometer) to locate a fault in a fiber network, but the concepts apply to all industries (electrical pipes, clogged pipes, leaks).</a:t>
            </a:r>
            <a:endParaRPr lang="en-US"/>
          </a:p>
          <a:p>
            <a:pPr algn="ctr"/>
            <a:endParaRPr lang="pt-BR"/>
          </a:p>
        </p:txBody>
      </p:sp>
      <p:pic>
        <p:nvPicPr>
          <p:cNvPr id="5" name="Imagem 4" descr="Interface gráfica do usuário, Texto, Aplicativo, Word&#10;&#10;O conteúdo gerado por IA pode estar incorreto.">
            <a:extLst>
              <a:ext uri="{FF2B5EF4-FFF2-40B4-BE49-F238E27FC236}">
                <a16:creationId xmlns:a16="http://schemas.microsoft.com/office/drawing/2014/main" id="{9D9DD404-9035-D518-011F-F6E5C78DEA78}"/>
              </a:ext>
            </a:extLst>
          </p:cNvPr>
          <p:cNvPicPr>
            <a:picLocks noChangeAspect="1"/>
          </p:cNvPicPr>
          <p:nvPr/>
        </p:nvPicPr>
        <p:blipFill>
          <a:blip r:embed="rId3"/>
          <a:stretch>
            <a:fillRect/>
          </a:stretch>
        </p:blipFill>
        <p:spPr>
          <a:xfrm>
            <a:off x="662796" y="1716387"/>
            <a:ext cx="5029200" cy="2533828"/>
          </a:xfrm>
          <a:prstGeom prst="rect">
            <a:avLst/>
          </a:prstGeom>
        </p:spPr>
      </p:pic>
      <p:sp>
        <p:nvSpPr>
          <p:cNvPr id="6" name="CaixaDeTexto 5">
            <a:extLst>
              <a:ext uri="{FF2B5EF4-FFF2-40B4-BE49-F238E27FC236}">
                <a16:creationId xmlns:a16="http://schemas.microsoft.com/office/drawing/2014/main" id="{4EB66150-4341-2B2A-E09C-DAF6EC6D6541}"/>
              </a:ext>
            </a:extLst>
          </p:cNvPr>
          <p:cNvSpPr txBox="1"/>
          <p:nvPr/>
        </p:nvSpPr>
        <p:spPr>
          <a:xfrm>
            <a:off x="531962" y="4766094"/>
            <a:ext cx="5290868"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Link: https://www.linkedin.com/posts/robert-krisher-5a989438_going-the-distance-with-tracing-activity-7370815427201073152-HLOv?utm_source=share&amp;utm_medium=member_desktop&amp;rcm=ACoAAAMQtAUB5UouXqdBJgo_gWpNVZ7Imay_2Tg</a:t>
            </a:r>
          </a:p>
          <a:p>
            <a:pPr algn="ctr"/>
            <a:endParaRPr lang="pt-BR"/>
          </a:p>
        </p:txBody>
      </p:sp>
    </p:spTree>
    <p:extLst>
      <p:ext uri="{BB962C8B-B14F-4D97-AF65-F5344CB8AC3E}">
        <p14:creationId xmlns:p14="http://schemas.microsoft.com/office/powerpoint/2010/main" val="29715039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m 3">
            <a:extLst>
              <a:ext uri="{FF2B5EF4-FFF2-40B4-BE49-F238E27FC236}">
                <a16:creationId xmlns:a16="http://schemas.microsoft.com/office/drawing/2014/main" id="{70AF04C5-4479-4237-B9CE-F039C00340E3}"/>
              </a:ext>
            </a:extLst>
          </p:cNvPr>
          <p:cNvPicPr>
            <a:picLocks noChangeAspect="1"/>
          </p:cNvPicPr>
          <p:nvPr/>
        </p:nvPicPr>
        <p:blipFill>
          <a:blip r:embed="rId2"/>
          <a:stretch>
            <a:fillRect/>
          </a:stretch>
        </p:blipFill>
        <p:spPr>
          <a:xfrm>
            <a:off x="541833" y="654341"/>
            <a:ext cx="4156352" cy="4118907"/>
          </a:xfrm>
          <a:prstGeom prst="rect">
            <a:avLst/>
          </a:prstGeom>
        </p:spPr>
      </p:pic>
      <p:sp>
        <p:nvSpPr>
          <p:cNvPr id="5" name="Retângulo 4">
            <a:extLst>
              <a:ext uri="{FF2B5EF4-FFF2-40B4-BE49-F238E27FC236}">
                <a16:creationId xmlns:a16="http://schemas.microsoft.com/office/drawing/2014/main" id="{D463C5FB-8CD7-4151-895B-C7AA4E862EF6}"/>
              </a:ext>
            </a:extLst>
          </p:cNvPr>
          <p:cNvSpPr/>
          <p:nvPr/>
        </p:nvSpPr>
        <p:spPr>
          <a:xfrm>
            <a:off x="5876898" y="912195"/>
            <a:ext cx="4448141" cy="369332"/>
          </a:xfrm>
          <a:prstGeom prst="rect">
            <a:avLst/>
          </a:prstGeom>
        </p:spPr>
        <p:txBody>
          <a:bodyPr wrap="none">
            <a:spAutoFit/>
          </a:bodyPr>
          <a:lstStyle/>
          <a:p>
            <a:r>
              <a:rPr lang="pt-BR"/>
              <a:t>https://sites.research.google/open-buildings/</a:t>
            </a:r>
          </a:p>
        </p:txBody>
      </p:sp>
      <p:sp>
        <p:nvSpPr>
          <p:cNvPr id="6" name="Retângulo 5">
            <a:extLst>
              <a:ext uri="{FF2B5EF4-FFF2-40B4-BE49-F238E27FC236}">
                <a16:creationId xmlns:a16="http://schemas.microsoft.com/office/drawing/2014/main" id="{5035030F-D2D3-440E-8ED4-C36F94B1C34D}"/>
              </a:ext>
            </a:extLst>
          </p:cNvPr>
          <p:cNvSpPr/>
          <p:nvPr/>
        </p:nvSpPr>
        <p:spPr>
          <a:xfrm>
            <a:off x="5700729" y="4821357"/>
            <a:ext cx="5663153" cy="369332"/>
          </a:xfrm>
          <a:prstGeom prst="rect">
            <a:avLst/>
          </a:prstGeom>
        </p:spPr>
        <p:txBody>
          <a:bodyPr wrap="none">
            <a:spAutoFit/>
          </a:bodyPr>
          <a:lstStyle/>
          <a:p>
            <a:r>
              <a:rPr lang="pt-BR"/>
              <a:t>https://github.com/microsoft/GlobalMLBuildingFootprints</a:t>
            </a:r>
          </a:p>
        </p:txBody>
      </p:sp>
      <p:sp>
        <p:nvSpPr>
          <p:cNvPr id="7" name="Retângulo 6">
            <a:extLst>
              <a:ext uri="{FF2B5EF4-FFF2-40B4-BE49-F238E27FC236}">
                <a16:creationId xmlns:a16="http://schemas.microsoft.com/office/drawing/2014/main" id="{6C53AA09-3218-495B-8F9F-B32CD7275AD1}"/>
              </a:ext>
            </a:extLst>
          </p:cNvPr>
          <p:cNvSpPr/>
          <p:nvPr/>
        </p:nvSpPr>
        <p:spPr>
          <a:xfrm>
            <a:off x="6233195" y="1482646"/>
            <a:ext cx="5614679" cy="369332"/>
          </a:xfrm>
          <a:prstGeom prst="rect">
            <a:avLst/>
          </a:prstGeom>
        </p:spPr>
        <p:txBody>
          <a:bodyPr wrap="none">
            <a:spAutoFit/>
          </a:bodyPr>
          <a:lstStyle/>
          <a:p>
            <a:r>
              <a:rPr lang="pt-BR"/>
              <a:t>https://sites.research.google/open-buildings/#dataformat</a:t>
            </a:r>
          </a:p>
        </p:txBody>
      </p:sp>
      <p:sp>
        <p:nvSpPr>
          <p:cNvPr id="8" name="CaixaDeTexto 7">
            <a:extLst>
              <a:ext uri="{FF2B5EF4-FFF2-40B4-BE49-F238E27FC236}">
                <a16:creationId xmlns:a16="http://schemas.microsoft.com/office/drawing/2014/main" id="{A3A64AD0-AA97-4BE6-8593-C6AF11A4B99E}"/>
              </a:ext>
            </a:extLst>
          </p:cNvPr>
          <p:cNvSpPr txBox="1"/>
          <p:nvPr/>
        </p:nvSpPr>
        <p:spPr>
          <a:xfrm>
            <a:off x="5998128" y="2027842"/>
            <a:ext cx="4865615" cy="923330"/>
          </a:xfrm>
          <a:prstGeom prst="rect">
            <a:avLst/>
          </a:prstGeom>
          <a:noFill/>
        </p:spPr>
        <p:txBody>
          <a:bodyPr wrap="square" rtlCol="0">
            <a:spAutoFit/>
          </a:bodyPr>
          <a:lstStyle/>
          <a:p>
            <a:r>
              <a:rPr lang="pt-BR"/>
              <a:t>Material bem ruim, </a:t>
            </a:r>
            <a:r>
              <a:rPr lang="pt-BR" err="1"/>
              <a:t>so</a:t>
            </a:r>
            <a:r>
              <a:rPr lang="pt-BR"/>
              <a:t> serve em padrão americano (telhado vermelho, jardim entorno)</a:t>
            </a:r>
          </a:p>
          <a:p>
            <a:r>
              <a:rPr lang="pt-BR"/>
              <a:t>Precisa estudar como usar o download</a:t>
            </a:r>
          </a:p>
        </p:txBody>
      </p:sp>
    </p:spTree>
    <p:extLst>
      <p:ext uri="{BB962C8B-B14F-4D97-AF65-F5344CB8AC3E}">
        <p14:creationId xmlns:p14="http://schemas.microsoft.com/office/powerpoint/2010/main" val="6061741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7ABAEFAD-8C46-BD99-65DC-EDFB1D1C8DAD}"/>
              </a:ext>
            </a:extLst>
          </p:cNvPr>
          <p:cNvSpPr txBox="1"/>
          <p:nvPr/>
        </p:nvSpPr>
        <p:spPr>
          <a:xfrm>
            <a:off x="5750943" y="1099868"/>
            <a:ext cx="6096000"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After having quite a few discussions around the techniques that our customers are using to model proposed construction across the entire design, construction, and commissioning process, I decided to publish an article that deep dives exactly how you can configure this: </a:t>
            </a:r>
            <a:r>
              <a:rPr lang="en-US" b="1">
                <a:solidFill>
                  <a:srgbClr val="0A66C2"/>
                </a:solidFill>
                <a:latin typeface="-apple-system"/>
                <a:ea typeface="-apple-system"/>
                <a:cs typeface="-apple-system"/>
                <a:hlinkClick r:id="rId2"/>
              </a:rPr>
              <a:t>https://lnkd.in/gRQ2gr5e</a:t>
            </a:r>
            <a:r>
              <a:rPr lang="en-US">
                <a:latin typeface="-apple-system"/>
                <a:ea typeface="-apple-system"/>
                <a:cs typeface="-apple-system"/>
              </a:rPr>
              <a:t>.</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I had previously outlined this approach in an article from 2022 (one of the first articles I ever published at Esri), but that article was focused on the data modeling requirements.</a:t>
            </a:r>
            <a:endParaRPr lang="en-US"/>
          </a:p>
          <a:p>
            <a:pPr algn="ctr"/>
            <a:endParaRPr lang="pt-BR"/>
          </a:p>
        </p:txBody>
      </p:sp>
      <p:pic>
        <p:nvPicPr>
          <p:cNvPr id="5" name="Imagem 4">
            <a:extLst>
              <a:ext uri="{FF2B5EF4-FFF2-40B4-BE49-F238E27FC236}">
                <a16:creationId xmlns:a16="http://schemas.microsoft.com/office/drawing/2014/main" id="{C15773E9-3CC5-0485-FDEA-804E9C31E94B}"/>
              </a:ext>
            </a:extLst>
          </p:cNvPr>
          <p:cNvPicPr>
            <a:picLocks noChangeAspect="1"/>
          </p:cNvPicPr>
          <p:nvPr/>
        </p:nvPicPr>
        <p:blipFill>
          <a:blip r:embed="rId3"/>
          <a:stretch>
            <a:fillRect/>
          </a:stretch>
        </p:blipFill>
        <p:spPr>
          <a:xfrm>
            <a:off x="789406" y="962025"/>
            <a:ext cx="4143375" cy="4933950"/>
          </a:xfrm>
          <a:prstGeom prst="rect">
            <a:avLst/>
          </a:prstGeom>
        </p:spPr>
      </p:pic>
      <p:sp>
        <p:nvSpPr>
          <p:cNvPr id="6" name="CaixaDeTexto 5">
            <a:extLst>
              <a:ext uri="{FF2B5EF4-FFF2-40B4-BE49-F238E27FC236}">
                <a16:creationId xmlns:a16="http://schemas.microsoft.com/office/drawing/2014/main" id="{5DCCA04A-4195-D6C6-2075-883F50466F08}"/>
              </a:ext>
            </a:extLst>
          </p:cNvPr>
          <p:cNvSpPr txBox="1"/>
          <p:nvPr/>
        </p:nvSpPr>
        <p:spPr>
          <a:xfrm>
            <a:off x="5894717" y="5096774"/>
            <a:ext cx="5952226"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Link: https://www.linkedin.com/posts/robert-krisher-5a989438_hidden-secrets-of-the-utility-network-activity-7425536091555934208-lEQh?utm_source=share&amp;utm_medium=member_desktop&amp;rcm=ACoAAAMQtAUB5UouXqdBJgo_gWpNVZ7Imay_2Tg</a:t>
            </a:r>
          </a:p>
          <a:p>
            <a:pPr algn="ctr"/>
            <a:endParaRPr lang="pt-BR"/>
          </a:p>
        </p:txBody>
      </p:sp>
    </p:spTree>
    <p:extLst>
      <p:ext uri="{BB962C8B-B14F-4D97-AF65-F5344CB8AC3E}">
        <p14:creationId xmlns:p14="http://schemas.microsoft.com/office/powerpoint/2010/main" val="30413726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D921E53E-2B65-C66C-CDE0-73686E35EB70}"/>
              </a:ext>
            </a:extLst>
          </p:cNvPr>
          <p:cNvSpPr txBox="1"/>
          <p:nvPr/>
        </p:nvSpPr>
        <p:spPr>
          <a:xfrm>
            <a:off x="5894717" y="711679"/>
            <a:ext cx="6096000"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We put all our ArcGIS Utility Network data migration learning materials into one list. Start from the beginning, or jump into a learning resource for where you currently are in your migration journey. Apply these lessons to your industry-specific workflows.</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Check out the reading list on ArcGIS Blog ⬇️: </a:t>
            </a:r>
            <a:r>
              <a:rPr lang="en-US" b="1">
                <a:solidFill>
                  <a:srgbClr val="0A66C2"/>
                </a:solidFill>
                <a:latin typeface="-apple-system"/>
                <a:ea typeface="-apple-system"/>
                <a:cs typeface="-apple-system"/>
                <a:hlinkClick r:id="rId2"/>
              </a:rPr>
              <a:t>https://ow.ly/hy4k50Xgc3Q</a:t>
            </a:r>
            <a:br>
              <a:rPr lang="en-US">
                <a:latin typeface="-apple-system"/>
                <a:ea typeface="-apple-system"/>
                <a:cs typeface="-apple-system"/>
              </a:rPr>
            </a:br>
            <a:br>
              <a:rPr lang="en-US">
                <a:latin typeface="-apple-system"/>
                <a:ea typeface="-apple-system"/>
                <a:cs typeface="-apple-system"/>
              </a:rPr>
            </a:br>
            <a:r>
              <a:rPr lang="en-US" b="1">
                <a:solidFill>
                  <a:srgbClr val="0A66C2"/>
                </a:solidFill>
                <a:latin typeface="-apple-system"/>
                <a:ea typeface="-apple-system"/>
                <a:cs typeface="-apple-system"/>
                <a:hlinkClick r:id="rId3"/>
              </a:rPr>
              <a:t>hashtag#ArcGIS</a:t>
            </a:r>
            <a:r>
              <a:rPr lang="en-US">
                <a:latin typeface="-apple-system"/>
                <a:ea typeface="-apple-system"/>
                <a:cs typeface="-apple-system"/>
              </a:rPr>
              <a:t> </a:t>
            </a:r>
            <a:r>
              <a:rPr lang="en-US" b="1">
                <a:solidFill>
                  <a:srgbClr val="0A66C2"/>
                </a:solidFill>
                <a:latin typeface="-apple-system"/>
                <a:ea typeface="-apple-system"/>
                <a:cs typeface="-apple-system"/>
                <a:hlinkClick r:id="rId4"/>
              </a:rPr>
              <a:t>hashtag#Utilities</a:t>
            </a:r>
            <a:r>
              <a:rPr lang="en-US">
                <a:latin typeface="-apple-system"/>
                <a:ea typeface="-apple-system"/>
                <a:cs typeface="-apple-system"/>
              </a:rPr>
              <a:t> </a:t>
            </a:r>
            <a:r>
              <a:rPr lang="en-US" b="1">
                <a:solidFill>
                  <a:srgbClr val="0A66C2"/>
                </a:solidFill>
                <a:latin typeface="-apple-system"/>
                <a:ea typeface="-apple-system"/>
                <a:cs typeface="-apple-system"/>
                <a:hlinkClick r:id="rId5"/>
              </a:rPr>
              <a:t>hashtag#Telecom</a:t>
            </a:r>
            <a:r>
              <a:rPr lang="en-US">
                <a:latin typeface="-apple-system"/>
                <a:ea typeface="-apple-system"/>
                <a:cs typeface="-apple-system"/>
              </a:rPr>
              <a:t> </a:t>
            </a:r>
            <a:r>
              <a:rPr lang="en-US" b="1">
                <a:solidFill>
                  <a:srgbClr val="0A66C2"/>
                </a:solidFill>
                <a:latin typeface="-apple-system"/>
                <a:ea typeface="-apple-system"/>
                <a:cs typeface="-apple-system"/>
                <a:hlinkClick r:id="rId6"/>
              </a:rPr>
              <a:t>hashtag#ArcGISUtilityNetwork</a:t>
            </a:r>
            <a:r>
              <a:rPr lang="en-US">
                <a:latin typeface="-apple-system"/>
                <a:ea typeface="-apple-system"/>
                <a:cs typeface="-apple-system"/>
              </a:rPr>
              <a:t> </a:t>
            </a:r>
            <a:r>
              <a:rPr lang="en-US" b="1">
                <a:solidFill>
                  <a:srgbClr val="0A66C2"/>
                </a:solidFill>
                <a:latin typeface="-apple-system"/>
                <a:ea typeface="-apple-system"/>
                <a:cs typeface="-apple-system"/>
                <a:hlinkClick r:id="rId7"/>
              </a:rPr>
              <a:t>hashtag#UtilityNetwork</a:t>
            </a:r>
            <a:r>
              <a:rPr lang="en-US">
                <a:latin typeface="-apple-system"/>
                <a:ea typeface="-apple-system"/>
                <a:cs typeface="-apple-system"/>
              </a:rPr>
              <a:t> </a:t>
            </a:r>
            <a:r>
              <a:rPr lang="en-US" b="1">
                <a:solidFill>
                  <a:srgbClr val="0A66C2"/>
                </a:solidFill>
                <a:latin typeface="-apple-system"/>
                <a:ea typeface="-apple-system"/>
                <a:cs typeface="-apple-system"/>
                <a:hlinkClick r:id="rId8"/>
              </a:rPr>
              <a:t>hashtag#DataMigration</a:t>
            </a:r>
            <a:endParaRPr lang="en-US"/>
          </a:p>
          <a:p>
            <a:pPr algn="ctr"/>
            <a:endParaRPr lang="pt-BR"/>
          </a:p>
        </p:txBody>
      </p:sp>
      <p:pic>
        <p:nvPicPr>
          <p:cNvPr id="5" name="Imagem 4" descr="Texto&#10;&#10;O conteúdo gerado por IA pode estar incorreto.">
            <a:extLst>
              <a:ext uri="{FF2B5EF4-FFF2-40B4-BE49-F238E27FC236}">
                <a16:creationId xmlns:a16="http://schemas.microsoft.com/office/drawing/2014/main" id="{0275EBD2-D8BA-8106-C625-C5776314C32C}"/>
              </a:ext>
            </a:extLst>
          </p:cNvPr>
          <p:cNvPicPr>
            <a:picLocks noChangeAspect="1"/>
          </p:cNvPicPr>
          <p:nvPr/>
        </p:nvPicPr>
        <p:blipFill>
          <a:blip r:embed="rId9"/>
          <a:stretch>
            <a:fillRect/>
          </a:stretch>
        </p:blipFill>
        <p:spPr>
          <a:xfrm>
            <a:off x="1108225" y="705029"/>
            <a:ext cx="4325249" cy="3693904"/>
          </a:xfrm>
          <a:prstGeom prst="rect">
            <a:avLst/>
          </a:prstGeom>
        </p:spPr>
      </p:pic>
      <p:sp>
        <p:nvSpPr>
          <p:cNvPr id="6" name="CaixaDeTexto 5">
            <a:extLst>
              <a:ext uri="{FF2B5EF4-FFF2-40B4-BE49-F238E27FC236}">
                <a16:creationId xmlns:a16="http://schemas.microsoft.com/office/drawing/2014/main" id="{3C722240-2ED6-30CC-DB12-150F17F03F65}"/>
              </a:ext>
            </a:extLst>
          </p:cNvPr>
          <p:cNvSpPr txBox="1"/>
          <p:nvPr/>
        </p:nvSpPr>
        <p:spPr>
          <a:xfrm>
            <a:off x="1121434" y="4665453"/>
            <a:ext cx="4773282"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t>Link:https</a:t>
            </a:r>
            <a:r>
              <a:rPr lang="en-US"/>
              <a:t>://www.linkedin.com/posts/kerrirasmussen_arcgis-utility-network-migration-reading-activity-7389649826289831936-jDHQ?utm_source=share&amp;utm_medium=member_desktop&amp;rcm=ACoAAAMQtAUB5UouXqdBJgo_gWpNVZ7Imay_2Tg</a:t>
            </a:r>
          </a:p>
          <a:p>
            <a:pPr algn="ctr"/>
            <a:endParaRPr lang="pt-BR"/>
          </a:p>
        </p:txBody>
      </p:sp>
    </p:spTree>
    <p:extLst>
      <p:ext uri="{BB962C8B-B14F-4D97-AF65-F5344CB8AC3E}">
        <p14:creationId xmlns:p14="http://schemas.microsoft.com/office/powerpoint/2010/main" val="35796262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m 3" descr="Uma imagem contendo Texto&#10;&#10;O conteúdo gerado por IA pode estar incorreto.">
            <a:extLst>
              <a:ext uri="{FF2B5EF4-FFF2-40B4-BE49-F238E27FC236}">
                <a16:creationId xmlns:a16="http://schemas.microsoft.com/office/drawing/2014/main" id="{AA19DF75-E740-A1F0-145A-729137438945}"/>
              </a:ext>
            </a:extLst>
          </p:cNvPr>
          <p:cNvPicPr>
            <a:picLocks noChangeAspect="1"/>
          </p:cNvPicPr>
          <p:nvPr/>
        </p:nvPicPr>
        <p:blipFill>
          <a:blip r:embed="rId2"/>
          <a:stretch>
            <a:fillRect/>
          </a:stretch>
        </p:blipFill>
        <p:spPr>
          <a:xfrm>
            <a:off x="409575" y="1177596"/>
            <a:ext cx="5276850" cy="3381375"/>
          </a:xfrm>
          <a:prstGeom prst="rect">
            <a:avLst/>
          </a:prstGeom>
        </p:spPr>
      </p:pic>
      <p:sp>
        <p:nvSpPr>
          <p:cNvPr id="5" name="CaixaDeTexto 4">
            <a:extLst>
              <a:ext uri="{FF2B5EF4-FFF2-40B4-BE49-F238E27FC236}">
                <a16:creationId xmlns:a16="http://schemas.microsoft.com/office/drawing/2014/main" id="{E88A3D83-2863-59ED-81D2-EC10FB0BE3D0}"/>
              </a:ext>
            </a:extLst>
          </p:cNvPr>
          <p:cNvSpPr txBox="1"/>
          <p:nvPr/>
        </p:nvSpPr>
        <p:spPr>
          <a:xfrm>
            <a:off x="5894717" y="1962509"/>
            <a:ext cx="6096000"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The discussion of engineering analysis and network information management systems is closely intertwined. This article, which </a:t>
            </a:r>
            <a:r>
              <a:rPr lang="en-US" b="1">
                <a:solidFill>
                  <a:srgbClr val="0A66C2"/>
                </a:solidFill>
                <a:latin typeface="-apple-system"/>
                <a:ea typeface="-apple-system"/>
                <a:cs typeface="-apple-system"/>
                <a:hlinkClick r:id="rId3"/>
              </a:rPr>
              <a:t>Tom DeWitte</a:t>
            </a:r>
            <a:r>
              <a:rPr lang="en-US">
                <a:latin typeface="-apple-system"/>
                <a:ea typeface="-apple-system"/>
                <a:cs typeface="-apple-system"/>
              </a:rPr>
              <a:t> and </a:t>
            </a:r>
            <a:r>
              <a:rPr lang="en-US" b="1">
                <a:solidFill>
                  <a:srgbClr val="0A66C2"/>
                </a:solidFill>
                <a:latin typeface="-apple-system"/>
                <a:ea typeface="-apple-system"/>
                <a:cs typeface="-apple-system"/>
                <a:hlinkClick r:id="rId4"/>
              </a:rPr>
              <a:t>Tom Coolidge</a:t>
            </a:r>
            <a:r>
              <a:rPr lang="en-US">
                <a:latin typeface="-apple-system"/>
                <a:ea typeface="-apple-system"/>
                <a:cs typeface="-apple-system"/>
              </a:rPr>
              <a:t> just published, lays out some of the best practices for integrating the two systems. This article highlights a product from one of our business partners in the Gas and Pipeline industry, but you can find examples of this best practice from many of the systems that leverage utility network data for analysis.</a:t>
            </a:r>
            <a:endParaRPr lang="en-US"/>
          </a:p>
          <a:p>
            <a:pPr algn="ctr"/>
            <a:endParaRPr lang="pt-BR"/>
          </a:p>
        </p:txBody>
      </p:sp>
      <p:sp>
        <p:nvSpPr>
          <p:cNvPr id="6" name="CaixaDeTexto 5">
            <a:extLst>
              <a:ext uri="{FF2B5EF4-FFF2-40B4-BE49-F238E27FC236}">
                <a16:creationId xmlns:a16="http://schemas.microsoft.com/office/drawing/2014/main" id="{099D3B62-E243-5D52-6C5F-5C50239BC480}"/>
              </a:ext>
            </a:extLst>
          </p:cNvPr>
          <p:cNvSpPr txBox="1"/>
          <p:nvPr/>
        </p:nvSpPr>
        <p:spPr>
          <a:xfrm>
            <a:off x="402566" y="4924245"/>
            <a:ext cx="609600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Link: https://www.linkedin.com/posts/robert-krisher-5a989438_the-discussion-of-engineering-analysis-and-activity-7426649373217857536-UjD1?utm_source=share&amp;utm_medium=member_desktop&amp;rcm=ACoAAAMQtAUB5UouXqdBJgo_gWpNVZ7Imay_2Tg</a:t>
            </a:r>
          </a:p>
          <a:p>
            <a:pPr algn="ctr"/>
            <a:endParaRPr lang="pt-BR"/>
          </a:p>
        </p:txBody>
      </p:sp>
    </p:spTree>
    <p:extLst>
      <p:ext uri="{BB962C8B-B14F-4D97-AF65-F5344CB8AC3E}">
        <p14:creationId xmlns:p14="http://schemas.microsoft.com/office/powerpoint/2010/main" val="21205556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AB6CB-934B-C21D-EDEE-8E775C10B5DC}"/>
            </a:ext>
          </a:extLst>
        </p:cNvPr>
        <p:cNvGrpSpPr/>
        <p:nvPr/>
      </p:nvGrpSpPr>
      <p:grpSpPr>
        <a:xfrm>
          <a:off x="0" y="0"/>
          <a:ext cx="0" cy="0"/>
          <a:chOff x="0" y="0"/>
          <a:chExt cx="0" cy="0"/>
        </a:xfrm>
      </p:grpSpPr>
      <p:sp>
        <p:nvSpPr>
          <p:cNvPr id="2" name="CaixaDeTexto 1">
            <a:extLst>
              <a:ext uri="{FF2B5EF4-FFF2-40B4-BE49-F238E27FC236}">
                <a16:creationId xmlns:a16="http://schemas.microsoft.com/office/drawing/2014/main" id="{FB177D24-898A-B657-7546-49DD59350212}"/>
              </a:ext>
            </a:extLst>
          </p:cNvPr>
          <p:cNvSpPr txBox="1"/>
          <p:nvPr/>
        </p:nvSpPr>
        <p:spPr>
          <a:xfrm>
            <a:off x="5794075" y="1488057"/>
            <a:ext cx="6096000"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Neste artigo, a ESRI apresenta como o ArcGIS Web Editor permite editar a Utility Network diretamente no navegador, mantendo regras, integridade e governança do modelo de rede.</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Isso significa mais agilidade na atualização de ativos, menos dependência de ferramentas desktop e maior integração entre campo e escritório.</a:t>
            </a:r>
            <a:endParaRPr lang="en-US"/>
          </a:p>
          <a:p>
            <a:pPr algn="ctr"/>
            <a:endParaRPr lang="pt-BR"/>
          </a:p>
        </p:txBody>
      </p:sp>
      <p:sp>
        <p:nvSpPr>
          <p:cNvPr id="3" name="CaixaDeTexto 2">
            <a:extLst>
              <a:ext uri="{FF2B5EF4-FFF2-40B4-BE49-F238E27FC236}">
                <a16:creationId xmlns:a16="http://schemas.microsoft.com/office/drawing/2014/main" id="{5A210E5B-A9BC-1381-59A1-506CBC732453}"/>
              </a:ext>
            </a:extLst>
          </p:cNvPr>
          <p:cNvSpPr txBox="1"/>
          <p:nvPr/>
        </p:nvSpPr>
        <p:spPr>
          <a:xfrm>
            <a:off x="402566" y="5068019"/>
            <a:ext cx="609600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Link: https://www.linkedin.com/posts/matheus-sparapani-336927138_edit-a-utility-network-with-arcgis-web-editor-activity-7432107069102735361-GB_3?utm_source=share&amp;utm_medium=member_desktop&amp;rcm=ACoAAAMQtAUB5UouXqdBJgo_gWpNVZ7Imay_2Tg</a:t>
            </a:r>
          </a:p>
          <a:p>
            <a:pPr algn="ctr"/>
            <a:endParaRPr lang="pt-BR"/>
          </a:p>
        </p:txBody>
      </p:sp>
      <p:pic>
        <p:nvPicPr>
          <p:cNvPr id="4" name="Imagem 3" descr="Interface gráfica do usuário, Aplicativo&#10;&#10;O conteúdo gerado por IA pode estar incorreto.">
            <a:extLst>
              <a:ext uri="{FF2B5EF4-FFF2-40B4-BE49-F238E27FC236}">
                <a16:creationId xmlns:a16="http://schemas.microsoft.com/office/drawing/2014/main" id="{0E0238AB-4672-F24A-3331-57ED434B29D7}"/>
              </a:ext>
            </a:extLst>
          </p:cNvPr>
          <p:cNvPicPr>
            <a:picLocks noChangeAspect="1"/>
          </p:cNvPicPr>
          <p:nvPr/>
        </p:nvPicPr>
        <p:blipFill>
          <a:blip r:embed="rId2"/>
          <a:stretch>
            <a:fillRect/>
          </a:stretch>
        </p:blipFill>
        <p:spPr>
          <a:xfrm>
            <a:off x="1176338" y="351976"/>
            <a:ext cx="3743325" cy="4486275"/>
          </a:xfrm>
          <a:prstGeom prst="rect">
            <a:avLst/>
          </a:prstGeom>
        </p:spPr>
      </p:pic>
    </p:spTree>
    <p:extLst>
      <p:ext uri="{BB962C8B-B14F-4D97-AF65-F5344CB8AC3E}">
        <p14:creationId xmlns:p14="http://schemas.microsoft.com/office/powerpoint/2010/main" val="278035549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891F4668-F2AF-A5CE-AFF1-9D724381217C}"/>
              </a:ext>
            </a:extLst>
          </p:cNvPr>
          <p:cNvSpPr>
            <a:spLocks noGrp="1"/>
          </p:cNvSpPr>
          <p:nvPr>
            <p:ph idx="1"/>
          </p:nvPr>
        </p:nvSpPr>
        <p:spPr>
          <a:xfrm>
            <a:off x="5812766" y="157851"/>
            <a:ext cx="6374922" cy="4926431"/>
          </a:xfrm>
        </p:spPr>
        <p:txBody>
          <a:bodyPr vert="horz" lIns="91440" tIns="45720" rIns="91440" bIns="45720" rtlCol="0" anchor="t">
            <a:normAutofit fontScale="70000" lnSpcReduction="20000"/>
          </a:bodyPr>
          <a:lstStyle/>
          <a:p>
            <a:pPr marL="0" indent="0">
              <a:buNone/>
            </a:pPr>
            <a:r>
              <a:rPr lang="pt-BR" sz="1100">
                <a:highlight>
                  <a:srgbClr val="FFFFFF"/>
                </a:highlight>
                <a:ea typeface="+mn-lt"/>
                <a:cs typeface="+mn-lt"/>
              </a:rPr>
              <a:t>- 𝐂𝐫𝐞𝐚𝐭𝐞 𝐚𝐧𝐝 𝐌𝐚𝐧𝐚𝐠𝐞 𝐒𝐮𝐛𝐧𝐞𝐭𝐰𝐨𝐫𝐤𝐬 𝐢𝐧 𝐔𝐭𝐢𝐥𝐢𝐭𝐲 𝐍𝐞𝐭𝐰𝐨𝐫𝐤𝐬 𝐔𝐬𝐢𝐧𝐠 𝐀𝐫𝐜𝐆𝐈𝐒 𝐏𝐫𝐨 🌐⚡ </a:t>
            </a:r>
            <a:br>
              <a:rPr lang="pt-BR" sz="1100">
                <a:highlight>
                  <a:srgbClr val="FFFFFF"/>
                </a:highlight>
                <a:ea typeface="+mn-lt"/>
                <a:cs typeface="+mn-lt"/>
              </a:rPr>
            </a:br>
            <a:br>
              <a:rPr lang="pt-BR" sz="1100">
                <a:highlight>
                  <a:srgbClr val="FFFFFF"/>
                </a:highlight>
                <a:ea typeface="+mn-lt"/>
                <a:cs typeface="+mn-lt"/>
              </a:rPr>
            </a:br>
            <a:r>
              <a:rPr lang="pt-BR" sz="1100">
                <a:highlight>
                  <a:srgbClr val="FFFFFF"/>
                </a:highlight>
                <a:ea typeface="+mn-lt"/>
                <a:cs typeface="+mn-lt"/>
              </a:rPr>
              <a:t>* As </a:t>
            </a:r>
            <a:r>
              <a:rPr lang="pt-BR" sz="1100" err="1">
                <a:highlight>
                  <a:srgbClr val="FFFFFF"/>
                </a:highlight>
                <a:ea typeface="+mn-lt"/>
                <a:cs typeface="+mn-lt"/>
              </a:rPr>
              <a:t>part</a:t>
            </a:r>
            <a:r>
              <a:rPr lang="pt-BR" sz="1100">
                <a:highlight>
                  <a:srgbClr val="FFFFFF"/>
                </a:highlight>
                <a:ea typeface="+mn-lt"/>
                <a:cs typeface="+mn-lt"/>
              </a:rPr>
              <a:t> </a:t>
            </a:r>
            <a:r>
              <a:rPr lang="pt-BR" sz="1100" err="1">
                <a:highlight>
                  <a:srgbClr val="FFFFFF"/>
                </a:highlight>
                <a:ea typeface="+mn-lt"/>
                <a:cs typeface="+mn-lt"/>
              </a:rPr>
              <a:t>of</a:t>
            </a:r>
            <a:r>
              <a:rPr lang="pt-BR" sz="1100">
                <a:highlight>
                  <a:srgbClr val="FFFFFF"/>
                </a:highlight>
                <a:ea typeface="+mn-lt"/>
                <a:cs typeface="+mn-lt"/>
              </a:rPr>
              <a:t> </a:t>
            </a:r>
            <a:r>
              <a:rPr lang="pt-BR" sz="1100" err="1">
                <a:highlight>
                  <a:srgbClr val="FFFFFF"/>
                </a:highlight>
                <a:ea typeface="+mn-lt"/>
                <a:cs typeface="+mn-lt"/>
              </a:rPr>
              <a:t>my</a:t>
            </a:r>
            <a:r>
              <a:rPr lang="pt-BR" sz="1100">
                <a:highlight>
                  <a:srgbClr val="FFFFFF"/>
                </a:highlight>
                <a:ea typeface="+mn-lt"/>
                <a:cs typeface="+mn-lt"/>
              </a:rPr>
              <a:t> </a:t>
            </a:r>
            <a:r>
              <a:rPr lang="pt-BR" sz="1100" err="1">
                <a:highlight>
                  <a:srgbClr val="FFFFFF"/>
                </a:highlight>
                <a:ea typeface="+mn-lt"/>
                <a:cs typeface="+mn-lt"/>
              </a:rPr>
              <a:t>continuous</a:t>
            </a:r>
            <a:r>
              <a:rPr lang="pt-BR" sz="1100">
                <a:highlight>
                  <a:srgbClr val="FFFFFF"/>
                </a:highlight>
                <a:ea typeface="+mn-lt"/>
                <a:cs typeface="+mn-lt"/>
              </a:rPr>
              <a:t> Journey </a:t>
            </a:r>
            <a:r>
              <a:rPr lang="pt-BR" sz="1100" err="1">
                <a:highlight>
                  <a:srgbClr val="FFFFFF"/>
                </a:highlight>
                <a:ea typeface="+mn-lt"/>
                <a:cs typeface="+mn-lt"/>
              </a:rPr>
              <a:t>to</a:t>
            </a:r>
            <a:r>
              <a:rPr lang="pt-BR" sz="1100">
                <a:highlight>
                  <a:srgbClr val="FFFFFF"/>
                </a:highlight>
                <a:ea typeface="+mn-lt"/>
                <a:cs typeface="+mn-lt"/>
              </a:rPr>
              <a:t> </a:t>
            </a:r>
            <a:r>
              <a:rPr lang="pt-BR" sz="1100" err="1">
                <a:highlight>
                  <a:srgbClr val="FFFFFF"/>
                </a:highlight>
                <a:ea typeface="+mn-lt"/>
                <a:cs typeface="+mn-lt"/>
              </a:rPr>
              <a:t>develop</a:t>
            </a:r>
            <a:r>
              <a:rPr lang="pt-BR" sz="1100">
                <a:highlight>
                  <a:srgbClr val="FFFFFF"/>
                </a:highlight>
                <a:ea typeface="+mn-lt"/>
                <a:cs typeface="+mn-lt"/>
              </a:rPr>
              <a:t> </a:t>
            </a:r>
            <a:r>
              <a:rPr lang="pt-BR" sz="1100" err="1">
                <a:highlight>
                  <a:srgbClr val="FFFFFF"/>
                </a:highlight>
                <a:ea typeface="+mn-lt"/>
                <a:cs typeface="+mn-lt"/>
              </a:rPr>
              <a:t>advanced</a:t>
            </a:r>
            <a:r>
              <a:rPr lang="pt-BR" sz="1100">
                <a:highlight>
                  <a:srgbClr val="FFFFFF"/>
                </a:highlight>
                <a:ea typeface="+mn-lt"/>
                <a:cs typeface="+mn-lt"/>
              </a:rPr>
              <a:t> skills in </a:t>
            </a:r>
            <a:r>
              <a:rPr lang="pt-BR" sz="1100" err="1">
                <a:highlight>
                  <a:srgbClr val="FFFFFF"/>
                </a:highlight>
                <a:ea typeface="+mn-lt"/>
                <a:cs typeface="+mn-lt"/>
              </a:rPr>
              <a:t>Utility</a:t>
            </a:r>
            <a:r>
              <a:rPr lang="pt-BR" sz="1100">
                <a:highlight>
                  <a:srgbClr val="FFFFFF"/>
                </a:highlight>
                <a:ea typeface="+mn-lt"/>
                <a:cs typeface="+mn-lt"/>
              </a:rPr>
              <a:t> GIS </a:t>
            </a:r>
            <a:r>
              <a:rPr lang="pt-BR" sz="1100" err="1">
                <a:highlight>
                  <a:srgbClr val="FFFFFF"/>
                </a:highlight>
                <a:ea typeface="+mn-lt"/>
                <a:cs typeface="+mn-lt"/>
              </a:rPr>
              <a:t>and</a:t>
            </a:r>
            <a:r>
              <a:rPr lang="pt-BR" sz="1100">
                <a:highlight>
                  <a:srgbClr val="FFFFFF"/>
                </a:highlight>
                <a:ea typeface="+mn-lt"/>
                <a:cs typeface="+mn-lt"/>
              </a:rPr>
              <a:t> </a:t>
            </a:r>
            <a:r>
              <a:rPr lang="pt-BR" sz="1100" err="1">
                <a:highlight>
                  <a:srgbClr val="FFFFFF"/>
                </a:highlight>
                <a:ea typeface="+mn-lt"/>
                <a:cs typeface="+mn-lt"/>
              </a:rPr>
              <a:t>Infrastructure</a:t>
            </a:r>
            <a:r>
              <a:rPr lang="pt-BR" sz="1100">
                <a:highlight>
                  <a:srgbClr val="FFFFFF"/>
                </a:highlight>
                <a:ea typeface="+mn-lt"/>
                <a:cs typeface="+mn-lt"/>
              </a:rPr>
              <a:t> Network Management,</a:t>
            </a:r>
            <a:br>
              <a:rPr lang="pt-BR" sz="1100">
                <a:highlight>
                  <a:srgbClr val="FFFFFF"/>
                </a:highlight>
                <a:ea typeface="+mn-lt"/>
                <a:cs typeface="+mn-lt"/>
              </a:rPr>
            </a:br>
            <a:br>
              <a:rPr lang="pt-BR" sz="1100">
                <a:highlight>
                  <a:srgbClr val="FFFFFF"/>
                </a:highlight>
                <a:ea typeface="+mn-lt"/>
                <a:cs typeface="+mn-lt"/>
              </a:rPr>
            </a:br>
            <a:r>
              <a:rPr lang="pt-BR" sz="1100">
                <a:highlight>
                  <a:srgbClr val="FFFFFF"/>
                </a:highlight>
                <a:ea typeface="+mn-lt"/>
                <a:cs typeface="+mn-lt"/>
              </a:rPr>
              <a:t>- I </a:t>
            </a:r>
            <a:r>
              <a:rPr lang="pt-BR" sz="1100" err="1">
                <a:highlight>
                  <a:srgbClr val="FFFFFF"/>
                </a:highlight>
                <a:ea typeface="+mn-lt"/>
                <a:cs typeface="+mn-lt"/>
              </a:rPr>
              <a:t>recently</a:t>
            </a:r>
            <a:r>
              <a:rPr lang="pt-BR" sz="1100">
                <a:highlight>
                  <a:srgbClr val="FFFFFF"/>
                </a:highlight>
                <a:ea typeface="+mn-lt"/>
                <a:cs typeface="+mn-lt"/>
              </a:rPr>
              <a:t> </a:t>
            </a:r>
            <a:r>
              <a:rPr lang="pt-BR" sz="1100" err="1">
                <a:highlight>
                  <a:srgbClr val="FFFFFF"/>
                </a:highlight>
                <a:ea typeface="+mn-lt"/>
                <a:cs typeface="+mn-lt"/>
              </a:rPr>
              <a:t>Completed</a:t>
            </a:r>
            <a:r>
              <a:rPr lang="pt-BR" sz="1100">
                <a:highlight>
                  <a:srgbClr val="FFFFFF"/>
                </a:highlight>
                <a:ea typeface="+mn-lt"/>
                <a:cs typeface="+mn-lt"/>
              </a:rPr>
              <a:t> a new hands-on Project </a:t>
            </a:r>
            <a:r>
              <a:rPr lang="pt-BR" sz="1100" err="1">
                <a:highlight>
                  <a:srgbClr val="FFFFFF"/>
                </a:highlight>
                <a:ea typeface="+mn-lt"/>
                <a:cs typeface="+mn-lt"/>
              </a:rPr>
              <a:t>titled</a:t>
            </a:r>
            <a:r>
              <a:rPr lang="pt-BR" sz="1100">
                <a:highlight>
                  <a:srgbClr val="FFFFFF"/>
                </a:highlight>
                <a:ea typeface="+mn-lt"/>
                <a:cs typeface="+mn-lt"/>
              </a:rPr>
              <a:t>:</a:t>
            </a:r>
            <a:br>
              <a:rPr lang="pt-BR" sz="1100">
                <a:highlight>
                  <a:srgbClr val="FFFFFF"/>
                </a:highlight>
                <a:ea typeface="+mn-lt"/>
                <a:cs typeface="+mn-lt"/>
              </a:rPr>
            </a:br>
            <a:br>
              <a:rPr lang="pt-BR" sz="1100">
                <a:highlight>
                  <a:srgbClr val="FFFFFF"/>
                </a:highlight>
                <a:ea typeface="+mn-lt"/>
                <a:cs typeface="+mn-lt"/>
              </a:rPr>
            </a:br>
            <a:r>
              <a:rPr lang="pt-BR" sz="1100">
                <a:highlight>
                  <a:srgbClr val="FFFFFF"/>
                </a:highlight>
                <a:ea typeface="+mn-lt"/>
                <a:cs typeface="+mn-lt"/>
              </a:rPr>
              <a:t>"</a:t>
            </a:r>
            <a:r>
              <a:rPr lang="pt-BR" sz="1100" err="1">
                <a:highlight>
                  <a:srgbClr val="FFFFFF"/>
                </a:highlight>
                <a:ea typeface="+mn-lt"/>
                <a:cs typeface="+mn-lt"/>
              </a:rPr>
              <a:t>Create</a:t>
            </a:r>
            <a:r>
              <a:rPr lang="pt-BR" sz="1100">
                <a:highlight>
                  <a:srgbClr val="FFFFFF"/>
                </a:highlight>
                <a:ea typeface="+mn-lt"/>
                <a:cs typeface="+mn-lt"/>
              </a:rPr>
              <a:t> </a:t>
            </a:r>
            <a:r>
              <a:rPr lang="pt-BR" sz="1100" err="1">
                <a:highlight>
                  <a:srgbClr val="FFFFFF"/>
                </a:highlight>
                <a:ea typeface="+mn-lt"/>
                <a:cs typeface="+mn-lt"/>
              </a:rPr>
              <a:t>and</a:t>
            </a:r>
            <a:r>
              <a:rPr lang="pt-BR" sz="1100">
                <a:highlight>
                  <a:srgbClr val="FFFFFF"/>
                </a:highlight>
                <a:ea typeface="+mn-lt"/>
                <a:cs typeface="+mn-lt"/>
              </a:rPr>
              <a:t> </a:t>
            </a:r>
            <a:r>
              <a:rPr lang="pt-BR" sz="1100" err="1">
                <a:highlight>
                  <a:srgbClr val="FFFFFF"/>
                </a:highlight>
                <a:ea typeface="+mn-lt"/>
                <a:cs typeface="+mn-lt"/>
              </a:rPr>
              <a:t>Manage</a:t>
            </a:r>
            <a:r>
              <a:rPr lang="pt-BR" sz="1100">
                <a:highlight>
                  <a:srgbClr val="FFFFFF"/>
                </a:highlight>
                <a:ea typeface="+mn-lt"/>
                <a:cs typeface="+mn-lt"/>
              </a:rPr>
              <a:t> </a:t>
            </a:r>
            <a:r>
              <a:rPr lang="pt-BR" sz="1100" err="1">
                <a:highlight>
                  <a:srgbClr val="FFFFFF"/>
                </a:highlight>
                <a:ea typeface="+mn-lt"/>
                <a:cs typeface="+mn-lt"/>
              </a:rPr>
              <a:t>Subnetworks</a:t>
            </a:r>
            <a:r>
              <a:rPr lang="pt-BR" sz="1100">
                <a:highlight>
                  <a:srgbClr val="FFFFFF"/>
                </a:highlight>
                <a:ea typeface="+mn-lt"/>
                <a:cs typeface="+mn-lt"/>
              </a:rPr>
              <a:t> in </a:t>
            </a:r>
            <a:r>
              <a:rPr lang="pt-BR" sz="1100" err="1">
                <a:highlight>
                  <a:srgbClr val="FFFFFF"/>
                </a:highlight>
                <a:ea typeface="+mn-lt"/>
                <a:cs typeface="+mn-lt"/>
              </a:rPr>
              <a:t>Utility</a:t>
            </a:r>
            <a:r>
              <a:rPr lang="pt-BR" sz="1100">
                <a:highlight>
                  <a:srgbClr val="FFFFFF"/>
                </a:highlight>
                <a:ea typeface="+mn-lt"/>
                <a:cs typeface="+mn-lt"/>
              </a:rPr>
              <a:t> Networks"</a:t>
            </a:r>
            <a:br>
              <a:rPr lang="pt-BR" sz="1100">
                <a:highlight>
                  <a:srgbClr val="FFFFFF"/>
                </a:highlight>
                <a:ea typeface="+mn-lt"/>
                <a:cs typeface="+mn-lt"/>
              </a:rPr>
            </a:br>
            <a:br>
              <a:rPr lang="pt-BR" sz="1100">
                <a:highlight>
                  <a:srgbClr val="FFFFFF"/>
                </a:highlight>
                <a:ea typeface="+mn-lt"/>
                <a:cs typeface="+mn-lt"/>
              </a:rPr>
            </a:br>
            <a:r>
              <a:rPr lang="pt-BR" sz="1100">
                <a:highlight>
                  <a:srgbClr val="FFFFFF"/>
                </a:highlight>
                <a:ea typeface="+mn-lt"/>
                <a:cs typeface="+mn-lt"/>
              </a:rPr>
              <a:t>- Project Overview:</a:t>
            </a:r>
            <a:br>
              <a:rPr lang="pt-BR" sz="1100">
                <a:highlight>
                  <a:srgbClr val="FFFFFF"/>
                </a:highlight>
                <a:ea typeface="+mn-lt"/>
                <a:cs typeface="+mn-lt"/>
              </a:rPr>
            </a:br>
            <a:br>
              <a:rPr lang="pt-BR" sz="1100">
                <a:highlight>
                  <a:srgbClr val="FFFFFF"/>
                </a:highlight>
                <a:ea typeface="+mn-lt"/>
                <a:cs typeface="+mn-lt"/>
              </a:rPr>
            </a:br>
            <a:r>
              <a:rPr lang="pt-BR" sz="1100">
                <a:highlight>
                  <a:srgbClr val="FFFFFF"/>
                </a:highlight>
                <a:ea typeface="+mn-lt"/>
                <a:cs typeface="+mn-lt"/>
              </a:rPr>
              <a:t>• The </a:t>
            </a:r>
            <a:r>
              <a:rPr lang="pt-BR" sz="1100" err="1">
                <a:highlight>
                  <a:srgbClr val="FFFFFF"/>
                </a:highlight>
                <a:ea typeface="+mn-lt"/>
                <a:cs typeface="+mn-lt"/>
              </a:rPr>
              <a:t>main</a:t>
            </a:r>
            <a:r>
              <a:rPr lang="pt-BR" sz="1100">
                <a:highlight>
                  <a:srgbClr val="FFFFFF"/>
                </a:highlight>
                <a:ea typeface="+mn-lt"/>
                <a:cs typeface="+mn-lt"/>
              </a:rPr>
              <a:t> </a:t>
            </a:r>
            <a:r>
              <a:rPr lang="pt-BR" sz="1100" err="1">
                <a:highlight>
                  <a:srgbClr val="FFFFFF"/>
                </a:highlight>
                <a:ea typeface="+mn-lt"/>
                <a:cs typeface="+mn-lt"/>
              </a:rPr>
              <a:t>Goal</a:t>
            </a:r>
            <a:r>
              <a:rPr lang="pt-BR" sz="1100">
                <a:highlight>
                  <a:srgbClr val="FFFFFF"/>
                </a:highlight>
                <a:ea typeface="+mn-lt"/>
                <a:cs typeface="+mn-lt"/>
              </a:rPr>
              <a:t> </a:t>
            </a:r>
            <a:r>
              <a:rPr lang="pt-BR" sz="1100" err="1">
                <a:highlight>
                  <a:srgbClr val="FFFFFF"/>
                </a:highlight>
                <a:ea typeface="+mn-lt"/>
                <a:cs typeface="+mn-lt"/>
              </a:rPr>
              <a:t>of</a:t>
            </a:r>
            <a:r>
              <a:rPr lang="pt-BR" sz="1100">
                <a:highlight>
                  <a:srgbClr val="FFFFFF"/>
                </a:highlight>
                <a:ea typeface="+mn-lt"/>
                <a:cs typeface="+mn-lt"/>
              </a:rPr>
              <a:t> </a:t>
            </a:r>
            <a:r>
              <a:rPr lang="pt-BR" sz="1100" err="1">
                <a:highlight>
                  <a:srgbClr val="FFFFFF"/>
                </a:highlight>
                <a:ea typeface="+mn-lt"/>
                <a:cs typeface="+mn-lt"/>
              </a:rPr>
              <a:t>this</a:t>
            </a:r>
            <a:r>
              <a:rPr lang="pt-BR" sz="1100">
                <a:highlight>
                  <a:srgbClr val="FFFFFF"/>
                </a:highlight>
                <a:ea typeface="+mn-lt"/>
                <a:cs typeface="+mn-lt"/>
              </a:rPr>
              <a:t> Project </a:t>
            </a:r>
            <a:r>
              <a:rPr lang="pt-BR" sz="1100" err="1">
                <a:highlight>
                  <a:srgbClr val="FFFFFF"/>
                </a:highlight>
                <a:ea typeface="+mn-lt"/>
                <a:cs typeface="+mn-lt"/>
              </a:rPr>
              <a:t>was</a:t>
            </a:r>
            <a:r>
              <a:rPr lang="pt-BR" sz="1100">
                <a:highlight>
                  <a:srgbClr val="FFFFFF"/>
                </a:highlight>
                <a:ea typeface="+mn-lt"/>
                <a:cs typeface="+mn-lt"/>
              </a:rPr>
              <a:t> </a:t>
            </a:r>
            <a:r>
              <a:rPr lang="pt-BR" sz="1100" err="1">
                <a:highlight>
                  <a:srgbClr val="FFFFFF"/>
                </a:highlight>
                <a:ea typeface="+mn-lt"/>
                <a:cs typeface="+mn-lt"/>
              </a:rPr>
              <a:t>to</a:t>
            </a:r>
            <a:r>
              <a:rPr lang="pt-BR" sz="1100">
                <a:highlight>
                  <a:srgbClr val="FFFFFF"/>
                </a:highlight>
                <a:ea typeface="+mn-lt"/>
                <a:cs typeface="+mn-lt"/>
              </a:rPr>
              <a:t> </a:t>
            </a:r>
            <a:r>
              <a:rPr lang="pt-BR" sz="1100" err="1">
                <a:highlight>
                  <a:srgbClr val="FFFFFF"/>
                </a:highlight>
                <a:ea typeface="+mn-lt"/>
                <a:cs typeface="+mn-lt"/>
              </a:rPr>
              <a:t>understand</a:t>
            </a:r>
            <a:r>
              <a:rPr lang="pt-BR" sz="1100">
                <a:highlight>
                  <a:srgbClr val="FFFFFF"/>
                </a:highlight>
                <a:ea typeface="+mn-lt"/>
                <a:cs typeface="+mn-lt"/>
              </a:rPr>
              <a:t> </a:t>
            </a:r>
            <a:r>
              <a:rPr lang="pt-BR" sz="1100" err="1">
                <a:highlight>
                  <a:srgbClr val="FFFFFF"/>
                </a:highlight>
                <a:ea typeface="+mn-lt"/>
                <a:cs typeface="+mn-lt"/>
              </a:rPr>
              <a:t>how</a:t>
            </a:r>
            <a:r>
              <a:rPr lang="pt-BR" sz="1100">
                <a:highlight>
                  <a:srgbClr val="FFFFFF"/>
                </a:highlight>
                <a:ea typeface="+mn-lt"/>
                <a:cs typeface="+mn-lt"/>
              </a:rPr>
              <a:t> </a:t>
            </a:r>
            <a:r>
              <a:rPr lang="pt-BR" sz="1100" err="1">
                <a:highlight>
                  <a:srgbClr val="FFFFFF"/>
                </a:highlight>
                <a:ea typeface="+mn-lt"/>
                <a:cs typeface="+mn-lt"/>
              </a:rPr>
              <a:t>Utility</a:t>
            </a:r>
            <a:r>
              <a:rPr lang="pt-BR" sz="1100">
                <a:highlight>
                  <a:srgbClr val="FFFFFF"/>
                </a:highlight>
                <a:ea typeface="+mn-lt"/>
                <a:cs typeface="+mn-lt"/>
              </a:rPr>
              <a:t> Networks are </a:t>
            </a:r>
            <a:r>
              <a:rPr lang="pt-BR" sz="1100" err="1">
                <a:highlight>
                  <a:srgbClr val="FFFFFF"/>
                </a:highlight>
                <a:ea typeface="+mn-lt"/>
                <a:cs typeface="+mn-lt"/>
              </a:rPr>
              <a:t>organized</a:t>
            </a:r>
            <a:r>
              <a:rPr lang="pt-BR" sz="1100">
                <a:highlight>
                  <a:srgbClr val="FFFFFF"/>
                </a:highlight>
                <a:ea typeface="+mn-lt"/>
                <a:cs typeface="+mn-lt"/>
              </a:rPr>
              <a:t> </a:t>
            </a:r>
            <a:r>
              <a:rPr lang="pt-BR" sz="1100" err="1">
                <a:highlight>
                  <a:srgbClr val="FFFFFF"/>
                </a:highlight>
                <a:ea typeface="+mn-lt"/>
                <a:cs typeface="+mn-lt"/>
              </a:rPr>
              <a:t>into</a:t>
            </a:r>
            <a:r>
              <a:rPr lang="pt-BR" sz="1100">
                <a:highlight>
                  <a:srgbClr val="FFFFFF"/>
                </a:highlight>
                <a:ea typeface="+mn-lt"/>
                <a:cs typeface="+mn-lt"/>
              </a:rPr>
              <a:t> </a:t>
            </a:r>
            <a:r>
              <a:rPr lang="pt-BR" sz="1100" err="1">
                <a:highlight>
                  <a:srgbClr val="FFFFFF"/>
                </a:highlight>
                <a:ea typeface="+mn-lt"/>
                <a:cs typeface="+mn-lt"/>
              </a:rPr>
              <a:t>Subnetworks</a:t>
            </a:r>
            <a:r>
              <a:rPr lang="pt-BR" sz="1100">
                <a:highlight>
                  <a:srgbClr val="FFFFFF"/>
                </a:highlight>
                <a:ea typeface="+mn-lt"/>
                <a:cs typeface="+mn-lt"/>
              </a:rPr>
              <a:t> </a:t>
            </a:r>
            <a:r>
              <a:rPr lang="pt-BR" sz="1100" err="1">
                <a:highlight>
                  <a:srgbClr val="FFFFFF"/>
                </a:highlight>
                <a:ea typeface="+mn-lt"/>
                <a:cs typeface="+mn-lt"/>
              </a:rPr>
              <a:t>to</a:t>
            </a:r>
            <a:r>
              <a:rPr lang="pt-BR" sz="1100">
                <a:highlight>
                  <a:srgbClr val="FFFFFF"/>
                </a:highlight>
                <a:ea typeface="+mn-lt"/>
                <a:cs typeface="+mn-lt"/>
              </a:rPr>
              <a:t> </a:t>
            </a:r>
            <a:r>
              <a:rPr lang="pt-BR" sz="1100" err="1">
                <a:highlight>
                  <a:srgbClr val="FFFFFF"/>
                </a:highlight>
                <a:ea typeface="+mn-lt"/>
                <a:cs typeface="+mn-lt"/>
              </a:rPr>
              <a:t>manage</a:t>
            </a:r>
            <a:r>
              <a:rPr lang="pt-BR" sz="1100">
                <a:highlight>
                  <a:srgbClr val="FFFFFF"/>
                </a:highlight>
                <a:ea typeface="+mn-lt"/>
                <a:cs typeface="+mn-lt"/>
              </a:rPr>
              <a:t> </a:t>
            </a:r>
            <a:r>
              <a:rPr lang="pt-BR" sz="1100" err="1">
                <a:highlight>
                  <a:srgbClr val="FFFFFF"/>
                </a:highlight>
                <a:ea typeface="+mn-lt"/>
                <a:cs typeface="+mn-lt"/>
              </a:rPr>
              <a:t>complex</a:t>
            </a:r>
            <a:r>
              <a:rPr lang="pt-BR" sz="1100">
                <a:highlight>
                  <a:srgbClr val="FFFFFF"/>
                </a:highlight>
                <a:ea typeface="+mn-lt"/>
                <a:cs typeface="+mn-lt"/>
              </a:rPr>
              <a:t> </a:t>
            </a:r>
            <a:r>
              <a:rPr lang="pt-BR" sz="1100" err="1">
                <a:highlight>
                  <a:srgbClr val="FFFFFF"/>
                </a:highlight>
                <a:ea typeface="+mn-lt"/>
                <a:cs typeface="+mn-lt"/>
              </a:rPr>
              <a:t>infrastructure</a:t>
            </a:r>
            <a:r>
              <a:rPr lang="pt-BR" sz="1100">
                <a:highlight>
                  <a:srgbClr val="FFFFFF"/>
                </a:highlight>
                <a:ea typeface="+mn-lt"/>
                <a:cs typeface="+mn-lt"/>
              </a:rPr>
              <a:t> systems </a:t>
            </a:r>
            <a:r>
              <a:rPr lang="pt-BR" sz="1100" err="1">
                <a:highlight>
                  <a:srgbClr val="FFFFFF"/>
                </a:highlight>
                <a:ea typeface="+mn-lt"/>
                <a:cs typeface="+mn-lt"/>
              </a:rPr>
              <a:t>efficiently</a:t>
            </a:r>
            <a:r>
              <a:rPr lang="pt-BR" sz="1100">
                <a:highlight>
                  <a:srgbClr val="FFFFFF"/>
                </a:highlight>
                <a:ea typeface="+mn-lt"/>
                <a:cs typeface="+mn-lt"/>
              </a:rPr>
              <a:t>.</a:t>
            </a:r>
            <a:br>
              <a:rPr lang="pt-BR" sz="1100">
                <a:highlight>
                  <a:srgbClr val="FFFFFF"/>
                </a:highlight>
                <a:ea typeface="+mn-lt"/>
                <a:cs typeface="+mn-lt"/>
              </a:rPr>
            </a:br>
            <a:br>
              <a:rPr lang="pt-BR" sz="1100">
                <a:highlight>
                  <a:srgbClr val="FFFFFF"/>
                </a:highlight>
                <a:ea typeface="+mn-lt"/>
                <a:cs typeface="+mn-lt"/>
              </a:rPr>
            </a:br>
            <a:r>
              <a:rPr lang="pt-BR" sz="1100">
                <a:highlight>
                  <a:srgbClr val="FFFFFF"/>
                </a:highlight>
                <a:ea typeface="+mn-lt"/>
                <a:cs typeface="+mn-lt"/>
              </a:rPr>
              <a:t>• </a:t>
            </a:r>
            <a:r>
              <a:rPr lang="pt-BR" sz="1100" err="1">
                <a:highlight>
                  <a:srgbClr val="FFFFFF"/>
                </a:highlight>
                <a:ea typeface="+mn-lt"/>
                <a:cs typeface="+mn-lt"/>
              </a:rPr>
              <a:t>By</a:t>
            </a:r>
            <a:r>
              <a:rPr lang="pt-BR" sz="1100">
                <a:highlight>
                  <a:srgbClr val="FFFFFF"/>
                </a:highlight>
                <a:ea typeface="+mn-lt"/>
                <a:cs typeface="+mn-lt"/>
              </a:rPr>
              <a:t> </a:t>
            </a:r>
            <a:r>
              <a:rPr lang="pt-BR" sz="1100" err="1">
                <a:highlight>
                  <a:srgbClr val="FFFFFF"/>
                </a:highlight>
                <a:ea typeface="+mn-lt"/>
                <a:cs typeface="+mn-lt"/>
              </a:rPr>
              <a:t>defining</a:t>
            </a:r>
            <a:r>
              <a:rPr lang="pt-BR" sz="1100">
                <a:highlight>
                  <a:srgbClr val="FFFFFF"/>
                </a:highlight>
                <a:ea typeface="+mn-lt"/>
                <a:cs typeface="+mn-lt"/>
              </a:rPr>
              <a:t> </a:t>
            </a:r>
            <a:r>
              <a:rPr lang="pt-BR" sz="1100" err="1">
                <a:highlight>
                  <a:srgbClr val="FFFFFF"/>
                </a:highlight>
                <a:ea typeface="+mn-lt"/>
                <a:cs typeface="+mn-lt"/>
              </a:rPr>
              <a:t>Subnetwork</a:t>
            </a:r>
            <a:r>
              <a:rPr lang="pt-BR" sz="1100">
                <a:highlight>
                  <a:srgbClr val="FFFFFF"/>
                </a:highlight>
                <a:ea typeface="+mn-lt"/>
                <a:cs typeface="+mn-lt"/>
              </a:rPr>
              <a:t> </a:t>
            </a:r>
            <a:r>
              <a:rPr lang="pt-BR" sz="1100" err="1">
                <a:highlight>
                  <a:srgbClr val="FFFFFF"/>
                </a:highlight>
                <a:ea typeface="+mn-lt"/>
                <a:cs typeface="+mn-lt"/>
              </a:rPr>
              <a:t>Controllers</a:t>
            </a:r>
            <a:r>
              <a:rPr lang="pt-BR" sz="1100">
                <a:highlight>
                  <a:srgbClr val="FFFFFF"/>
                </a:highlight>
                <a:ea typeface="+mn-lt"/>
                <a:cs typeface="+mn-lt"/>
              </a:rPr>
              <a:t>, </a:t>
            </a:r>
            <a:r>
              <a:rPr lang="pt-BR" sz="1100" err="1">
                <a:highlight>
                  <a:srgbClr val="FFFFFF"/>
                </a:highlight>
                <a:ea typeface="+mn-lt"/>
                <a:cs typeface="+mn-lt"/>
              </a:rPr>
              <a:t>creating</a:t>
            </a:r>
            <a:r>
              <a:rPr lang="pt-BR" sz="1100">
                <a:highlight>
                  <a:srgbClr val="FFFFFF"/>
                </a:highlight>
                <a:ea typeface="+mn-lt"/>
                <a:cs typeface="+mn-lt"/>
              </a:rPr>
              <a:t> </a:t>
            </a:r>
            <a:r>
              <a:rPr lang="pt-BR" sz="1100" err="1">
                <a:highlight>
                  <a:srgbClr val="FFFFFF"/>
                </a:highlight>
                <a:ea typeface="+mn-lt"/>
                <a:cs typeface="+mn-lt"/>
              </a:rPr>
              <a:t>Subnetworks</a:t>
            </a:r>
            <a:r>
              <a:rPr lang="pt-BR" sz="1100">
                <a:highlight>
                  <a:srgbClr val="FFFFFF"/>
                </a:highlight>
                <a:ea typeface="+mn-lt"/>
                <a:cs typeface="+mn-lt"/>
              </a:rPr>
              <a:t>, </a:t>
            </a:r>
            <a:r>
              <a:rPr lang="pt-BR" sz="1100" err="1">
                <a:highlight>
                  <a:srgbClr val="FFFFFF"/>
                </a:highlight>
                <a:ea typeface="+mn-lt"/>
                <a:cs typeface="+mn-lt"/>
              </a:rPr>
              <a:t>and</a:t>
            </a:r>
            <a:r>
              <a:rPr lang="pt-BR" sz="1100">
                <a:highlight>
                  <a:srgbClr val="FFFFFF"/>
                </a:highlight>
                <a:ea typeface="+mn-lt"/>
                <a:cs typeface="+mn-lt"/>
              </a:rPr>
              <a:t> </a:t>
            </a:r>
            <a:r>
              <a:rPr lang="pt-BR" sz="1100" err="1">
                <a:highlight>
                  <a:srgbClr val="FFFFFF"/>
                </a:highlight>
                <a:ea typeface="+mn-lt"/>
                <a:cs typeface="+mn-lt"/>
              </a:rPr>
              <a:t>updating</a:t>
            </a:r>
            <a:r>
              <a:rPr lang="pt-BR" sz="1100">
                <a:highlight>
                  <a:srgbClr val="FFFFFF"/>
                </a:highlight>
                <a:ea typeface="+mn-lt"/>
                <a:cs typeface="+mn-lt"/>
              </a:rPr>
              <a:t> network </a:t>
            </a:r>
            <a:r>
              <a:rPr lang="pt-BR" sz="1100" err="1">
                <a:highlight>
                  <a:srgbClr val="FFFFFF"/>
                </a:highlight>
                <a:ea typeface="+mn-lt"/>
                <a:cs typeface="+mn-lt"/>
              </a:rPr>
              <a:t>topology</a:t>
            </a:r>
            <a:r>
              <a:rPr lang="pt-BR" sz="1100">
                <a:highlight>
                  <a:srgbClr val="FFFFFF"/>
                </a:highlight>
                <a:ea typeface="+mn-lt"/>
                <a:cs typeface="+mn-lt"/>
              </a:rPr>
              <a:t>, </a:t>
            </a:r>
            <a:r>
              <a:rPr lang="pt-BR" sz="1100" err="1">
                <a:highlight>
                  <a:srgbClr val="FFFFFF"/>
                </a:highlight>
                <a:ea typeface="+mn-lt"/>
                <a:cs typeface="+mn-lt"/>
              </a:rPr>
              <a:t>the</a:t>
            </a:r>
            <a:r>
              <a:rPr lang="pt-BR" sz="1100">
                <a:highlight>
                  <a:srgbClr val="FFFFFF"/>
                </a:highlight>
                <a:ea typeface="+mn-lt"/>
                <a:cs typeface="+mn-lt"/>
              </a:rPr>
              <a:t> workflow helps </a:t>
            </a:r>
            <a:r>
              <a:rPr lang="pt-BR" sz="1100" err="1">
                <a:highlight>
                  <a:srgbClr val="FFFFFF"/>
                </a:highlight>
                <a:ea typeface="+mn-lt"/>
                <a:cs typeface="+mn-lt"/>
              </a:rPr>
              <a:t>maintain</a:t>
            </a:r>
            <a:r>
              <a:rPr lang="pt-BR" sz="1100">
                <a:highlight>
                  <a:srgbClr val="FFFFFF"/>
                </a:highlight>
                <a:ea typeface="+mn-lt"/>
                <a:cs typeface="+mn-lt"/>
              </a:rPr>
              <a:t> </a:t>
            </a:r>
            <a:r>
              <a:rPr lang="pt-BR" sz="1100" err="1">
                <a:highlight>
                  <a:srgbClr val="FFFFFF"/>
                </a:highlight>
                <a:ea typeface="+mn-lt"/>
                <a:cs typeface="+mn-lt"/>
              </a:rPr>
              <a:t>proper</a:t>
            </a:r>
            <a:r>
              <a:rPr lang="pt-BR" sz="1100">
                <a:highlight>
                  <a:srgbClr val="FFFFFF"/>
                </a:highlight>
                <a:ea typeface="+mn-lt"/>
                <a:cs typeface="+mn-lt"/>
              </a:rPr>
              <a:t> </a:t>
            </a:r>
            <a:r>
              <a:rPr lang="pt-BR" sz="1100" err="1">
                <a:highlight>
                  <a:srgbClr val="FFFFFF"/>
                </a:highlight>
                <a:ea typeface="+mn-lt"/>
                <a:cs typeface="+mn-lt"/>
              </a:rPr>
              <a:t>connectivity</a:t>
            </a:r>
            <a:r>
              <a:rPr lang="pt-BR" sz="1100">
                <a:highlight>
                  <a:srgbClr val="FFFFFF"/>
                </a:highlight>
                <a:ea typeface="+mn-lt"/>
                <a:cs typeface="+mn-lt"/>
              </a:rPr>
              <a:t> </a:t>
            </a:r>
            <a:r>
              <a:rPr lang="pt-BR" sz="1100" err="1">
                <a:highlight>
                  <a:srgbClr val="FFFFFF"/>
                </a:highlight>
                <a:ea typeface="+mn-lt"/>
                <a:cs typeface="+mn-lt"/>
              </a:rPr>
              <a:t>and</a:t>
            </a:r>
            <a:r>
              <a:rPr lang="pt-BR" sz="1100">
                <a:highlight>
                  <a:srgbClr val="FFFFFF"/>
                </a:highlight>
                <a:ea typeface="+mn-lt"/>
                <a:cs typeface="+mn-lt"/>
              </a:rPr>
              <a:t> </a:t>
            </a:r>
            <a:r>
              <a:rPr lang="pt-BR" sz="1100" err="1">
                <a:highlight>
                  <a:srgbClr val="FFFFFF"/>
                </a:highlight>
                <a:ea typeface="+mn-lt"/>
                <a:cs typeface="+mn-lt"/>
              </a:rPr>
              <a:t>operational</a:t>
            </a:r>
            <a:r>
              <a:rPr lang="pt-BR" sz="1100">
                <a:highlight>
                  <a:srgbClr val="FFFFFF"/>
                </a:highlight>
                <a:ea typeface="+mn-lt"/>
                <a:cs typeface="+mn-lt"/>
              </a:rPr>
              <a:t> </a:t>
            </a:r>
            <a:r>
              <a:rPr lang="pt-BR" sz="1100" err="1">
                <a:highlight>
                  <a:srgbClr val="FFFFFF"/>
                </a:highlight>
                <a:ea typeface="+mn-lt"/>
                <a:cs typeface="+mn-lt"/>
              </a:rPr>
              <a:t>structure</a:t>
            </a:r>
            <a:r>
              <a:rPr lang="pt-BR" sz="1100">
                <a:highlight>
                  <a:srgbClr val="FFFFFF"/>
                </a:highlight>
                <a:ea typeface="+mn-lt"/>
                <a:cs typeface="+mn-lt"/>
              </a:rPr>
              <a:t> </a:t>
            </a:r>
            <a:r>
              <a:rPr lang="pt-BR" sz="1100" err="1">
                <a:highlight>
                  <a:srgbClr val="FFFFFF"/>
                </a:highlight>
                <a:ea typeface="+mn-lt"/>
                <a:cs typeface="+mn-lt"/>
              </a:rPr>
              <a:t>within</a:t>
            </a:r>
            <a:r>
              <a:rPr lang="pt-BR" sz="1100">
                <a:highlight>
                  <a:srgbClr val="FFFFFF"/>
                </a:highlight>
                <a:ea typeface="+mn-lt"/>
                <a:cs typeface="+mn-lt"/>
              </a:rPr>
              <a:t> </a:t>
            </a:r>
            <a:r>
              <a:rPr lang="pt-BR" sz="1100" err="1">
                <a:highlight>
                  <a:srgbClr val="FFFFFF"/>
                </a:highlight>
                <a:ea typeface="+mn-lt"/>
                <a:cs typeface="+mn-lt"/>
              </a:rPr>
              <a:t>Utility</a:t>
            </a:r>
            <a:r>
              <a:rPr lang="pt-BR" sz="1100">
                <a:highlight>
                  <a:srgbClr val="FFFFFF"/>
                </a:highlight>
                <a:ea typeface="+mn-lt"/>
                <a:cs typeface="+mn-lt"/>
              </a:rPr>
              <a:t> Networks.</a:t>
            </a:r>
            <a:br>
              <a:rPr lang="pt-BR" sz="1100">
                <a:highlight>
                  <a:srgbClr val="FFFFFF"/>
                </a:highlight>
                <a:ea typeface="+mn-lt"/>
                <a:cs typeface="+mn-lt"/>
              </a:rPr>
            </a:br>
            <a:br>
              <a:rPr lang="pt-BR" sz="1100">
                <a:highlight>
                  <a:srgbClr val="FFFFFF"/>
                </a:highlight>
                <a:ea typeface="+mn-lt"/>
                <a:cs typeface="+mn-lt"/>
              </a:rPr>
            </a:br>
            <a:r>
              <a:rPr lang="pt-BR" sz="1100">
                <a:highlight>
                  <a:srgbClr val="FFFFFF"/>
                </a:highlight>
                <a:ea typeface="+mn-lt"/>
                <a:cs typeface="+mn-lt"/>
              </a:rPr>
              <a:t>- Key </a:t>
            </a:r>
            <a:r>
              <a:rPr lang="pt-BR" sz="1100" err="1">
                <a:highlight>
                  <a:srgbClr val="FFFFFF"/>
                </a:highlight>
                <a:ea typeface="+mn-lt"/>
                <a:cs typeface="+mn-lt"/>
              </a:rPr>
              <a:t>Benefits</a:t>
            </a:r>
            <a:r>
              <a:rPr lang="pt-BR" sz="1100">
                <a:highlight>
                  <a:srgbClr val="FFFFFF"/>
                </a:highlight>
                <a:ea typeface="+mn-lt"/>
                <a:cs typeface="+mn-lt"/>
              </a:rPr>
              <a:t>:</a:t>
            </a:r>
            <a:br>
              <a:rPr lang="pt-BR" sz="1100">
                <a:highlight>
                  <a:srgbClr val="FFFFFF"/>
                </a:highlight>
                <a:ea typeface="+mn-lt"/>
                <a:cs typeface="+mn-lt"/>
              </a:rPr>
            </a:br>
            <a:br>
              <a:rPr lang="pt-BR" sz="1100">
                <a:highlight>
                  <a:srgbClr val="FFFFFF"/>
                </a:highlight>
                <a:ea typeface="+mn-lt"/>
                <a:cs typeface="+mn-lt"/>
              </a:rPr>
            </a:br>
            <a:r>
              <a:rPr lang="pt-BR" sz="1100">
                <a:highlight>
                  <a:srgbClr val="FFFFFF"/>
                </a:highlight>
                <a:ea typeface="+mn-lt"/>
                <a:cs typeface="+mn-lt"/>
              </a:rPr>
              <a:t>• </a:t>
            </a:r>
            <a:r>
              <a:rPr lang="pt-BR" sz="1100" err="1">
                <a:highlight>
                  <a:srgbClr val="FFFFFF"/>
                </a:highlight>
                <a:ea typeface="+mn-lt"/>
                <a:cs typeface="+mn-lt"/>
              </a:rPr>
              <a:t>Organizing</a:t>
            </a:r>
            <a:r>
              <a:rPr lang="pt-BR" sz="1100">
                <a:highlight>
                  <a:srgbClr val="FFFFFF"/>
                </a:highlight>
                <a:ea typeface="+mn-lt"/>
                <a:cs typeface="+mn-lt"/>
              </a:rPr>
              <a:t> </a:t>
            </a:r>
            <a:r>
              <a:rPr lang="pt-BR" sz="1100" err="1">
                <a:highlight>
                  <a:srgbClr val="FFFFFF"/>
                </a:highlight>
                <a:ea typeface="+mn-lt"/>
                <a:cs typeface="+mn-lt"/>
              </a:rPr>
              <a:t>large</a:t>
            </a:r>
            <a:r>
              <a:rPr lang="pt-BR" sz="1100">
                <a:highlight>
                  <a:srgbClr val="FFFFFF"/>
                </a:highlight>
                <a:ea typeface="+mn-lt"/>
                <a:cs typeface="+mn-lt"/>
              </a:rPr>
              <a:t> </a:t>
            </a:r>
            <a:r>
              <a:rPr lang="pt-BR" sz="1100" err="1">
                <a:highlight>
                  <a:srgbClr val="FFFFFF"/>
                </a:highlight>
                <a:ea typeface="+mn-lt"/>
                <a:cs typeface="+mn-lt"/>
              </a:rPr>
              <a:t>Utility</a:t>
            </a:r>
            <a:r>
              <a:rPr lang="pt-BR" sz="1100">
                <a:highlight>
                  <a:srgbClr val="FFFFFF"/>
                </a:highlight>
                <a:ea typeface="+mn-lt"/>
                <a:cs typeface="+mn-lt"/>
              </a:rPr>
              <a:t> Networks </a:t>
            </a:r>
            <a:r>
              <a:rPr lang="pt-BR" sz="1100" err="1">
                <a:highlight>
                  <a:srgbClr val="FFFFFF"/>
                </a:highlight>
                <a:ea typeface="+mn-lt"/>
                <a:cs typeface="+mn-lt"/>
              </a:rPr>
              <a:t>into</a:t>
            </a:r>
            <a:r>
              <a:rPr lang="pt-BR" sz="1100">
                <a:highlight>
                  <a:srgbClr val="FFFFFF"/>
                </a:highlight>
                <a:ea typeface="+mn-lt"/>
                <a:cs typeface="+mn-lt"/>
              </a:rPr>
              <a:t> </a:t>
            </a:r>
            <a:r>
              <a:rPr lang="pt-BR" sz="1100" err="1">
                <a:highlight>
                  <a:srgbClr val="FFFFFF"/>
                </a:highlight>
                <a:ea typeface="+mn-lt"/>
                <a:cs typeface="+mn-lt"/>
              </a:rPr>
              <a:t>manageable</a:t>
            </a:r>
            <a:r>
              <a:rPr lang="pt-BR" sz="1100">
                <a:highlight>
                  <a:srgbClr val="FFFFFF"/>
                </a:highlight>
                <a:ea typeface="+mn-lt"/>
                <a:cs typeface="+mn-lt"/>
              </a:rPr>
              <a:t> </a:t>
            </a:r>
            <a:r>
              <a:rPr lang="pt-BR" sz="1100" err="1">
                <a:highlight>
                  <a:srgbClr val="FFFFFF"/>
                </a:highlight>
                <a:ea typeface="+mn-lt"/>
                <a:cs typeface="+mn-lt"/>
              </a:rPr>
              <a:t>Subnetworks</a:t>
            </a:r>
            <a:r>
              <a:rPr lang="pt-BR" sz="1100">
                <a:highlight>
                  <a:srgbClr val="FFFFFF"/>
                </a:highlight>
                <a:ea typeface="+mn-lt"/>
                <a:cs typeface="+mn-lt"/>
              </a:rPr>
              <a:t>.</a:t>
            </a:r>
            <a:br>
              <a:rPr lang="pt-BR" sz="1100">
                <a:highlight>
                  <a:srgbClr val="FFFFFF"/>
                </a:highlight>
                <a:ea typeface="+mn-lt"/>
                <a:cs typeface="+mn-lt"/>
              </a:rPr>
            </a:br>
            <a:br>
              <a:rPr lang="pt-BR" sz="1100">
                <a:highlight>
                  <a:srgbClr val="FFFFFF"/>
                </a:highlight>
                <a:ea typeface="+mn-lt"/>
                <a:cs typeface="+mn-lt"/>
              </a:rPr>
            </a:br>
            <a:r>
              <a:rPr lang="pt-BR" sz="1100">
                <a:highlight>
                  <a:srgbClr val="FFFFFF"/>
                </a:highlight>
                <a:ea typeface="+mn-lt"/>
                <a:cs typeface="+mn-lt"/>
              </a:rPr>
              <a:t>• </a:t>
            </a:r>
            <a:r>
              <a:rPr lang="pt-BR" sz="1100" err="1">
                <a:highlight>
                  <a:srgbClr val="FFFFFF"/>
                </a:highlight>
                <a:ea typeface="+mn-lt"/>
                <a:cs typeface="+mn-lt"/>
              </a:rPr>
              <a:t>Improving</a:t>
            </a:r>
            <a:r>
              <a:rPr lang="pt-BR" sz="1100">
                <a:highlight>
                  <a:srgbClr val="FFFFFF"/>
                </a:highlight>
                <a:ea typeface="+mn-lt"/>
                <a:cs typeface="+mn-lt"/>
              </a:rPr>
              <a:t> Network </a:t>
            </a:r>
            <a:r>
              <a:rPr lang="pt-BR" sz="1100" err="1">
                <a:highlight>
                  <a:srgbClr val="FFFFFF"/>
                </a:highlight>
                <a:ea typeface="+mn-lt"/>
                <a:cs typeface="+mn-lt"/>
              </a:rPr>
              <a:t>Visibility</a:t>
            </a:r>
            <a:r>
              <a:rPr lang="pt-BR" sz="1100">
                <a:highlight>
                  <a:srgbClr val="FFFFFF"/>
                </a:highlight>
                <a:ea typeface="+mn-lt"/>
                <a:cs typeface="+mn-lt"/>
              </a:rPr>
              <a:t> </a:t>
            </a:r>
            <a:r>
              <a:rPr lang="pt-BR" sz="1100" err="1">
                <a:highlight>
                  <a:srgbClr val="FFFFFF"/>
                </a:highlight>
                <a:ea typeface="+mn-lt"/>
                <a:cs typeface="+mn-lt"/>
              </a:rPr>
              <a:t>and</a:t>
            </a:r>
            <a:r>
              <a:rPr lang="pt-BR" sz="1100">
                <a:highlight>
                  <a:srgbClr val="FFFFFF"/>
                </a:highlight>
                <a:ea typeface="+mn-lt"/>
                <a:cs typeface="+mn-lt"/>
              </a:rPr>
              <a:t> </a:t>
            </a:r>
            <a:r>
              <a:rPr lang="pt-BR" sz="1100" err="1">
                <a:highlight>
                  <a:srgbClr val="FFFFFF"/>
                </a:highlight>
                <a:ea typeface="+mn-lt"/>
                <a:cs typeface="+mn-lt"/>
              </a:rPr>
              <a:t>Structure</a:t>
            </a:r>
            <a:r>
              <a:rPr lang="pt-BR" sz="1100">
                <a:highlight>
                  <a:srgbClr val="FFFFFF"/>
                </a:highlight>
                <a:ea typeface="+mn-lt"/>
                <a:cs typeface="+mn-lt"/>
              </a:rPr>
              <a:t> for </a:t>
            </a:r>
            <a:r>
              <a:rPr lang="pt-BR" sz="1100" err="1">
                <a:highlight>
                  <a:srgbClr val="FFFFFF"/>
                </a:highlight>
                <a:ea typeface="+mn-lt"/>
                <a:cs typeface="+mn-lt"/>
              </a:rPr>
              <a:t>better</a:t>
            </a:r>
            <a:r>
              <a:rPr lang="pt-BR" sz="1100">
                <a:highlight>
                  <a:srgbClr val="FFFFFF"/>
                </a:highlight>
                <a:ea typeface="+mn-lt"/>
                <a:cs typeface="+mn-lt"/>
              </a:rPr>
              <a:t> </a:t>
            </a:r>
            <a:r>
              <a:rPr lang="pt-BR" sz="1100" err="1">
                <a:highlight>
                  <a:srgbClr val="FFFFFF"/>
                </a:highlight>
                <a:ea typeface="+mn-lt"/>
                <a:cs typeface="+mn-lt"/>
              </a:rPr>
              <a:t>Infrastructure</a:t>
            </a:r>
            <a:r>
              <a:rPr lang="pt-BR" sz="1100">
                <a:highlight>
                  <a:srgbClr val="FFFFFF"/>
                </a:highlight>
                <a:ea typeface="+mn-lt"/>
                <a:cs typeface="+mn-lt"/>
              </a:rPr>
              <a:t> Management.</a:t>
            </a:r>
            <a:br>
              <a:rPr lang="pt-BR" sz="1100">
                <a:highlight>
                  <a:srgbClr val="FFFFFF"/>
                </a:highlight>
                <a:ea typeface="+mn-lt"/>
                <a:cs typeface="+mn-lt"/>
              </a:rPr>
            </a:br>
            <a:br>
              <a:rPr lang="pt-BR" sz="1100">
                <a:highlight>
                  <a:srgbClr val="FFFFFF"/>
                </a:highlight>
                <a:ea typeface="+mn-lt"/>
                <a:cs typeface="+mn-lt"/>
              </a:rPr>
            </a:br>
            <a:r>
              <a:rPr lang="pt-BR" sz="1100">
                <a:highlight>
                  <a:srgbClr val="FFFFFF"/>
                </a:highlight>
                <a:ea typeface="+mn-lt"/>
                <a:cs typeface="+mn-lt"/>
              </a:rPr>
              <a:t>• </a:t>
            </a:r>
            <a:r>
              <a:rPr lang="pt-BR" sz="1100" err="1">
                <a:highlight>
                  <a:srgbClr val="FFFFFF"/>
                </a:highlight>
                <a:ea typeface="+mn-lt"/>
                <a:cs typeface="+mn-lt"/>
              </a:rPr>
              <a:t>Supporting</a:t>
            </a:r>
            <a:r>
              <a:rPr lang="pt-BR" sz="1100">
                <a:highlight>
                  <a:srgbClr val="FFFFFF"/>
                </a:highlight>
                <a:ea typeface="+mn-lt"/>
                <a:cs typeface="+mn-lt"/>
              </a:rPr>
              <a:t> </a:t>
            </a:r>
            <a:r>
              <a:rPr lang="pt-BR" sz="1100" err="1">
                <a:highlight>
                  <a:srgbClr val="FFFFFF"/>
                </a:highlight>
                <a:ea typeface="+mn-lt"/>
                <a:cs typeface="+mn-lt"/>
              </a:rPr>
              <a:t>Engineers</a:t>
            </a:r>
            <a:r>
              <a:rPr lang="pt-BR" sz="1100">
                <a:highlight>
                  <a:srgbClr val="FFFFFF"/>
                </a:highlight>
                <a:ea typeface="+mn-lt"/>
                <a:cs typeface="+mn-lt"/>
              </a:rPr>
              <a:t> </a:t>
            </a:r>
            <a:r>
              <a:rPr lang="pt-BR" sz="1100" err="1">
                <a:highlight>
                  <a:srgbClr val="FFFFFF"/>
                </a:highlight>
                <a:ea typeface="+mn-lt"/>
                <a:cs typeface="+mn-lt"/>
              </a:rPr>
              <a:t>and</a:t>
            </a:r>
            <a:r>
              <a:rPr lang="pt-BR" sz="1100">
                <a:highlight>
                  <a:srgbClr val="FFFFFF"/>
                </a:highlight>
                <a:ea typeface="+mn-lt"/>
                <a:cs typeface="+mn-lt"/>
              </a:rPr>
              <a:t> </a:t>
            </a:r>
            <a:r>
              <a:rPr lang="pt-BR" sz="1100" err="1">
                <a:highlight>
                  <a:srgbClr val="FFFFFF"/>
                </a:highlight>
                <a:ea typeface="+mn-lt"/>
                <a:cs typeface="+mn-lt"/>
              </a:rPr>
              <a:t>Utility</a:t>
            </a:r>
            <a:r>
              <a:rPr lang="pt-BR" sz="1100">
                <a:highlight>
                  <a:srgbClr val="FFFFFF"/>
                </a:highlight>
                <a:ea typeface="+mn-lt"/>
                <a:cs typeface="+mn-lt"/>
              </a:rPr>
              <a:t> </a:t>
            </a:r>
            <a:r>
              <a:rPr lang="pt-BR" sz="1100" err="1">
                <a:highlight>
                  <a:srgbClr val="FFFFFF"/>
                </a:highlight>
                <a:ea typeface="+mn-lt"/>
                <a:cs typeface="+mn-lt"/>
              </a:rPr>
              <a:t>teams</a:t>
            </a:r>
            <a:r>
              <a:rPr lang="pt-BR" sz="1100">
                <a:highlight>
                  <a:srgbClr val="FFFFFF"/>
                </a:highlight>
                <a:ea typeface="+mn-lt"/>
                <a:cs typeface="+mn-lt"/>
              </a:rPr>
              <a:t> </a:t>
            </a:r>
            <a:r>
              <a:rPr lang="pt-BR" sz="1100" err="1">
                <a:highlight>
                  <a:srgbClr val="FFFFFF"/>
                </a:highlight>
                <a:ea typeface="+mn-lt"/>
                <a:cs typeface="+mn-lt"/>
              </a:rPr>
              <a:t>with</a:t>
            </a:r>
            <a:r>
              <a:rPr lang="pt-BR" sz="1100">
                <a:highlight>
                  <a:srgbClr val="FFFFFF"/>
                </a:highlight>
                <a:ea typeface="+mn-lt"/>
                <a:cs typeface="+mn-lt"/>
              </a:rPr>
              <a:t> </a:t>
            </a:r>
            <a:r>
              <a:rPr lang="pt-BR" sz="1100" err="1">
                <a:highlight>
                  <a:srgbClr val="FFFFFF"/>
                </a:highlight>
                <a:ea typeface="+mn-lt"/>
                <a:cs typeface="+mn-lt"/>
              </a:rPr>
              <a:t>clearer</a:t>
            </a:r>
            <a:r>
              <a:rPr lang="pt-BR" sz="1100">
                <a:highlight>
                  <a:srgbClr val="FFFFFF"/>
                </a:highlight>
                <a:ea typeface="+mn-lt"/>
                <a:cs typeface="+mn-lt"/>
              </a:rPr>
              <a:t> network </a:t>
            </a:r>
            <a:r>
              <a:rPr lang="pt-BR" sz="1100" err="1">
                <a:highlight>
                  <a:srgbClr val="FFFFFF"/>
                </a:highlight>
                <a:ea typeface="+mn-lt"/>
                <a:cs typeface="+mn-lt"/>
              </a:rPr>
              <a:t>segmentation</a:t>
            </a:r>
            <a:r>
              <a:rPr lang="pt-BR" sz="1100">
                <a:highlight>
                  <a:srgbClr val="FFFFFF"/>
                </a:highlight>
                <a:ea typeface="+mn-lt"/>
                <a:cs typeface="+mn-lt"/>
              </a:rPr>
              <a:t>.</a:t>
            </a:r>
            <a:br>
              <a:rPr lang="pt-BR" sz="1100">
                <a:highlight>
                  <a:srgbClr val="FFFFFF"/>
                </a:highlight>
                <a:ea typeface="+mn-lt"/>
                <a:cs typeface="+mn-lt"/>
              </a:rPr>
            </a:br>
            <a:br>
              <a:rPr lang="pt-BR" sz="1100">
                <a:highlight>
                  <a:srgbClr val="FFFFFF"/>
                </a:highlight>
                <a:ea typeface="+mn-lt"/>
                <a:cs typeface="+mn-lt"/>
              </a:rPr>
            </a:br>
            <a:r>
              <a:rPr lang="pt-BR" sz="1100">
                <a:highlight>
                  <a:srgbClr val="FFFFFF"/>
                </a:highlight>
                <a:ea typeface="+mn-lt"/>
                <a:cs typeface="+mn-lt"/>
              </a:rPr>
              <a:t>• </a:t>
            </a:r>
            <a:r>
              <a:rPr lang="pt-BR" sz="1100" err="1">
                <a:highlight>
                  <a:srgbClr val="FFFFFF"/>
                </a:highlight>
                <a:ea typeface="+mn-lt"/>
                <a:cs typeface="+mn-lt"/>
              </a:rPr>
              <a:t>Maintaining</a:t>
            </a:r>
            <a:r>
              <a:rPr lang="pt-BR" sz="1100">
                <a:highlight>
                  <a:srgbClr val="FFFFFF"/>
                </a:highlight>
                <a:ea typeface="+mn-lt"/>
                <a:cs typeface="+mn-lt"/>
              </a:rPr>
              <a:t> network </a:t>
            </a:r>
            <a:r>
              <a:rPr lang="pt-BR" sz="1100" err="1">
                <a:highlight>
                  <a:srgbClr val="FFFFFF"/>
                </a:highlight>
                <a:ea typeface="+mn-lt"/>
                <a:cs typeface="+mn-lt"/>
              </a:rPr>
              <a:t>integrity</a:t>
            </a:r>
            <a:r>
              <a:rPr lang="pt-BR" sz="1100">
                <a:highlight>
                  <a:srgbClr val="FFFFFF"/>
                </a:highlight>
                <a:ea typeface="+mn-lt"/>
                <a:cs typeface="+mn-lt"/>
              </a:rPr>
              <a:t> </a:t>
            </a:r>
            <a:r>
              <a:rPr lang="pt-BR" sz="1100" err="1">
                <a:highlight>
                  <a:srgbClr val="FFFFFF"/>
                </a:highlight>
                <a:ea typeface="+mn-lt"/>
                <a:cs typeface="+mn-lt"/>
              </a:rPr>
              <a:t>and</a:t>
            </a:r>
            <a:r>
              <a:rPr lang="pt-BR" sz="1100">
                <a:highlight>
                  <a:srgbClr val="FFFFFF"/>
                </a:highlight>
                <a:ea typeface="+mn-lt"/>
                <a:cs typeface="+mn-lt"/>
              </a:rPr>
              <a:t> </a:t>
            </a:r>
            <a:r>
              <a:rPr lang="pt-BR" sz="1100" err="1">
                <a:highlight>
                  <a:srgbClr val="FFFFFF"/>
                </a:highlight>
                <a:ea typeface="+mn-lt"/>
                <a:cs typeface="+mn-lt"/>
              </a:rPr>
              <a:t>ensuring</a:t>
            </a:r>
            <a:r>
              <a:rPr lang="pt-BR" sz="1100">
                <a:highlight>
                  <a:srgbClr val="FFFFFF"/>
                </a:highlight>
                <a:ea typeface="+mn-lt"/>
                <a:cs typeface="+mn-lt"/>
              </a:rPr>
              <a:t> </a:t>
            </a:r>
            <a:r>
              <a:rPr lang="pt-BR" sz="1100" err="1">
                <a:highlight>
                  <a:srgbClr val="FFFFFF"/>
                </a:highlight>
                <a:ea typeface="+mn-lt"/>
                <a:cs typeface="+mn-lt"/>
              </a:rPr>
              <a:t>accurate</a:t>
            </a:r>
            <a:r>
              <a:rPr lang="pt-BR" sz="1100">
                <a:highlight>
                  <a:srgbClr val="FFFFFF"/>
                </a:highlight>
                <a:ea typeface="+mn-lt"/>
                <a:cs typeface="+mn-lt"/>
              </a:rPr>
              <a:t> </a:t>
            </a:r>
            <a:r>
              <a:rPr lang="pt-BR" sz="1100" err="1">
                <a:highlight>
                  <a:srgbClr val="FFFFFF"/>
                </a:highlight>
                <a:ea typeface="+mn-lt"/>
                <a:cs typeface="+mn-lt"/>
              </a:rPr>
              <a:t>connectivity</a:t>
            </a:r>
            <a:r>
              <a:rPr lang="pt-BR" sz="1100">
                <a:highlight>
                  <a:srgbClr val="FFFFFF"/>
                </a:highlight>
                <a:ea typeface="+mn-lt"/>
                <a:cs typeface="+mn-lt"/>
              </a:rPr>
              <a:t> </a:t>
            </a:r>
            <a:r>
              <a:rPr lang="pt-BR" sz="1100" err="1">
                <a:highlight>
                  <a:srgbClr val="FFFFFF"/>
                </a:highlight>
                <a:ea typeface="+mn-lt"/>
                <a:cs typeface="+mn-lt"/>
              </a:rPr>
              <a:t>across</a:t>
            </a:r>
            <a:r>
              <a:rPr lang="pt-BR" sz="1100">
                <a:highlight>
                  <a:srgbClr val="FFFFFF"/>
                </a:highlight>
                <a:ea typeface="+mn-lt"/>
                <a:cs typeface="+mn-lt"/>
              </a:rPr>
              <a:t> </a:t>
            </a:r>
            <a:r>
              <a:rPr lang="pt-BR" sz="1100" err="1">
                <a:highlight>
                  <a:srgbClr val="FFFFFF"/>
                </a:highlight>
                <a:ea typeface="+mn-lt"/>
                <a:cs typeface="+mn-lt"/>
              </a:rPr>
              <a:t>the</a:t>
            </a:r>
            <a:r>
              <a:rPr lang="pt-BR" sz="1100">
                <a:highlight>
                  <a:srgbClr val="FFFFFF"/>
                </a:highlight>
                <a:ea typeface="+mn-lt"/>
                <a:cs typeface="+mn-lt"/>
              </a:rPr>
              <a:t> system.</a:t>
            </a:r>
            <a:br>
              <a:rPr lang="pt-BR" sz="1100">
                <a:highlight>
                  <a:srgbClr val="FFFFFF"/>
                </a:highlight>
                <a:ea typeface="+mn-lt"/>
                <a:cs typeface="+mn-lt"/>
              </a:rPr>
            </a:br>
            <a:br>
              <a:rPr lang="pt-BR" sz="1100">
                <a:highlight>
                  <a:srgbClr val="FFFFFF"/>
                </a:highlight>
                <a:ea typeface="+mn-lt"/>
                <a:cs typeface="+mn-lt"/>
              </a:rPr>
            </a:br>
            <a:r>
              <a:rPr lang="pt-BR" sz="1100">
                <a:highlight>
                  <a:srgbClr val="FFFFFF"/>
                </a:highlight>
                <a:ea typeface="+mn-lt"/>
                <a:cs typeface="+mn-lt"/>
              </a:rPr>
              <a:t>- </a:t>
            </a:r>
            <a:r>
              <a:rPr lang="pt-BR" sz="1100" err="1">
                <a:highlight>
                  <a:srgbClr val="FFFFFF"/>
                </a:highlight>
                <a:ea typeface="+mn-lt"/>
                <a:cs typeface="+mn-lt"/>
              </a:rPr>
              <a:t>Why</a:t>
            </a:r>
            <a:r>
              <a:rPr lang="pt-BR" sz="1100">
                <a:highlight>
                  <a:srgbClr val="FFFFFF"/>
                </a:highlight>
                <a:ea typeface="+mn-lt"/>
                <a:cs typeface="+mn-lt"/>
              </a:rPr>
              <a:t> </a:t>
            </a:r>
            <a:r>
              <a:rPr lang="pt-BR" sz="1100" err="1">
                <a:highlight>
                  <a:srgbClr val="FFFFFF"/>
                </a:highlight>
                <a:ea typeface="+mn-lt"/>
                <a:cs typeface="+mn-lt"/>
              </a:rPr>
              <a:t>This</a:t>
            </a:r>
            <a:r>
              <a:rPr lang="pt-BR" sz="1100">
                <a:highlight>
                  <a:srgbClr val="FFFFFF"/>
                </a:highlight>
                <a:ea typeface="+mn-lt"/>
                <a:cs typeface="+mn-lt"/>
              </a:rPr>
              <a:t> </a:t>
            </a:r>
            <a:r>
              <a:rPr lang="pt-BR" sz="1100" err="1">
                <a:highlight>
                  <a:srgbClr val="FFFFFF"/>
                </a:highlight>
                <a:ea typeface="+mn-lt"/>
                <a:cs typeface="+mn-lt"/>
              </a:rPr>
              <a:t>Matters</a:t>
            </a:r>
            <a:r>
              <a:rPr lang="pt-BR" sz="1100">
                <a:highlight>
                  <a:srgbClr val="FFFFFF"/>
                </a:highlight>
                <a:ea typeface="+mn-lt"/>
                <a:cs typeface="+mn-lt"/>
              </a:rPr>
              <a:t>:</a:t>
            </a:r>
            <a:br>
              <a:rPr lang="pt-BR" sz="1100">
                <a:highlight>
                  <a:srgbClr val="FFFFFF"/>
                </a:highlight>
                <a:ea typeface="+mn-lt"/>
                <a:cs typeface="+mn-lt"/>
              </a:rPr>
            </a:br>
            <a:br>
              <a:rPr lang="pt-BR" sz="1100">
                <a:highlight>
                  <a:srgbClr val="FFFFFF"/>
                </a:highlight>
                <a:ea typeface="+mn-lt"/>
                <a:cs typeface="+mn-lt"/>
              </a:rPr>
            </a:br>
            <a:r>
              <a:rPr lang="pt-BR" sz="1100">
                <a:highlight>
                  <a:srgbClr val="FFFFFF"/>
                </a:highlight>
                <a:ea typeface="+mn-lt"/>
                <a:cs typeface="+mn-lt"/>
              </a:rPr>
              <a:t>* </a:t>
            </a:r>
            <a:r>
              <a:rPr lang="pt-BR" sz="1100" err="1">
                <a:highlight>
                  <a:srgbClr val="FFFFFF"/>
                </a:highlight>
                <a:ea typeface="+mn-lt"/>
                <a:cs typeface="+mn-lt"/>
              </a:rPr>
              <a:t>Subnetworks</a:t>
            </a:r>
            <a:r>
              <a:rPr lang="pt-BR" sz="1100">
                <a:highlight>
                  <a:srgbClr val="FFFFFF"/>
                </a:highlight>
                <a:ea typeface="+mn-lt"/>
                <a:cs typeface="+mn-lt"/>
              </a:rPr>
              <a:t> play a </a:t>
            </a:r>
            <a:r>
              <a:rPr lang="pt-BR" sz="1100" err="1">
                <a:highlight>
                  <a:srgbClr val="FFFFFF"/>
                </a:highlight>
                <a:ea typeface="+mn-lt"/>
                <a:cs typeface="+mn-lt"/>
              </a:rPr>
              <a:t>critical</a:t>
            </a:r>
            <a:r>
              <a:rPr lang="pt-BR" sz="1100">
                <a:highlight>
                  <a:srgbClr val="FFFFFF"/>
                </a:highlight>
                <a:ea typeface="+mn-lt"/>
                <a:cs typeface="+mn-lt"/>
              </a:rPr>
              <a:t> role in </a:t>
            </a:r>
            <a:r>
              <a:rPr lang="pt-BR" sz="1100" err="1">
                <a:highlight>
                  <a:srgbClr val="FFFFFF"/>
                </a:highlight>
                <a:ea typeface="+mn-lt"/>
                <a:cs typeface="+mn-lt"/>
              </a:rPr>
              <a:t>managing</a:t>
            </a:r>
            <a:r>
              <a:rPr lang="pt-BR" sz="1100">
                <a:highlight>
                  <a:srgbClr val="FFFFFF"/>
                </a:highlight>
                <a:ea typeface="+mn-lt"/>
                <a:cs typeface="+mn-lt"/>
              </a:rPr>
              <a:t> </a:t>
            </a:r>
            <a:r>
              <a:rPr lang="pt-BR" sz="1100" err="1">
                <a:highlight>
                  <a:srgbClr val="FFFFFF"/>
                </a:highlight>
                <a:ea typeface="+mn-lt"/>
                <a:cs typeface="+mn-lt"/>
              </a:rPr>
              <a:t>Utility</a:t>
            </a:r>
            <a:r>
              <a:rPr lang="pt-BR" sz="1100">
                <a:highlight>
                  <a:srgbClr val="FFFFFF"/>
                </a:highlight>
                <a:ea typeface="+mn-lt"/>
                <a:cs typeface="+mn-lt"/>
              </a:rPr>
              <a:t> </a:t>
            </a:r>
            <a:r>
              <a:rPr lang="pt-BR" sz="1100" err="1">
                <a:highlight>
                  <a:srgbClr val="FFFFFF"/>
                </a:highlight>
                <a:ea typeface="+mn-lt"/>
                <a:cs typeface="+mn-lt"/>
              </a:rPr>
              <a:t>infrastructure</a:t>
            </a:r>
            <a:r>
              <a:rPr lang="pt-BR" sz="1100">
                <a:highlight>
                  <a:srgbClr val="FFFFFF"/>
                </a:highlight>
                <a:ea typeface="+mn-lt"/>
                <a:cs typeface="+mn-lt"/>
              </a:rPr>
              <a:t> </a:t>
            </a:r>
            <a:r>
              <a:rPr lang="pt-BR" sz="1100" err="1">
                <a:highlight>
                  <a:srgbClr val="FFFFFF"/>
                </a:highlight>
                <a:ea typeface="+mn-lt"/>
                <a:cs typeface="+mn-lt"/>
              </a:rPr>
              <a:t>and</a:t>
            </a:r>
            <a:r>
              <a:rPr lang="pt-BR" sz="1100">
                <a:highlight>
                  <a:srgbClr val="FFFFFF"/>
                </a:highlight>
                <a:ea typeface="+mn-lt"/>
                <a:cs typeface="+mn-lt"/>
              </a:rPr>
              <a:t> </a:t>
            </a:r>
            <a:r>
              <a:rPr lang="pt-BR" sz="1100" err="1">
                <a:highlight>
                  <a:srgbClr val="FFFFFF"/>
                </a:highlight>
                <a:ea typeface="+mn-lt"/>
                <a:cs typeface="+mn-lt"/>
              </a:rPr>
              <a:t>ensuring</a:t>
            </a:r>
            <a:r>
              <a:rPr lang="pt-BR" sz="1100">
                <a:highlight>
                  <a:srgbClr val="FFFFFF"/>
                </a:highlight>
                <a:ea typeface="+mn-lt"/>
                <a:cs typeface="+mn-lt"/>
              </a:rPr>
              <a:t> </a:t>
            </a:r>
            <a:r>
              <a:rPr lang="pt-BR" sz="1100" err="1">
                <a:highlight>
                  <a:srgbClr val="FFFFFF"/>
                </a:highlight>
                <a:ea typeface="+mn-lt"/>
                <a:cs typeface="+mn-lt"/>
              </a:rPr>
              <a:t>efficient</a:t>
            </a:r>
            <a:r>
              <a:rPr lang="pt-BR" sz="1100">
                <a:highlight>
                  <a:srgbClr val="FFFFFF"/>
                </a:highlight>
                <a:ea typeface="+mn-lt"/>
                <a:cs typeface="+mn-lt"/>
              </a:rPr>
              <a:t> network </a:t>
            </a:r>
            <a:r>
              <a:rPr lang="pt-BR" sz="1100" err="1">
                <a:highlight>
                  <a:srgbClr val="FFFFFF"/>
                </a:highlight>
                <a:ea typeface="+mn-lt"/>
                <a:cs typeface="+mn-lt"/>
              </a:rPr>
              <a:t>operations</a:t>
            </a:r>
            <a:r>
              <a:rPr lang="pt-BR" sz="1100">
                <a:highlight>
                  <a:srgbClr val="FFFFFF"/>
                </a:highlight>
                <a:ea typeface="+mn-lt"/>
                <a:cs typeface="+mn-lt"/>
              </a:rPr>
              <a:t>.</a:t>
            </a:r>
            <a:br>
              <a:rPr lang="pt-BR" sz="1100">
                <a:highlight>
                  <a:srgbClr val="FFFFFF"/>
                </a:highlight>
                <a:ea typeface="+mn-lt"/>
                <a:cs typeface="+mn-lt"/>
              </a:rPr>
            </a:br>
            <a:br>
              <a:rPr lang="pt-BR" sz="1100">
                <a:highlight>
                  <a:srgbClr val="FFFFFF"/>
                </a:highlight>
                <a:ea typeface="+mn-lt"/>
                <a:cs typeface="+mn-lt"/>
              </a:rPr>
            </a:br>
            <a:r>
              <a:rPr lang="pt-BR" sz="1100">
                <a:highlight>
                  <a:srgbClr val="FFFFFF"/>
                </a:highlight>
                <a:ea typeface="+mn-lt"/>
                <a:cs typeface="+mn-lt"/>
              </a:rPr>
              <a:t>- </a:t>
            </a:r>
            <a:r>
              <a:rPr lang="pt-BR" sz="1100" err="1">
                <a:highlight>
                  <a:srgbClr val="FFFFFF"/>
                </a:highlight>
                <a:ea typeface="+mn-lt"/>
                <a:cs typeface="+mn-lt"/>
              </a:rPr>
              <a:t>Subnetworks</a:t>
            </a:r>
            <a:r>
              <a:rPr lang="pt-BR" sz="1100">
                <a:highlight>
                  <a:srgbClr val="FFFFFF"/>
                </a:highlight>
                <a:ea typeface="+mn-lt"/>
                <a:cs typeface="+mn-lt"/>
              </a:rPr>
              <a:t> are </a:t>
            </a:r>
            <a:r>
              <a:rPr lang="pt-BR" sz="1100" err="1">
                <a:highlight>
                  <a:srgbClr val="FFFFFF"/>
                </a:highlight>
                <a:ea typeface="+mn-lt"/>
                <a:cs typeface="+mn-lt"/>
              </a:rPr>
              <a:t>essential</a:t>
            </a:r>
            <a:r>
              <a:rPr lang="pt-BR" sz="1100">
                <a:highlight>
                  <a:srgbClr val="FFFFFF"/>
                </a:highlight>
                <a:ea typeface="+mn-lt"/>
                <a:cs typeface="+mn-lt"/>
              </a:rPr>
              <a:t> for:</a:t>
            </a:r>
            <a:br>
              <a:rPr lang="pt-BR" sz="1100">
                <a:highlight>
                  <a:srgbClr val="FFFFFF"/>
                </a:highlight>
                <a:ea typeface="+mn-lt"/>
                <a:cs typeface="+mn-lt"/>
              </a:rPr>
            </a:br>
            <a:br>
              <a:rPr lang="pt-BR" sz="1100">
                <a:highlight>
                  <a:srgbClr val="FFFFFF"/>
                </a:highlight>
                <a:ea typeface="+mn-lt"/>
                <a:cs typeface="+mn-lt"/>
              </a:rPr>
            </a:br>
            <a:r>
              <a:rPr lang="pt-BR" sz="1100">
                <a:highlight>
                  <a:srgbClr val="FFFFFF"/>
                </a:highlight>
                <a:ea typeface="+mn-lt"/>
                <a:cs typeface="+mn-lt"/>
              </a:rPr>
              <a:t>• </a:t>
            </a:r>
            <a:r>
              <a:rPr lang="pt-BR" sz="1100" err="1">
                <a:highlight>
                  <a:srgbClr val="FFFFFF"/>
                </a:highlight>
                <a:ea typeface="+mn-lt"/>
                <a:cs typeface="+mn-lt"/>
              </a:rPr>
              <a:t>Distribution</a:t>
            </a:r>
            <a:r>
              <a:rPr lang="pt-BR" sz="1100">
                <a:highlight>
                  <a:srgbClr val="FFFFFF"/>
                </a:highlight>
                <a:ea typeface="+mn-lt"/>
                <a:cs typeface="+mn-lt"/>
              </a:rPr>
              <a:t> Network Management.</a:t>
            </a:r>
            <a:br>
              <a:rPr lang="pt-BR" sz="1100">
                <a:highlight>
                  <a:srgbClr val="FFFFFF"/>
                </a:highlight>
                <a:ea typeface="+mn-lt"/>
                <a:cs typeface="+mn-lt"/>
              </a:rPr>
            </a:br>
            <a:br>
              <a:rPr lang="pt-BR" sz="1100">
                <a:highlight>
                  <a:srgbClr val="FFFFFF"/>
                </a:highlight>
                <a:ea typeface="+mn-lt"/>
                <a:cs typeface="+mn-lt"/>
              </a:rPr>
            </a:br>
            <a:r>
              <a:rPr lang="pt-BR" sz="1100">
                <a:highlight>
                  <a:srgbClr val="FFFFFF"/>
                </a:highlight>
                <a:ea typeface="+mn-lt"/>
                <a:cs typeface="+mn-lt"/>
              </a:rPr>
              <a:t>• </a:t>
            </a:r>
            <a:r>
              <a:rPr lang="pt-BR" sz="1100" err="1">
                <a:highlight>
                  <a:srgbClr val="FFFFFF"/>
                </a:highlight>
                <a:ea typeface="+mn-lt"/>
                <a:cs typeface="+mn-lt"/>
              </a:rPr>
              <a:t>Utility</a:t>
            </a:r>
            <a:r>
              <a:rPr lang="pt-BR" sz="1100">
                <a:highlight>
                  <a:srgbClr val="FFFFFF"/>
                </a:highlight>
                <a:ea typeface="+mn-lt"/>
                <a:cs typeface="+mn-lt"/>
              </a:rPr>
              <a:t> </a:t>
            </a:r>
            <a:r>
              <a:rPr lang="pt-BR" sz="1100" err="1">
                <a:highlight>
                  <a:srgbClr val="FFFFFF"/>
                </a:highlight>
                <a:ea typeface="+mn-lt"/>
                <a:cs typeface="+mn-lt"/>
              </a:rPr>
              <a:t>Infrastructure</a:t>
            </a:r>
            <a:r>
              <a:rPr lang="pt-BR" sz="1100">
                <a:highlight>
                  <a:srgbClr val="FFFFFF"/>
                </a:highlight>
                <a:ea typeface="+mn-lt"/>
                <a:cs typeface="+mn-lt"/>
              </a:rPr>
              <a:t> </a:t>
            </a:r>
            <a:r>
              <a:rPr lang="pt-BR" sz="1100" err="1">
                <a:highlight>
                  <a:srgbClr val="FFFFFF"/>
                </a:highlight>
                <a:ea typeface="+mn-lt"/>
                <a:cs typeface="+mn-lt"/>
              </a:rPr>
              <a:t>Monitoring</a:t>
            </a:r>
            <a:r>
              <a:rPr lang="pt-BR" sz="1100">
                <a:highlight>
                  <a:srgbClr val="FFFFFF"/>
                </a:highlight>
                <a:ea typeface="+mn-lt"/>
                <a:cs typeface="+mn-lt"/>
              </a:rPr>
              <a:t>.</a:t>
            </a:r>
            <a:br>
              <a:rPr lang="pt-BR" sz="1100">
                <a:highlight>
                  <a:srgbClr val="FFFFFF"/>
                </a:highlight>
                <a:ea typeface="+mn-lt"/>
                <a:cs typeface="+mn-lt"/>
              </a:rPr>
            </a:br>
            <a:br>
              <a:rPr lang="pt-BR" sz="1100">
                <a:highlight>
                  <a:srgbClr val="FFFFFF"/>
                </a:highlight>
                <a:ea typeface="+mn-lt"/>
                <a:cs typeface="+mn-lt"/>
              </a:rPr>
            </a:br>
            <a:r>
              <a:rPr lang="pt-BR" sz="1100">
                <a:highlight>
                  <a:srgbClr val="FFFFFF"/>
                </a:highlight>
                <a:ea typeface="+mn-lt"/>
                <a:cs typeface="+mn-lt"/>
              </a:rPr>
              <a:t>• Network </a:t>
            </a:r>
            <a:r>
              <a:rPr lang="pt-BR" sz="1100" err="1">
                <a:highlight>
                  <a:srgbClr val="FFFFFF"/>
                </a:highlight>
                <a:ea typeface="+mn-lt"/>
                <a:cs typeface="+mn-lt"/>
              </a:rPr>
              <a:t>Connectivity</a:t>
            </a:r>
            <a:r>
              <a:rPr lang="pt-BR" sz="1100">
                <a:highlight>
                  <a:srgbClr val="FFFFFF"/>
                </a:highlight>
                <a:ea typeface="+mn-lt"/>
                <a:cs typeface="+mn-lt"/>
              </a:rPr>
              <a:t> </a:t>
            </a:r>
            <a:r>
              <a:rPr lang="pt-BR" sz="1100" err="1">
                <a:highlight>
                  <a:srgbClr val="FFFFFF"/>
                </a:highlight>
                <a:ea typeface="+mn-lt"/>
                <a:cs typeface="+mn-lt"/>
              </a:rPr>
              <a:t>and</a:t>
            </a:r>
            <a:r>
              <a:rPr lang="pt-BR" sz="1100">
                <a:highlight>
                  <a:srgbClr val="FFFFFF"/>
                </a:highlight>
                <a:ea typeface="+mn-lt"/>
                <a:cs typeface="+mn-lt"/>
              </a:rPr>
              <a:t> Flow Management.</a:t>
            </a:r>
            <a:br>
              <a:rPr lang="pt-BR" sz="1100">
                <a:highlight>
                  <a:srgbClr val="FFFFFF"/>
                </a:highlight>
                <a:ea typeface="+mn-lt"/>
                <a:cs typeface="+mn-lt"/>
              </a:rPr>
            </a:br>
            <a:br>
              <a:rPr lang="pt-BR" sz="1100">
                <a:highlight>
                  <a:srgbClr val="FFFFFF"/>
                </a:highlight>
                <a:ea typeface="+mn-lt"/>
                <a:cs typeface="+mn-lt"/>
              </a:rPr>
            </a:br>
            <a:r>
              <a:rPr lang="pt-BR" sz="1100">
                <a:highlight>
                  <a:srgbClr val="FFFFFF"/>
                </a:highlight>
                <a:ea typeface="+mn-lt"/>
                <a:cs typeface="+mn-lt"/>
              </a:rPr>
              <a:t>• </a:t>
            </a:r>
            <a:r>
              <a:rPr lang="pt-BR" sz="1100" err="1">
                <a:highlight>
                  <a:srgbClr val="FFFFFF"/>
                </a:highlight>
                <a:ea typeface="+mn-lt"/>
                <a:cs typeface="+mn-lt"/>
              </a:rPr>
              <a:t>Operational</a:t>
            </a:r>
            <a:r>
              <a:rPr lang="pt-BR" sz="1100">
                <a:highlight>
                  <a:srgbClr val="FFFFFF"/>
                </a:highlight>
                <a:ea typeface="+mn-lt"/>
                <a:cs typeface="+mn-lt"/>
              </a:rPr>
              <a:t> </a:t>
            </a:r>
            <a:r>
              <a:rPr lang="pt-BR" sz="1100" err="1">
                <a:highlight>
                  <a:srgbClr val="FFFFFF"/>
                </a:highlight>
                <a:ea typeface="+mn-lt"/>
                <a:cs typeface="+mn-lt"/>
              </a:rPr>
              <a:t>Analysis</a:t>
            </a:r>
            <a:r>
              <a:rPr lang="pt-BR" sz="1100">
                <a:highlight>
                  <a:srgbClr val="FFFFFF"/>
                </a:highlight>
                <a:ea typeface="+mn-lt"/>
                <a:cs typeface="+mn-lt"/>
              </a:rPr>
              <a:t> </a:t>
            </a:r>
            <a:r>
              <a:rPr lang="pt-BR" sz="1100" err="1">
                <a:highlight>
                  <a:srgbClr val="FFFFFF"/>
                </a:highlight>
                <a:ea typeface="+mn-lt"/>
                <a:cs typeface="+mn-lt"/>
              </a:rPr>
              <a:t>and</a:t>
            </a:r>
            <a:r>
              <a:rPr lang="pt-BR" sz="1100">
                <a:highlight>
                  <a:srgbClr val="FFFFFF"/>
                </a:highlight>
                <a:ea typeface="+mn-lt"/>
                <a:cs typeface="+mn-lt"/>
              </a:rPr>
              <a:t> Maintenance.</a:t>
            </a:r>
            <a:br>
              <a:rPr lang="pt-BR" sz="1100">
                <a:highlight>
                  <a:srgbClr val="FFFFFF"/>
                </a:highlight>
                <a:ea typeface="+mn-lt"/>
                <a:cs typeface="+mn-lt"/>
              </a:rPr>
            </a:br>
            <a:br>
              <a:rPr lang="pt-BR" sz="1100">
                <a:highlight>
                  <a:srgbClr val="FFFFFF"/>
                </a:highlight>
                <a:ea typeface="+mn-lt"/>
                <a:cs typeface="+mn-lt"/>
              </a:rPr>
            </a:br>
            <a:r>
              <a:rPr lang="pt-BR" sz="1100">
                <a:highlight>
                  <a:srgbClr val="FFFFFF"/>
                </a:highlight>
                <a:ea typeface="+mn-lt"/>
                <a:cs typeface="+mn-lt"/>
              </a:rPr>
              <a:t>• </a:t>
            </a:r>
            <a:r>
              <a:rPr lang="pt-BR" sz="1100" err="1">
                <a:highlight>
                  <a:srgbClr val="FFFFFF"/>
                </a:highlight>
                <a:ea typeface="+mn-lt"/>
                <a:cs typeface="+mn-lt"/>
              </a:rPr>
              <a:t>Supporting</a:t>
            </a:r>
            <a:r>
              <a:rPr lang="pt-BR" sz="1100">
                <a:highlight>
                  <a:srgbClr val="FFFFFF"/>
                </a:highlight>
                <a:ea typeface="+mn-lt"/>
                <a:cs typeface="+mn-lt"/>
              </a:rPr>
              <a:t> </a:t>
            </a:r>
            <a:r>
              <a:rPr lang="pt-BR" sz="1100" err="1">
                <a:highlight>
                  <a:srgbClr val="FFFFFF"/>
                </a:highlight>
                <a:ea typeface="+mn-lt"/>
                <a:cs typeface="+mn-lt"/>
              </a:rPr>
              <a:t>Smart</a:t>
            </a:r>
            <a:r>
              <a:rPr lang="pt-BR" sz="1100">
                <a:highlight>
                  <a:srgbClr val="FFFFFF"/>
                </a:highlight>
                <a:ea typeface="+mn-lt"/>
                <a:cs typeface="+mn-lt"/>
              </a:rPr>
              <a:t> Grid </a:t>
            </a:r>
            <a:r>
              <a:rPr lang="pt-BR" sz="1100" err="1">
                <a:highlight>
                  <a:srgbClr val="FFFFFF"/>
                </a:highlight>
                <a:ea typeface="+mn-lt"/>
                <a:cs typeface="+mn-lt"/>
              </a:rPr>
              <a:t>and</a:t>
            </a:r>
            <a:r>
              <a:rPr lang="pt-BR" sz="1100">
                <a:highlight>
                  <a:srgbClr val="FFFFFF"/>
                </a:highlight>
                <a:ea typeface="+mn-lt"/>
                <a:cs typeface="+mn-lt"/>
              </a:rPr>
              <a:t> </a:t>
            </a:r>
            <a:r>
              <a:rPr lang="pt-BR" sz="1100" err="1">
                <a:highlight>
                  <a:srgbClr val="FFFFFF"/>
                </a:highlight>
                <a:ea typeface="+mn-lt"/>
                <a:cs typeface="+mn-lt"/>
              </a:rPr>
              <a:t>Modern</a:t>
            </a:r>
            <a:r>
              <a:rPr lang="pt-BR" sz="1100">
                <a:highlight>
                  <a:srgbClr val="FFFFFF"/>
                </a:highlight>
                <a:ea typeface="+mn-lt"/>
                <a:cs typeface="+mn-lt"/>
              </a:rPr>
              <a:t> </a:t>
            </a:r>
            <a:r>
              <a:rPr lang="pt-BR" sz="1100" err="1">
                <a:highlight>
                  <a:srgbClr val="FFFFFF"/>
                </a:highlight>
                <a:ea typeface="+mn-lt"/>
                <a:cs typeface="+mn-lt"/>
              </a:rPr>
              <a:t>Utility</a:t>
            </a:r>
            <a:r>
              <a:rPr lang="pt-BR" sz="1100">
                <a:highlight>
                  <a:srgbClr val="FFFFFF"/>
                </a:highlight>
                <a:ea typeface="+mn-lt"/>
                <a:cs typeface="+mn-lt"/>
              </a:rPr>
              <a:t> Systems.</a:t>
            </a:r>
            <a:br>
              <a:rPr lang="pt-BR" sz="1100">
                <a:highlight>
                  <a:srgbClr val="FFFFFF"/>
                </a:highlight>
                <a:ea typeface="+mn-lt"/>
                <a:cs typeface="+mn-lt"/>
              </a:rPr>
            </a:br>
            <a:br>
              <a:rPr lang="pt-BR" sz="1100">
                <a:highlight>
                  <a:srgbClr val="FFFFFF"/>
                </a:highlight>
                <a:ea typeface="+mn-lt"/>
                <a:cs typeface="+mn-lt"/>
              </a:rPr>
            </a:br>
            <a:r>
              <a:rPr lang="pt-BR" sz="1100">
                <a:highlight>
                  <a:srgbClr val="FFFFFF"/>
                </a:highlight>
                <a:ea typeface="+mn-lt"/>
                <a:cs typeface="+mn-lt"/>
              </a:rPr>
              <a:t>- </a:t>
            </a:r>
            <a:r>
              <a:rPr lang="pt-BR" sz="1100" err="1">
                <a:highlight>
                  <a:srgbClr val="FFFFFF"/>
                </a:highlight>
                <a:ea typeface="+mn-lt"/>
                <a:cs typeface="+mn-lt"/>
              </a:rPr>
              <a:t>This</a:t>
            </a:r>
            <a:r>
              <a:rPr lang="pt-BR" sz="1100">
                <a:highlight>
                  <a:srgbClr val="FFFFFF"/>
                </a:highlight>
                <a:ea typeface="+mn-lt"/>
                <a:cs typeface="+mn-lt"/>
              </a:rPr>
              <a:t> Project </a:t>
            </a:r>
            <a:r>
              <a:rPr lang="pt-BR" sz="1100" err="1">
                <a:highlight>
                  <a:srgbClr val="FFFFFF"/>
                </a:highlight>
                <a:ea typeface="+mn-lt"/>
                <a:cs typeface="+mn-lt"/>
              </a:rPr>
              <a:t>highlights</a:t>
            </a:r>
            <a:r>
              <a:rPr lang="pt-BR" sz="1100">
                <a:highlight>
                  <a:srgbClr val="FFFFFF"/>
                </a:highlight>
                <a:ea typeface="+mn-lt"/>
                <a:cs typeface="+mn-lt"/>
              </a:rPr>
              <a:t> </a:t>
            </a:r>
            <a:r>
              <a:rPr lang="pt-BR" sz="1100" err="1">
                <a:highlight>
                  <a:srgbClr val="FFFFFF"/>
                </a:highlight>
                <a:ea typeface="+mn-lt"/>
                <a:cs typeface="+mn-lt"/>
              </a:rPr>
              <a:t>how</a:t>
            </a:r>
            <a:r>
              <a:rPr lang="pt-BR" sz="1100">
                <a:highlight>
                  <a:srgbClr val="FFFFFF"/>
                </a:highlight>
                <a:ea typeface="+mn-lt"/>
                <a:cs typeface="+mn-lt"/>
              </a:rPr>
              <a:t> GIS-</a:t>
            </a:r>
            <a:r>
              <a:rPr lang="pt-BR" sz="1100" err="1">
                <a:highlight>
                  <a:srgbClr val="FFFFFF"/>
                </a:highlight>
                <a:ea typeface="+mn-lt"/>
                <a:cs typeface="+mn-lt"/>
              </a:rPr>
              <a:t>based</a:t>
            </a:r>
            <a:r>
              <a:rPr lang="pt-BR" sz="1100">
                <a:highlight>
                  <a:srgbClr val="FFFFFF"/>
                </a:highlight>
                <a:ea typeface="+mn-lt"/>
                <a:cs typeface="+mn-lt"/>
              </a:rPr>
              <a:t> </a:t>
            </a:r>
            <a:r>
              <a:rPr lang="pt-BR" sz="1100" err="1">
                <a:highlight>
                  <a:srgbClr val="FFFFFF"/>
                </a:highlight>
                <a:ea typeface="+mn-lt"/>
                <a:cs typeface="+mn-lt"/>
              </a:rPr>
              <a:t>Utility</a:t>
            </a:r>
            <a:r>
              <a:rPr lang="pt-BR" sz="1100">
                <a:highlight>
                  <a:srgbClr val="FFFFFF"/>
                </a:highlight>
                <a:ea typeface="+mn-lt"/>
                <a:cs typeface="+mn-lt"/>
              </a:rPr>
              <a:t> Network </a:t>
            </a:r>
            <a:r>
              <a:rPr lang="pt-BR" sz="1100" err="1">
                <a:highlight>
                  <a:srgbClr val="FFFFFF"/>
                </a:highlight>
                <a:ea typeface="+mn-lt"/>
                <a:cs typeface="+mn-lt"/>
              </a:rPr>
              <a:t>modeling</a:t>
            </a:r>
            <a:r>
              <a:rPr lang="pt-BR" sz="1100">
                <a:highlight>
                  <a:srgbClr val="FFFFFF"/>
                </a:highlight>
                <a:ea typeface="+mn-lt"/>
                <a:cs typeface="+mn-lt"/>
              </a:rPr>
              <a:t> </a:t>
            </a:r>
            <a:r>
              <a:rPr lang="pt-BR" sz="1100" err="1">
                <a:highlight>
                  <a:srgbClr val="FFFFFF"/>
                </a:highlight>
                <a:ea typeface="+mn-lt"/>
                <a:cs typeface="+mn-lt"/>
              </a:rPr>
              <a:t>can</a:t>
            </a:r>
            <a:r>
              <a:rPr lang="pt-BR" sz="1100">
                <a:highlight>
                  <a:srgbClr val="FFFFFF"/>
                </a:highlight>
                <a:ea typeface="+mn-lt"/>
                <a:cs typeface="+mn-lt"/>
              </a:rPr>
              <a:t> </a:t>
            </a:r>
            <a:r>
              <a:rPr lang="pt-BR" sz="1100" err="1">
                <a:highlight>
                  <a:srgbClr val="FFFFFF"/>
                </a:highlight>
                <a:ea typeface="+mn-lt"/>
                <a:cs typeface="+mn-lt"/>
              </a:rPr>
              <a:t>significantly</a:t>
            </a:r>
            <a:r>
              <a:rPr lang="pt-BR" sz="1100">
                <a:highlight>
                  <a:srgbClr val="FFFFFF"/>
                </a:highlight>
                <a:ea typeface="+mn-lt"/>
                <a:cs typeface="+mn-lt"/>
              </a:rPr>
              <a:t> improve </a:t>
            </a:r>
            <a:r>
              <a:rPr lang="pt-BR" sz="1100" err="1">
                <a:highlight>
                  <a:srgbClr val="FFFFFF"/>
                </a:highlight>
                <a:ea typeface="+mn-lt"/>
                <a:cs typeface="+mn-lt"/>
              </a:rPr>
              <a:t>infrastructure</a:t>
            </a:r>
            <a:r>
              <a:rPr lang="pt-BR" sz="1100">
                <a:highlight>
                  <a:srgbClr val="FFFFFF"/>
                </a:highlight>
                <a:ea typeface="+mn-lt"/>
                <a:cs typeface="+mn-lt"/>
              </a:rPr>
              <a:t> management </a:t>
            </a:r>
            <a:r>
              <a:rPr lang="pt-BR" sz="1100" err="1">
                <a:highlight>
                  <a:srgbClr val="FFFFFF"/>
                </a:highlight>
                <a:ea typeface="+mn-lt"/>
                <a:cs typeface="+mn-lt"/>
              </a:rPr>
              <a:t>and</a:t>
            </a:r>
            <a:r>
              <a:rPr lang="pt-BR" sz="1100">
                <a:highlight>
                  <a:srgbClr val="FFFFFF"/>
                </a:highlight>
                <a:ea typeface="+mn-lt"/>
                <a:cs typeface="+mn-lt"/>
              </a:rPr>
              <a:t> </a:t>
            </a:r>
            <a:r>
              <a:rPr lang="pt-BR" sz="1100" err="1">
                <a:highlight>
                  <a:srgbClr val="FFFFFF"/>
                </a:highlight>
                <a:ea typeface="+mn-lt"/>
                <a:cs typeface="+mn-lt"/>
              </a:rPr>
              <a:t>operational</a:t>
            </a:r>
            <a:r>
              <a:rPr lang="pt-BR" sz="1100">
                <a:highlight>
                  <a:srgbClr val="FFFFFF"/>
                </a:highlight>
                <a:ea typeface="+mn-lt"/>
                <a:cs typeface="+mn-lt"/>
              </a:rPr>
              <a:t> </a:t>
            </a:r>
            <a:r>
              <a:rPr lang="pt-BR" sz="1100" err="1">
                <a:highlight>
                  <a:srgbClr val="FFFFFF"/>
                </a:highlight>
                <a:ea typeface="+mn-lt"/>
                <a:cs typeface="+mn-lt"/>
              </a:rPr>
              <a:t>efficiency</a:t>
            </a:r>
            <a:r>
              <a:rPr lang="pt-BR" sz="1100">
                <a:highlight>
                  <a:srgbClr val="FFFFFF"/>
                </a:highlight>
                <a:ea typeface="+mn-lt"/>
                <a:cs typeface="+mn-lt"/>
              </a:rPr>
              <a:t>.</a:t>
            </a:r>
            <a:br>
              <a:rPr lang="pt-BR" sz="1100">
                <a:highlight>
                  <a:srgbClr val="FFFFFF"/>
                </a:highlight>
                <a:ea typeface="+mn-lt"/>
                <a:cs typeface="+mn-lt"/>
              </a:rPr>
            </a:br>
            <a:br>
              <a:rPr lang="pt-BR" sz="1100">
                <a:highlight>
                  <a:srgbClr val="FFFFFF"/>
                </a:highlight>
                <a:ea typeface="+mn-lt"/>
                <a:cs typeface="+mn-lt"/>
              </a:rPr>
            </a:br>
            <a:r>
              <a:rPr lang="pt-BR" sz="1100">
                <a:highlight>
                  <a:srgbClr val="FFFFFF"/>
                </a:highlight>
                <a:ea typeface="+mn-lt"/>
                <a:cs typeface="+mn-lt"/>
              </a:rPr>
              <a:t>* </a:t>
            </a:r>
            <a:r>
              <a:rPr lang="pt-BR" sz="1100" err="1">
                <a:highlight>
                  <a:srgbClr val="FFFFFF"/>
                </a:highlight>
                <a:ea typeface="+mn-lt"/>
                <a:cs typeface="+mn-lt"/>
              </a:rPr>
              <a:t>Special</a:t>
            </a:r>
            <a:r>
              <a:rPr lang="pt-BR" sz="1100">
                <a:highlight>
                  <a:srgbClr val="FFFFFF"/>
                </a:highlight>
                <a:ea typeface="+mn-lt"/>
                <a:cs typeface="+mn-lt"/>
              </a:rPr>
              <a:t> </a:t>
            </a:r>
            <a:r>
              <a:rPr lang="pt-BR" sz="1100" err="1">
                <a:highlight>
                  <a:srgbClr val="FFFFFF"/>
                </a:highlight>
                <a:ea typeface="+mn-lt"/>
                <a:cs typeface="+mn-lt"/>
              </a:rPr>
              <a:t>Thanks</a:t>
            </a:r>
            <a:r>
              <a:rPr lang="pt-BR" sz="1100">
                <a:highlight>
                  <a:srgbClr val="FFFFFF"/>
                </a:highlight>
                <a:ea typeface="+mn-lt"/>
                <a:cs typeface="+mn-lt"/>
              </a:rPr>
              <a:t> </a:t>
            </a:r>
            <a:r>
              <a:rPr lang="pt-BR" sz="1100" err="1">
                <a:highlight>
                  <a:srgbClr val="FFFFFF"/>
                </a:highlight>
                <a:ea typeface="+mn-lt"/>
                <a:cs typeface="+mn-lt"/>
              </a:rPr>
              <a:t>to</a:t>
            </a:r>
            <a:r>
              <a:rPr lang="pt-BR" sz="1100">
                <a:highlight>
                  <a:srgbClr val="FFFFFF"/>
                </a:highlight>
                <a:ea typeface="+mn-lt"/>
                <a:cs typeface="+mn-lt"/>
              </a:rPr>
              <a:t> </a:t>
            </a:r>
            <a:r>
              <a:rPr lang="pt-BR" sz="1100" err="1">
                <a:highlight>
                  <a:srgbClr val="FFFFFF"/>
                </a:highlight>
                <a:ea typeface="+mn-lt"/>
                <a:cs typeface="+mn-lt"/>
              </a:rPr>
              <a:t>Engineer</a:t>
            </a:r>
            <a:r>
              <a:rPr lang="pt-BR" sz="1100">
                <a:highlight>
                  <a:srgbClr val="FFFFFF"/>
                </a:highlight>
                <a:ea typeface="+mn-lt"/>
                <a:cs typeface="+mn-lt"/>
              </a:rPr>
              <a:t>/</a:t>
            </a:r>
            <a:r>
              <a:rPr lang="pt-BR" sz="1100" b="1">
                <a:solidFill>
                  <a:srgbClr val="0A66C2"/>
                </a:solidFill>
                <a:highlight>
                  <a:srgbClr val="FFFFFF"/>
                </a:highlight>
                <a:ea typeface="+mn-lt"/>
                <a:cs typeface="+mn-lt"/>
                <a:hlinkClick r:id="rId2"/>
              </a:rPr>
              <a:t>Robert </a:t>
            </a:r>
            <a:r>
              <a:rPr lang="pt-BR" sz="1100" b="1" err="1">
                <a:solidFill>
                  <a:srgbClr val="0A66C2"/>
                </a:solidFill>
                <a:highlight>
                  <a:srgbClr val="FFFFFF"/>
                </a:highlight>
                <a:ea typeface="+mn-lt"/>
                <a:cs typeface="+mn-lt"/>
                <a:hlinkClick r:id="rId2"/>
              </a:rPr>
              <a:t>Krisher</a:t>
            </a:r>
            <a:r>
              <a:rPr lang="pt-BR" sz="1100">
                <a:highlight>
                  <a:srgbClr val="FFFFFF"/>
                </a:highlight>
                <a:ea typeface="+mn-lt"/>
                <a:cs typeface="+mn-lt"/>
              </a:rPr>
              <a:t> for </a:t>
            </a:r>
            <a:r>
              <a:rPr lang="pt-BR" sz="1100" err="1">
                <a:highlight>
                  <a:srgbClr val="FFFFFF"/>
                </a:highlight>
                <a:ea typeface="+mn-lt"/>
                <a:cs typeface="+mn-lt"/>
              </a:rPr>
              <a:t>Providing</a:t>
            </a:r>
            <a:r>
              <a:rPr lang="pt-BR" sz="1100">
                <a:highlight>
                  <a:srgbClr val="FFFFFF"/>
                </a:highlight>
                <a:ea typeface="+mn-lt"/>
                <a:cs typeface="+mn-lt"/>
              </a:rPr>
              <a:t> </a:t>
            </a:r>
            <a:r>
              <a:rPr lang="pt-BR" sz="1100" err="1">
                <a:highlight>
                  <a:srgbClr val="FFFFFF"/>
                </a:highlight>
                <a:ea typeface="+mn-lt"/>
                <a:cs typeface="+mn-lt"/>
              </a:rPr>
              <a:t>the</a:t>
            </a:r>
            <a:r>
              <a:rPr lang="pt-BR" sz="1100">
                <a:highlight>
                  <a:srgbClr val="FFFFFF"/>
                </a:highlight>
                <a:ea typeface="+mn-lt"/>
                <a:cs typeface="+mn-lt"/>
              </a:rPr>
              <a:t> Original Tutorial 👏🏼– </a:t>
            </a:r>
            <a:r>
              <a:rPr lang="pt-BR" sz="1100" err="1">
                <a:highlight>
                  <a:srgbClr val="FFFFFF"/>
                </a:highlight>
                <a:ea typeface="+mn-lt"/>
                <a:cs typeface="+mn-lt"/>
              </a:rPr>
              <a:t>you</a:t>
            </a:r>
            <a:r>
              <a:rPr lang="pt-BR" sz="1100">
                <a:highlight>
                  <a:srgbClr val="FFFFFF"/>
                </a:highlight>
                <a:ea typeface="+mn-lt"/>
                <a:cs typeface="+mn-lt"/>
              </a:rPr>
              <a:t> </a:t>
            </a:r>
            <a:r>
              <a:rPr lang="pt-BR" sz="1100" err="1">
                <a:highlight>
                  <a:srgbClr val="FFFFFF"/>
                </a:highlight>
                <a:ea typeface="+mn-lt"/>
                <a:cs typeface="+mn-lt"/>
              </a:rPr>
              <a:t>can</a:t>
            </a:r>
            <a:r>
              <a:rPr lang="pt-BR" sz="1100">
                <a:highlight>
                  <a:srgbClr val="FFFFFF"/>
                </a:highlight>
                <a:ea typeface="+mn-lt"/>
                <a:cs typeface="+mn-lt"/>
              </a:rPr>
              <a:t> explore it </a:t>
            </a:r>
            <a:r>
              <a:rPr lang="pt-BR" sz="1100" err="1">
                <a:highlight>
                  <a:srgbClr val="FFFFFF"/>
                </a:highlight>
                <a:ea typeface="+mn-lt"/>
                <a:cs typeface="+mn-lt"/>
              </a:rPr>
              <a:t>here</a:t>
            </a:r>
            <a:r>
              <a:rPr lang="pt-BR" sz="1100">
                <a:highlight>
                  <a:srgbClr val="FFFFFF"/>
                </a:highlight>
                <a:ea typeface="+mn-lt"/>
                <a:cs typeface="+mn-lt"/>
              </a:rPr>
              <a:t>: ⬇️ </a:t>
            </a:r>
            <a:br>
              <a:rPr lang="pt-BR" sz="1100">
                <a:highlight>
                  <a:srgbClr val="FFFFFF"/>
                </a:highlight>
                <a:ea typeface="+mn-lt"/>
                <a:cs typeface="+mn-lt"/>
              </a:rPr>
            </a:br>
            <a:br>
              <a:rPr lang="pt-BR" sz="1100">
                <a:highlight>
                  <a:srgbClr val="FFFFFF"/>
                </a:highlight>
                <a:ea typeface="+mn-lt"/>
                <a:cs typeface="+mn-lt"/>
              </a:rPr>
            </a:br>
            <a:r>
              <a:rPr lang="pt-BR" sz="1100">
                <a:highlight>
                  <a:srgbClr val="FFFFFF"/>
                </a:highlight>
                <a:ea typeface="+mn-lt"/>
                <a:cs typeface="+mn-lt"/>
                <a:hlinkClick r:id="rId3"/>
              </a:rPr>
              <a:t>https://lnkd.in/dpdHzY8x</a:t>
            </a:r>
            <a:br>
              <a:rPr lang="pt-BR" sz="1100">
                <a:highlight>
                  <a:srgbClr val="FFFFFF"/>
                </a:highlight>
                <a:ea typeface="+mn-lt"/>
                <a:cs typeface="+mn-lt"/>
              </a:rPr>
            </a:br>
            <a:br>
              <a:rPr lang="pt-BR" sz="1100">
                <a:highlight>
                  <a:srgbClr val="FFFFFF"/>
                </a:highlight>
                <a:ea typeface="+mn-lt"/>
                <a:cs typeface="+mn-lt"/>
              </a:rPr>
            </a:br>
            <a:r>
              <a:rPr lang="pt-BR" sz="1100">
                <a:highlight>
                  <a:srgbClr val="FFFFFF"/>
                </a:highlight>
                <a:ea typeface="+mn-lt"/>
                <a:cs typeface="+mn-lt"/>
              </a:rPr>
              <a:t>* </a:t>
            </a:r>
            <a:r>
              <a:rPr lang="pt-BR" sz="1100" err="1">
                <a:highlight>
                  <a:srgbClr val="FFFFFF"/>
                </a:highlight>
                <a:ea typeface="+mn-lt"/>
                <a:cs typeface="+mn-lt"/>
              </a:rPr>
              <a:t>Special</a:t>
            </a:r>
            <a:r>
              <a:rPr lang="pt-BR" sz="1100">
                <a:highlight>
                  <a:srgbClr val="FFFFFF"/>
                </a:highlight>
                <a:ea typeface="+mn-lt"/>
                <a:cs typeface="+mn-lt"/>
              </a:rPr>
              <a:t> </a:t>
            </a:r>
            <a:r>
              <a:rPr lang="pt-BR" sz="1100" err="1">
                <a:highlight>
                  <a:srgbClr val="FFFFFF"/>
                </a:highlight>
                <a:ea typeface="+mn-lt"/>
                <a:cs typeface="+mn-lt"/>
              </a:rPr>
              <a:t>Thanks</a:t>
            </a:r>
            <a:r>
              <a:rPr lang="pt-BR" sz="1100">
                <a:highlight>
                  <a:srgbClr val="FFFFFF"/>
                </a:highlight>
                <a:ea typeface="+mn-lt"/>
                <a:cs typeface="+mn-lt"/>
              </a:rPr>
              <a:t> </a:t>
            </a:r>
            <a:r>
              <a:rPr lang="pt-BR" sz="1100" err="1">
                <a:highlight>
                  <a:srgbClr val="FFFFFF"/>
                </a:highlight>
                <a:ea typeface="+mn-lt"/>
                <a:cs typeface="+mn-lt"/>
              </a:rPr>
              <a:t>to</a:t>
            </a:r>
            <a:r>
              <a:rPr lang="pt-BR" sz="1100">
                <a:highlight>
                  <a:srgbClr val="FFFFFF"/>
                </a:highlight>
                <a:ea typeface="+mn-lt"/>
                <a:cs typeface="+mn-lt"/>
              </a:rPr>
              <a:t> </a:t>
            </a:r>
            <a:r>
              <a:rPr lang="pt-BR" sz="1100" err="1">
                <a:highlight>
                  <a:srgbClr val="FFFFFF"/>
                </a:highlight>
                <a:ea typeface="+mn-lt"/>
                <a:cs typeface="+mn-lt"/>
              </a:rPr>
              <a:t>Engineer</a:t>
            </a:r>
            <a:r>
              <a:rPr lang="pt-BR" sz="1100">
                <a:highlight>
                  <a:srgbClr val="FFFFFF"/>
                </a:highlight>
                <a:ea typeface="+mn-lt"/>
                <a:cs typeface="+mn-lt"/>
              </a:rPr>
              <a:t>/</a:t>
            </a:r>
            <a:r>
              <a:rPr lang="pt-BR" sz="1100" b="1">
                <a:solidFill>
                  <a:srgbClr val="0A66C2"/>
                </a:solidFill>
                <a:highlight>
                  <a:srgbClr val="FFFFFF"/>
                </a:highlight>
                <a:ea typeface="+mn-lt"/>
                <a:cs typeface="+mn-lt"/>
                <a:hlinkClick r:id="rId4"/>
              </a:rPr>
              <a:t>Sherif Osama </a:t>
            </a:r>
            <a:r>
              <a:rPr lang="pt-BR" sz="1100" b="1" err="1">
                <a:solidFill>
                  <a:srgbClr val="0A66C2"/>
                </a:solidFill>
                <a:highlight>
                  <a:srgbClr val="FFFFFF"/>
                </a:highlight>
                <a:ea typeface="+mn-lt"/>
                <a:cs typeface="+mn-lt"/>
                <a:hlinkClick r:id="rId4"/>
              </a:rPr>
              <a:t>ElSherif</a:t>
            </a:r>
            <a:r>
              <a:rPr lang="pt-BR" sz="1100">
                <a:highlight>
                  <a:srgbClr val="FFFFFF"/>
                </a:highlight>
                <a:ea typeface="+mn-lt"/>
                <a:cs typeface="+mn-lt"/>
              </a:rPr>
              <a:t> for </a:t>
            </a:r>
            <a:r>
              <a:rPr lang="pt-BR" sz="1100" err="1">
                <a:highlight>
                  <a:srgbClr val="FFFFFF"/>
                </a:highlight>
                <a:ea typeface="+mn-lt"/>
                <a:cs typeface="+mn-lt"/>
              </a:rPr>
              <a:t>Highlighting</a:t>
            </a:r>
            <a:r>
              <a:rPr lang="pt-BR" sz="1100">
                <a:highlight>
                  <a:srgbClr val="FFFFFF"/>
                </a:highlight>
                <a:ea typeface="+mn-lt"/>
                <a:cs typeface="+mn-lt"/>
              </a:rPr>
              <a:t> </a:t>
            </a:r>
            <a:r>
              <a:rPr lang="pt-BR" sz="1100" err="1">
                <a:highlight>
                  <a:srgbClr val="FFFFFF"/>
                </a:highlight>
                <a:ea typeface="+mn-lt"/>
                <a:cs typeface="+mn-lt"/>
              </a:rPr>
              <a:t>my</a:t>
            </a:r>
            <a:r>
              <a:rPr lang="pt-BR" sz="1100">
                <a:highlight>
                  <a:srgbClr val="FFFFFF"/>
                </a:highlight>
                <a:ea typeface="+mn-lt"/>
                <a:cs typeface="+mn-lt"/>
              </a:rPr>
              <a:t> </a:t>
            </a:r>
            <a:r>
              <a:rPr lang="pt-BR" sz="1100" err="1">
                <a:highlight>
                  <a:srgbClr val="FFFFFF"/>
                </a:highlight>
                <a:ea typeface="+mn-lt"/>
                <a:cs typeface="+mn-lt"/>
              </a:rPr>
              <a:t>Integration</a:t>
            </a:r>
            <a:r>
              <a:rPr lang="pt-BR" sz="1100">
                <a:highlight>
                  <a:srgbClr val="FFFFFF"/>
                </a:highlight>
                <a:ea typeface="+mn-lt"/>
                <a:cs typeface="+mn-lt"/>
              </a:rPr>
              <a:t> </a:t>
            </a:r>
            <a:r>
              <a:rPr lang="pt-BR" sz="1100" err="1">
                <a:highlight>
                  <a:srgbClr val="FFFFFF"/>
                </a:highlight>
                <a:ea typeface="+mn-lt"/>
                <a:cs typeface="+mn-lt"/>
              </a:rPr>
              <a:t>of</a:t>
            </a:r>
            <a:r>
              <a:rPr lang="pt-BR" sz="1100">
                <a:highlight>
                  <a:srgbClr val="FFFFFF"/>
                </a:highlight>
                <a:ea typeface="+mn-lt"/>
                <a:cs typeface="+mn-lt"/>
              </a:rPr>
              <a:t> </a:t>
            </a:r>
            <a:r>
              <a:rPr lang="pt-BR" sz="1100" err="1">
                <a:highlight>
                  <a:srgbClr val="FFFFFF"/>
                </a:highlight>
                <a:ea typeface="+mn-lt"/>
                <a:cs typeface="+mn-lt"/>
              </a:rPr>
              <a:t>Utility</a:t>
            </a:r>
            <a:r>
              <a:rPr lang="pt-BR" sz="1100">
                <a:highlight>
                  <a:srgbClr val="FFFFFF"/>
                </a:highlight>
                <a:ea typeface="+mn-lt"/>
                <a:cs typeface="+mn-lt"/>
              </a:rPr>
              <a:t> Network </a:t>
            </a:r>
            <a:r>
              <a:rPr lang="pt-BR" sz="1100" err="1">
                <a:highlight>
                  <a:srgbClr val="FFFFFF"/>
                </a:highlight>
                <a:ea typeface="+mn-lt"/>
                <a:cs typeface="+mn-lt"/>
              </a:rPr>
              <a:t>with</a:t>
            </a:r>
            <a:r>
              <a:rPr lang="pt-BR" sz="1100">
                <a:highlight>
                  <a:srgbClr val="FFFFFF"/>
                </a:highlight>
                <a:ea typeface="+mn-lt"/>
                <a:cs typeface="+mn-lt"/>
              </a:rPr>
              <a:t> GIS </a:t>
            </a:r>
            <a:r>
              <a:rPr lang="pt-BR" sz="1100" err="1">
                <a:highlight>
                  <a:srgbClr val="FFFFFF"/>
                </a:highlight>
                <a:ea typeface="+mn-lt"/>
                <a:cs typeface="+mn-lt"/>
              </a:rPr>
              <a:t>and</a:t>
            </a:r>
            <a:r>
              <a:rPr lang="pt-BR" sz="1100">
                <a:highlight>
                  <a:srgbClr val="FFFFFF"/>
                </a:highlight>
                <a:ea typeface="+mn-lt"/>
                <a:cs typeface="+mn-lt"/>
              </a:rPr>
              <a:t> for </a:t>
            </a:r>
            <a:r>
              <a:rPr lang="pt-BR" sz="1100" err="1">
                <a:highlight>
                  <a:srgbClr val="FFFFFF"/>
                </a:highlight>
                <a:ea typeface="+mn-lt"/>
                <a:cs typeface="+mn-lt"/>
              </a:rPr>
              <a:t>the</a:t>
            </a:r>
            <a:r>
              <a:rPr lang="pt-BR" sz="1100">
                <a:highlight>
                  <a:srgbClr val="FFFFFF"/>
                </a:highlight>
                <a:ea typeface="+mn-lt"/>
                <a:cs typeface="+mn-lt"/>
              </a:rPr>
              <a:t> </a:t>
            </a:r>
            <a:r>
              <a:rPr lang="pt-BR" sz="1100" err="1">
                <a:highlight>
                  <a:srgbClr val="FFFFFF"/>
                </a:highlight>
                <a:ea typeface="+mn-lt"/>
                <a:cs typeface="+mn-lt"/>
              </a:rPr>
              <a:t>great</a:t>
            </a:r>
            <a:r>
              <a:rPr lang="pt-BR" sz="1100">
                <a:highlight>
                  <a:srgbClr val="FFFFFF"/>
                </a:highlight>
                <a:ea typeface="+mn-lt"/>
                <a:cs typeface="+mn-lt"/>
              </a:rPr>
              <a:t> </a:t>
            </a:r>
            <a:r>
              <a:rPr lang="pt-BR" sz="1100" err="1">
                <a:highlight>
                  <a:srgbClr val="FFFFFF"/>
                </a:highlight>
                <a:ea typeface="+mn-lt"/>
                <a:cs typeface="+mn-lt"/>
              </a:rPr>
              <a:t>guidance</a:t>
            </a:r>
            <a:r>
              <a:rPr lang="pt-BR" sz="1100">
                <a:highlight>
                  <a:srgbClr val="FFFFFF"/>
                </a:highlight>
                <a:ea typeface="+mn-lt"/>
                <a:cs typeface="+mn-lt"/>
              </a:rPr>
              <a:t> 👏🏼</a:t>
            </a:r>
            <a:br>
              <a:rPr lang="pt-BR" sz="1100">
                <a:highlight>
                  <a:srgbClr val="FFFFFF"/>
                </a:highlight>
                <a:ea typeface="+mn-lt"/>
                <a:cs typeface="+mn-lt"/>
              </a:rPr>
            </a:br>
            <a:br>
              <a:rPr lang="pt-BR" sz="1100">
                <a:highlight>
                  <a:srgbClr val="FFFFFF"/>
                </a:highlight>
                <a:ea typeface="+mn-lt"/>
                <a:cs typeface="+mn-lt"/>
              </a:rPr>
            </a:br>
            <a:r>
              <a:rPr lang="pt-BR" sz="1100">
                <a:highlight>
                  <a:srgbClr val="FFFFFF"/>
                </a:highlight>
                <a:ea typeface="+mn-lt"/>
                <a:cs typeface="+mn-lt"/>
                <a:hlinkClick r:id="rId5"/>
              </a:rPr>
              <a:t>https://lnkd.in/gBdXbB8J</a:t>
            </a:r>
            <a:br>
              <a:rPr lang="pt-BR" sz="1100">
                <a:highlight>
                  <a:srgbClr val="FFFFFF"/>
                </a:highlight>
                <a:ea typeface="+mn-lt"/>
                <a:cs typeface="+mn-lt"/>
              </a:rPr>
            </a:br>
            <a:br>
              <a:rPr lang="pt-BR" sz="1100">
                <a:highlight>
                  <a:srgbClr val="FFFFFF"/>
                </a:highlight>
                <a:ea typeface="+mn-lt"/>
                <a:cs typeface="+mn-lt"/>
              </a:rPr>
            </a:br>
            <a:r>
              <a:rPr lang="pt-BR" sz="1100">
                <a:highlight>
                  <a:srgbClr val="FFFFFF"/>
                </a:highlight>
                <a:ea typeface="+mn-lt"/>
                <a:cs typeface="+mn-lt"/>
              </a:rPr>
              <a:t>• I look </a:t>
            </a:r>
            <a:r>
              <a:rPr lang="pt-BR" sz="1100" err="1">
                <a:highlight>
                  <a:srgbClr val="FFFFFF"/>
                </a:highlight>
                <a:ea typeface="+mn-lt"/>
                <a:cs typeface="+mn-lt"/>
              </a:rPr>
              <a:t>forward</a:t>
            </a:r>
            <a:r>
              <a:rPr lang="pt-BR" sz="1100">
                <a:highlight>
                  <a:srgbClr val="FFFFFF"/>
                </a:highlight>
                <a:ea typeface="+mn-lt"/>
                <a:cs typeface="+mn-lt"/>
              </a:rPr>
              <a:t> </a:t>
            </a:r>
            <a:r>
              <a:rPr lang="pt-BR" sz="1100" err="1">
                <a:highlight>
                  <a:srgbClr val="FFFFFF"/>
                </a:highlight>
                <a:ea typeface="+mn-lt"/>
                <a:cs typeface="+mn-lt"/>
              </a:rPr>
              <a:t>to</a:t>
            </a:r>
            <a:r>
              <a:rPr lang="pt-BR" sz="1100">
                <a:highlight>
                  <a:srgbClr val="FFFFFF"/>
                </a:highlight>
                <a:ea typeface="+mn-lt"/>
                <a:cs typeface="+mn-lt"/>
              </a:rPr>
              <a:t> </a:t>
            </a:r>
            <a:r>
              <a:rPr lang="pt-BR" sz="1100" err="1">
                <a:highlight>
                  <a:srgbClr val="FFFFFF"/>
                </a:highlight>
                <a:ea typeface="+mn-lt"/>
                <a:cs typeface="+mn-lt"/>
              </a:rPr>
              <a:t>continuing</a:t>
            </a:r>
            <a:r>
              <a:rPr lang="pt-BR" sz="1100">
                <a:highlight>
                  <a:srgbClr val="FFFFFF"/>
                </a:highlight>
                <a:ea typeface="+mn-lt"/>
                <a:cs typeface="+mn-lt"/>
              </a:rPr>
              <a:t> </a:t>
            </a:r>
            <a:r>
              <a:rPr lang="pt-BR" sz="1100" err="1">
                <a:highlight>
                  <a:srgbClr val="FFFFFF"/>
                </a:highlight>
                <a:ea typeface="+mn-lt"/>
                <a:cs typeface="+mn-lt"/>
              </a:rPr>
              <a:t>this</a:t>
            </a:r>
            <a:r>
              <a:rPr lang="pt-BR" sz="1100">
                <a:highlight>
                  <a:srgbClr val="FFFFFF"/>
                </a:highlight>
                <a:ea typeface="+mn-lt"/>
                <a:cs typeface="+mn-lt"/>
              </a:rPr>
              <a:t> learning series </a:t>
            </a:r>
            <a:r>
              <a:rPr lang="pt-BR" sz="1100" err="1">
                <a:highlight>
                  <a:srgbClr val="FFFFFF"/>
                </a:highlight>
                <a:ea typeface="+mn-lt"/>
                <a:cs typeface="+mn-lt"/>
              </a:rPr>
              <a:t>with</a:t>
            </a:r>
            <a:r>
              <a:rPr lang="pt-BR" sz="1100">
                <a:highlight>
                  <a:srgbClr val="FFFFFF"/>
                </a:highlight>
                <a:ea typeface="+mn-lt"/>
                <a:cs typeface="+mn-lt"/>
              </a:rPr>
              <a:t> </a:t>
            </a:r>
            <a:r>
              <a:rPr lang="pt-BR" sz="1100" err="1">
                <a:highlight>
                  <a:srgbClr val="FFFFFF"/>
                </a:highlight>
                <a:ea typeface="+mn-lt"/>
                <a:cs typeface="+mn-lt"/>
              </a:rPr>
              <a:t>the</a:t>
            </a:r>
            <a:r>
              <a:rPr lang="pt-BR" sz="1100">
                <a:highlight>
                  <a:srgbClr val="FFFFFF"/>
                </a:highlight>
                <a:ea typeface="+mn-lt"/>
                <a:cs typeface="+mn-lt"/>
              </a:rPr>
              <a:t> </a:t>
            </a:r>
            <a:r>
              <a:rPr lang="pt-BR" sz="1100" err="1">
                <a:highlight>
                  <a:srgbClr val="FFFFFF"/>
                </a:highlight>
                <a:ea typeface="+mn-lt"/>
                <a:cs typeface="+mn-lt"/>
              </a:rPr>
              <a:t>next</a:t>
            </a:r>
            <a:r>
              <a:rPr lang="pt-BR" sz="1100">
                <a:highlight>
                  <a:srgbClr val="FFFFFF"/>
                </a:highlight>
                <a:ea typeface="+mn-lt"/>
                <a:cs typeface="+mn-lt"/>
              </a:rPr>
              <a:t> </a:t>
            </a:r>
            <a:r>
              <a:rPr lang="pt-BR" sz="1100" err="1">
                <a:highlight>
                  <a:srgbClr val="FFFFFF"/>
                </a:highlight>
                <a:ea typeface="+mn-lt"/>
                <a:cs typeface="+mn-lt"/>
              </a:rPr>
              <a:t>tutorials</a:t>
            </a:r>
            <a:r>
              <a:rPr lang="pt-BR" sz="1100">
                <a:highlight>
                  <a:srgbClr val="FFFFFF"/>
                </a:highlight>
                <a:ea typeface="+mn-lt"/>
                <a:cs typeface="+mn-lt"/>
              </a:rPr>
              <a:t> </a:t>
            </a:r>
            <a:r>
              <a:rPr lang="pt-BR" sz="1100" err="1">
                <a:highlight>
                  <a:srgbClr val="FFFFFF"/>
                </a:highlight>
                <a:ea typeface="+mn-lt"/>
                <a:cs typeface="+mn-lt"/>
              </a:rPr>
              <a:t>on</a:t>
            </a:r>
            <a:r>
              <a:rPr lang="pt-BR" sz="1100">
                <a:highlight>
                  <a:srgbClr val="FFFFFF"/>
                </a:highlight>
                <a:ea typeface="+mn-lt"/>
                <a:cs typeface="+mn-lt"/>
              </a:rPr>
              <a:t> </a:t>
            </a:r>
            <a:r>
              <a:rPr lang="pt-BR" sz="1100" err="1">
                <a:highlight>
                  <a:srgbClr val="FFFFFF"/>
                </a:highlight>
                <a:ea typeface="+mn-lt"/>
                <a:cs typeface="+mn-lt"/>
              </a:rPr>
              <a:t>Editing</a:t>
            </a:r>
            <a:r>
              <a:rPr lang="pt-BR" sz="1100">
                <a:highlight>
                  <a:srgbClr val="FFFFFF"/>
                </a:highlight>
                <a:ea typeface="+mn-lt"/>
                <a:cs typeface="+mn-lt"/>
              </a:rPr>
              <a:t>, </a:t>
            </a:r>
            <a:r>
              <a:rPr lang="pt-BR" sz="1100" err="1">
                <a:highlight>
                  <a:srgbClr val="FFFFFF"/>
                </a:highlight>
                <a:ea typeface="+mn-lt"/>
                <a:cs typeface="+mn-lt"/>
              </a:rPr>
              <a:t>Validating</a:t>
            </a:r>
            <a:r>
              <a:rPr lang="pt-BR" sz="1100">
                <a:highlight>
                  <a:srgbClr val="FFFFFF"/>
                </a:highlight>
                <a:ea typeface="+mn-lt"/>
                <a:cs typeface="+mn-lt"/>
              </a:rPr>
              <a:t>, </a:t>
            </a:r>
            <a:r>
              <a:rPr lang="pt-BR" sz="1100" err="1">
                <a:highlight>
                  <a:srgbClr val="FFFFFF"/>
                </a:highlight>
                <a:ea typeface="+mn-lt"/>
                <a:cs typeface="+mn-lt"/>
              </a:rPr>
              <a:t>and</a:t>
            </a:r>
            <a:r>
              <a:rPr lang="pt-BR" sz="1100">
                <a:highlight>
                  <a:srgbClr val="FFFFFF"/>
                </a:highlight>
                <a:ea typeface="+mn-lt"/>
                <a:cs typeface="+mn-lt"/>
              </a:rPr>
              <a:t> Performing </a:t>
            </a:r>
            <a:r>
              <a:rPr lang="pt-BR" sz="1100" err="1">
                <a:highlight>
                  <a:srgbClr val="FFFFFF"/>
                </a:highlight>
                <a:ea typeface="+mn-lt"/>
                <a:cs typeface="+mn-lt"/>
              </a:rPr>
              <a:t>Quality</a:t>
            </a:r>
            <a:r>
              <a:rPr lang="pt-BR" sz="1100">
                <a:highlight>
                  <a:srgbClr val="FFFFFF"/>
                </a:highlight>
                <a:ea typeface="+mn-lt"/>
                <a:cs typeface="+mn-lt"/>
              </a:rPr>
              <a:t> </a:t>
            </a:r>
            <a:r>
              <a:rPr lang="pt-BR" sz="1100" err="1">
                <a:highlight>
                  <a:srgbClr val="FFFFFF"/>
                </a:highlight>
                <a:ea typeface="+mn-lt"/>
                <a:cs typeface="+mn-lt"/>
              </a:rPr>
              <a:t>Assurance</a:t>
            </a:r>
            <a:r>
              <a:rPr lang="pt-BR" sz="1100">
                <a:highlight>
                  <a:srgbClr val="FFFFFF"/>
                </a:highlight>
                <a:ea typeface="+mn-lt"/>
                <a:cs typeface="+mn-lt"/>
              </a:rPr>
              <a:t> </a:t>
            </a:r>
            <a:r>
              <a:rPr lang="pt-BR" sz="1100" err="1">
                <a:highlight>
                  <a:srgbClr val="FFFFFF"/>
                </a:highlight>
                <a:ea typeface="+mn-lt"/>
                <a:cs typeface="+mn-lt"/>
              </a:rPr>
              <a:t>on</a:t>
            </a:r>
            <a:r>
              <a:rPr lang="pt-BR" sz="1100">
                <a:highlight>
                  <a:srgbClr val="FFFFFF"/>
                </a:highlight>
                <a:ea typeface="+mn-lt"/>
                <a:cs typeface="+mn-lt"/>
              </a:rPr>
              <a:t> </a:t>
            </a:r>
            <a:r>
              <a:rPr lang="pt-BR" sz="1100" err="1">
                <a:highlight>
                  <a:srgbClr val="FFFFFF"/>
                </a:highlight>
                <a:ea typeface="+mn-lt"/>
                <a:cs typeface="+mn-lt"/>
              </a:rPr>
              <a:t>Subnetworks</a:t>
            </a:r>
            <a:r>
              <a:rPr lang="pt-BR" sz="1100">
                <a:highlight>
                  <a:srgbClr val="FFFFFF"/>
                </a:highlight>
                <a:ea typeface="+mn-lt"/>
                <a:cs typeface="+mn-lt"/>
              </a:rPr>
              <a:t> 🔜</a:t>
            </a:r>
            <a:br>
              <a:rPr lang="pt-BR" sz="1100">
                <a:highlight>
                  <a:srgbClr val="FFFFFF"/>
                </a:highlight>
                <a:ea typeface="+mn-lt"/>
                <a:cs typeface="+mn-lt"/>
              </a:rPr>
            </a:br>
            <a:br>
              <a:rPr lang="pt-BR" sz="1100">
                <a:highlight>
                  <a:srgbClr val="FFFFFF"/>
                </a:highlight>
                <a:ea typeface="+mn-lt"/>
                <a:cs typeface="+mn-lt"/>
              </a:rPr>
            </a:br>
            <a:r>
              <a:rPr lang="pt-BR" sz="1100">
                <a:highlight>
                  <a:srgbClr val="FFFFFF"/>
                </a:highlight>
                <a:ea typeface="+mn-lt"/>
                <a:cs typeface="+mn-lt"/>
              </a:rPr>
              <a:t>* </a:t>
            </a:r>
            <a:r>
              <a:rPr lang="pt-BR" sz="1100" err="1">
                <a:highlight>
                  <a:srgbClr val="FFFFFF"/>
                </a:highlight>
                <a:ea typeface="+mn-lt"/>
                <a:cs typeface="+mn-lt"/>
              </a:rPr>
              <a:t>Finally</a:t>
            </a:r>
            <a:r>
              <a:rPr lang="pt-BR" sz="1100">
                <a:highlight>
                  <a:srgbClr val="FFFFFF"/>
                </a:highlight>
                <a:ea typeface="+mn-lt"/>
                <a:cs typeface="+mn-lt"/>
              </a:rPr>
              <a:t>, </a:t>
            </a:r>
            <a:r>
              <a:rPr lang="pt-BR" sz="1100" err="1">
                <a:highlight>
                  <a:srgbClr val="FFFFFF"/>
                </a:highlight>
                <a:ea typeface="+mn-lt"/>
                <a:cs typeface="+mn-lt"/>
              </a:rPr>
              <a:t>I'd</a:t>
            </a:r>
            <a:r>
              <a:rPr lang="pt-BR" sz="1100">
                <a:highlight>
                  <a:srgbClr val="FFFFFF"/>
                </a:highlight>
                <a:ea typeface="+mn-lt"/>
                <a:cs typeface="+mn-lt"/>
              </a:rPr>
              <a:t> </a:t>
            </a:r>
            <a:r>
              <a:rPr lang="pt-BR" sz="1100" err="1">
                <a:highlight>
                  <a:srgbClr val="FFFFFF"/>
                </a:highlight>
                <a:ea typeface="+mn-lt"/>
                <a:cs typeface="+mn-lt"/>
              </a:rPr>
              <a:t>be</a:t>
            </a:r>
            <a:r>
              <a:rPr lang="pt-BR" sz="1100">
                <a:highlight>
                  <a:srgbClr val="FFFFFF"/>
                </a:highlight>
                <a:ea typeface="+mn-lt"/>
                <a:cs typeface="+mn-lt"/>
              </a:rPr>
              <a:t> </a:t>
            </a:r>
            <a:r>
              <a:rPr lang="pt-BR" sz="1100" err="1">
                <a:highlight>
                  <a:srgbClr val="FFFFFF"/>
                </a:highlight>
                <a:ea typeface="+mn-lt"/>
                <a:cs typeface="+mn-lt"/>
              </a:rPr>
              <a:t>happy</a:t>
            </a:r>
            <a:r>
              <a:rPr lang="pt-BR" sz="1100">
                <a:highlight>
                  <a:srgbClr val="FFFFFF"/>
                </a:highlight>
                <a:ea typeface="+mn-lt"/>
                <a:cs typeface="+mn-lt"/>
              </a:rPr>
              <a:t> </a:t>
            </a:r>
            <a:r>
              <a:rPr lang="pt-BR" sz="1100" err="1">
                <a:highlight>
                  <a:srgbClr val="FFFFFF"/>
                </a:highlight>
                <a:ea typeface="+mn-lt"/>
                <a:cs typeface="+mn-lt"/>
              </a:rPr>
              <a:t>to</a:t>
            </a:r>
            <a:r>
              <a:rPr lang="pt-BR" sz="1100">
                <a:highlight>
                  <a:srgbClr val="FFFFFF"/>
                </a:highlight>
                <a:ea typeface="+mn-lt"/>
                <a:cs typeface="+mn-lt"/>
              </a:rPr>
              <a:t> </a:t>
            </a:r>
            <a:r>
              <a:rPr lang="pt-BR" sz="1100" err="1">
                <a:highlight>
                  <a:srgbClr val="FFFFFF"/>
                </a:highlight>
                <a:ea typeface="+mn-lt"/>
                <a:cs typeface="+mn-lt"/>
              </a:rPr>
              <a:t>connect</a:t>
            </a:r>
            <a:r>
              <a:rPr lang="pt-BR" sz="1100">
                <a:highlight>
                  <a:srgbClr val="FFFFFF"/>
                </a:highlight>
                <a:ea typeface="+mn-lt"/>
                <a:cs typeface="+mn-lt"/>
              </a:rPr>
              <a:t> </a:t>
            </a:r>
            <a:r>
              <a:rPr lang="pt-BR" sz="1100" err="1">
                <a:highlight>
                  <a:srgbClr val="FFFFFF"/>
                </a:highlight>
                <a:ea typeface="+mn-lt"/>
                <a:cs typeface="+mn-lt"/>
              </a:rPr>
              <a:t>with</a:t>
            </a:r>
            <a:r>
              <a:rPr lang="pt-BR" sz="1100">
                <a:highlight>
                  <a:srgbClr val="FFFFFF"/>
                </a:highlight>
                <a:ea typeface="+mn-lt"/>
                <a:cs typeface="+mn-lt"/>
              </a:rPr>
              <a:t> </a:t>
            </a:r>
            <a:r>
              <a:rPr lang="pt-BR" sz="1100" err="1">
                <a:highlight>
                  <a:srgbClr val="FFFFFF"/>
                </a:highlight>
                <a:ea typeface="+mn-lt"/>
                <a:cs typeface="+mn-lt"/>
              </a:rPr>
              <a:t>professionals</a:t>
            </a:r>
            <a:r>
              <a:rPr lang="pt-BR" sz="1100">
                <a:highlight>
                  <a:srgbClr val="FFFFFF"/>
                </a:highlight>
                <a:ea typeface="+mn-lt"/>
                <a:cs typeface="+mn-lt"/>
              </a:rPr>
              <a:t> </a:t>
            </a:r>
            <a:r>
              <a:rPr lang="pt-BR" sz="1100" err="1">
                <a:highlight>
                  <a:srgbClr val="FFFFFF"/>
                </a:highlight>
                <a:ea typeface="+mn-lt"/>
                <a:cs typeface="+mn-lt"/>
              </a:rPr>
              <a:t>working</a:t>
            </a:r>
            <a:r>
              <a:rPr lang="pt-BR" sz="1100">
                <a:highlight>
                  <a:srgbClr val="FFFFFF"/>
                </a:highlight>
                <a:ea typeface="+mn-lt"/>
                <a:cs typeface="+mn-lt"/>
              </a:rPr>
              <a:t> in </a:t>
            </a:r>
            <a:r>
              <a:rPr lang="pt-BR" sz="1100" err="1">
                <a:highlight>
                  <a:srgbClr val="FFFFFF"/>
                </a:highlight>
                <a:ea typeface="+mn-lt"/>
                <a:cs typeface="+mn-lt"/>
              </a:rPr>
              <a:t>Utility</a:t>
            </a:r>
            <a:r>
              <a:rPr lang="pt-BR" sz="1100">
                <a:highlight>
                  <a:srgbClr val="FFFFFF"/>
                </a:highlight>
                <a:ea typeface="+mn-lt"/>
                <a:cs typeface="+mn-lt"/>
              </a:rPr>
              <a:t> Networks </a:t>
            </a:r>
            <a:r>
              <a:rPr lang="pt-BR" sz="1100" err="1">
                <a:highlight>
                  <a:srgbClr val="FFFFFF"/>
                </a:highlight>
                <a:ea typeface="+mn-lt"/>
                <a:cs typeface="+mn-lt"/>
              </a:rPr>
              <a:t>and</a:t>
            </a:r>
            <a:r>
              <a:rPr lang="pt-BR" sz="1100">
                <a:highlight>
                  <a:srgbClr val="FFFFFF"/>
                </a:highlight>
                <a:ea typeface="+mn-lt"/>
                <a:cs typeface="+mn-lt"/>
              </a:rPr>
              <a:t> GIS-</a:t>
            </a:r>
            <a:r>
              <a:rPr lang="pt-BR" sz="1100" err="1">
                <a:highlight>
                  <a:srgbClr val="FFFFFF"/>
                </a:highlight>
                <a:ea typeface="+mn-lt"/>
                <a:cs typeface="+mn-lt"/>
              </a:rPr>
              <a:t>based</a:t>
            </a:r>
            <a:r>
              <a:rPr lang="pt-BR" sz="1100">
                <a:highlight>
                  <a:srgbClr val="FFFFFF"/>
                </a:highlight>
                <a:ea typeface="+mn-lt"/>
                <a:cs typeface="+mn-lt"/>
              </a:rPr>
              <a:t> </a:t>
            </a:r>
            <a:r>
              <a:rPr lang="pt-BR" sz="1100" err="1">
                <a:highlight>
                  <a:srgbClr val="FFFFFF"/>
                </a:highlight>
                <a:ea typeface="+mn-lt"/>
                <a:cs typeface="+mn-lt"/>
              </a:rPr>
              <a:t>Infrastructure</a:t>
            </a:r>
            <a:r>
              <a:rPr lang="pt-BR" sz="1100">
                <a:highlight>
                  <a:srgbClr val="FFFFFF"/>
                </a:highlight>
                <a:ea typeface="+mn-lt"/>
                <a:cs typeface="+mn-lt"/>
              </a:rPr>
              <a:t> Management 🥰</a:t>
            </a:r>
            <a:endParaRPr lang="pt-BR"/>
          </a:p>
        </p:txBody>
      </p:sp>
      <p:sp>
        <p:nvSpPr>
          <p:cNvPr id="4" name="CaixaDeTexto 3">
            <a:extLst>
              <a:ext uri="{FF2B5EF4-FFF2-40B4-BE49-F238E27FC236}">
                <a16:creationId xmlns:a16="http://schemas.microsoft.com/office/drawing/2014/main" id="{C80029E5-798F-7AA0-50DD-87F501D817CF}"/>
              </a:ext>
            </a:extLst>
          </p:cNvPr>
          <p:cNvSpPr txBox="1"/>
          <p:nvPr/>
        </p:nvSpPr>
        <p:spPr>
          <a:xfrm>
            <a:off x="330679" y="4823603"/>
            <a:ext cx="5449019"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Link: https://www.linkedin.com/posts/mohamed-khalied_gisabrmohamedabrkhaled-gis-arcgispro-activity-7438291932352507904-tNNB?utm_source=share&amp;utm_medium=member_desktop&amp;rcm=ACoAAAMQtAUB5UouXqdBJgo_gWpNVZ7Imay_2Tg</a:t>
            </a:r>
          </a:p>
          <a:p>
            <a:pPr algn="ctr"/>
            <a:endParaRPr lang="pt-BR"/>
          </a:p>
        </p:txBody>
      </p:sp>
      <p:pic>
        <p:nvPicPr>
          <p:cNvPr id="5" name="Imagem 4" descr="Interface gráfica do usuário, Aplicativo&#10;&#10;O conteúdo gerado por IA pode estar incorreto.">
            <a:extLst>
              <a:ext uri="{FF2B5EF4-FFF2-40B4-BE49-F238E27FC236}">
                <a16:creationId xmlns:a16="http://schemas.microsoft.com/office/drawing/2014/main" id="{963DD909-B3C6-9C7F-51EA-33B68CAC166B}"/>
              </a:ext>
            </a:extLst>
          </p:cNvPr>
          <p:cNvPicPr>
            <a:picLocks noChangeAspect="1"/>
          </p:cNvPicPr>
          <p:nvPr/>
        </p:nvPicPr>
        <p:blipFill>
          <a:blip r:embed="rId6"/>
          <a:stretch>
            <a:fillRect/>
          </a:stretch>
        </p:blipFill>
        <p:spPr>
          <a:xfrm>
            <a:off x="409575" y="279280"/>
            <a:ext cx="5276850" cy="4229100"/>
          </a:xfrm>
          <a:prstGeom prst="rect">
            <a:avLst/>
          </a:prstGeom>
        </p:spPr>
      </p:pic>
    </p:spTree>
    <p:extLst>
      <p:ext uri="{BB962C8B-B14F-4D97-AF65-F5344CB8AC3E}">
        <p14:creationId xmlns:p14="http://schemas.microsoft.com/office/powerpoint/2010/main" val="6081054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m 3" descr="Diagrama&#10;&#10;O conteúdo gerado por IA pode estar incorreto.">
            <a:extLst>
              <a:ext uri="{FF2B5EF4-FFF2-40B4-BE49-F238E27FC236}">
                <a16:creationId xmlns:a16="http://schemas.microsoft.com/office/drawing/2014/main" id="{1DB77C17-CDB0-A345-D2C2-B846D1911BE2}"/>
              </a:ext>
            </a:extLst>
          </p:cNvPr>
          <p:cNvPicPr>
            <a:picLocks noChangeAspect="1"/>
          </p:cNvPicPr>
          <p:nvPr/>
        </p:nvPicPr>
        <p:blipFill>
          <a:blip r:embed="rId2"/>
          <a:stretch>
            <a:fillRect/>
          </a:stretch>
        </p:blipFill>
        <p:spPr>
          <a:xfrm>
            <a:off x="864170" y="388100"/>
            <a:ext cx="4065737" cy="6081802"/>
          </a:xfrm>
          <a:prstGeom prst="rect">
            <a:avLst/>
          </a:prstGeom>
        </p:spPr>
      </p:pic>
      <p:sp>
        <p:nvSpPr>
          <p:cNvPr id="5" name="CaixaDeTexto 4">
            <a:extLst>
              <a:ext uri="{FF2B5EF4-FFF2-40B4-BE49-F238E27FC236}">
                <a16:creationId xmlns:a16="http://schemas.microsoft.com/office/drawing/2014/main" id="{E3860803-1442-5276-1442-3A08B54DE6D5}"/>
              </a:ext>
            </a:extLst>
          </p:cNvPr>
          <p:cNvSpPr txBox="1"/>
          <p:nvPr/>
        </p:nvSpPr>
        <p:spPr>
          <a:xfrm>
            <a:off x="5779698" y="3127075"/>
            <a:ext cx="60960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Link: https://www.linkedin.com/posts/gowri-srinivas-guthikonda_activity-7429481323905548288-V8NB?utm_source=share&amp;utm_medium=member_desktop&amp;rcm=ACoAAAMQtAUB5UouXqdBJgo_gWpNVZ7Imay_2Tg</a:t>
            </a:r>
          </a:p>
          <a:p>
            <a:pPr algn="ctr"/>
            <a:endParaRPr lang="pt-BR"/>
          </a:p>
        </p:txBody>
      </p:sp>
    </p:spTree>
    <p:extLst>
      <p:ext uri="{BB962C8B-B14F-4D97-AF65-F5344CB8AC3E}">
        <p14:creationId xmlns:p14="http://schemas.microsoft.com/office/powerpoint/2010/main" val="278832290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984A36-A947-C291-6166-1C086BC73666}"/>
              </a:ext>
            </a:extLst>
          </p:cNvPr>
          <p:cNvSpPr>
            <a:spLocks noGrp="1"/>
          </p:cNvSpPr>
          <p:nvPr>
            <p:ph type="title"/>
          </p:nvPr>
        </p:nvSpPr>
        <p:spPr>
          <a:xfrm>
            <a:off x="838200" y="5138408"/>
            <a:ext cx="10515600" cy="1325563"/>
          </a:xfrm>
        </p:spPr>
        <p:txBody>
          <a:bodyPr>
            <a:normAutofit/>
          </a:bodyPr>
          <a:lstStyle/>
          <a:p>
            <a:r>
              <a:rPr lang="pt-BR" sz="2000">
                <a:ea typeface="Calibri Light"/>
                <a:cs typeface="Calibri Light"/>
              </a:rPr>
              <a:t>Link: </a:t>
            </a:r>
            <a:r>
              <a:rPr lang="pt-BR" sz="2000">
                <a:ea typeface="+mj-lt"/>
                <a:cs typeface="+mj-lt"/>
              </a:rPr>
              <a:t>https://www.linkedin.com/posts/field-csi_we-often-get-asked-what-the-difference-is-activity-7437870992259100672-j_Ft?utm_source=share&amp;utm_medium=member_desktop&amp;rcm=ACoAAAMQtAUB5UouXqdBJgo_gWpNVZ7Imay_2Tg</a:t>
            </a:r>
            <a:endParaRPr lang="pt-BR" sz="2000">
              <a:ea typeface="Calibri Light"/>
              <a:cs typeface="Calibri Light"/>
            </a:endParaRPr>
          </a:p>
        </p:txBody>
      </p:sp>
      <p:sp>
        <p:nvSpPr>
          <p:cNvPr id="3" name="Espaço Reservado para Conteúdo 2">
            <a:extLst>
              <a:ext uri="{FF2B5EF4-FFF2-40B4-BE49-F238E27FC236}">
                <a16:creationId xmlns:a16="http://schemas.microsoft.com/office/drawing/2014/main" id="{474BABAA-D1AF-A50B-9DC2-E893D59CDED5}"/>
              </a:ext>
            </a:extLst>
          </p:cNvPr>
          <p:cNvSpPr>
            <a:spLocks noGrp="1"/>
          </p:cNvSpPr>
          <p:nvPr>
            <p:ph idx="1"/>
          </p:nvPr>
        </p:nvSpPr>
        <p:spPr>
          <a:xfrm>
            <a:off x="838200" y="603549"/>
            <a:ext cx="10515600" cy="4351338"/>
          </a:xfrm>
        </p:spPr>
        <p:txBody>
          <a:bodyPr vert="horz" lIns="91440" tIns="45720" rIns="91440" bIns="45720" rtlCol="0" anchor="t">
            <a:normAutofit/>
          </a:bodyPr>
          <a:lstStyle/>
          <a:p>
            <a:pPr marL="0" indent="0">
              <a:buNone/>
            </a:pPr>
            <a:r>
              <a:rPr lang="pt-BR" sz="1100" err="1">
                <a:highlight>
                  <a:srgbClr val="FFFFFF"/>
                </a:highlight>
                <a:ea typeface="+mn-lt"/>
                <a:cs typeface="+mn-lt"/>
              </a:rPr>
              <a:t>We</a:t>
            </a:r>
            <a:r>
              <a:rPr lang="pt-BR" sz="1100">
                <a:highlight>
                  <a:srgbClr val="FFFFFF"/>
                </a:highlight>
                <a:ea typeface="+mn-lt"/>
                <a:cs typeface="+mn-lt"/>
              </a:rPr>
              <a:t> </a:t>
            </a:r>
            <a:r>
              <a:rPr lang="pt-BR" sz="1100" err="1">
                <a:highlight>
                  <a:srgbClr val="FFFFFF"/>
                </a:highlight>
                <a:ea typeface="+mn-lt"/>
                <a:cs typeface="+mn-lt"/>
              </a:rPr>
              <a:t>often</a:t>
            </a:r>
            <a:r>
              <a:rPr lang="pt-BR" sz="1100">
                <a:highlight>
                  <a:srgbClr val="FFFFFF"/>
                </a:highlight>
                <a:ea typeface="+mn-lt"/>
                <a:cs typeface="+mn-lt"/>
              </a:rPr>
              <a:t> </a:t>
            </a:r>
            <a:r>
              <a:rPr lang="pt-BR" sz="1100" err="1">
                <a:highlight>
                  <a:srgbClr val="FFFFFF"/>
                </a:highlight>
                <a:ea typeface="+mn-lt"/>
                <a:cs typeface="+mn-lt"/>
              </a:rPr>
              <a:t>get</a:t>
            </a:r>
            <a:r>
              <a:rPr lang="pt-BR" sz="1100">
                <a:highlight>
                  <a:srgbClr val="FFFFFF"/>
                </a:highlight>
                <a:ea typeface="+mn-lt"/>
                <a:cs typeface="+mn-lt"/>
              </a:rPr>
              <a:t> </a:t>
            </a:r>
            <a:r>
              <a:rPr lang="pt-BR" sz="1100" err="1">
                <a:highlight>
                  <a:srgbClr val="FFFFFF"/>
                </a:highlight>
                <a:ea typeface="+mn-lt"/>
                <a:cs typeface="+mn-lt"/>
              </a:rPr>
              <a:t>asked</a:t>
            </a:r>
            <a:r>
              <a:rPr lang="pt-BR" sz="1100">
                <a:highlight>
                  <a:srgbClr val="FFFFFF"/>
                </a:highlight>
                <a:ea typeface="+mn-lt"/>
                <a:cs typeface="+mn-lt"/>
              </a:rPr>
              <a:t> </a:t>
            </a:r>
            <a:r>
              <a:rPr lang="pt-BR" sz="1100" err="1">
                <a:highlight>
                  <a:srgbClr val="FFFFFF"/>
                </a:highlight>
                <a:ea typeface="+mn-lt"/>
                <a:cs typeface="+mn-lt"/>
              </a:rPr>
              <a:t>what</a:t>
            </a:r>
            <a:r>
              <a:rPr lang="pt-BR" sz="1100">
                <a:highlight>
                  <a:srgbClr val="FFFFFF"/>
                </a:highlight>
                <a:ea typeface="+mn-lt"/>
                <a:cs typeface="+mn-lt"/>
              </a:rPr>
              <a:t> </a:t>
            </a:r>
            <a:r>
              <a:rPr lang="pt-BR" sz="1100" err="1">
                <a:highlight>
                  <a:srgbClr val="FFFFFF"/>
                </a:highlight>
                <a:ea typeface="+mn-lt"/>
                <a:cs typeface="+mn-lt"/>
              </a:rPr>
              <a:t>the</a:t>
            </a:r>
            <a:r>
              <a:rPr lang="pt-BR" sz="1100">
                <a:highlight>
                  <a:srgbClr val="FFFFFF"/>
                </a:highlight>
                <a:ea typeface="+mn-lt"/>
                <a:cs typeface="+mn-lt"/>
              </a:rPr>
              <a:t> </a:t>
            </a:r>
            <a:r>
              <a:rPr lang="pt-BR" sz="1100" err="1">
                <a:highlight>
                  <a:srgbClr val="FFFFFF"/>
                </a:highlight>
                <a:ea typeface="+mn-lt"/>
                <a:cs typeface="+mn-lt"/>
              </a:rPr>
              <a:t>difference</a:t>
            </a:r>
            <a:r>
              <a:rPr lang="pt-BR" sz="1100">
                <a:highlight>
                  <a:srgbClr val="FFFFFF"/>
                </a:highlight>
                <a:ea typeface="+mn-lt"/>
                <a:cs typeface="+mn-lt"/>
              </a:rPr>
              <a:t> </a:t>
            </a:r>
            <a:r>
              <a:rPr lang="pt-BR" sz="1100" err="1">
                <a:highlight>
                  <a:srgbClr val="FFFFFF"/>
                </a:highlight>
                <a:ea typeface="+mn-lt"/>
                <a:cs typeface="+mn-lt"/>
              </a:rPr>
              <a:t>is</a:t>
            </a:r>
            <a:r>
              <a:rPr lang="pt-BR" sz="1100">
                <a:highlight>
                  <a:srgbClr val="FFFFFF"/>
                </a:highlight>
                <a:ea typeface="+mn-lt"/>
                <a:cs typeface="+mn-lt"/>
              </a:rPr>
              <a:t> </a:t>
            </a:r>
            <a:r>
              <a:rPr lang="pt-BR" sz="1100" err="1">
                <a:highlight>
                  <a:srgbClr val="FFFFFF"/>
                </a:highlight>
                <a:ea typeface="+mn-lt"/>
                <a:cs typeface="+mn-lt"/>
              </a:rPr>
              <a:t>between</a:t>
            </a:r>
            <a:r>
              <a:rPr lang="pt-BR" sz="1100">
                <a:highlight>
                  <a:srgbClr val="FFFFFF"/>
                </a:highlight>
                <a:ea typeface="+mn-lt"/>
                <a:cs typeface="+mn-lt"/>
              </a:rPr>
              <a:t> GE </a:t>
            </a:r>
            <a:r>
              <a:rPr lang="pt-BR" sz="1100" err="1">
                <a:highlight>
                  <a:srgbClr val="FFFFFF"/>
                </a:highlight>
                <a:ea typeface="+mn-lt"/>
                <a:cs typeface="+mn-lt"/>
              </a:rPr>
              <a:t>Vernova</a:t>
            </a:r>
            <a:r>
              <a:rPr lang="pt-BR" sz="1100">
                <a:highlight>
                  <a:srgbClr val="FFFFFF"/>
                </a:highlight>
                <a:ea typeface="+mn-lt"/>
                <a:cs typeface="+mn-lt"/>
              </a:rPr>
              <a:t> </a:t>
            </a:r>
            <a:r>
              <a:rPr lang="pt-BR" sz="1100" err="1">
                <a:highlight>
                  <a:srgbClr val="FFFFFF"/>
                </a:highlight>
                <a:ea typeface="+mn-lt"/>
                <a:cs typeface="+mn-lt"/>
              </a:rPr>
              <a:t>Smallworld</a:t>
            </a:r>
            <a:r>
              <a:rPr lang="pt-BR" sz="1100">
                <a:highlight>
                  <a:srgbClr val="FFFFFF"/>
                </a:highlight>
                <a:ea typeface="+mn-lt"/>
                <a:cs typeface="+mn-lt"/>
              </a:rPr>
              <a:t> </a:t>
            </a:r>
            <a:r>
              <a:rPr lang="pt-BR" sz="1100" err="1">
                <a:highlight>
                  <a:srgbClr val="FFFFFF"/>
                </a:highlight>
                <a:ea typeface="+mn-lt"/>
                <a:cs typeface="+mn-lt"/>
              </a:rPr>
              <a:t>and</a:t>
            </a:r>
            <a:r>
              <a:rPr lang="pt-BR" sz="1100">
                <a:highlight>
                  <a:srgbClr val="FFFFFF"/>
                </a:highlight>
                <a:ea typeface="+mn-lt"/>
                <a:cs typeface="+mn-lt"/>
              </a:rPr>
              <a:t> ESRI.</a:t>
            </a:r>
            <a:br>
              <a:rPr lang="pt-BR" sz="1100">
                <a:highlight>
                  <a:srgbClr val="FFFFFF"/>
                </a:highlight>
                <a:ea typeface="+mn-lt"/>
                <a:cs typeface="+mn-lt"/>
              </a:rPr>
            </a:br>
            <a:br>
              <a:rPr lang="pt-BR" sz="1100">
                <a:highlight>
                  <a:srgbClr val="FFFFFF"/>
                </a:highlight>
                <a:ea typeface="+mn-lt"/>
                <a:cs typeface="+mn-lt"/>
              </a:rPr>
            </a:br>
            <a:r>
              <a:rPr lang="pt-BR" sz="1100" err="1">
                <a:highlight>
                  <a:srgbClr val="FFFFFF"/>
                </a:highlight>
                <a:ea typeface="+mn-lt"/>
                <a:cs typeface="+mn-lt"/>
              </a:rPr>
              <a:t>My</a:t>
            </a:r>
            <a:r>
              <a:rPr lang="pt-BR" sz="1100">
                <a:highlight>
                  <a:srgbClr val="FFFFFF"/>
                </a:highlight>
                <a:ea typeface="+mn-lt"/>
                <a:cs typeface="+mn-lt"/>
              </a:rPr>
              <a:t> </a:t>
            </a:r>
            <a:r>
              <a:rPr lang="pt-BR" sz="1100" err="1">
                <a:highlight>
                  <a:srgbClr val="FFFFFF"/>
                </a:highlight>
                <a:ea typeface="+mn-lt"/>
                <a:cs typeface="+mn-lt"/>
              </a:rPr>
              <a:t>typical</a:t>
            </a:r>
            <a:r>
              <a:rPr lang="pt-BR" sz="1100">
                <a:highlight>
                  <a:srgbClr val="FFFFFF"/>
                </a:highlight>
                <a:ea typeface="+mn-lt"/>
                <a:cs typeface="+mn-lt"/>
              </a:rPr>
              <a:t> response </a:t>
            </a:r>
            <a:r>
              <a:rPr lang="pt-BR" sz="1100" err="1">
                <a:highlight>
                  <a:srgbClr val="FFFFFF"/>
                </a:highlight>
                <a:ea typeface="+mn-lt"/>
                <a:cs typeface="+mn-lt"/>
              </a:rPr>
              <a:t>has</a:t>
            </a:r>
            <a:r>
              <a:rPr lang="pt-BR" sz="1100">
                <a:highlight>
                  <a:srgbClr val="FFFFFF"/>
                </a:highlight>
                <a:ea typeface="+mn-lt"/>
                <a:cs typeface="+mn-lt"/>
              </a:rPr>
              <a:t> </a:t>
            </a:r>
            <a:r>
              <a:rPr lang="pt-BR" sz="1100" err="1">
                <a:highlight>
                  <a:srgbClr val="FFFFFF"/>
                </a:highlight>
                <a:ea typeface="+mn-lt"/>
                <a:cs typeface="+mn-lt"/>
              </a:rPr>
              <a:t>been</a:t>
            </a:r>
            <a:r>
              <a:rPr lang="pt-BR" sz="1100">
                <a:highlight>
                  <a:srgbClr val="FFFFFF"/>
                </a:highlight>
                <a:ea typeface="+mn-lt"/>
                <a:cs typeface="+mn-lt"/>
              </a:rPr>
              <a:t>: ESRI makes </a:t>
            </a:r>
            <a:r>
              <a:rPr lang="pt-BR" sz="1100" err="1">
                <a:highlight>
                  <a:srgbClr val="FFFFFF"/>
                </a:highlight>
                <a:ea typeface="+mn-lt"/>
                <a:cs typeface="+mn-lt"/>
              </a:rPr>
              <a:t>great</a:t>
            </a:r>
            <a:r>
              <a:rPr lang="pt-BR" sz="1100">
                <a:highlight>
                  <a:srgbClr val="FFFFFF"/>
                </a:highlight>
                <a:ea typeface="+mn-lt"/>
                <a:cs typeface="+mn-lt"/>
              </a:rPr>
              <a:t> </a:t>
            </a:r>
            <a:r>
              <a:rPr lang="pt-BR" sz="1100" err="1">
                <a:highlight>
                  <a:srgbClr val="FFFFFF"/>
                </a:highlight>
                <a:ea typeface="+mn-lt"/>
                <a:cs typeface="+mn-lt"/>
              </a:rPr>
              <a:t>maps</a:t>
            </a:r>
            <a:r>
              <a:rPr lang="pt-BR" sz="1100">
                <a:highlight>
                  <a:srgbClr val="FFFFFF"/>
                </a:highlight>
                <a:ea typeface="+mn-lt"/>
                <a:cs typeface="+mn-lt"/>
              </a:rPr>
              <a:t>; </a:t>
            </a:r>
            <a:r>
              <a:rPr lang="pt-BR" sz="1100" err="1">
                <a:highlight>
                  <a:srgbClr val="FFFFFF"/>
                </a:highlight>
                <a:ea typeface="+mn-lt"/>
                <a:cs typeface="+mn-lt"/>
              </a:rPr>
              <a:t>Smallworld</a:t>
            </a:r>
            <a:r>
              <a:rPr lang="pt-BR" sz="1100">
                <a:highlight>
                  <a:srgbClr val="FFFFFF"/>
                </a:highlight>
                <a:ea typeface="+mn-lt"/>
                <a:cs typeface="+mn-lt"/>
              </a:rPr>
              <a:t> builds </a:t>
            </a:r>
            <a:r>
              <a:rPr lang="pt-BR" sz="1100" err="1">
                <a:highlight>
                  <a:srgbClr val="FFFFFF"/>
                </a:highlight>
                <a:ea typeface="+mn-lt"/>
                <a:cs typeface="+mn-lt"/>
              </a:rPr>
              <a:t>great</a:t>
            </a:r>
            <a:r>
              <a:rPr lang="pt-BR" sz="1100">
                <a:highlight>
                  <a:srgbClr val="FFFFFF"/>
                </a:highlight>
                <a:ea typeface="+mn-lt"/>
                <a:cs typeface="+mn-lt"/>
              </a:rPr>
              <a:t> networks.</a:t>
            </a:r>
            <a:br>
              <a:rPr lang="pt-BR" sz="1100">
                <a:highlight>
                  <a:srgbClr val="FFFFFF"/>
                </a:highlight>
                <a:ea typeface="+mn-lt"/>
                <a:cs typeface="+mn-lt"/>
              </a:rPr>
            </a:br>
            <a:br>
              <a:rPr lang="pt-BR" sz="1100">
                <a:highlight>
                  <a:srgbClr val="FFFFFF"/>
                </a:highlight>
                <a:ea typeface="+mn-lt"/>
                <a:cs typeface="+mn-lt"/>
              </a:rPr>
            </a:br>
            <a:r>
              <a:rPr lang="pt-BR" sz="1100">
                <a:highlight>
                  <a:srgbClr val="FFFFFF"/>
                </a:highlight>
                <a:ea typeface="+mn-lt"/>
                <a:cs typeface="+mn-lt"/>
              </a:rPr>
              <a:t>I </a:t>
            </a:r>
            <a:r>
              <a:rPr lang="pt-BR" sz="1100" err="1">
                <a:highlight>
                  <a:srgbClr val="FFFFFF"/>
                </a:highlight>
                <a:ea typeface="+mn-lt"/>
                <a:cs typeface="+mn-lt"/>
              </a:rPr>
              <a:t>sometimes</a:t>
            </a:r>
            <a:r>
              <a:rPr lang="pt-BR" sz="1100">
                <a:highlight>
                  <a:srgbClr val="FFFFFF"/>
                </a:highlight>
                <a:ea typeface="+mn-lt"/>
                <a:cs typeface="+mn-lt"/>
              </a:rPr>
              <a:t> compare it </a:t>
            </a:r>
            <a:r>
              <a:rPr lang="pt-BR" sz="1100" err="1">
                <a:highlight>
                  <a:srgbClr val="FFFFFF"/>
                </a:highlight>
                <a:ea typeface="+mn-lt"/>
                <a:cs typeface="+mn-lt"/>
              </a:rPr>
              <a:t>to</a:t>
            </a:r>
            <a:r>
              <a:rPr lang="pt-BR" sz="1100">
                <a:highlight>
                  <a:srgbClr val="FFFFFF"/>
                </a:highlight>
                <a:ea typeface="+mn-lt"/>
                <a:cs typeface="+mn-lt"/>
              </a:rPr>
              <a:t> </a:t>
            </a:r>
            <a:r>
              <a:rPr lang="pt-BR" sz="1100" err="1">
                <a:highlight>
                  <a:srgbClr val="FFFFFF"/>
                </a:highlight>
                <a:ea typeface="+mn-lt"/>
                <a:cs typeface="+mn-lt"/>
              </a:rPr>
              <a:t>operating</a:t>
            </a:r>
            <a:r>
              <a:rPr lang="pt-BR" sz="1100">
                <a:highlight>
                  <a:srgbClr val="FFFFFF"/>
                </a:highlight>
                <a:ea typeface="+mn-lt"/>
                <a:cs typeface="+mn-lt"/>
              </a:rPr>
              <a:t> systems: ESRI </a:t>
            </a:r>
            <a:r>
              <a:rPr lang="pt-BR" sz="1100" err="1">
                <a:highlight>
                  <a:srgbClr val="FFFFFF"/>
                </a:highlight>
                <a:ea typeface="+mn-lt"/>
                <a:cs typeface="+mn-lt"/>
              </a:rPr>
              <a:t>is</a:t>
            </a:r>
            <a:r>
              <a:rPr lang="pt-BR" sz="1100">
                <a:highlight>
                  <a:srgbClr val="FFFFFF"/>
                </a:highlight>
                <a:ea typeface="+mn-lt"/>
                <a:cs typeface="+mn-lt"/>
              </a:rPr>
              <a:t> like Windows—</a:t>
            </a:r>
            <a:r>
              <a:rPr lang="pt-BR" sz="1100" err="1">
                <a:highlight>
                  <a:srgbClr val="FFFFFF"/>
                </a:highlight>
                <a:ea typeface="+mn-lt"/>
                <a:cs typeface="+mn-lt"/>
              </a:rPr>
              <a:t>great</a:t>
            </a:r>
            <a:r>
              <a:rPr lang="pt-BR" sz="1100">
                <a:highlight>
                  <a:srgbClr val="FFFFFF"/>
                </a:highlight>
                <a:ea typeface="+mn-lt"/>
                <a:cs typeface="+mn-lt"/>
              </a:rPr>
              <a:t> </a:t>
            </a:r>
            <a:r>
              <a:rPr lang="pt-BR" sz="1100" err="1">
                <a:highlight>
                  <a:srgbClr val="FFFFFF"/>
                </a:highlight>
                <a:ea typeface="+mn-lt"/>
                <a:cs typeface="+mn-lt"/>
              </a:rPr>
              <a:t>presentation</a:t>
            </a:r>
            <a:r>
              <a:rPr lang="pt-BR" sz="1100">
                <a:highlight>
                  <a:srgbClr val="FFFFFF"/>
                </a:highlight>
                <a:ea typeface="+mn-lt"/>
                <a:cs typeface="+mn-lt"/>
              </a:rPr>
              <a:t> </a:t>
            </a:r>
            <a:r>
              <a:rPr lang="pt-BR" sz="1100" err="1">
                <a:highlight>
                  <a:srgbClr val="FFFFFF"/>
                </a:highlight>
                <a:ea typeface="+mn-lt"/>
                <a:cs typeface="+mn-lt"/>
              </a:rPr>
              <a:t>and</a:t>
            </a:r>
            <a:r>
              <a:rPr lang="pt-BR" sz="1100">
                <a:highlight>
                  <a:srgbClr val="FFFFFF"/>
                </a:highlight>
                <a:ea typeface="+mn-lt"/>
                <a:cs typeface="+mn-lt"/>
              </a:rPr>
              <a:t> </a:t>
            </a:r>
            <a:r>
              <a:rPr lang="pt-BR" sz="1100" err="1">
                <a:highlight>
                  <a:srgbClr val="FFFFFF"/>
                </a:highlight>
                <a:ea typeface="+mn-lt"/>
                <a:cs typeface="+mn-lt"/>
              </a:rPr>
              <a:t>widely</a:t>
            </a:r>
            <a:r>
              <a:rPr lang="pt-BR" sz="1100">
                <a:highlight>
                  <a:srgbClr val="FFFFFF"/>
                </a:highlight>
                <a:ea typeface="+mn-lt"/>
                <a:cs typeface="+mn-lt"/>
              </a:rPr>
              <a:t> </a:t>
            </a:r>
            <a:r>
              <a:rPr lang="pt-BR" sz="1100" err="1">
                <a:highlight>
                  <a:srgbClr val="FFFFFF"/>
                </a:highlight>
                <a:ea typeface="+mn-lt"/>
                <a:cs typeface="+mn-lt"/>
              </a:rPr>
              <a:t>used</a:t>
            </a:r>
            <a:r>
              <a:rPr lang="pt-BR" sz="1100">
                <a:highlight>
                  <a:srgbClr val="FFFFFF"/>
                </a:highlight>
                <a:ea typeface="+mn-lt"/>
                <a:cs typeface="+mn-lt"/>
              </a:rPr>
              <a:t>. </a:t>
            </a:r>
            <a:r>
              <a:rPr lang="pt-BR" sz="1100" err="1">
                <a:highlight>
                  <a:srgbClr val="FFFFFF"/>
                </a:highlight>
                <a:ea typeface="+mn-lt"/>
                <a:cs typeface="+mn-lt"/>
              </a:rPr>
              <a:t>Smallworld</a:t>
            </a:r>
            <a:r>
              <a:rPr lang="pt-BR" sz="1100">
                <a:highlight>
                  <a:srgbClr val="FFFFFF"/>
                </a:highlight>
                <a:ea typeface="+mn-lt"/>
                <a:cs typeface="+mn-lt"/>
              </a:rPr>
              <a:t> </a:t>
            </a:r>
            <a:r>
              <a:rPr lang="pt-BR" sz="1100" err="1">
                <a:highlight>
                  <a:srgbClr val="FFFFFF"/>
                </a:highlight>
                <a:ea typeface="+mn-lt"/>
                <a:cs typeface="+mn-lt"/>
              </a:rPr>
              <a:t>is</a:t>
            </a:r>
            <a:r>
              <a:rPr lang="pt-BR" sz="1100">
                <a:highlight>
                  <a:srgbClr val="FFFFFF"/>
                </a:highlight>
                <a:ea typeface="+mn-lt"/>
                <a:cs typeface="+mn-lt"/>
              </a:rPr>
              <a:t> more like UNIX—</a:t>
            </a:r>
            <a:r>
              <a:rPr lang="pt-BR" sz="1100" err="1">
                <a:highlight>
                  <a:srgbClr val="FFFFFF"/>
                </a:highlight>
                <a:ea typeface="+mn-lt"/>
                <a:cs typeface="+mn-lt"/>
              </a:rPr>
              <a:t>built</a:t>
            </a:r>
            <a:r>
              <a:rPr lang="pt-BR" sz="1100">
                <a:highlight>
                  <a:srgbClr val="FFFFFF"/>
                </a:highlight>
                <a:ea typeface="+mn-lt"/>
                <a:cs typeface="+mn-lt"/>
              </a:rPr>
              <a:t> </a:t>
            </a:r>
            <a:r>
              <a:rPr lang="pt-BR" sz="1100" err="1">
                <a:highlight>
                  <a:srgbClr val="FFFFFF"/>
                </a:highlight>
                <a:ea typeface="+mn-lt"/>
                <a:cs typeface="+mn-lt"/>
              </a:rPr>
              <a:t>from</a:t>
            </a:r>
            <a:r>
              <a:rPr lang="pt-BR" sz="1100">
                <a:highlight>
                  <a:srgbClr val="FFFFFF"/>
                </a:highlight>
                <a:ea typeface="+mn-lt"/>
                <a:cs typeface="+mn-lt"/>
              </a:rPr>
              <a:t> </a:t>
            </a:r>
            <a:r>
              <a:rPr lang="pt-BR" sz="1100" err="1">
                <a:highlight>
                  <a:srgbClr val="FFFFFF"/>
                </a:highlight>
                <a:ea typeface="+mn-lt"/>
                <a:cs typeface="+mn-lt"/>
              </a:rPr>
              <a:t>the</a:t>
            </a:r>
            <a:r>
              <a:rPr lang="pt-BR" sz="1100">
                <a:highlight>
                  <a:srgbClr val="FFFFFF"/>
                </a:highlight>
                <a:ea typeface="+mn-lt"/>
                <a:cs typeface="+mn-lt"/>
              </a:rPr>
              <a:t> </a:t>
            </a:r>
            <a:r>
              <a:rPr lang="pt-BR" sz="1100" err="1">
                <a:highlight>
                  <a:srgbClr val="FFFFFF"/>
                </a:highlight>
                <a:ea typeface="+mn-lt"/>
                <a:cs typeface="+mn-lt"/>
              </a:rPr>
              <a:t>ground</a:t>
            </a:r>
            <a:r>
              <a:rPr lang="pt-BR" sz="1100">
                <a:highlight>
                  <a:srgbClr val="FFFFFF"/>
                </a:highlight>
                <a:ea typeface="+mn-lt"/>
                <a:cs typeface="+mn-lt"/>
              </a:rPr>
              <a:t> </a:t>
            </a:r>
            <a:r>
              <a:rPr lang="pt-BR" sz="1100" err="1">
                <a:highlight>
                  <a:srgbClr val="FFFFFF"/>
                </a:highlight>
                <a:ea typeface="+mn-lt"/>
                <a:cs typeface="+mn-lt"/>
              </a:rPr>
              <a:t>up</a:t>
            </a:r>
            <a:r>
              <a:rPr lang="pt-BR" sz="1100">
                <a:highlight>
                  <a:srgbClr val="FFFFFF"/>
                </a:highlight>
                <a:ea typeface="+mn-lt"/>
                <a:cs typeface="+mn-lt"/>
              </a:rPr>
              <a:t> for </a:t>
            </a:r>
            <a:r>
              <a:rPr lang="pt-BR" sz="1100" err="1">
                <a:highlight>
                  <a:srgbClr val="FFFFFF"/>
                </a:highlight>
                <a:ea typeface="+mn-lt"/>
                <a:cs typeface="+mn-lt"/>
              </a:rPr>
              <a:t>reliability</a:t>
            </a:r>
            <a:r>
              <a:rPr lang="pt-BR" sz="1100">
                <a:highlight>
                  <a:srgbClr val="FFFFFF"/>
                </a:highlight>
                <a:ea typeface="+mn-lt"/>
                <a:cs typeface="+mn-lt"/>
              </a:rPr>
              <a:t>, </a:t>
            </a:r>
            <a:r>
              <a:rPr lang="pt-BR" sz="1100" err="1">
                <a:highlight>
                  <a:srgbClr val="FFFFFF"/>
                </a:highlight>
                <a:ea typeface="+mn-lt"/>
                <a:cs typeface="+mn-lt"/>
              </a:rPr>
              <a:t>scalability</a:t>
            </a:r>
            <a:r>
              <a:rPr lang="pt-BR" sz="1100">
                <a:highlight>
                  <a:srgbClr val="FFFFFF"/>
                </a:highlight>
                <a:ea typeface="+mn-lt"/>
                <a:cs typeface="+mn-lt"/>
              </a:rPr>
              <a:t>, </a:t>
            </a:r>
            <a:r>
              <a:rPr lang="pt-BR" sz="1100" err="1">
                <a:highlight>
                  <a:srgbClr val="FFFFFF"/>
                </a:highlight>
                <a:ea typeface="+mn-lt"/>
                <a:cs typeface="+mn-lt"/>
              </a:rPr>
              <a:t>and</a:t>
            </a:r>
            <a:r>
              <a:rPr lang="pt-BR" sz="1100">
                <a:highlight>
                  <a:srgbClr val="FFFFFF"/>
                </a:highlight>
                <a:ea typeface="+mn-lt"/>
                <a:cs typeface="+mn-lt"/>
              </a:rPr>
              <a:t> </a:t>
            </a:r>
            <a:r>
              <a:rPr lang="pt-BR" sz="1100" err="1">
                <a:highlight>
                  <a:srgbClr val="FFFFFF"/>
                </a:highlight>
                <a:ea typeface="+mn-lt"/>
                <a:cs typeface="+mn-lt"/>
              </a:rPr>
              <a:t>handling</a:t>
            </a:r>
            <a:r>
              <a:rPr lang="pt-BR" sz="1100">
                <a:highlight>
                  <a:srgbClr val="FFFFFF"/>
                </a:highlight>
                <a:ea typeface="+mn-lt"/>
                <a:cs typeface="+mn-lt"/>
              </a:rPr>
              <a:t> </a:t>
            </a:r>
            <a:r>
              <a:rPr lang="pt-BR" sz="1100" err="1">
                <a:highlight>
                  <a:srgbClr val="FFFFFF"/>
                </a:highlight>
                <a:ea typeface="+mn-lt"/>
                <a:cs typeface="+mn-lt"/>
              </a:rPr>
              <a:t>complex</a:t>
            </a:r>
            <a:r>
              <a:rPr lang="pt-BR" sz="1100">
                <a:highlight>
                  <a:srgbClr val="FFFFFF"/>
                </a:highlight>
                <a:ea typeface="+mn-lt"/>
                <a:cs typeface="+mn-lt"/>
              </a:rPr>
              <a:t> systems.</a:t>
            </a:r>
            <a:br>
              <a:rPr lang="pt-BR" sz="1100">
                <a:highlight>
                  <a:srgbClr val="FFFFFF"/>
                </a:highlight>
                <a:ea typeface="+mn-lt"/>
                <a:cs typeface="+mn-lt"/>
              </a:rPr>
            </a:br>
            <a:r>
              <a:rPr lang="pt-BR" sz="1100" err="1">
                <a:highlight>
                  <a:srgbClr val="FFFFFF"/>
                </a:highlight>
                <a:ea typeface="+mn-lt"/>
                <a:cs typeface="+mn-lt"/>
              </a:rPr>
              <a:t>Recently</a:t>
            </a:r>
            <a:r>
              <a:rPr lang="pt-BR" sz="1100">
                <a:highlight>
                  <a:srgbClr val="FFFFFF"/>
                </a:highlight>
                <a:ea typeface="+mn-lt"/>
                <a:cs typeface="+mn-lt"/>
              </a:rPr>
              <a:t>, I </a:t>
            </a:r>
            <a:r>
              <a:rPr lang="pt-BR" sz="1100" err="1">
                <a:highlight>
                  <a:srgbClr val="FFFFFF"/>
                </a:highlight>
                <a:ea typeface="+mn-lt"/>
                <a:cs typeface="+mn-lt"/>
              </a:rPr>
              <a:t>realized</a:t>
            </a:r>
            <a:r>
              <a:rPr lang="pt-BR" sz="1100">
                <a:highlight>
                  <a:srgbClr val="FFFFFF"/>
                </a:highlight>
                <a:ea typeface="+mn-lt"/>
                <a:cs typeface="+mn-lt"/>
              </a:rPr>
              <a:t> </a:t>
            </a:r>
            <a:r>
              <a:rPr lang="pt-BR" sz="1100" err="1">
                <a:highlight>
                  <a:srgbClr val="FFFFFF"/>
                </a:highlight>
                <a:ea typeface="+mn-lt"/>
                <a:cs typeface="+mn-lt"/>
              </a:rPr>
              <a:t>there’s</a:t>
            </a:r>
            <a:r>
              <a:rPr lang="pt-BR" sz="1100">
                <a:highlight>
                  <a:srgbClr val="FFFFFF"/>
                </a:highlight>
                <a:ea typeface="+mn-lt"/>
                <a:cs typeface="+mn-lt"/>
              </a:rPr>
              <a:t> </a:t>
            </a:r>
            <a:r>
              <a:rPr lang="pt-BR" sz="1100" err="1">
                <a:highlight>
                  <a:srgbClr val="FFFFFF"/>
                </a:highlight>
                <a:ea typeface="+mn-lt"/>
                <a:cs typeface="+mn-lt"/>
              </a:rPr>
              <a:t>an</a:t>
            </a:r>
            <a:r>
              <a:rPr lang="pt-BR" sz="1100">
                <a:highlight>
                  <a:srgbClr val="FFFFFF"/>
                </a:highlight>
                <a:ea typeface="+mn-lt"/>
                <a:cs typeface="+mn-lt"/>
              </a:rPr>
              <a:t> </a:t>
            </a:r>
            <a:r>
              <a:rPr lang="pt-BR" sz="1100" err="1">
                <a:highlight>
                  <a:srgbClr val="FFFFFF"/>
                </a:highlight>
                <a:ea typeface="+mn-lt"/>
                <a:cs typeface="+mn-lt"/>
              </a:rPr>
              <a:t>even</a:t>
            </a:r>
            <a:r>
              <a:rPr lang="pt-BR" sz="1100">
                <a:highlight>
                  <a:srgbClr val="FFFFFF"/>
                </a:highlight>
                <a:ea typeface="+mn-lt"/>
                <a:cs typeface="+mn-lt"/>
              </a:rPr>
              <a:t> more fundamental </a:t>
            </a:r>
            <a:r>
              <a:rPr lang="pt-BR" sz="1100" err="1">
                <a:highlight>
                  <a:srgbClr val="FFFFFF"/>
                </a:highlight>
                <a:ea typeface="+mn-lt"/>
                <a:cs typeface="+mn-lt"/>
              </a:rPr>
              <a:t>difference</a:t>
            </a:r>
            <a:r>
              <a:rPr lang="pt-BR" sz="1100">
                <a:highlight>
                  <a:srgbClr val="FFFFFF"/>
                </a:highlight>
                <a:ea typeface="+mn-lt"/>
                <a:cs typeface="+mn-lt"/>
              </a:rPr>
              <a:t> in </a:t>
            </a:r>
            <a:r>
              <a:rPr lang="pt-BR" sz="1100" err="1">
                <a:highlight>
                  <a:srgbClr val="FFFFFF"/>
                </a:highlight>
                <a:ea typeface="+mn-lt"/>
                <a:cs typeface="+mn-lt"/>
              </a:rPr>
              <a:t>how</a:t>
            </a:r>
            <a:r>
              <a:rPr lang="pt-BR" sz="1100">
                <a:highlight>
                  <a:srgbClr val="FFFFFF"/>
                </a:highlight>
                <a:ea typeface="+mn-lt"/>
                <a:cs typeface="+mn-lt"/>
              </a:rPr>
              <a:t> </a:t>
            </a:r>
            <a:r>
              <a:rPr lang="pt-BR" sz="1100" err="1">
                <a:highlight>
                  <a:srgbClr val="FFFFFF"/>
                </a:highlight>
                <a:ea typeface="+mn-lt"/>
                <a:cs typeface="+mn-lt"/>
              </a:rPr>
              <a:t>the</a:t>
            </a:r>
            <a:r>
              <a:rPr lang="pt-BR" sz="1100">
                <a:highlight>
                  <a:srgbClr val="FFFFFF"/>
                </a:highlight>
                <a:ea typeface="+mn-lt"/>
                <a:cs typeface="+mn-lt"/>
              </a:rPr>
              <a:t> </a:t>
            </a:r>
            <a:r>
              <a:rPr lang="pt-BR" sz="1100" err="1">
                <a:highlight>
                  <a:srgbClr val="FFFFFF"/>
                </a:highlight>
                <a:ea typeface="+mn-lt"/>
                <a:cs typeface="+mn-lt"/>
              </a:rPr>
              <a:t>two</a:t>
            </a:r>
            <a:r>
              <a:rPr lang="pt-BR" sz="1100">
                <a:highlight>
                  <a:srgbClr val="FFFFFF"/>
                </a:highlight>
                <a:ea typeface="+mn-lt"/>
                <a:cs typeface="+mn-lt"/>
              </a:rPr>
              <a:t> </a:t>
            </a:r>
            <a:r>
              <a:rPr lang="pt-BR" sz="1100" err="1">
                <a:highlight>
                  <a:srgbClr val="FFFFFF"/>
                </a:highlight>
                <a:ea typeface="+mn-lt"/>
                <a:cs typeface="+mn-lt"/>
              </a:rPr>
              <a:t>platforms</a:t>
            </a:r>
            <a:r>
              <a:rPr lang="pt-BR" sz="1100">
                <a:highlight>
                  <a:srgbClr val="FFFFFF"/>
                </a:highlight>
                <a:ea typeface="+mn-lt"/>
                <a:cs typeface="+mn-lt"/>
              </a:rPr>
              <a:t> are </a:t>
            </a:r>
            <a:r>
              <a:rPr lang="pt-BR" sz="1100" err="1">
                <a:highlight>
                  <a:srgbClr val="FFFFFF"/>
                </a:highlight>
                <a:ea typeface="+mn-lt"/>
                <a:cs typeface="+mn-lt"/>
              </a:rPr>
              <a:t>designed</a:t>
            </a:r>
            <a:r>
              <a:rPr lang="pt-BR" sz="1100">
                <a:highlight>
                  <a:srgbClr val="FFFFFF"/>
                </a:highlight>
                <a:ea typeface="+mn-lt"/>
                <a:cs typeface="+mn-lt"/>
              </a:rPr>
              <a:t>.</a:t>
            </a:r>
            <a:br>
              <a:rPr lang="pt-BR" sz="1100">
                <a:highlight>
                  <a:srgbClr val="FFFFFF"/>
                </a:highlight>
                <a:ea typeface="+mn-lt"/>
                <a:cs typeface="+mn-lt"/>
              </a:rPr>
            </a:br>
            <a:br>
              <a:rPr lang="pt-BR" sz="1100">
                <a:highlight>
                  <a:srgbClr val="FFFFFF"/>
                </a:highlight>
                <a:ea typeface="+mn-lt"/>
                <a:cs typeface="+mn-lt"/>
              </a:rPr>
            </a:br>
            <a:r>
              <a:rPr lang="pt-BR" sz="1100" err="1">
                <a:highlight>
                  <a:srgbClr val="FFFFFF"/>
                </a:highlight>
                <a:ea typeface="+mn-lt"/>
                <a:cs typeface="+mn-lt"/>
              </a:rPr>
              <a:t>ESRI’s</a:t>
            </a:r>
            <a:r>
              <a:rPr lang="pt-BR" sz="1100">
                <a:highlight>
                  <a:srgbClr val="FFFFFF"/>
                </a:highlight>
                <a:ea typeface="+mn-lt"/>
                <a:cs typeface="+mn-lt"/>
              </a:rPr>
              <a:t> model </a:t>
            </a:r>
            <a:r>
              <a:rPr lang="pt-BR" sz="1100" err="1">
                <a:highlight>
                  <a:srgbClr val="FFFFFF"/>
                </a:highlight>
                <a:ea typeface="+mn-lt"/>
                <a:cs typeface="+mn-lt"/>
              </a:rPr>
              <a:t>is</a:t>
            </a:r>
            <a:r>
              <a:rPr lang="pt-BR" sz="1100">
                <a:highlight>
                  <a:srgbClr val="FFFFFF"/>
                </a:highlight>
                <a:ea typeface="+mn-lt"/>
                <a:cs typeface="+mn-lt"/>
              </a:rPr>
              <a:t> </a:t>
            </a:r>
            <a:r>
              <a:rPr lang="pt-BR" sz="1100" err="1">
                <a:highlight>
                  <a:srgbClr val="FFFFFF"/>
                </a:highlight>
                <a:ea typeface="+mn-lt"/>
                <a:cs typeface="+mn-lt"/>
              </a:rPr>
              <a:t>essentially</a:t>
            </a:r>
            <a:r>
              <a:rPr lang="pt-BR" sz="1100">
                <a:highlight>
                  <a:srgbClr val="FFFFFF"/>
                </a:highlight>
                <a:ea typeface="+mn-lt"/>
                <a:cs typeface="+mn-lt"/>
              </a:rPr>
              <a:t>:</a:t>
            </a:r>
            <a:br>
              <a:rPr lang="pt-BR" sz="1100">
                <a:highlight>
                  <a:srgbClr val="FFFFFF"/>
                </a:highlight>
                <a:ea typeface="+mn-lt"/>
                <a:cs typeface="+mn-lt"/>
              </a:rPr>
            </a:br>
            <a:r>
              <a:rPr lang="pt-BR" sz="1100">
                <a:highlight>
                  <a:srgbClr val="FFFFFF"/>
                </a:highlight>
                <a:ea typeface="+mn-lt"/>
                <a:cs typeface="+mn-lt"/>
              </a:rPr>
              <a:t>* </a:t>
            </a:r>
            <a:r>
              <a:rPr lang="pt-BR" sz="1100" err="1">
                <a:highlight>
                  <a:srgbClr val="FFFFFF"/>
                </a:highlight>
                <a:ea typeface="+mn-lt"/>
                <a:cs typeface="+mn-lt"/>
              </a:rPr>
              <a:t>Geometry</a:t>
            </a:r>
            <a:r>
              <a:rPr lang="pt-BR" sz="1100">
                <a:highlight>
                  <a:srgbClr val="FFFFFF"/>
                </a:highlight>
                <a:ea typeface="+mn-lt"/>
                <a:cs typeface="+mn-lt"/>
              </a:rPr>
              <a:t> → </a:t>
            </a:r>
            <a:r>
              <a:rPr lang="pt-BR" sz="1100" err="1">
                <a:highlight>
                  <a:srgbClr val="FFFFFF"/>
                </a:highlight>
                <a:ea typeface="+mn-lt"/>
                <a:cs typeface="+mn-lt"/>
              </a:rPr>
              <a:t>Attribution</a:t>
            </a:r>
            <a:r>
              <a:rPr lang="pt-BR" sz="1100">
                <a:highlight>
                  <a:srgbClr val="FFFFFF"/>
                </a:highlight>
                <a:ea typeface="+mn-lt"/>
                <a:cs typeface="+mn-lt"/>
              </a:rPr>
              <a:t> → </a:t>
            </a:r>
            <a:r>
              <a:rPr lang="pt-BR" sz="1100" err="1">
                <a:highlight>
                  <a:srgbClr val="FFFFFF"/>
                </a:highlight>
                <a:ea typeface="+mn-lt"/>
                <a:cs typeface="+mn-lt"/>
              </a:rPr>
              <a:t>Topology</a:t>
            </a:r>
            <a:br>
              <a:rPr lang="pt-BR" sz="1100">
                <a:highlight>
                  <a:srgbClr val="FFFFFF"/>
                </a:highlight>
                <a:ea typeface="+mn-lt"/>
                <a:cs typeface="+mn-lt"/>
              </a:rPr>
            </a:br>
            <a:r>
              <a:rPr lang="pt-BR" sz="1100" err="1">
                <a:highlight>
                  <a:srgbClr val="FFFFFF"/>
                </a:highlight>
                <a:ea typeface="+mn-lt"/>
                <a:cs typeface="+mn-lt"/>
              </a:rPr>
              <a:t>Smallworld’s</a:t>
            </a:r>
            <a:r>
              <a:rPr lang="pt-BR" sz="1100">
                <a:highlight>
                  <a:srgbClr val="FFFFFF"/>
                </a:highlight>
                <a:ea typeface="+mn-lt"/>
                <a:cs typeface="+mn-lt"/>
              </a:rPr>
              <a:t> model </a:t>
            </a:r>
            <a:r>
              <a:rPr lang="pt-BR" sz="1100" err="1">
                <a:highlight>
                  <a:srgbClr val="FFFFFF"/>
                </a:highlight>
                <a:ea typeface="+mn-lt"/>
                <a:cs typeface="+mn-lt"/>
              </a:rPr>
              <a:t>is</a:t>
            </a:r>
            <a:r>
              <a:rPr lang="pt-BR" sz="1100">
                <a:highlight>
                  <a:srgbClr val="FFFFFF"/>
                </a:highlight>
                <a:ea typeface="+mn-lt"/>
                <a:cs typeface="+mn-lt"/>
              </a:rPr>
              <a:t>:</a:t>
            </a:r>
            <a:br>
              <a:rPr lang="pt-BR" sz="1100">
                <a:highlight>
                  <a:srgbClr val="FFFFFF"/>
                </a:highlight>
                <a:ea typeface="+mn-lt"/>
                <a:cs typeface="+mn-lt"/>
              </a:rPr>
            </a:br>
            <a:r>
              <a:rPr lang="pt-BR" sz="1100">
                <a:highlight>
                  <a:srgbClr val="FFFFFF"/>
                </a:highlight>
                <a:ea typeface="+mn-lt"/>
                <a:cs typeface="+mn-lt"/>
              </a:rPr>
              <a:t>* </a:t>
            </a:r>
            <a:r>
              <a:rPr lang="pt-BR" sz="1100" err="1">
                <a:highlight>
                  <a:srgbClr val="FFFFFF"/>
                </a:highlight>
                <a:ea typeface="+mn-lt"/>
                <a:cs typeface="+mn-lt"/>
              </a:rPr>
              <a:t>Topology</a:t>
            </a:r>
            <a:r>
              <a:rPr lang="pt-BR" sz="1100">
                <a:highlight>
                  <a:srgbClr val="FFFFFF"/>
                </a:highlight>
                <a:ea typeface="+mn-lt"/>
                <a:cs typeface="+mn-lt"/>
              </a:rPr>
              <a:t> → </a:t>
            </a:r>
            <a:r>
              <a:rPr lang="pt-BR" sz="1100" err="1">
                <a:highlight>
                  <a:srgbClr val="FFFFFF"/>
                </a:highlight>
                <a:ea typeface="+mn-lt"/>
                <a:cs typeface="+mn-lt"/>
              </a:rPr>
              <a:t>Geometry</a:t>
            </a:r>
            <a:r>
              <a:rPr lang="pt-BR" sz="1100">
                <a:highlight>
                  <a:srgbClr val="FFFFFF"/>
                </a:highlight>
                <a:ea typeface="+mn-lt"/>
                <a:cs typeface="+mn-lt"/>
              </a:rPr>
              <a:t> → </a:t>
            </a:r>
            <a:r>
              <a:rPr lang="pt-BR" sz="1100" err="1">
                <a:highlight>
                  <a:srgbClr val="FFFFFF"/>
                </a:highlight>
                <a:ea typeface="+mn-lt"/>
                <a:cs typeface="+mn-lt"/>
              </a:rPr>
              <a:t>Attribution</a:t>
            </a:r>
            <a:br>
              <a:rPr lang="pt-BR" sz="1100">
                <a:highlight>
                  <a:srgbClr val="FFFFFF"/>
                </a:highlight>
                <a:ea typeface="+mn-lt"/>
                <a:cs typeface="+mn-lt"/>
              </a:rPr>
            </a:br>
            <a:br>
              <a:rPr lang="pt-BR" sz="1100">
                <a:highlight>
                  <a:srgbClr val="FFFFFF"/>
                </a:highlight>
                <a:ea typeface="+mn-lt"/>
                <a:cs typeface="+mn-lt"/>
              </a:rPr>
            </a:br>
            <a:r>
              <a:rPr lang="pt-BR" sz="1100" err="1">
                <a:highlight>
                  <a:srgbClr val="FFFFFF"/>
                </a:highlight>
                <a:ea typeface="+mn-lt"/>
                <a:cs typeface="+mn-lt"/>
              </a:rPr>
              <a:t>That</a:t>
            </a:r>
            <a:r>
              <a:rPr lang="pt-BR" sz="1100">
                <a:highlight>
                  <a:srgbClr val="FFFFFF"/>
                </a:highlight>
                <a:ea typeface="+mn-lt"/>
                <a:cs typeface="+mn-lt"/>
              </a:rPr>
              <a:t> </a:t>
            </a:r>
            <a:r>
              <a:rPr lang="pt-BR" sz="1100" err="1">
                <a:highlight>
                  <a:srgbClr val="FFFFFF"/>
                </a:highlight>
                <a:ea typeface="+mn-lt"/>
                <a:cs typeface="+mn-lt"/>
              </a:rPr>
              <a:t>ordering</a:t>
            </a:r>
            <a:r>
              <a:rPr lang="pt-BR" sz="1100">
                <a:highlight>
                  <a:srgbClr val="FFFFFF"/>
                </a:highlight>
                <a:ea typeface="+mn-lt"/>
                <a:cs typeface="+mn-lt"/>
              </a:rPr>
              <a:t> </a:t>
            </a:r>
            <a:r>
              <a:rPr lang="pt-BR" sz="1100" err="1">
                <a:highlight>
                  <a:srgbClr val="FFFFFF"/>
                </a:highlight>
                <a:ea typeface="+mn-lt"/>
                <a:cs typeface="+mn-lt"/>
              </a:rPr>
              <a:t>matters</a:t>
            </a:r>
            <a:r>
              <a:rPr lang="pt-BR" sz="1100">
                <a:highlight>
                  <a:srgbClr val="FFFFFF"/>
                </a:highlight>
                <a:ea typeface="+mn-lt"/>
                <a:cs typeface="+mn-lt"/>
              </a:rPr>
              <a:t> more </a:t>
            </a:r>
            <a:r>
              <a:rPr lang="pt-BR" sz="1100" err="1">
                <a:highlight>
                  <a:srgbClr val="FFFFFF"/>
                </a:highlight>
                <a:ea typeface="+mn-lt"/>
                <a:cs typeface="+mn-lt"/>
              </a:rPr>
              <a:t>than</a:t>
            </a:r>
            <a:r>
              <a:rPr lang="pt-BR" sz="1100">
                <a:highlight>
                  <a:srgbClr val="FFFFFF"/>
                </a:highlight>
                <a:ea typeface="+mn-lt"/>
                <a:cs typeface="+mn-lt"/>
              </a:rPr>
              <a:t> it </a:t>
            </a:r>
            <a:r>
              <a:rPr lang="pt-BR" sz="1100" err="1">
                <a:highlight>
                  <a:srgbClr val="FFFFFF"/>
                </a:highlight>
                <a:ea typeface="+mn-lt"/>
                <a:cs typeface="+mn-lt"/>
              </a:rPr>
              <a:t>might</a:t>
            </a:r>
            <a:r>
              <a:rPr lang="pt-BR" sz="1100">
                <a:highlight>
                  <a:srgbClr val="FFFFFF"/>
                </a:highlight>
                <a:ea typeface="+mn-lt"/>
                <a:cs typeface="+mn-lt"/>
              </a:rPr>
              <a:t> </a:t>
            </a:r>
            <a:r>
              <a:rPr lang="pt-BR" sz="1100" err="1">
                <a:highlight>
                  <a:srgbClr val="FFFFFF"/>
                </a:highlight>
                <a:ea typeface="+mn-lt"/>
                <a:cs typeface="+mn-lt"/>
              </a:rPr>
              <a:t>seem</a:t>
            </a:r>
            <a:r>
              <a:rPr lang="pt-BR" sz="1100">
                <a:highlight>
                  <a:srgbClr val="FFFFFF"/>
                </a:highlight>
                <a:ea typeface="+mn-lt"/>
                <a:cs typeface="+mn-lt"/>
              </a:rPr>
              <a:t>.</a:t>
            </a:r>
            <a:br>
              <a:rPr lang="pt-BR" sz="1100">
                <a:highlight>
                  <a:srgbClr val="FFFFFF"/>
                </a:highlight>
                <a:ea typeface="+mn-lt"/>
                <a:cs typeface="+mn-lt"/>
              </a:rPr>
            </a:br>
            <a:br>
              <a:rPr lang="pt-BR" sz="1100">
                <a:highlight>
                  <a:srgbClr val="FFFFFF"/>
                </a:highlight>
                <a:ea typeface="+mn-lt"/>
                <a:cs typeface="+mn-lt"/>
              </a:rPr>
            </a:br>
            <a:r>
              <a:rPr lang="pt-BR" sz="1100">
                <a:highlight>
                  <a:srgbClr val="FFFFFF"/>
                </a:highlight>
                <a:ea typeface="+mn-lt"/>
                <a:cs typeface="+mn-lt"/>
              </a:rPr>
              <a:t>When </a:t>
            </a:r>
            <a:r>
              <a:rPr lang="pt-BR" sz="1100" err="1">
                <a:highlight>
                  <a:srgbClr val="FFFFFF"/>
                </a:highlight>
                <a:ea typeface="+mn-lt"/>
                <a:cs typeface="+mn-lt"/>
              </a:rPr>
              <a:t>topology</a:t>
            </a:r>
            <a:r>
              <a:rPr lang="pt-BR" sz="1100">
                <a:highlight>
                  <a:srgbClr val="FFFFFF"/>
                </a:highlight>
                <a:ea typeface="+mn-lt"/>
                <a:cs typeface="+mn-lt"/>
              </a:rPr>
              <a:t> comes </a:t>
            </a:r>
            <a:r>
              <a:rPr lang="pt-BR" sz="1100" err="1">
                <a:highlight>
                  <a:srgbClr val="FFFFFF"/>
                </a:highlight>
                <a:ea typeface="+mn-lt"/>
                <a:cs typeface="+mn-lt"/>
              </a:rPr>
              <a:t>first</a:t>
            </a:r>
            <a:r>
              <a:rPr lang="pt-BR" sz="1100">
                <a:highlight>
                  <a:srgbClr val="FFFFFF"/>
                </a:highlight>
                <a:ea typeface="+mn-lt"/>
                <a:cs typeface="+mn-lt"/>
              </a:rPr>
              <a:t>, </a:t>
            </a:r>
            <a:r>
              <a:rPr lang="pt-BR" sz="1100" err="1">
                <a:highlight>
                  <a:srgbClr val="FFFFFF"/>
                </a:highlight>
                <a:ea typeface="+mn-lt"/>
                <a:cs typeface="+mn-lt"/>
              </a:rPr>
              <a:t>the</a:t>
            </a:r>
            <a:r>
              <a:rPr lang="pt-BR" sz="1100">
                <a:highlight>
                  <a:srgbClr val="FFFFFF"/>
                </a:highlight>
                <a:ea typeface="+mn-lt"/>
                <a:cs typeface="+mn-lt"/>
              </a:rPr>
              <a:t> network </a:t>
            </a:r>
            <a:r>
              <a:rPr lang="pt-BR" sz="1100" err="1">
                <a:highlight>
                  <a:srgbClr val="FFFFFF"/>
                </a:highlight>
                <a:ea typeface="+mn-lt"/>
                <a:cs typeface="+mn-lt"/>
              </a:rPr>
              <a:t>itself</a:t>
            </a:r>
            <a:r>
              <a:rPr lang="pt-BR" sz="1100">
                <a:highlight>
                  <a:srgbClr val="FFFFFF"/>
                </a:highlight>
                <a:ea typeface="+mn-lt"/>
                <a:cs typeface="+mn-lt"/>
              </a:rPr>
              <a:t> </a:t>
            </a:r>
            <a:r>
              <a:rPr lang="pt-BR" sz="1100" err="1">
                <a:highlight>
                  <a:srgbClr val="FFFFFF"/>
                </a:highlight>
                <a:ea typeface="+mn-lt"/>
                <a:cs typeface="+mn-lt"/>
              </a:rPr>
              <a:t>is</a:t>
            </a:r>
            <a:r>
              <a:rPr lang="pt-BR" sz="1100">
                <a:highlight>
                  <a:srgbClr val="FFFFFF"/>
                </a:highlight>
                <a:ea typeface="+mn-lt"/>
                <a:cs typeface="+mn-lt"/>
              </a:rPr>
              <a:t> </a:t>
            </a:r>
            <a:r>
              <a:rPr lang="pt-BR" sz="1100" err="1">
                <a:highlight>
                  <a:srgbClr val="FFFFFF"/>
                </a:highlight>
                <a:ea typeface="+mn-lt"/>
                <a:cs typeface="+mn-lt"/>
              </a:rPr>
              <a:t>the</a:t>
            </a:r>
            <a:r>
              <a:rPr lang="pt-BR" sz="1100">
                <a:highlight>
                  <a:srgbClr val="FFFFFF"/>
                </a:highlight>
                <a:ea typeface="+mn-lt"/>
                <a:cs typeface="+mn-lt"/>
              </a:rPr>
              <a:t> </a:t>
            </a:r>
            <a:r>
              <a:rPr lang="pt-BR" sz="1100" err="1">
                <a:highlight>
                  <a:srgbClr val="FFFFFF"/>
                </a:highlight>
                <a:ea typeface="+mn-lt"/>
                <a:cs typeface="+mn-lt"/>
              </a:rPr>
              <a:t>primary</a:t>
            </a:r>
            <a:r>
              <a:rPr lang="pt-BR" sz="1100">
                <a:highlight>
                  <a:srgbClr val="FFFFFF"/>
                </a:highlight>
                <a:ea typeface="+mn-lt"/>
                <a:cs typeface="+mn-lt"/>
              </a:rPr>
              <a:t> </a:t>
            </a:r>
            <a:r>
              <a:rPr lang="pt-BR" sz="1100" err="1">
                <a:highlight>
                  <a:srgbClr val="FFFFFF"/>
                </a:highlight>
                <a:ea typeface="+mn-lt"/>
                <a:cs typeface="+mn-lt"/>
              </a:rPr>
              <a:t>object</a:t>
            </a:r>
            <a:r>
              <a:rPr lang="pt-BR" sz="1100">
                <a:highlight>
                  <a:srgbClr val="FFFFFF"/>
                </a:highlight>
                <a:ea typeface="+mn-lt"/>
                <a:cs typeface="+mn-lt"/>
              </a:rPr>
              <a:t>. </a:t>
            </a:r>
            <a:r>
              <a:rPr lang="pt-BR" sz="1100" err="1">
                <a:highlight>
                  <a:srgbClr val="FFFFFF"/>
                </a:highlight>
                <a:ea typeface="+mn-lt"/>
                <a:cs typeface="+mn-lt"/>
              </a:rPr>
              <a:t>Connectivity</a:t>
            </a:r>
            <a:r>
              <a:rPr lang="pt-BR" sz="1100">
                <a:highlight>
                  <a:srgbClr val="FFFFFF"/>
                </a:highlight>
                <a:ea typeface="+mn-lt"/>
                <a:cs typeface="+mn-lt"/>
              </a:rPr>
              <a:t>, </a:t>
            </a:r>
            <a:r>
              <a:rPr lang="pt-BR" sz="1100" err="1">
                <a:highlight>
                  <a:srgbClr val="FFFFFF"/>
                </a:highlight>
                <a:ea typeface="+mn-lt"/>
                <a:cs typeface="+mn-lt"/>
              </a:rPr>
              <a:t>tracing</a:t>
            </a:r>
            <a:r>
              <a:rPr lang="pt-BR" sz="1100">
                <a:highlight>
                  <a:srgbClr val="FFFFFF"/>
                </a:highlight>
                <a:ea typeface="+mn-lt"/>
                <a:cs typeface="+mn-lt"/>
              </a:rPr>
              <a:t>, </a:t>
            </a:r>
            <a:r>
              <a:rPr lang="pt-BR" sz="1100" err="1">
                <a:highlight>
                  <a:srgbClr val="FFFFFF"/>
                </a:highlight>
                <a:ea typeface="+mn-lt"/>
                <a:cs typeface="+mn-lt"/>
              </a:rPr>
              <a:t>and</a:t>
            </a:r>
            <a:r>
              <a:rPr lang="pt-BR" sz="1100">
                <a:highlight>
                  <a:srgbClr val="FFFFFF"/>
                </a:highlight>
                <a:ea typeface="+mn-lt"/>
                <a:cs typeface="+mn-lt"/>
              </a:rPr>
              <a:t> system </a:t>
            </a:r>
            <a:r>
              <a:rPr lang="pt-BR" sz="1100" err="1">
                <a:highlight>
                  <a:srgbClr val="FFFFFF"/>
                </a:highlight>
                <a:ea typeface="+mn-lt"/>
                <a:cs typeface="+mn-lt"/>
              </a:rPr>
              <a:t>behavior</a:t>
            </a:r>
            <a:r>
              <a:rPr lang="pt-BR" sz="1100">
                <a:highlight>
                  <a:srgbClr val="FFFFFF"/>
                </a:highlight>
                <a:ea typeface="+mn-lt"/>
                <a:cs typeface="+mn-lt"/>
              </a:rPr>
              <a:t> are </a:t>
            </a:r>
            <a:r>
              <a:rPr lang="pt-BR" sz="1100" err="1">
                <a:highlight>
                  <a:srgbClr val="FFFFFF"/>
                </a:highlight>
                <a:ea typeface="+mn-lt"/>
                <a:cs typeface="+mn-lt"/>
              </a:rPr>
              <a:t>native</a:t>
            </a:r>
            <a:r>
              <a:rPr lang="pt-BR" sz="1100">
                <a:highlight>
                  <a:srgbClr val="FFFFFF"/>
                </a:highlight>
                <a:ea typeface="+mn-lt"/>
                <a:cs typeface="+mn-lt"/>
              </a:rPr>
              <a:t> </a:t>
            </a:r>
            <a:r>
              <a:rPr lang="pt-BR" sz="1100" err="1">
                <a:highlight>
                  <a:srgbClr val="FFFFFF"/>
                </a:highlight>
                <a:ea typeface="+mn-lt"/>
                <a:cs typeface="+mn-lt"/>
              </a:rPr>
              <a:t>to</a:t>
            </a:r>
            <a:r>
              <a:rPr lang="pt-BR" sz="1100">
                <a:highlight>
                  <a:srgbClr val="FFFFFF"/>
                </a:highlight>
                <a:ea typeface="+mn-lt"/>
                <a:cs typeface="+mn-lt"/>
              </a:rPr>
              <a:t> </a:t>
            </a:r>
            <a:r>
              <a:rPr lang="pt-BR" sz="1100" err="1">
                <a:highlight>
                  <a:srgbClr val="FFFFFF"/>
                </a:highlight>
                <a:ea typeface="+mn-lt"/>
                <a:cs typeface="+mn-lt"/>
              </a:rPr>
              <a:t>the</a:t>
            </a:r>
            <a:r>
              <a:rPr lang="pt-BR" sz="1100">
                <a:highlight>
                  <a:srgbClr val="FFFFFF"/>
                </a:highlight>
                <a:ea typeface="+mn-lt"/>
                <a:cs typeface="+mn-lt"/>
              </a:rPr>
              <a:t> model. </a:t>
            </a:r>
            <a:r>
              <a:rPr lang="pt-BR" sz="1100" err="1">
                <a:highlight>
                  <a:srgbClr val="FFFFFF"/>
                </a:highlight>
                <a:ea typeface="+mn-lt"/>
                <a:cs typeface="+mn-lt"/>
              </a:rPr>
              <a:t>Geometry</a:t>
            </a:r>
            <a:r>
              <a:rPr lang="pt-BR" sz="1100">
                <a:highlight>
                  <a:srgbClr val="FFFFFF"/>
                </a:highlight>
                <a:ea typeface="+mn-lt"/>
                <a:cs typeface="+mn-lt"/>
              </a:rPr>
              <a:t> </a:t>
            </a:r>
            <a:r>
              <a:rPr lang="pt-BR" sz="1100" err="1">
                <a:highlight>
                  <a:srgbClr val="FFFFFF"/>
                </a:highlight>
                <a:ea typeface="+mn-lt"/>
                <a:cs typeface="+mn-lt"/>
              </a:rPr>
              <a:t>is</a:t>
            </a:r>
            <a:r>
              <a:rPr lang="pt-BR" sz="1100">
                <a:highlight>
                  <a:srgbClr val="FFFFFF"/>
                </a:highlight>
                <a:ea typeface="+mn-lt"/>
                <a:cs typeface="+mn-lt"/>
              </a:rPr>
              <a:t> </a:t>
            </a:r>
            <a:r>
              <a:rPr lang="pt-BR" sz="1100" err="1">
                <a:highlight>
                  <a:srgbClr val="FFFFFF"/>
                </a:highlight>
                <a:ea typeface="+mn-lt"/>
                <a:cs typeface="+mn-lt"/>
              </a:rPr>
              <a:t>simply</a:t>
            </a:r>
            <a:r>
              <a:rPr lang="pt-BR" sz="1100">
                <a:highlight>
                  <a:srgbClr val="FFFFFF"/>
                </a:highlight>
                <a:ea typeface="+mn-lt"/>
                <a:cs typeface="+mn-lt"/>
              </a:rPr>
              <a:t> </a:t>
            </a:r>
            <a:r>
              <a:rPr lang="pt-BR" sz="1100" err="1">
                <a:highlight>
                  <a:srgbClr val="FFFFFF"/>
                </a:highlight>
                <a:ea typeface="+mn-lt"/>
                <a:cs typeface="+mn-lt"/>
              </a:rPr>
              <a:t>how</a:t>
            </a:r>
            <a:r>
              <a:rPr lang="pt-BR" sz="1100">
                <a:highlight>
                  <a:srgbClr val="FFFFFF"/>
                </a:highlight>
                <a:ea typeface="+mn-lt"/>
                <a:cs typeface="+mn-lt"/>
              </a:rPr>
              <a:t> </a:t>
            </a:r>
            <a:r>
              <a:rPr lang="pt-BR" sz="1100" err="1">
                <a:highlight>
                  <a:srgbClr val="FFFFFF"/>
                </a:highlight>
                <a:ea typeface="+mn-lt"/>
                <a:cs typeface="+mn-lt"/>
              </a:rPr>
              <a:t>that</a:t>
            </a:r>
            <a:r>
              <a:rPr lang="pt-BR" sz="1100">
                <a:highlight>
                  <a:srgbClr val="FFFFFF"/>
                </a:highlight>
                <a:ea typeface="+mn-lt"/>
                <a:cs typeface="+mn-lt"/>
              </a:rPr>
              <a:t> network </a:t>
            </a:r>
            <a:r>
              <a:rPr lang="pt-BR" sz="1100" err="1">
                <a:highlight>
                  <a:srgbClr val="FFFFFF"/>
                </a:highlight>
                <a:ea typeface="+mn-lt"/>
                <a:cs typeface="+mn-lt"/>
              </a:rPr>
              <a:t>is</a:t>
            </a:r>
            <a:r>
              <a:rPr lang="pt-BR" sz="1100">
                <a:highlight>
                  <a:srgbClr val="FFFFFF"/>
                </a:highlight>
                <a:ea typeface="+mn-lt"/>
                <a:cs typeface="+mn-lt"/>
              </a:rPr>
              <a:t> </a:t>
            </a:r>
            <a:r>
              <a:rPr lang="pt-BR" sz="1100" err="1">
                <a:highlight>
                  <a:srgbClr val="FFFFFF"/>
                </a:highlight>
                <a:ea typeface="+mn-lt"/>
                <a:cs typeface="+mn-lt"/>
              </a:rPr>
              <a:t>visualized</a:t>
            </a:r>
            <a:r>
              <a:rPr lang="pt-BR" sz="1100">
                <a:highlight>
                  <a:srgbClr val="FFFFFF"/>
                </a:highlight>
                <a:ea typeface="+mn-lt"/>
                <a:cs typeface="+mn-lt"/>
              </a:rPr>
              <a:t>.</a:t>
            </a:r>
            <a:br>
              <a:rPr lang="pt-BR" sz="1100">
                <a:highlight>
                  <a:srgbClr val="FFFFFF"/>
                </a:highlight>
                <a:ea typeface="+mn-lt"/>
                <a:cs typeface="+mn-lt"/>
              </a:rPr>
            </a:br>
            <a:br>
              <a:rPr lang="pt-BR" sz="1100">
                <a:highlight>
                  <a:srgbClr val="FFFFFF"/>
                </a:highlight>
                <a:ea typeface="+mn-lt"/>
                <a:cs typeface="+mn-lt"/>
              </a:rPr>
            </a:br>
            <a:r>
              <a:rPr lang="pt-BR" sz="1100">
                <a:highlight>
                  <a:srgbClr val="FFFFFF"/>
                </a:highlight>
                <a:ea typeface="+mn-lt"/>
                <a:cs typeface="+mn-lt"/>
              </a:rPr>
              <a:t>When </a:t>
            </a:r>
            <a:r>
              <a:rPr lang="pt-BR" sz="1100" err="1">
                <a:highlight>
                  <a:srgbClr val="FFFFFF"/>
                </a:highlight>
                <a:ea typeface="+mn-lt"/>
                <a:cs typeface="+mn-lt"/>
              </a:rPr>
              <a:t>geometry</a:t>
            </a:r>
            <a:r>
              <a:rPr lang="pt-BR" sz="1100">
                <a:highlight>
                  <a:srgbClr val="FFFFFF"/>
                </a:highlight>
                <a:ea typeface="+mn-lt"/>
                <a:cs typeface="+mn-lt"/>
              </a:rPr>
              <a:t> comes </a:t>
            </a:r>
            <a:r>
              <a:rPr lang="pt-BR" sz="1100" err="1">
                <a:highlight>
                  <a:srgbClr val="FFFFFF"/>
                </a:highlight>
                <a:ea typeface="+mn-lt"/>
                <a:cs typeface="+mn-lt"/>
              </a:rPr>
              <a:t>first</a:t>
            </a:r>
            <a:r>
              <a:rPr lang="pt-BR" sz="1100">
                <a:highlight>
                  <a:srgbClr val="FFFFFF"/>
                </a:highlight>
                <a:ea typeface="+mn-lt"/>
                <a:cs typeface="+mn-lt"/>
              </a:rPr>
              <a:t>, </a:t>
            </a:r>
            <a:r>
              <a:rPr lang="pt-BR" sz="1100" err="1">
                <a:highlight>
                  <a:srgbClr val="FFFFFF"/>
                </a:highlight>
                <a:ea typeface="+mn-lt"/>
                <a:cs typeface="+mn-lt"/>
              </a:rPr>
              <a:t>the</a:t>
            </a:r>
            <a:r>
              <a:rPr lang="pt-BR" sz="1100">
                <a:highlight>
                  <a:srgbClr val="FFFFFF"/>
                </a:highlight>
                <a:ea typeface="+mn-lt"/>
                <a:cs typeface="+mn-lt"/>
              </a:rPr>
              <a:t> </a:t>
            </a:r>
            <a:r>
              <a:rPr lang="pt-BR" sz="1100" err="1">
                <a:highlight>
                  <a:srgbClr val="FFFFFF"/>
                </a:highlight>
                <a:ea typeface="+mn-lt"/>
                <a:cs typeface="+mn-lt"/>
              </a:rPr>
              <a:t>map</a:t>
            </a:r>
            <a:r>
              <a:rPr lang="pt-BR" sz="1100">
                <a:highlight>
                  <a:srgbClr val="FFFFFF"/>
                </a:highlight>
                <a:ea typeface="+mn-lt"/>
                <a:cs typeface="+mn-lt"/>
              </a:rPr>
              <a:t> </a:t>
            </a:r>
            <a:r>
              <a:rPr lang="pt-BR" sz="1100" err="1">
                <a:highlight>
                  <a:srgbClr val="FFFFFF"/>
                </a:highlight>
                <a:ea typeface="+mn-lt"/>
                <a:cs typeface="+mn-lt"/>
              </a:rPr>
              <a:t>is</a:t>
            </a:r>
            <a:r>
              <a:rPr lang="pt-BR" sz="1100">
                <a:highlight>
                  <a:srgbClr val="FFFFFF"/>
                </a:highlight>
                <a:ea typeface="+mn-lt"/>
                <a:cs typeface="+mn-lt"/>
              </a:rPr>
              <a:t> </a:t>
            </a:r>
            <a:r>
              <a:rPr lang="pt-BR" sz="1100" err="1">
                <a:highlight>
                  <a:srgbClr val="FFFFFF"/>
                </a:highlight>
                <a:ea typeface="+mn-lt"/>
                <a:cs typeface="+mn-lt"/>
              </a:rPr>
              <a:t>the</a:t>
            </a:r>
            <a:r>
              <a:rPr lang="pt-BR" sz="1100">
                <a:highlight>
                  <a:srgbClr val="FFFFFF"/>
                </a:highlight>
                <a:ea typeface="+mn-lt"/>
                <a:cs typeface="+mn-lt"/>
              </a:rPr>
              <a:t> </a:t>
            </a:r>
            <a:r>
              <a:rPr lang="pt-BR" sz="1100" err="1">
                <a:highlight>
                  <a:srgbClr val="FFFFFF"/>
                </a:highlight>
                <a:ea typeface="+mn-lt"/>
                <a:cs typeface="+mn-lt"/>
              </a:rPr>
              <a:t>primary</a:t>
            </a:r>
            <a:r>
              <a:rPr lang="pt-BR" sz="1100">
                <a:highlight>
                  <a:srgbClr val="FFFFFF"/>
                </a:highlight>
                <a:ea typeface="+mn-lt"/>
                <a:cs typeface="+mn-lt"/>
              </a:rPr>
              <a:t> </a:t>
            </a:r>
            <a:r>
              <a:rPr lang="pt-BR" sz="1100" err="1">
                <a:highlight>
                  <a:srgbClr val="FFFFFF"/>
                </a:highlight>
                <a:ea typeface="+mn-lt"/>
                <a:cs typeface="+mn-lt"/>
              </a:rPr>
              <a:t>object</a:t>
            </a:r>
            <a:r>
              <a:rPr lang="pt-BR" sz="1100">
                <a:highlight>
                  <a:srgbClr val="FFFFFF"/>
                </a:highlight>
                <a:ea typeface="+mn-lt"/>
                <a:cs typeface="+mn-lt"/>
              </a:rPr>
              <a:t>, </a:t>
            </a:r>
            <a:r>
              <a:rPr lang="pt-BR" sz="1100" err="1">
                <a:highlight>
                  <a:srgbClr val="FFFFFF"/>
                </a:highlight>
                <a:ea typeface="+mn-lt"/>
                <a:cs typeface="+mn-lt"/>
              </a:rPr>
              <a:t>and</a:t>
            </a:r>
            <a:r>
              <a:rPr lang="pt-BR" sz="1100">
                <a:highlight>
                  <a:srgbClr val="FFFFFF"/>
                </a:highlight>
                <a:ea typeface="+mn-lt"/>
                <a:cs typeface="+mn-lt"/>
              </a:rPr>
              <a:t> </a:t>
            </a:r>
            <a:r>
              <a:rPr lang="pt-BR" sz="1100" err="1">
                <a:highlight>
                  <a:srgbClr val="FFFFFF"/>
                </a:highlight>
                <a:ea typeface="+mn-lt"/>
                <a:cs typeface="+mn-lt"/>
              </a:rPr>
              <a:t>the</a:t>
            </a:r>
            <a:r>
              <a:rPr lang="pt-BR" sz="1100">
                <a:highlight>
                  <a:srgbClr val="FFFFFF"/>
                </a:highlight>
                <a:ea typeface="+mn-lt"/>
                <a:cs typeface="+mn-lt"/>
              </a:rPr>
              <a:t> network </a:t>
            </a:r>
            <a:r>
              <a:rPr lang="pt-BR" sz="1100" err="1">
                <a:highlight>
                  <a:srgbClr val="FFFFFF"/>
                </a:highlight>
                <a:ea typeface="+mn-lt"/>
                <a:cs typeface="+mn-lt"/>
              </a:rPr>
              <a:t>has</a:t>
            </a:r>
            <a:r>
              <a:rPr lang="pt-BR" sz="1100">
                <a:highlight>
                  <a:srgbClr val="FFFFFF"/>
                </a:highlight>
                <a:ea typeface="+mn-lt"/>
                <a:cs typeface="+mn-lt"/>
              </a:rPr>
              <a:t> </a:t>
            </a:r>
            <a:r>
              <a:rPr lang="pt-BR" sz="1100" err="1">
                <a:highlight>
                  <a:srgbClr val="FFFFFF"/>
                </a:highlight>
                <a:ea typeface="+mn-lt"/>
                <a:cs typeface="+mn-lt"/>
              </a:rPr>
              <a:t>to</a:t>
            </a:r>
            <a:r>
              <a:rPr lang="pt-BR" sz="1100">
                <a:highlight>
                  <a:srgbClr val="FFFFFF"/>
                </a:highlight>
                <a:ea typeface="+mn-lt"/>
                <a:cs typeface="+mn-lt"/>
              </a:rPr>
              <a:t> </a:t>
            </a:r>
            <a:r>
              <a:rPr lang="pt-BR" sz="1100" err="1">
                <a:highlight>
                  <a:srgbClr val="FFFFFF"/>
                </a:highlight>
                <a:ea typeface="+mn-lt"/>
                <a:cs typeface="+mn-lt"/>
              </a:rPr>
              <a:t>be</a:t>
            </a:r>
            <a:r>
              <a:rPr lang="pt-BR" sz="1100">
                <a:highlight>
                  <a:srgbClr val="FFFFFF"/>
                </a:highlight>
                <a:ea typeface="+mn-lt"/>
                <a:cs typeface="+mn-lt"/>
              </a:rPr>
              <a:t> </a:t>
            </a:r>
            <a:r>
              <a:rPr lang="pt-BR" sz="1100" err="1">
                <a:highlight>
                  <a:srgbClr val="FFFFFF"/>
                </a:highlight>
                <a:ea typeface="+mn-lt"/>
                <a:cs typeface="+mn-lt"/>
              </a:rPr>
              <a:t>derived</a:t>
            </a:r>
            <a:r>
              <a:rPr lang="pt-BR" sz="1100">
                <a:highlight>
                  <a:srgbClr val="FFFFFF"/>
                </a:highlight>
                <a:ea typeface="+mn-lt"/>
                <a:cs typeface="+mn-lt"/>
              </a:rPr>
              <a:t> </a:t>
            </a:r>
            <a:r>
              <a:rPr lang="pt-BR" sz="1100" err="1">
                <a:highlight>
                  <a:srgbClr val="FFFFFF"/>
                </a:highlight>
                <a:ea typeface="+mn-lt"/>
                <a:cs typeface="+mn-lt"/>
              </a:rPr>
              <a:t>from</a:t>
            </a:r>
            <a:r>
              <a:rPr lang="pt-BR" sz="1100">
                <a:highlight>
                  <a:srgbClr val="FFFFFF"/>
                </a:highlight>
                <a:ea typeface="+mn-lt"/>
                <a:cs typeface="+mn-lt"/>
              </a:rPr>
              <a:t> it.</a:t>
            </a:r>
            <a:br>
              <a:rPr lang="pt-BR" sz="1100">
                <a:highlight>
                  <a:srgbClr val="FFFFFF"/>
                </a:highlight>
                <a:ea typeface="+mn-lt"/>
                <a:cs typeface="+mn-lt"/>
              </a:rPr>
            </a:br>
            <a:br>
              <a:rPr lang="pt-BR" sz="1100">
                <a:highlight>
                  <a:srgbClr val="FFFFFF"/>
                </a:highlight>
                <a:ea typeface="+mn-lt"/>
                <a:cs typeface="+mn-lt"/>
              </a:rPr>
            </a:br>
            <a:r>
              <a:rPr lang="pt-BR" sz="1100">
                <a:highlight>
                  <a:srgbClr val="FFFFFF"/>
                </a:highlight>
                <a:ea typeface="+mn-lt"/>
                <a:cs typeface="+mn-lt"/>
              </a:rPr>
              <a:t>For industries like </a:t>
            </a:r>
            <a:r>
              <a:rPr lang="pt-BR" sz="1100" err="1">
                <a:highlight>
                  <a:srgbClr val="FFFFFF"/>
                </a:highlight>
                <a:ea typeface="+mn-lt"/>
                <a:cs typeface="+mn-lt"/>
              </a:rPr>
              <a:t>electric</a:t>
            </a:r>
            <a:r>
              <a:rPr lang="pt-BR" sz="1100">
                <a:highlight>
                  <a:srgbClr val="FFFFFF"/>
                </a:highlight>
                <a:ea typeface="+mn-lt"/>
                <a:cs typeface="+mn-lt"/>
              </a:rPr>
              <a:t>, </a:t>
            </a:r>
            <a:r>
              <a:rPr lang="pt-BR" sz="1100" err="1">
                <a:highlight>
                  <a:srgbClr val="FFFFFF"/>
                </a:highlight>
                <a:ea typeface="+mn-lt"/>
                <a:cs typeface="+mn-lt"/>
              </a:rPr>
              <a:t>telecom</a:t>
            </a:r>
            <a:r>
              <a:rPr lang="pt-BR" sz="1100">
                <a:highlight>
                  <a:srgbClr val="FFFFFF"/>
                </a:highlight>
                <a:ea typeface="+mn-lt"/>
                <a:cs typeface="+mn-lt"/>
              </a:rPr>
              <a:t>, </a:t>
            </a:r>
            <a:r>
              <a:rPr lang="pt-BR" sz="1100" err="1">
                <a:highlight>
                  <a:srgbClr val="FFFFFF"/>
                </a:highlight>
                <a:ea typeface="+mn-lt"/>
                <a:cs typeface="+mn-lt"/>
              </a:rPr>
              <a:t>gas</a:t>
            </a:r>
            <a:r>
              <a:rPr lang="pt-BR" sz="1100">
                <a:highlight>
                  <a:srgbClr val="FFFFFF"/>
                </a:highlight>
                <a:ea typeface="+mn-lt"/>
                <a:cs typeface="+mn-lt"/>
              </a:rPr>
              <a:t>, </a:t>
            </a:r>
            <a:r>
              <a:rPr lang="pt-BR" sz="1100" err="1">
                <a:highlight>
                  <a:srgbClr val="FFFFFF"/>
                </a:highlight>
                <a:ea typeface="+mn-lt"/>
                <a:cs typeface="+mn-lt"/>
              </a:rPr>
              <a:t>and</a:t>
            </a:r>
            <a:r>
              <a:rPr lang="pt-BR" sz="1100">
                <a:highlight>
                  <a:srgbClr val="FFFFFF"/>
                </a:highlight>
                <a:ea typeface="+mn-lt"/>
                <a:cs typeface="+mn-lt"/>
              </a:rPr>
              <a:t> </a:t>
            </a:r>
            <a:r>
              <a:rPr lang="pt-BR" sz="1100" err="1">
                <a:highlight>
                  <a:srgbClr val="FFFFFF"/>
                </a:highlight>
                <a:ea typeface="+mn-lt"/>
                <a:cs typeface="+mn-lt"/>
              </a:rPr>
              <a:t>water</a:t>
            </a:r>
            <a:r>
              <a:rPr lang="pt-BR" sz="1100">
                <a:highlight>
                  <a:srgbClr val="FFFFFF"/>
                </a:highlight>
                <a:ea typeface="+mn-lt"/>
                <a:cs typeface="+mn-lt"/>
              </a:rPr>
              <a:t>—</a:t>
            </a:r>
            <a:r>
              <a:rPr lang="pt-BR" sz="1100" err="1">
                <a:highlight>
                  <a:srgbClr val="FFFFFF"/>
                </a:highlight>
                <a:ea typeface="+mn-lt"/>
                <a:cs typeface="+mn-lt"/>
              </a:rPr>
              <a:t>where</a:t>
            </a:r>
            <a:r>
              <a:rPr lang="pt-BR" sz="1100">
                <a:highlight>
                  <a:srgbClr val="FFFFFF"/>
                </a:highlight>
                <a:ea typeface="+mn-lt"/>
                <a:cs typeface="+mn-lt"/>
              </a:rPr>
              <a:t> </a:t>
            </a:r>
            <a:r>
              <a:rPr lang="pt-BR" sz="1100" err="1">
                <a:highlight>
                  <a:srgbClr val="FFFFFF"/>
                </a:highlight>
                <a:ea typeface="+mn-lt"/>
                <a:cs typeface="+mn-lt"/>
              </a:rPr>
              <a:t>the</a:t>
            </a:r>
            <a:r>
              <a:rPr lang="pt-BR" sz="1100">
                <a:highlight>
                  <a:srgbClr val="FFFFFF"/>
                </a:highlight>
                <a:ea typeface="+mn-lt"/>
                <a:cs typeface="+mn-lt"/>
              </a:rPr>
              <a:t> network </a:t>
            </a:r>
            <a:r>
              <a:rPr lang="pt-BR" sz="1100" err="1">
                <a:highlight>
                  <a:srgbClr val="FFFFFF"/>
                </a:highlight>
                <a:ea typeface="+mn-lt"/>
                <a:cs typeface="+mn-lt"/>
              </a:rPr>
              <a:t>is</a:t>
            </a:r>
            <a:r>
              <a:rPr lang="pt-BR" sz="1100">
                <a:highlight>
                  <a:srgbClr val="FFFFFF"/>
                </a:highlight>
                <a:ea typeface="+mn-lt"/>
                <a:cs typeface="+mn-lt"/>
              </a:rPr>
              <a:t> </a:t>
            </a:r>
            <a:r>
              <a:rPr lang="pt-BR" sz="1100" err="1">
                <a:highlight>
                  <a:srgbClr val="FFFFFF"/>
                </a:highlight>
                <a:ea typeface="+mn-lt"/>
                <a:cs typeface="+mn-lt"/>
              </a:rPr>
              <a:t>the</a:t>
            </a:r>
            <a:r>
              <a:rPr lang="pt-BR" sz="1100">
                <a:highlight>
                  <a:srgbClr val="FFFFFF"/>
                </a:highlight>
                <a:ea typeface="+mn-lt"/>
                <a:cs typeface="+mn-lt"/>
              </a:rPr>
              <a:t> business—</a:t>
            </a:r>
            <a:r>
              <a:rPr lang="pt-BR" sz="1100" err="1">
                <a:highlight>
                  <a:srgbClr val="FFFFFF"/>
                </a:highlight>
                <a:ea typeface="+mn-lt"/>
                <a:cs typeface="+mn-lt"/>
              </a:rPr>
              <a:t>that</a:t>
            </a:r>
            <a:r>
              <a:rPr lang="pt-BR" sz="1100">
                <a:highlight>
                  <a:srgbClr val="FFFFFF"/>
                </a:highlight>
                <a:ea typeface="+mn-lt"/>
                <a:cs typeface="+mn-lt"/>
              </a:rPr>
              <a:t> design </a:t>
            </a:r>
            <a:r>
              <a:rPr lang="pt-BR" sz="1100" err="1">
                <a:highlight>
                  <a:srgbClr val="FFFFFF"/>
                </a:highlight>
                <a:ea typeface="+mn-lt"/>
                <a:cs typeface="+mn-lt"/>
              </a:rPr>
              <a:t>choice</a:t>
            </a:r>
            <a:r>
              <a:rPr lang="pt-BR" sz="1100">
                <a:highlight>
                  <a:srgbClr val="FFFFFF"/>
                </a:highlight>
                <a:ea typeface="+mn-lt"/>
                <a:cs typeface="+mn-lt"/>
              </a:rPr>
              <a:t> </a:t>
            </a:r>
            <a:r>
              <a:rPr lang="pt-BR" sz="1100" err="1">
                <a:highlight>
                  <a:srgbClr val="FFFFFF"/>
                </a:highlight>
                <a:ea typeface="+mn-lt"/>
                <a:cs typeface="+mn-lt"/>
              </a:rPr>
              <a:t>has</a:t>
            </a:r>
            <a:r>
              <a:rPr lang="pt-BR" sz="1100">
                <a:highlight>
                  <a:srgbClr val="FFFFFF"/>
                </a:highlight>
                <a:ea typeface="+mn-lt"/>
                <a:cs typeface="+mn-lt"/>
              </a:rPr>
              <a:t> </a:t>
            </a:r>
            <a:r>
              <a:rPr lang="pt-BR" sz="1100" err="1">
                <a:highlight>
                  <a:srgbClr val="FFFFFF"/>
                </a:highlight>
                <a:ea typeface="+mn-lt"/>
                <a:cs typeface="+mn-lt"/>
              </a:rPr>
              <a:t>long-term</a:t>
            </a:r>
            <a:r>
              <a:rPr lang="pt-BR" sz="1100">
                <a:highlight>
                  <a:srgbClr val="FFFFFF"/>
                </a:highlight>
                <a:ea typeface="+mn-lt"/>
                <a:cs typeface="+mn-lt"/>
              </a:rPr>
              <a:t> </a:t>
            </a:r>
            <a:r>
              <a:rPr lang="pt-BR" sz="1100" err="1">
                <a:highlight>
                  <a:srgbClr val="FFFFFF"/>
                </a:highlight>
                <a:ea typeface="+mn-lt"/>
                <a:cs typeface="+mn-lt"/>
              </a:rPr>
              <a:t>consequences</a:t>
            </a:r>
            <a:r>
              <a:rPr lang="pt-BR" sz="1100">
                <a:highlight>
                  <a:srgbClr val="FFFFFF"/>
                </a:highlight>
                <a:ea typeface="+mn-lt"/>
                <a:cs typeface="+mn-lt"/>
              </a:rPr>
              <a:t> for </a:t>
            </a:r>
            <a:r>
              <a:rPr lang="pt-BR" sz="1100" err="1">
                <a:highlight>
                  <a:srgbClr val="FFFFFF"/>
                </a:highlight>
                <a:ea typeface="+mn-lt"/>
                <a:cs typeface="+mn-lt"/>
              </a:rPr>
              <a:t>scalability</a:t>
            </a:r>
            <a:r>
              <a:rPr lang="pt-BR" sz="1100">
                <a:highlight>
                  <a:srgbClr val="FFFFFF"/>
                </a:highlight>
                <a:ea typeface="+mn-lt"/>
                <a:cs typeface="+mn-lt"/>
              </a:rPr>
              <a:t>, performance, </a:t>
            </a:r>
            <a:r>
              <a:rPr lang="pt-BR" sz="1100" err="1">
                <a:highlight>
                  <a:srgbClr val="FFFFFF"/>
                </a:highlight>
                <a:ea typeface="+mn-lt"/>
                <a:cs typeface="+mn-lt"/>
              </a:rPr>
              <a:t>and</a:t>
            </a:r>
            <a:r>
              <a:rPr lang="pt-BR" sz="1100">
                <a:highlight>
                  <a:srgbClr val="FFFFFF"/>
                </a:highlight>
                <a:ea typeface="+mn-lt"/>
                <a:cs typeface="+mn-lt"/>
              </a:rPr>
              <a:t> model </a:t>
            </a:r>
            <a:r>
              <a:rPr lang="pt-BR" sz="1100" err="1">
                <a:highlight>
                  <a:srgbClr val="FFFFFF"/>
                </a:highlight>
                <a:ea typeface="+mn-lt"/>
                <a:cs typeface="+mn-lt"/>
              </a:rPr>
              <a:t>stability</a:t>
            </a:r>
            <a:r>
              <a:rPr lang="pt-BR" sz="1100">
                <a:highlight>
                  <a:srgbClr val="FFFFFF"/>
                </a:highlight>
                <a:ea typeface="+mn-lt"/>
                <a:cs typeface="+mn-lt"/>
              </a:rPr>
              <a:t>.</a:t>
            </a:r>
            <a:br>
              <a:rPr lang="pt-BR" sz="1100">
                <a:highlight>
                  <a:srgbClr val="FFFFFF"/>
                </a:highlight>
                <a:ea typeface="+mn-lt"/>
                <a:cs typeface="+mn-lt"/>
              </a:rPr>
            </a:br>
            <a:br>
              <a:rPr lang="pt-BR" sz="1100">
                <a:highlight>
                  <a:srgbClr val="FFFFFF"/>
                </a:highlight>
                <a:ea typeface="+mn-lt"/>
                <a:cs typeface="+mn-lt"/>
              </a:rPr>
            </a:br>
            <a:r>
              <a:rPr lang="pt-BR" sz="1100">
                <a:highlight>
                  <a:srgbClr val="FFFFFF"/>
                </a:highlight>
                <a:ea typeface="+mn-lt"/>
                <a:cs typeface="+mn-lt"/>
              </a:rPr>
              <a:t>It </a:t>
            </a:r>
            <a:r>
              <a:rPr lang="pt-BR" sz="1100" err="1">
                <a:highlight>
                  <a:srgbClr val="FFFFFF"/>
                </a:highlight>
                <a:ea typeface="+mn-lt"/>
                <a:cs typeface="+mn-lt"/>
              </a:rPr>
              <a:t>also</a:t>
            </a:r>
            <a:r>
              <a:rPr lang="pt-BR" sz="1100">
                <a:highlight>
                  <a:srgbClr val="FFFFFF"/>
                </a:highlight>
                <a:ea typeface="+mn-lt"/>
                <a:cs typeface="+mn-lt"/>
              </a:rPr>
              <a:t> helps </a:t>
            </a:r>
            <a:r>
              <a:rPr lang="pt-BR" sz="1100" err="1">
                <a:highlight>
                  <a:srgbClr val="FFFFFF"/>
                </a:highlight>
                <a:ea typeface="+mn-lt"/>
                <a:cs typeface="+mn-lt"/>
              </a:rPr>
              <a:t>explain</a:t>
            </a:r>
            <a:r>
              <a:rPr lang="pt-BR" sz="1100">
                <a:highlight>
                  <a:srgbClr val="FFFFFF"/>
                </a:highlight>
                <a:ea typeface="+mn-lt"/>
                <a:cs typeface="+mn-lt"/>
              </a:rPr>
              <a:t> </a:t>
            </a:r>
            <a:r>
              <a:rPr lang="pt-BR" sz="1100" err="1">
                <a:highlight>
                  <a:srgbClr val="FFFFFF"/>
                </a:highlight>
                <a:ea typeface="+mn-lt"/>
                <a:cs typeface="+mn-lt"/>
              </a:rPr>
              <a:t>why</a:t>
            </a:r>
            <a:r>
              <a:rPr lang="pt-BR" sz="1100">
                <a:highlight>
                  <a:srgbClr val="FFFFFF"/>
                </a:highlight>
                <a:ea typeface="+mn-lt"/>
                <a:cs typeface="+mn-lt"/>
              </a:rPr>
              <a:t> </a:t>
            </a:r>
            <a:r>
              <a:rPr lang="pt-BR" sz="1100" err="1">
                <a:highlight>
                  <a:srgbClr val="FFFFFF"/>
                </a:highlight>
                <a:ea typeface="+mn-lt"/>
                <a:cs typeface="+mn-lt"/>
              </a:rPr>
              <a:t>Smallworld’s</a:t>
            </a:r>
            <a:r>
              <a:rPr lang="pt-BR" sz="1100">
                <a:highlight>
                  <a:srgbClr val="FFFFFF"/>
                </a:highlight>
                <a:ea typeface="+mn-lt"/>
                <a:cs typeface="+mn-lt"/>
              </a:rPr>
              <a:t> network </a:t>
            </a:r>
            <a:r>
              <a:rPr lang="pt-BR" sz="1100" err="1">
                <a:highlight>
                  <a:srgbClr val="FFFFFF"/>
                </a:highlight>
                <a:ea typeface="+mn-lt"/>
                <a:cs typeface="+mn-lt"/>
              </a:rPr>
              <a:t>capabilities</a:t>
            </a:r>
            <a:r>
              <a:rPr lang="pt-BR" sz="1100">
                <a:highlight>
                  <a:srgbClr val="FFFFFF"/>
                </a:highlight>
                <a:ea typeface="+mn-lt"/>
                <a:cs typeface="+mn-lt"/>
              </a:rPr>
              <a:t> </a:t>
            </a:r>
            <a:r>
              <a:rPr lang="pt-BR" sz="1100" err="1">
                <a:highlight>
                  <a:srgbClr val="FFFFFF"/>
                </a:highlight>
                <a:ea typeface="+mn-lt"/>
                <a:cs typeface="+mn-lt"/>
              </a:rPr>
              <a:t>have</a:t>
            </a:r>
            <a:r>
              <a:rPr lang="pt-BR" sz="1100">
                <a:highlight>
                  <a:srgbClr val="FFFFFF"/>
                </a:highlight>
                <a:ea typeface="+mn-lt"/>
                <a:cs typeface="+mn-lt"/>
              </a:rPr>
              <a:t> </a:t>
            </a:r>
            <a:r>
              <a:rPr lang="pt-BR" sz="1100" err="1">
                <a:highlight>
                  <a:srgbClr val="FFFFFF"/>
                </a:highlight>
                <a:ea typeface="+mn-lt"/>
                <a:cs typeface="+mn-lt"/>
              </a:rPr>
              <a:t>scaled</a:t>
            </a:r>
            <a:r>
              <a:rPr lang="pt-BR" sz="1100">
                <a:highlight>
                  <a:srgbClr val="FFFFFF"/>
                </a:highlight>
                <a:ea typeface="+mn-lt"/>
                <a:cs typeface="+mn-lt"/>
              </a:rPr>
              <a:t> for </a:t>
            </a:r>
            <a:r>
              <a:rPr lang="pt-BR" sz="1100" err="1">
                <a:highlight>
                  <a:srgbClr val="FFFFFF"/>
                </a:highlight>
                <a:ea typeface="+mn-lt"/>
                <a:cs typeface="+mn-lt"/>
              </a:rPr>
              <a:t>decades</a:t>
            </a:r>
            <a:r>
              <a:rPr lang="pt-BR" sz="1100">
                <a:highlight>
                  <a:srgbClr val="FFFFFF"/>
                </a:highlight>
                <a:ea typeface="+mn-lt"/>
                <a:cs typeface="+mn-lt"/>
              </a:rPr>
              <a:t> </a:t>
            </a:r>
            <a:r>
              <a:rPr lang="pt-BR" sz="1100" err="1">
                <a:highlight>
                  <a:srgbClr val="FFFFFF"/>
                </a:highlight>
                <a:ea typeface="+mn-lt"/>
                <a:cs typeface="+mn-lt"/>
              </a:rPr>
              <a:t>without</a:t>
            </a:r>
            <a:r>
              <a:rPr lang="pt-BR" sz="1100">
                <a:highlight>
                  <a:srgbClr val="FFFFFF"/>
                </a:highlight>
                <a:ea typeface="+mn-lt"/>
                <a:cs typeface="+mn-lt"/>
              </a:rPr>
              <a:t> </a:t>
            </a:r>
            <a:r>
              <a:rPr lang="pt-BR" sz="1100" err="1">
                <a:highlight>
                  <a:srgbClr val="FFFFFF"/>
                </a:highlight>
                <a:ea typeface="+mn-lt"/>
                <a:cs typeface="+mn-lt"/>
              </a:rPr>
              <a:t>needing</a:t>
            </a:r>
            <a:r>
              <a:rPr lang="pt-BR" sz="1100">
                <a:highlight>
                  <a:srgbClr val="FFFFFF"/>
                </a:highlight>
                <a:ea typeface="+mn-lt"/>
                <a:cs typeface="+mn-lt"/>
              </a:rPr>
              <a:t> fundamental </a:t>
            </a:r>
            <a:r>
              <a:rPr lang="pt-BR" sz="1100" err="1">
                <a:highlight>
                  <a:srgbClr val="FFFFFF"/>
                </a:highlight>
                <a:ea typeface="+mn-lt"/>
                <a:cs typeface="+mn-lt"/>
              </a:rPr>
              <a:t>re-architecture</a:t>
            </a:r>
            <a:r>
              <a:rPr lang="pt-BR" sz="1100">
                <a:highlight>
                  <a:srgbClr val="FFFFFF"/>
                </a:highlight>
                <a:ea typeface="+mn-lt"/>
                <a:cs typeface="+mn-lt"/>
              </a:rPr>
              <a:t>.</a:t>
            </a:r>
            <a:endParaRPr lang="pt-BR">
              <a:ea typeface="Calibri" panose="020F0502020204030204"/>
              <a:cs typeface="Calibri" panose="020F0502020204030204"/>
            </a:endParaRPr>
          </a:p>
        </p:txBody>
      </p:sp>
    </p:spTree>
    <p:extLst>
      <p:ext uri="{BB962C8B-B14F-4D97-AF65-F5344CB8AC3E}">
        <p14:creationId xmlns:p14="http://schemas.microsoft.com/office/powerpoint/2010/main" val="152630986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55594-87CC-6A72-9019-74D4D6348215}"/>
            </a:ext>
          </a:extLst>
        </p:cNvPr>
        <p:cNvGrpSpPr/>
        <p:nvPr/>
      </p:nvGrpSpPr>
      <p:grpSpPr>
        <a:xfrm>
          <a:off x="0" y="0"/>
          <a:ext cx="0" cy="0"/>
          <a:chOff x="0" y="0"/>
          <a:chExt cx="0" cy="0"/>
        </a:xfrm>
      </p:grpSpPr>
      <p:sp>
        <p:nvSpPr>
          <p:cNvPr id="8" name="CaixaDeTexto 7">
            <a:extLst>
              <a:ext uri="{FF2B5EF4-FFF2-40B4-BE49-F238E27FC236}">
                <a16:creationId xmlns:a16="http://schemas.microsoft.com/office/drawing/2014/main" id="{5D89D2C8-2DB6-B558-F6AB-490CFAAC2029}"/>
              </a:ext>
            </a:extLst>
          </p:cNvPr>
          <p:cNvSpPr txBox="1"/>
          <p:nvPr/>
        </p:nvSpPr>
        <p:spPr>
          <a:xfrm>
            <a:off x="5722189" y="1603075"/>
            <a:ext cx="6096000"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Modernization during Utility Network migrations is coming up a lot lately, and it makes sense! When teams move to the UN, they’re already deep in the system: data models, integrations, infrastructure, governance. It’s a natural moment to ask whether the foundation underneath everything still makes sense, and a practical time to modernize.</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Worth thinking about if your organization is heading down the UN path.</a:t>
            </a:r>
            <a:br>
              <a:rPr lang="en-US">
                <a:latin typeface="-apple-system"/>
                <a:ea typeface="-apple-system"/>
                <a:cs typeface="-apple-system"/>
              </a:rPr>
            </a:br>
            <a:r>
              <a:rPr lang="en-US" b="1">
                <a:solidFill>
                  <a:srgbClr val="0A66C2"/>
                </a:solidFill>
                <a:latin typeface="-apple-system"/>
                <a:ea typeface="-apple-system"/>
                <a:cs typeface="-apple-system"/>
                <a:hlinkClick r:id="rId2"/>
              </a:rPr>
              <a:t>https://lnkd.in/g_sCZHRB</a:t>
            </a:r>
            <a:endParaRPr lang="en-US"/>
          </a:p>
          <a:p>
            <a:pPr algn="ctr"/>
            <a:endParaRPr lang="pt-BR"/>
          </a:p>
        </p:txBody>
      </p:sp>
      <p:sp>
        <p:nvSpPr>
          <p:cNvPr id="9" name="CaixaDeTexto 8">
            <a:extLst>
              <a:ext uri="{FF2B5EF4-FFF2-40B4-BE49-F238E27FC236}">
                <a16:creationId xmlns:a16="http://schemas.microsoft.com/office/drawing/2014/main" id="{46C3C105-9ABF-0710-6FFE-3177D64C4666}"/>
              </a:ext>
            </a:extLst>
          </p:cNvPr>
          <p:cNvSpPr txBox="1"/>
          <p:nvPr/>
        </p:nvSpPr>
        <p:spPr>
          <a:xfrm>
            <a:off x="359434" y="5082396"/>
            <a:ext cx="609600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Link: https://www.linkedin.com/posts/elizabethgaines_the-case-for-pairing-un-migrations-with-cloud-based-activity-7435013715407552513-RNGU?utm_source=share&amp;utm_medium=member_desktop&amp;rcm=ACoAAAMQtAUB5UouXqdBJgo_gWpNVZ7Imay_2Tg</a:t>
            </a:r>
          </a:p>
          <a:p>
            <a:pPr algn="ctr"/>
            <a:endParaRPr lang="pt-BR"/>
          </a:p>
        </p:txBody>
      </p:sp>
      <p:pic>
        <p:nvPicPr>
          <p:cNvPr id="10" name="Imagem 9">
            <a:extLst>
              <a:ext uri="{FF2B5EF4-FFF2-40B4-BE49-F238E27FC236}">
                <a16:creationId xmlns:a16="http://schemas.microsoft.com/office/drawing/2014/main" id="{5DFBC5FE-4615-2729-69F8-F4929216E830}"/>
              </a:ext>
            </a:extLst>
          </p:cNvPr>
          <p:cNvPicPr>
            <a:picLocks noChangeAspect="1"/>
          </p:cNvPicPr>
          <p:nvPr/>
        </p:nvPicPr>
        <p:blipFill>
          <a:blip r:embed="rId3"/>
          <a:stretch>
            <a:fillRect/>
          </a:stretch>
        </p:blipFill>
        <p:spPr>
          <a:xfrm>
            <a:off x="-989" y="996710"/>
            <a:ext cx="5580391" cy="3383711"/>
          </a:xfrm>
          <a:prstGeom prst="rect">
            <a:avLst/>
          </a:prstGeom>
        </p:spPr>
      </p:pic>
    </p:spTree>
    <p:extLst>
      <p:ext uri="{BB962C8B-B14F-4D97-AF65-F5344CB8AC3E}">
        <p14:creationId xmlns:p14="http://schemas.microsoft.com/office/powerpoint/2010/main" val="7956340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F155E93B-429D-7383-8D33-5267051FBC42}"/>
              </a:ext>
            </a:extLst>
          </p:cNvPr>
          <p:cNvSpPr txBox="1"/>
          <p:nvPr/>
        </p:nvSpPr>
        <p:spPr>
          <a:xfrm>
            <a:off x="6929887" y="1186132"/>
            <a:ext cx="5405887"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The City of Oak Hill in West Virginia successfully rehabilitated and accurately mapped over 630 rural manholes using ArcGIS and high-accuracy GNSS technology. They replaces unreliable legacy data and improved system management, operational efficiency, and infrastructure integrity while reducing inflow and infiltration issues. Learn more about their achievement in this Industry Blog</a:t>
            </a:r>
            <a:endParaRPr lang="en-US"/>
          </a:p>
          <a:p>
            <a:pPr algn="ctr"/>
            <a:endParaRPr lang="pt-BR"/>
          </a:p>
        </p:txBody>
      </p:sp>
      <p:sp>
        <p:nvSpPr>
          <p:cNvPr id="5" name="CaixaDeTexto 4">
            <a:extLst>
              <a:ext uri="{FF2B5EF4-FFF2-40B4-BE49-F238E27FC236}">
                <a16:creationId xmlns:a16="http://schemas.microsoft.com/office/drawing/2014/main" id="{FBB047EF-2DB8-5626-9C36-8942CBD34301}"/>
              </a:ext>
            </a:extLst>
          </p:cNvPr>
          <p:cNvSpPr txBox="1"/>
          <p:nvPr/>
        </p:nvSpPr>
        <p:spPr>
          <a:xfrm>
            <a:off x="531962" y="5096773"/>
            <a:ext cx="609600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Link: https://www.linkedin.com/posts/crstacampbell_from-hard-to-find-to-hard-to-miss-mapping-activity-7437482933180903424-7jz7?utm_source=share&amp;utm_medium=member_desktop&amp;rcm=ACoAAAMQtAUB5UouXqdBJgo_gWpNVZ7Imay_2Tg</a:t>
            </a:r>
          </a:p>
          <a:p>
            <a:pPr algn="ctr"/>
            <a:endParaRPr lang="pt-BR"/>
          </a:p>
        </p:txBody>
      </p:sp>
      <p:pic>
        <p:nvPicPr>
          <p:cNvPr id="6" name="Imagem 5" descr="Mapa&#10;&#10;O conteúdo gerado por IA pode estar incorreto.">
            <a:extLst>
              <a:ext uri="{FF2B5EF4-FFF2-40B4-BE49-F238E27FC236}">
                <a16:creationId xmlns:a16="http://schemas.microsoft.com/office/drawing/2014/main" id="{DED1EC93-7A7F-E5CD-303B-2A7EE407E26A}"/>
              </a:ext>
            </a:extLst>
          </p:cNvPr>
          <p:cNvPicPr>
            <a:picLocks noChangeAspect="1"/>
          </p:cNvPicPr>
          <p:nvPr/>
        </p:nvPicPr>
        <p:blipFill>
          <a:blip r:embed="rId2"/>
          <a:stretch>
            <a:fillRect/>
          </a:stretch>
        </p:blipFill>
        <p:spPr>
          <a:xfrm>
            <a:off x="393760" y="600434"/>
            <a:ext cx="5969839" cy="4003735"/>
          </a:xfrm>
          <a:prstGeom prst="rect">
            <a:avLst/>
          </a:prstGeom>
        </p:spPr>
      </p:pic>
    </p:spTree>
    <p:extLst>
      <p:ext uri="{BB962C8B-B14F-4D97-AF65-F5344CB8AC3E}">
        <p14:creationId xmlns:p14="http://schemas.microsoft.com/office/powerpoint/2010/main" val="224400340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DC574CFE-EBB1-0AAE-F8C9-516986317073}"/>
              </a:ext>
            </a:extLst>
          </p:cNvPr>
          <p:cNvSpPr txBox="1"/>
          <p:nvPr/>
        </p:nvSpPr>
        <p:spPr>
          <a:xfrm>
            <a:off x="316302" y="510395"/>
            <a:ext cx="5075208" cy="60631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Calibri"/>
                <a:ea typeface="Calibri"/>
                <a:cs typeface="Calibri"/>
              </a:rPr>
              <a:t>A </a:t>
            </a:r>
            <a:r>
              <a:rPr lang="en-US" sz="1600" err="1">
                <a:latin typeface="Calibri"/>
                <a:ea typeface="Calibri"/>
                <a:cs typeface="Calibri"/>
              </a:rPr>
              <a:t>transição</a:t>
            </a:r>
            <a:r>
              <a:rPr lang="en-US" sz="1600">
                <a:latin typeface="Calibri"/>
                <a:ea typeface="Calibri"/>
                <a:cs typeface="Calibri"/>
              </a:rPr>
              <a:t> para a Utility Network é um </a:t>
            </a:r>
            <a:r>
              <a:rPr lang="en-US" sz="1600" err="1">
                <a:latin typeface="Calibri"/>
                <a:ea typeface="Calibri"/>
                <a:cs typeface="Calibri"/>
              </a:rPr>
              <a:t>marco</a:t>
            </a:r>
            <a:r>
              <a:rPr lang="en-US" sz="1600">
                <a:latin typeface="Calibri"/>
                <a:ea typeface="Calibri"/>
                <a:cs typeface="Calibri"/>
              </a:rPr>
              <a:t> para </a:t>
            </a:r>
            <a:r>
              <a:rPr lang="en-US" sz="1600" err="1">
                <a:latin typeface="Calibri"/>
                <a:ea typeface="Calibri"/>
                <a:cs typeface="Calibri"/>
              </a:rPr>
              <a:t>empresas</a:t>
            </a:r>
            <a:r>
              <a:rPr lang="en-US" sz="1600">
                <a:latin typeface="Calibri"/>
                <a:ea typeface="Calibri"/>
                <a:cs typeface="Calibri"/>
              </a:rPr>
              <a:t> de </a:t>
            </a:r>
            <a:r>
              <a:rPr lang="en-US" sz="1600" err="1">
                <a:latin typeface="Calibri"/>
                <a:ea typeface="Calibri"/>
                <a:cs typeface="Calibri"/>
              </a:rPr>
              <a:t>saneamento</a:t>
            </a:r>
            <a:r>
              <a:rPr lang="en-US" sz="1600">
                <a:latin typeface="Calibri"/>
                <a:ea typeface="Calibri"/>
                <a:cs typeface="Calibri"/>
              </a:rPr>
              <a:t>, </a:t>
            </a:r>
            <a:r>
              <a:rPr lang="en-US" sz="1600" err="1">
                <a:latin typeface="Calibri"/>
                <a:ea typeface="Calibri"/>
                <a:cs typeface="Calibri"/>
              </a:rPr>
              <a:t>energia</a:t>
            </a:r>
            <a:r>
              <a:rPr lang="en-US" sz="1600">
                <a:latin typeface="Calibri"/>
                <a:ea typeface="Calibri"/>
                <a:cs typeface="Calibri"/>
              </a:rPr>
              <a:t> e </a:t>
            </a:r>
            <a:r>
              <a:rPr lang="en-US" sz="1600" err="1">
                <a:latin typeface="Calibri"/>
                <a:ea typeface="Calibri"/>
                <a:cs typeface="Calibri"/>
              </a:rPr>
              <a:t>gás</a:t>
            </a:r>
            <a:r>
              <a:rPr lang="en-US" sz="1600">
                <a:latin typeface="Calibri"/>
                <a:ea typeface="Calibri"/>
                <a:cs typeface="Calibri"/>
              </a:rPr>
              <a:t>. Para </a:t>
            </a:r>
            <a:r>
              <a:rPr lang="en-US" sz="1600" err="1">
                <a:latin typeface="Calibri"/>
                <a:ea typeface="Calibri"/>
                <a:cs typeface="Calibri"/>
              </a:rPr>
              <a:t>facilitar</a:t>
            </a:r>
            <a:r>
              <a:rPr lang="en-US" sz="1600">
                <a:latin typeface="Calibri"/>
                <a:ea typeface="Calibri"/>
                <a:cs typeface="Calibri"/>
              </a:rPr>
              <a:t> </a:t>
            </a:r>
            <a:r>
              <a:rPr lang="en-US" sz="1600" err="1">
                <a:latin typeface="Calibri"/>
                <a:ea typeface="Calibri"/>
                <a:cs typeface="Calibri"/>
              </a:rPr>
              <a:t>essa</a:t>
            </a:r>
            <a:r>
              <a:rPr lang="en-US" sz="1600">
                <a:latin typeface="Calibri"/>
                <a:ea typeface="Calibri"/>
                <a:cs typeface="Calibri"/>
              </a:rPr>
              <a:t> jornada, o Utility Network Migration Wizard (</a:t>
            </a:r>
            <a:r>
              <a:rPr lang="en-US" sz="1600" err="1">
                <a:latin typeface="Calibri"/>
                <a:ea typeface="Calibri"/>
                <a:cs typeface="Calibri"/>
              </a:rPr>
              <a:t>parte</a:t>
            </a:r>
            <a:r>
              <a:rPr lang="en-US" sz="1600">
                <a:latin typeface="Calibri"/>
                <a:ea typeface="Calibri"/>
                <a:cs typeface="Calibri"/>
              </a:rPr>
              <a:t> das ArcGIS Solutions) </a:t>
            </a:r>
            <a:r>
              <a:rPr lang="en-US" sz="1600" err="1">
                <a:latin typeface="Calibri"/>
                <a:ea typeface="Calibri"/>
                <a:cs typeface="Calibri"/>
              </a:rPr>
              <a:t>automatiza</a:t>
            </a:r>
            <a:r>
              <a:rPr lang="en-US" sz="1600">
                <a:latin typeface="Calibri"/>
                <a:ea typeface="Calibri"/>
                <a:cs typeface="Calibri"/>
              </a:rPr>
              <a:t> a </a:t>
            </a:r>
            <a:r>
              <a:rPr lang="en-US" sz="1600" err="1">
                <a:latin typeface="Calibri"/>
                <a:ea typeface="Calibri"/>
                <a:cs typeface="Calibri"/>
              </a:rPr>
              <a:t>configuração</a:t>
            </a:r>
            <a:r>
              <a:rPr lang="en-US" sz="1600">
                <a:latin typeface="Calibri"/>
                <a:ea typeface="Calibri"/>
                <a:cs typeface="Calibri"/>
              </a:rPr>
              <a:t> do </a:t>
            </a:r>
            <a:r>
              <a:rPr lang="en-US" sz="1600" err="1">
                <a:latin typeface="Calibri"/>
                <a:ea typeface="Calibri"/>
                <a:cs typeface="Calibri"/>
              </a:rPr>
              <a:t>esquema</a:t>
            </a:r>
            <a:r>
              <a:rPr lang="en-US" sz="1600">
                <a:latin typeface="Calibri"/>
                <a:ea typeface="Calibri"/>
                <a:cs typeface="Calibri"/>
              </a:rPr>
              <a:t> e a carga de dados.</a:t>
            </a:r>
            <a:br>
              <a:rPr lang="en-US" sz="1600">
                <a:latin typeface="Calibri"/>
                <a:ea typeface="Calibri"/>
                <a:cs typeface="Calibri"/>
              </a:rPr>
            </a:br>
            <a:br>
              <a:rPr lang="en-US" sz="1600">
                <a:latin typeface="Calibri"/>
                <a:ea typeface="Calibri"/>
                <a:cs typeface="Calibri"/>
              </a:rPr>
            </a:br>
            <a:r>
              <a:rPr lang="en-US" sz="1600">
                <a:latin typeface="Calibri"/>
                <a:ea typeface="Calibri"/>
                <a:cs typeface="Calibri"/>
              </a:rPr>
              <a:t>Veja </a:t>
            </a:r>
            <a:r>
              <a:rPr lang="en-US" sz="1600" err="1">
                <a:latin typeface="Calibri"/>
                <a:ea typeface="Calibri"/>
                <a:cs typeface="Calibri"/>
              </a:rPr>
              <a:t>como</a:t>
            </a:r>
            <a:r>
              <a:rPr lang="en-US" sz="1600">
                <a:latin typeface="Calibri"/>
                <a:ea typeface="Calibri"/>
                <a:cs typeface="Calibri"/>
              </a:rPr>
              <a:t> </a:t>
            </a:r>
            <a:r>
              <a:rPr lang="en-US" sz="1600" err="1">
                <a:latin typeface="Calibri"/>
                <a:ea typeface="Calibri"/>
                <a:cs typeface="Calibri"/>
              </a:rPr>
              <a:t>utilizar</a:t>
            </a:r>
            <a:r>
              <a:rPr lang="en-US" sz="1600">
                <a:latin typeface="Calibri"/>
                <a:ea typeface="Calibri"/>
                <a:cs typeface="Calibri"/>
              </a:rPr>
              <a:t> </a:t>
            </a:r>
            <a:r>
              <a:rPr lang="en-US" sz="1600" err="1">
                <a:latin typeface="Calibri"/>
                <a:ea typeface="Calibri"/>
                <a:cs typeface="Calibri"/>
              </a:rPr>
              <a:t>esta</a:t>
            </a:r>
            <a:r>
              <a:rPr lang="en-US" sz="1600">
                <a:latin typeface="Calibri"/>
                <a:ea typeface="Calibri"/>
                <a:cs typeface="Calibri"/>
              </a:rPr>
              <a:t> ferramenta </a:t>
            </a:r>
            <a:r>
              <a:rPr lang="en-US" sz="1600" err="1">
                <a:latin typeface="Calibri"/>
                <a:ea typeface="Calibri"/>
                <a:cs typeface="Calibri"/>
              </a:rPr>
              <a:t>estrategicamente</a:t>
            </a:r>
            <a:r>
              <a:rPr lang="en-US" sz="1600">
                <a:latin typeface="Calibri"/>
                <a:ea typeface="Calibri"/>
                <a:cs typeface="Calibri"/>
              </a:rPr>
              <a:t>:</a:t>
            </a:r>
            <a:br>
              <a:rPr lang="en-US" sz="1600">
                <a:latin typeface="Calibri"/>
                <a:ea typeface="Calibri"/>
                <a:cs typeface="Calibri"/>
              </a:rPr>
            </a:br>
            <a:br>
              <a:rPr lang="en-US" sz="1600">
                <a:latin typeface="Calibri"/>
                <a:ea typeface="Calibri"/>
                <a:cs typeface="Calibri"/>
              </a:rPr>
            </a:br>
            <a:r>
              <a:rPr lang="en-US" sz="1600">
                <a:latin typeface="Calibri"/>
                <a:ea typeface="Calibri"/>
                <a:cs typeface="Calibri"/>
              </a:rPr>
              <a:t>1. </a:t>
            </a:r>
            <a:r>
              <a:rPr lang="en-US" sz="1600" err="1">
                <a:latin typeface="Calibri"/>
                <a:ea typeface="Calibri"/>
                <a:cs typeface="Calibri"/>
              </a:rPr>
              <a:t>Preparação</a:t>
            </a:r>
            <a:r>
              <a:rPr lang="en-US" sz="1600">
                <a:latin typeface="Calibri"/>
                <a:ea typeface="Calibri"/>
                <a:cs typeface="Calibri"/>
              </a:rPr>
              <a:t> do </a:t>
            </a:r>
            <a:r>
              <a:rPr lang="en-US" sz="1600" err="1">
                <a:latin typeface="Calibri"/>
                <a:ea typeface="Calibri"/>
                <a:cs typeface="Calibri"/>
              </a:rPr>
              <a:t>Ambiente</a:t>
            </a:r>
            <a:br>
              <a:rPr lang="en-US" sz="1600">
                <a:latin typeface="Calibri"/>
                <a:ea typeface="Calibri"/>
                <a:cs typeface="Calibri"/>
              </a:rPr>
            </a:br>
            <a:r>
              <a:rPr lang="en-US" sz="1600">
                <a:latin typeface="Calibri"/>
                <a:ea typeface="Calibri"/>
                <a:cs typeface="Calibri"/>
              </a:rPr>
              <a:t>Antes de </a:t>
            </a:r>
            <a:r>
              <a:rPr lang="en-US" sz="1600" err="1">
                <a:latin typeface="Calibri"/>
                <a:ea typeface="Calibri"/>
                <a:cs typeface="Calibri"/>
              </a:rPr>
              <a:t>abrir</a:t>
            </a:r>
            <a:r>
              <a:rPr lang="en-US" sz="1600">
                <a:latin typeface="Calibri"/>
                <a:ea typeface="Calibri"/>
                <a:cs typeface="Calibri"/>
              </a:rPr>
              <a:t> o </a:t>
            </a:r>
            <a:r>
              <a:rPr lang="en-US" sz="1600" err="1">
                <a:latin typeface="Calibri"/>
                <a:ea typeface="Calibri"/>
                <a:cs typeface="Calibri"/>
              </a:rPr>
              <a:t>assistente</a:t>
            </a:r>
            <a:r>
              <a:rPr lang="en-US" sz="1600">
                <a:latin typeface="Calibri"/>
                <a:ea typeface="Calibri"/>
                <a:cs typeface="Calibri"/>
              </a:rPr>
              <a:t>, </a:t>
            </a:r>
            <a:r>
              <a:rPr lang="en-US" sz="1600" err="1">
                <a:latin typeface="Calibri"/>
                <a:ea typeface="Calibri"/>
                <a:cs typeface="Calibri"/>
              </a:rPr>
              <a:t>você</a:t>
            </a:r>
            <a:r>
              <a:rPr lang="en-US" sz="1600">
                <a:latin typeface="Calibri"/>
                <a:ea typeface="Calibri"/>
                <a:cs typeface="Calibri"/>
              </a:rPr>
              <a:t> </a:t>
            </a:r>
            <a:r>
              <a:rPr lang="en-US" sz="1600" err="1">
                <a:latin typeface="Calibri"/>
                <a:ea typeface="Calibri"/>
                <a:cs typeface="Calibri"/>
              </a:rPr>
              <a:t>deve</a:t>
            </a:r>
            <a:r>
              <a:rPr lang="en-US" sz="1600">
                <a:latin typeface="Calibri"/>
                <a:ea typeface="Calibri"/>
                <a:cs typeface="Calibri"/>
              </a:rPr>
              <a:t> ter o ArcGIS Pro com </a:t>
            </a:r>
            <a:r>
              <a:rPr lang="en-US" sz="1600" err="1">
                <a:latin typeface="Calibri"/>
                <a:ea typeface="Calibri"/>
                <a:cs typeface="Calibri"/>
              </a:rPr>
              <a:t>a</a:t>
            </a:r>
            <a:r>
              <a:rPr lang="en-US" sz="1600">
                <a:latin typeface="Calibri"/>
                <a:ea typeface="Calibri"/>
                <a:cs typeface="Calibri"/>
              </a:rPr>
              <a:t> </a:t>
            </a:r>
            <a:r>
              <a:rPr lang="en-US" sz="1600" err="1">
                <a:latin typeface="Calibri"/>
                <a:ea typeface="Calibri"/>
                <a:cs typeface="Calibri"/>
              </a:rPr>
              <a:t>extensão</a:t>
            </a:r>
            <a:r>
              <a:rPr lang="en-US" sz="1600">
                <a:latin typeface="Calibri"/>
                <a:ea typeface="Calibri"/>
                <a:cs typeface="Calibri"/>
              </a:rPr>
              <a:t> de Utility Network </a:t>
            </a:r>
            <a:r>
              <a:rPr lang="en-US" sz="1600" err="1">
                <a:latin typeface="Calibri"/>
                <a:ea typeface="Calibri"/>
                <a:cs typeface="Calibri"/>
              </a:rPr>
              <a:t>ativa</a:t>
            </a:r>
            <a:r>
              <a:rPr lang="en-US" sz="1600">
                <a:latin typeface="Calibri"/>
                <a:ea typeface="Calibri"/>
                <a:cs typeface="Calibri"/>
              </a:rPr>
              <a:t> e o </a:t>
            </a:r>
            <a:r>
              <a:rPr lang="en-US" sz="1600" err="1">
                <a:latin typeface="Calibri"/>
                <a:ea typeface="Calibri"/>
                <a:cs typeface="Calibri"/>
              </a:rPr>
              <a:t>pacote</a:t>
            </a:r>
            <a:r>
              <a:rPr lang="en-US" sz="1600">
                <a:latin typeface="Calibri"/>
                <a:ea typeface="Calibri"/>
                <a:cs typeface="Calibri"/>
              </a:rPr>
              <a:t> de </a:t>
            </a:r>
            <a:r>
              <a:rPr lang="en-US" sz="1600" err="1">
                <a:latin typeface="Calibri"/>
                <a:ea typeface="Calibri"/>
                <a:cs typeface="Calibri"/>
              </a:rPr>
              <a:t>soluções</a:t>
            </a:r>
            <a:r>
              <a:rPr lang="en-US" sz="1600">
                <a:latin typeface="Calibri"/>
                <a:ea typeface="Calibri"/>
                <a:cs typeface="Calibri"/>
              </a:rPr>
              <a:t> </a:t>
            </a:r>
            <a:r>
              <a:rPr lang="en-US" sz="1600" err="1">
                <a:latin typeface="Calibri"/>
                <a:ea typeface="Calibri"/>
                <a:cs typeface="Calibri"/>
              </a:rPr>
              <a:t>específico</a:t>
            </a:r>
            <a:r>
              <a:rPr lang="en-US" sz="1600">
                <a:latin typeface="Calibri"/>
                <a:ea typeface="Calibri"/>
                <a:cs typeface="Calibri"/>
              </a:rPr>
              <a:t> do </a:t>
            </a:r>
            <a:r>
              <a:rPr lang="en-US" sz="1600" err="1">
                <a:latin typeface="Calibri"/>
                <a:ea typeface="Calibri"/>
                <a:cs typeface="Calibri"/>
              </a:rPr>
              <a:t>seu</a:t>
            </a:r>
            <a:r>
              <a:rPr lang="en-US" sz="1600">
                <a:latin typeface="Calibri"/>
                <a:ea typeface="Calibri"/>
                <a:cs typeface="Calibri"/>
              </a:rPr>
              <a:t> </a:t>
            </a:r>
            <a:r>
              <a:rPr lang="en-US" sz="1600" err="1">
                <a:latin typeface="Calibri"/>
                <a:ea typeface="Calibri"/>
                <a:cs typeface="Calibri"/>
              </a:rPr>
              <a:t>setor</a:t>
            </a:r>
            <a:r>
              <a:rPr lang="en-US" sz="1600">
                <a:latin typeface="Calibri"/>
                <a:ea typeface="Calibri"/>
                <a:cs typeface="Calibri"/>
              </a:rPr>
              <a:t> (ex: Water Distribution Utility Network) </a:t>
            </a:r>
            <a:r>
              <a:rPr lang="en-US" sz="1600" err="1">
                <a:latin typeface="Calibri"/>
                <a:ea typeface="Calibri"/>
                <a:cs typeface="Calibri"/>
              </a:rPr>
              <a:t>instalado</a:t>
            </a:r>
            <a:r>
              <a:rPr lang="en-US" sz="1600">
                <a:latin typeface="Calibri"/>
                <a:ea typeface="Calibri"/>
                <a:cs typeface="Calibri"/>
              </a:rPr>
              <a:t>.</a:t>
            </a:r>
            <a:br>
              <a:rPr lang="en-US" sz="1600">
                <a:latin typeface="Calibri"/>
                <a:ea typeface="Calibri"/>
                <a:cs typeface="Calibri"/>
              </a:rPr>
            </a:br>
            <a:br>
              <a:rPr lang="en-US" sz="1600">
                <a:latin typeface="Calibri"/>
                <a:ea typeface="Calibri"/>
                <a:cs typeface="Calibri"/>
              </a:rPr>
            </a:br>
            <a:r>
              <a:rPr lang="en-US" sz="1600">
                <a:latin typeface="Calibri"/>
                <a:ea typeface="Calibri"/>
                <a:cs typeface="Calibri"/>
              </a:rPr>
              <a:t>2. </a:t>
            </a:r>
            <a:r>
              <a:rPr lang="en-US" sz="1600" err="1">
                <a:latin typeface="Calibri"/>
                <a:ea typeface="Calibri"/>
                <a:cs typeface="Calibri"/>
              </a:rPr>
              <a:t>Configurando</a:t>
            </a:r>
            <a:r>
              <a:rPr lang="en-US" sz="1600">
                <a:latin typeface="Calibri"/>
                <a:ea typeface="Calibri"/>
                <a:cs typeface="Calibri"/>
              </a:rPr>
              <a:t> o Stage Utility Network</a:t>
            </a:r>
            <a:br>
              <a:rPr lang="en-US" sz="1600">
                <a:latin typeface="Calibri"/>
                <a:ea typeface="Calibri"/>
                <a:cs typeface="Calibri"/>
              </a:rPr>
            </a:br>
            <a:r>
              <a:rPr lang="en-US" sz="1600">
                <a:latin typeface="Calibri"/>
                <a:ea typeface="Calibri"/>
                <a:cs typeface="Calibri"/>
              </a:rPr>
              <a:t>O </a:t>
            </a:r>
            <a:r>
              <a:rPr lang="en-US" sz="1600" err="1">
                <a:latin typeface="Calibri"/>
                <a:ea typeface="Calibri"/>
                <a:cs typeface="Calibri"/>
              </a:rPr>
              <a:t>primeiro</a:t>
            </a:r>
            <a:r>
              <a:rPr lang="en-US" sz="1600">
                <a:latin typeface="Calibri"/>
                <a:ea typeface="Calibri"/>
                <a:cs typeface="Calibri"/>
              </a:rPr>
              <a:t> </a:t>
            </a:r>
            <a:r>
              <a:rPr lang="en-US" sz="1600" err="1">
                <a:latin typeface="Calibri"/>
                <a:ea typeface="Calibri"/>
                <a:cs typeface="Calibri"/>
              </a:rPr>
              <a:t>passo</a:t>
            </a:r>
            <a:r>
              <a:rPr lang="en-US" sz="1600">
                <a:latin typeface="Calibri"/>
                <a:ea typeface="Calibri"/>
                <a:cs typeface="Calibri"/>
              </a:rPr>
              <a:t> do Wizard é </a:t>
            </a:r>
            <a:r>
              <a:rPr lang="en-US" sz="1600" err="1">
                <a:latin typeface="Calibri"/>
                <a:ea typeface="Calibri"/>
                <a:cs typeface="Calibri"/>
              </a:rPr>
              <a:t>criar</a:t>
            </a:r>
            <a:r>
              <a:rPr lang="en-US" sz="1600">
                <a:latin typeface="Calibri"/>
                <a:ea typeface="Calibri"/>
                <a:cs typeface="Calibri"/>
              </a:rPr>
              <a:t> </a:t>
            </a:r>
            <a:r>
              <a:rPr lang="en-US" sz="1600" err="1">
                <a:latin typeface="Calibri"/>
                <a:ea typeface="Calibri"/>
                <a:cs typeface="Calibri"/>
              </a:rPr>
              <a:t>a</a:t>
            </a:r>
            <a:r>
              <a:rPr lang="en-US" sz="1600">
                <a:latin typeface="Calibri"/>
                <a:ea typeface="Calibri"/>
                <a:cs typeface="Calibri"/>
              </a:rPr>
              <a:t> </a:t>
            </a:r>
            <a:r>
              <a:rPr lang="en-US" sz="1600" err="1">
                <a:latin typeface="Calibri"/>
                <a:ea typeface="Calibri"/>
                <a:cs typeface="Calibri"/>
              </a:rPr>
              <a:t>estrutura</a:t>
            </a:r>
            <a:r>
              <a:rPr lang="en-US" sz="1600">
                <a:latin typeface="Calibri"/>
                <a:ea typeface="Calibri"/>
                <a:cs typeface="Calibri"/>
              </a:rPr>
              <a:t> "</a:t>
            </a:r>
            <a:r>
              <a:rPr lang="en-US" sz="1600" err="1">
                <a:latin typeface="Calibri"/>
                <a:ea typeface="Calibri"/>
                <a:cs typeface="Calibri"/>
              </a:rPr>
              <a:t>vazia</a:t>
            </a:r>
            <a:r>
              <a:rPr lang="en-US" sz="1600">
                <a:latin typeface="Calibri"/>
                <a:ea typeface="Calibri"/>
                <a:cs typeface="Calibri"/>
              </a:rPr>
              <a:t>".</a:t>
            </a:r>
            <a:br>
              <a:rPr lang="en-US" sz="1600">
                <a:latin typeface="Calibri"/>
                <a:ea typeface="Calibri"/>
                <a:cs typeface="Calibri"/>
              </a:rPr>
            </a:br>
            <a:r>
              <a:rPr lang="en-US" sz="1600">
                <a:latin typeface="Calibri"/>
                <a:ea typeface="Calibri"/>
                <a:cs typeface="Calibri"/>
              </a:rPr>
              <a:t>O </a:t>
            </a:r>
            <a:r>
              <a:rPr lang="en-US" sz="1600" err="1">
                <a:latin typeface="Calibri"/>
                <a:ea typeface="Calibri"/>
                <a:cs typeface="Calibri"/>
              </a:rPr>
              <a:t>que</a:t>
            </a:r>
            <a:r>
              <a:rPr lang="en-US" sz="1600">
                <a:latin typeface="Calibri"/>
                <a:ea typeface="Calibri"/>
                <a:cs typeface="Calibri"/>
              </a:rPr>
              <a:t> </a:t>
            </a:r>
            <a:r>
              <a:rPr lang="en-US" sz="1600" err="1">
                <a:latin typeface="Calibri"/>
                <a:ea typeface="Calibri"/>
                <a:cs typeface="Calibri"/>
              </a:rPr>
              <a:t>ele</a:t>
            </a:r>
            <a:r>
              <a:rPr lang="en-US" sz="1600">
                <a:latin typeface="Calibri"/>
                <a:ea typeface="Calibri"/>
                <a:cs typeface="Calibri"/>
              </a:rPr>
              <a:t> </a:t>
            </a:r>
            <a:r>
              <a:rPr lang="en-US" sz="1600" err="1">
                <a:latin typeface="Calibri"/>
                <a:ea typeface="Calibri"/>
                <a:cs typeface="Calibri"/>
              </a:rPr>
              <a:t>faz</a:t>
            </a:r>
            <a:r>
              <a:rPr lang="en-US" sz="1600">
                <a:latin typeface="Calibri"/>
                <a:ea typeface="Calibri"/>
                <a:cs typeface="Calibri"/>
              </a:rPr>
              <a:t>: </a:t>
            </a:r>
            <a:r>
              <a:rPr lang="en-US" sz="1600" err="1">
                <a:latin typeface="Calibri"/>
                <a:ea typeface="Calibri"/>
                <a:cs typeface="Calibri"/>
              </a:rPr>
              <a:t>Cria</a:t>
            </a:r>
            <a:r>
              <a:rPr lang="en-US" sz="1600">
                <a:latin typeface="Calibri"/>
                <a:ea typeface="Calibri"/>
                <a:cs typeface="Calibri"/>
              </a:rPr>
              <a:t> o File Geodatabase </a:t>
            </a:r>
            <a:r>
              <a:rPr lang="en-US" sz="1600" err="1">
                <a:latin typeface="Calibri"/>
                <a:ea typeface="Calibri"/>
                <a:cs typeface="Calibri"/>
              </a:rPr>
              <a:t>ou</a:t>
            </a:r>
            <a:r>
              <a:rPr lang="en-US" sz="1600">
                <a:latin typeface="Calibri"/>
                <a:ea typeface="Calibri"/>
                <a:cs typeface="Calibri"/>
              </a:rPr>
              <a:t> Enterprise Geodatabase, </a:t>
            </a:r>
            <a:r>
              <a:rPr lang="en-US" sz="1600" err="1">
                <a:latin typeface="Calibri"/>
                <a:ea typeface="Calibri"/>
                <a:cs typeface="Calibri"/>
              </a:rPr>
              <a:t>habilita</a:t>
            </a:r>
            <a:r>
              <a:rPr lang="en-US" sz="1600">
                <a:latin typeface="Calibri"/>
                <a:ea typeface="Calibri"/>
                <a:cs typeface="Calibri"/>
              </a:rPr>
              <a:t> </a:t>
            </a:r>
            <a:r>
              <a:rPr lang="en-US" sz="1600" err="1">
                <a:latin typeface="Calibri"/>
                <a:ea typeface="Calibri"/>
                <a:cs typeface="Calibri"/>
              </a:rPr>
              <a:t>a</a:t>
            </a:r>
            <a:r>
              <a:rPr lang="en-US" sz="1600">
                <a:latin typeface="Calibri"/>
                <a:ea typeface="Calibri"/>
                <a:cs typeface="Calibri"/>
              </a:rPr>
              <a:t> </a:t>
            </a:r>
            <a:r>
              <a:rPr lang="en-US" sz="1600" err="1">
                <a:latin typeface="Calibri"/>
                <a:ea typeface="Calibri"/>
                <a:cs typeface="Calibri"/>
              </a:rPr>
              <a:t>estrutura</a:t>
            </a:r>
            <a:r>
              <a:rPr lang="en-US" sz="1600">
                <a:latin typeface="Calibri"/>
                <a:ea typeface="Calibri"/>
                <a:cs typeface="Calibri"/>
              </a:rPr>
              <a:t> da UN e define as </a:t>
            </a:r>
            <a:r>
              <a:rPr lang="en-US" sz="1600" err="1">
                <a:latin typeface="Calibri"/>
                <a:ea typeface="Calibri"/>
                <a:cs typeface="Calibri"/>
              </a:rPr>
              <a:t>regras</a:t>
            </a:r>
            <a:r>
              <a:rPr lang="en-US" sz="1600">
                <a:latin typeface="Calibri"/>
                <a:ea typeface="Calibri"/>
                <a:cs typeface="Calibri"/>
              </a:rPr>
              <a:t> de </a:t>
            </a:r>
            <a:r>
              <a:rPr lang="en-US" sz="1600" err="1">
                <a:latin typeface="Calibri"/>
                <a:ea typeface="Calibri"/>
                <a:cs typeface="Calibri"/>
              </a:rPr>
              <a:t>topologia</a:t>
            </a:r>
            <a:r>
              <a:rPr lang="en-US" sz="1600">
                <a:latin typeface="Calibri"/>
                <a:ea typeface="Calibri"/>
                <a:cs typeface="Calibri"/>
              </a:rPr>
              <a:t> </a:t>
            </a:r>
            <a:r>
              <a:rPr lang="en-US" sz="1600" err="1">
                <a:latin typeface="Calibri"/>
                <a:ea typeface="Calibri"/>
                <a:cs typeface="Calibri"/>
              </a:rPr>
              <a:t>básicas</a:t>
            </a:r>
            <a:r>
              <a:rPr lang="en-US" sz="1600">
                <a:latin typeface="Calibri"/>
                <a:ea typeface="Calibri"/>
                <a:cs typeface="Calibri"/>
              </a:rPr>
              <a:t>.</a:t>
            </a:r>
            <a:br>
              <a:rPr lang="en-US" sz="1600">
                <a:latin typeface="Calibri"/>
                <a:ea typeface="Calibri"/>
                <a:cs typeface="Calibri"/>
              </a:rPr>
            </a:br>
            <a:r>
              <a:rPr lang="en-US" sz="1600" err="1">
                <a:latin typeface="Calibri"/>
                <a:ea typeface="Calibri"/>
                <a:cs typeface="Calibri"/>
              </a:rPr>
              <a:t>Dica</a:t>
            </a:r>
            <a:r>
              <a:rPr lang="en-US" sz="1600">
                <a:latin typeface="Calibri"/>
                <a:ea typeface="Calibri"/>
                <a:cs typeface="Calibri"/>
              </a:rPr>
              <a:t>: </a:t>
            </a:r>
            <a:r>
              <a:rPr lang="en-US" sz="1600" err="1">
                <a:latin typeface="Calibri"/>
                <a:ea typeface="Calibri"/>
                <a:cs typeface="Calibri"/>
              </a:rPr>
              <a:t>Certifique</a:t>
            </a:r>
            <a:r>
              <a:rPr lang="en-US" sz="1600">
                <a:latin typeface="Calibri"/>
                <a:ea typeface="Calibri"/>
                <a:cs typeface="Calibri"/>
              </a:rPr>
              <a:t>-se de </a:t>
            </a:r>
            <a:r>
              <a:rPr lang="en-US" sz="1600" err="1">
                <a:latin typeface="Calibri"/>
                <a:ea typeface="Calibri"/>
                <a:cs typeface="Calibri"/>
              </a:rPr>
              <a:t>que</a:t>
            </a:r>
            <a:r>
              <a:rPr lang="en-US" sz="1600">
                <a:latin typeface="Calibri"/>
                <a:ea typeface="Calibri"/>
                <a:cs typeface="Calibri"/>
              </a:rPr>
              <a:t> o </a:t>
            </a:r>
            <a:r>
              <a:rPr lang="en-US" sz="1600" err="1">
                <a:latin typeface="Calibri"/>
                <a:ea typeface="Calibri"/>
                <a:cs typeface="Calibri"/>
              </a:rPr>
              <a:t>sistema</a:t>
            </a:r>
            <a:r>
              <a:rPr lang="en-US" sz="1600">
                <a:latin typeface="Calibri"/>
                <a:ea typeface="Calibri"/>
                <a:cs typeface="Calibri"/>
              </a:rPr>
              <a:t> de </a:t>
            </a:r>
            <a:r>
              <a:rPr lang="en-US" sz="1600" err="1">
                <a:latin typeface="Calibri"/>
                <a:ea typeface="Calibri"/>
                <a:cs typeface="Calibri"/>
              </a:rPr>
              <a:t>coordenadas</a:t>
            </a:r>
            <a:r>
              <a:rPr lang="en-US" sz="1600">
                <a:latin typeface="Calibri"/>
                <a:ea typeface="Calibri"/>
                <a:cs typeface="Calibri"/>
              </a:rPr>
              <a:t> </a:t>
            </a:r>
            <a:r>
              <a:rPr lang="en-US" sz="1600" err="1">
                <a:latin typeface="Calibri"/>
                <a:ea typeface="Calibri"/>
                <a:cs typeface="Calibri"/>
              </a:rPr>
              <a:t>está</a:t>
            </a:r>
            <a:r>
              <a:rPr lang="en-US" sz="1600">
                <a:latin typeface="Calibri"/>
                <a:ea typeface="Calibri"/>
                <a:cs typeface="Calibri"/>
              </a:rPr>
              <a:t> </a:t>
            </a:r>
            <a:r>
              <a:rPr lang="en-US" sz="1600" err="1">
                <a:latin typeface="Calibri"/>
                <a:ea typeface="Calibri"/>
                <a:cs typeface="Calibri"/>
              </a:rPr>
              <a:t>correto</a:t>
            </a:r>
            <a:r>
              <a:rPr lang="en-US" sz="1600">
                <a:latin typeface="Calibri"/>
                <a:ea typeface="Calibri"/>
                <a:cs typeface="Calibri"/>
              </a:rPr>
              <a:t> logo no </a:t>
            </a:r>
            <a:r>
              <a:rPr lang="en-US" sz="1600" err="1">
                <a:latin typeface="Calibri"/>
                <a:ea typeface="Calibri"/>
                <a:cs typeface="Calibri"/>
              </a:rPr>
              <a:t>início</a:t>
            </a:r>
            <a:r>
              <a:rPr lang="en-US" sz="1600">
                <a:latin typeface="Calibri"/>
                <a:ea typeface="Calibri"/>
                <a:cs typeface="Calibri"/>
              </a:rPr>
              <a:t>, pois a UN é </a:t>
            </a:r>
            <a:r>
              <a:rPr lang="en-US" sz="1600" err="1">
                <a:latin typeface="Calibri"/>
                <a:ea typeface="Calibri"/>
                <a:cs typeface="Calibri"/>
              </a:rPr>
              <a:t>extremamente</a:t>
            </a:r>
            <a:r>
              <a:rPr lang="en-US" sz="1600">
                <a:latin typeface="Calibri"/>
                <a:ea typeface="Calibri"/>
                <a:cs typeface="Calibri"/>
              </a:rPr>
              <a:t> </a:t>
            </a:r>
            <a:r>
              <a:rPr lang="en-US" sz="1600" err="1">
                <a:latin typeface="Calibri"/>
                <a:ea typeface="Calibri"/>
                <a:cs typeface="Calibri"/>
              </a:rPr>
              <a:t>sensível</a:t>
            </a:r>
            <a:r>
              <a:rPr lang="en-US" sz="1600">
                <a:latin typeface="Calibri"/>
                <a:ea typeface="Calibri"/>
                <a:cs typeface="Calibri"/>
              </a:rPr>
              <a:t> a </a:t>
            </a:r>
            <a:r>
              <a:rPr lang="en-US" sz="1600" err="1">
                <a:latin typeface="Calibri"/>
                <a:ea typeface="Calibri"/>
                <a:cs typeface="Calibri"/>
              </a:rPr>
              <a:t>precisão</a:t>
            </a:r>
            <a:r>
              <a:rPr lang="en-US" sz="1600">
                <a:latin typeface="Calibri"/>
                <a:ea typeface="Calibri"/>
                <a:cs typeface="Calibri"/>
              </a:rPr>
              <a:t> </a:t>
            </a:r>
            <a:r>
              <a:rPr lang="en-US" sz="1600" err="1">
                <a:latin typeface="Calibri"/>
                <a:ea typeface="Calibri"/>
                <a:cs typeface="Calibri"/>
              </a:rPr>
              <a:t>espacial</a:t>
            </a:r>
            <a:r>
              <a:rPr lang="en-US" sz="1600">
                <a:latin typeface="Calibri"/>
                <a:ea typeface="Calibri"/>
                <a:cs typeface="Calibri"/>
              </a:rPr>
              <a:t>.</a:t>
            </a:r>
            <a:br>
              <a:rPr lang="en-US">
                <a:latin typeface="-apple-system"/>
                <a:ea typeface="-apple-system"/>
                <a:cs typeface="-apple-system"/>
              </a:rPr>
            </a:br>
            <a:br>
              <a:rPr lang="en-US">
                <a:latin typeface="-apple-system"/>
                <a:ea typeface="-apple-system"/>
                <a:cs typeface="-apple-system"/>
              </a:rPr>
            </a:br>
            <a:endParaRPr lang="en-US">
              <a:latin typeface="-apple-system"/>
            </a:endParaRPr>
          </a:p>
        </p:txBody>
      </p:sp>
      <p:sp>
        <p:nvSpPr>
          <p:cNvPr id="3" name="CaixaDeTexto 2">
            <a:extLst>
              <a:ext uri="{FF2B5EF4-FFF2-40B4-BE49-F238E27FC236}">
                <a16:creationId xmlns:a16="http://schemas.microsoft.com/office/drawing/2014/main" id="{982D8812-517C-1722-60CA-C3DA44B54E58}"/>
              </a:ext>
            </a:extLst>
          </p:cNvPr>
          <p:cNvSpPr txBox="1"/>
          <p:nvPr/>
        </p:nvSpPr>
        <p:spPr>
          <a:xfrm>
            <a:off x="5650302" y="395377"/>
            <a:ext cx="5937850" cy="60324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Calibri"/>
                <a:ea typeface="Calibri"/>
                <a:cs typeface="Calibri"/>
              </a:rPr>
              <a:t>3. </a:t>
            </a:r>
            <a:r>
              <a:rPr lang="en-US" sz="1600" err="1">
                <a:latin typeface="Calibri"/>
                <a:ea typeface="Calibri"/>
                <a:cs typeface="Calibri"/>
              </a:rPr>
              <a:t>Mapeamento</a:t>
            </a:r>
            <a:r>
              <a:rPr lang="en-US" sz="1600">
                <a:latin typeface="Calibri"/>
                <a:ea typeface="Calibri"/>
                <a:cs typeface="Calibri"/>
              </a:rPr>
              <a:t> de Atributos (Field Mapping)</a:t>
            </a:r>
            <a:br>
              <a:rPr lang="en-US" sz="1600">
                <a:latin typeface="Calibri"/>
                <a:ea typeface="Calibri"/>
                <a:cs typeface="Calibri"/>
              </a:rPr>
            </a:br>
            <a:r>
              <a:rPr lang="en-US" sz="1600">
                <a:latin typeface="Calibri"/>
                <a:ea typeface="Calibri"/>
                <a:cs typeface="Calibri"/>
              </a:rPr>
              <a:t>Esta é </a:t>
            </a:r>
            <a:r>
              <a:rPr lang="en-US" sz="1600" err="1">
                <a:latin typeface="Calibri"/>
                <a:ea typeface="Calibri"/>
                <a:cs typeface="Calibri"/>
              </a:rPr>
              <a:t>a</a:t>
            </a:r>
            <a:r>
              <a:rPr lang="en-US" sz="1600">
                <a:latin typeface="Calibri"/>
                <a:ea typeface="Calibri"/>
                <a:cs typeface="Calibri"/>
              </a:rPr>
              <a:t> </a:t>
            </a:r>
            <a:r>
              <a:rPr lang="en-US" sz="1600" err="1">
                <a:latin typeface="Calibri"/>
                <a:ea typeface="Calibri"/>
                <a:cs typeface="Calibri"/>
              </a:rPr>
              <a:t>etapa</a:t>
            </a:r>
            <a:r>
              <a:rPr lang="en-US" sz="1600">
                <a:latin typeface="Calibri"/>
                <a:ea typeface="Calibri"/>
                <a:cs typeface="Calibri"/>
              </a:rPr>
              <a:t> </a:t>
            </a:r>
            <a:r>
              <a:rPr lang="en-US" sz="1600" err="1">
                <a:latin typeface="Calibri"/>
                <a:ea typeface="Calibri"/>
                <a:cs typeface="Calibri"/>
              </a:rPr>
              <a:t>mais</a:t>
            </a:r>
            <a:r>
              <a:rPr lang="en-US" sz="1600">
                <a:latin typeface="Calibri"/>
                <a:ea typeface="Calibri"/>
                <a:cs typeface="Calibri"/>
              </a:rPr>
              <a:t> </a:t>
            </a:r>
            <a:r>
              <a:rPr lang="en-US" sz="1600" err="1">
                <a:latin typeface="Calibri"/>
                <a:ea typeface="Calibri"/>
                <a:cs typeface="Calibri"/>
              </a:rPr>
              <a:t>crítica</a:t>
            </a:r>
            <a:r>
              <a:rPr lang="en-US" sz="1600">
                <a:latin typeface="Calibri"/>
                <a:ea typeface="Calibri"/>
                <a:cs typeface="Calibri"/>
              </a:rPr>
              <a:t>. O Wizard </a:t>
            </a:r>
            <a:r>
              <a:rPr lang="en-US" sz="1600" err="1">
                <a:latin typeface="Calibri"/>
                <a:ea typeface="Calibri"/>
                <a:cs typeface="Calibri"/>
              </a:rPr>
              <a:t>permite</a:t>
            </a:r>
            <a:r>
              <a:rPr lang="en-US" sz="1600">
                <a:latin typeface="Calibri"/>
                <a:ea typeface="Calibri"/>
                <a:cs typeface="Calibri"/>
              </a:rPr>
              <a:t> </a:t>
            </a:r>
            <a:r>
              <a:rPr lang="en-US" sz="1600" err="1">
                <a:latin typeface="Calibri"/>
                <a:ea typeface="Calibri"/>
                <a:cs typeface="Calibri"/>
              </a:rPr>
              <a:t>correlacionar</a:t>
            </a:r>
            <a:r>
              <a:rPr lang="en-US" sz="1600">
                <a:latin typeface="Calibri"/>
                <a:ea typeface="Calibri"/>
                <a:cs typeface="Calibri"/>
              </a:rPr>
              <a:t> </a:t>
            </a:r>
            <a:r>
              <a:rPr lang="en-US" sz="1600" err="1">
                <a:latin typeface="Calibri"/>
                <a:ea typeface="Calibri"/>
                <a:cs typeface="Calibri"/>
              </a:rPr>
              <a:t>os</a:t>
            </a:r>
            <a:r>
              <a:rPr lang="en-US" sz="1600">
                <a:latin typeface="Calibri"/>
                <a:ea typeface="Calibri"/>
                <a:cs typeface="Calibri"/>
              </a:rPr>
              <a:t> campos da </a:t>
            </a:r>
            <a:r>
              <a:rPr lang="en-US" sz="1600" err="1">
                <a:latin typeface="Calibri"/>
                <a:ea typeface="Calibri"/>
                <a:cs typeface="Calibri"/>
              </a:rPr>
              <a:t>sua</a:t>
            </a:r>
            <a:r>
              <a:rPr lang="en-US" sz="1600">
                <a:latin typeface="Calibri"/>
                <a:ea typeface="Calibri"/>
                <a:cs typeface="Calibri"/>
              </a:rPr>
              <a:t> base </a:t>
            </a:r>
            <a:r>
              <a:rPr lang="en-US" sz="1600" err="1">
                <a:latin typeface="Calibri"/>
                <a:ea typeface="Calibri"/>
                <a:cs typeface="Calibri"/>
              </a:rPr>
              <a:t>antiga</a:t>
            </a:r>
            <a:r>
              <a:rPr lang="en-US" sz="1600">
                <a:latin typeface="Calibri"/>
                <a:ea typeface="Calibri"/>
                <a:cs typeface="Calibri"/>
              </a:rPr>
              <a:t> (Legacy Data) com as </a:t>
            </a:r>
            <a:r>
              <a:rPr lang="en-US" sz="1600" err="1">
                <a:latin typeface="Calibri"/>
                <a:ea typeface="Calibri"/>
                <a:cs typeface="Calibri"/>
              </a:rPr>
              <a:t>novas</a:t>
            </a:r>
            <a:r>
              <a:rPr lang="en-US" sz="1600">
                <a:latin typeface="Calibri"/>
                <a:ea typeface="Calibri"/>
                <a:cs typeface="Calibri"/>
              </a:rPr>
              <a:t> classes da UN.</a:t>
            </a:r>
            <a:br>
              <a:rPr lang="en-US" sz="1600">
                <a:latin typeface="Calibri"/>
                <a:ea typeface="Calibri"/>
                <a:cs typeface="Calibri"/>
              </a:rPr>
            </a:br>
            <a:r>
              <a:rPr lang="en-US" sz="1600">
                <a:latin typeface="Calibri"/>
                <a:ea typeface="Calibri"/>
                <a:cs typeface="Calibri"/>
              </a:rPr>
              <a:t>Asset Group e Asset Type: </a:t>
            </a:r>
            <a:r>
              <a:rPr lang="en-US" sz="1600" err="1">
                <a:latin typeface="Calibri"/>
                <a:ea typeface="Calibri"/>
                <a:cs typeface="Calibri"/>
              </a:rPr>
              <a:t>Diferente</a:t>
            </a:r>
            <a:r>
              <a:rPr lang="en-US" sz="1600">
                <a:latin typeface="Calibri"/>
                <a:ea typeface="Calibri"/>
                <a:cs typeface="Calibri"/>
              </a:rPr>
              <a:t> do </a:t>
            </a:r>
            <a:r>
              <a:rPr lang="en-US" sz="1600" err="1">
                <a:latin typeface="Calibri"/>
                <a:ea typeface="Calibri"/>
                <a:cs typeface="Calibri"/>
              </a:rPr>
              <a:t>modelo</a:t>
            </a:r>
            <a:r>
              <a:rPr lang="en-US" sz="1600">
                <a:latin typeface="Calibri"/>
                <a:ea typeface="Calibri"/>
                <a:cs typeface="Calibri"/>
              </a:rPr>
              <a:t> </a:t>
            </a:r>
            <a:r>
              <a:rPr lang="en-US" sz="1600" err="1">
                <a:latin typeface="Calibri"/>
                <a:ea typeface="Calibri"/>
                <a:cs typeface="Calibri"/>
              </a:rPr>
              <a:t>antigo</a:t>
            </a:r>
            <a:r>
              <a:rPr lang="en-US" sz="1600">
                <a:latin typeface="Calibri"/>
                <a:ea typeface="Calibri"/>
                <a:cs typeface="Calibri"/>
              </a:rPr>
              <a:t>, a UN </a:t>
            </a:r>
            <a:r>
              <a:rPr lang="en-US" sz="1600" err="1">
                <a:latin typeface="Calibri"/>
                <a:ea typeface="Calibri"/>
                <a:cs typeface="Calibri"/>
              </a:rPr>
              <a:t>organiza</a:t>
            </a:r>
            <a:r>
              <a:rPr lang="en-US" sz="1600">
                <a:latin typeface="Calibri"/>
                <a:ea typeface="Calibri"/>
                <a:cs typeface="Calibri"/>
              </a:rPr>
              <a:t> </a:t>
            </a:r>
            <a:r>
              <a:rPr lang="en-US" sz="1600" err="1">
                <a:latin typeface="Calibri"/>
                <a:ea typeface="Calibri"/>
                <a:cs typeface="Calibri"/>
              </a:rPr>
              <a:t>tudo</a:t>
            </a:r>
            <a:r>
              <a:rPr lang="en-US" sz="1600">
                <a:latin typeface="Calibri"/>
                <a:ea typeface="Calibri"/>
                <a:cs typeface="Calibri"/>
              </a:rPr>
              <a:t> </a:t>
            </a:r>
            <a:r>
              <a:rPr lang="en-US" sz="1600" err="1">
                <a:latin typeface="Calibri"/>
                <a:ea typeface="Calibri"/>
                <a:cs typeface="Calibri"/>
              </a:rPr>
              <a:t>por</a:t>
            </a:r>
            <a:r>
              <a:rPr lang="en-US" sz="1600">
                <a:latin typeface="Calibri"/>
                <a:ea typeface="Calibri"/>
                <a:cs typeface="Calibri"/>
              </a:rPr>
              <a:t> </a:t>
            </a:r>
            <a:r>
              <a:rPr lang="en-US" sz="1600" err="1">
                <a:latin typeface="Calibri"/>
                <a:ea typeface="Calibri"/>
                <a:cs typeface="Calibri"/>
              </a:rPr>
              <a:t>categorias</a:t>
            </a:r>
            <a:r>
              <a:rPr lang="en-US" sz="1600">
                <a:latin typeface="Calibri"/>
                <a:ea typeface="Calibri"/>
                <a:cs typeface="Calibri"/>
              </a:rPr>
              <a:t> e </a:t>
            </a:r>
            <a:r>
              <a:rPr lang="en-US" sz="1600" err="1">
                <a:latin typeface="Calibri"/>
                <a:ea typeface="Calibri"/>
                <a:cs typeface="Calibri"/>
              </a:rPr>
              <a:t>tipos</a:t>
            </a:r>
            <a:r>
              <a:rPr lang="en-US" sz="1600">
                <a:latin typeface="Calibri"/>
                <a:ea typeface="Calibri"/>
                <a:cs typeface="Calibri"/>
              </a:rPr>
              <a:t>. </a:t>
            </a:r>
            <a:r>
              <a:rPr lang="en-US" sz="1600" err="1">
                <a:latin typeface="Calibri"/>
                <a:ea typeface="Calibri"/>
                <a:cs typeface="Calibri"/>
              </a:rPr>
              <a:t>Você</a:t>
            </a:r>
            <a:r>
              <a:rPr lang="en-US" sz="1600">
                <a:latin typeface="Calibri"/>
                <a:ea typeface="Calibri"/>
                <a:cs typeface="Calibri"/>
              </a:rPr>
              <a:t> </a:t>
            </a:r>
            <a:r>
              <a:rPr lang="en-US" sz="1600" err="1">
                <a:latin typeface="Calibri"/>
                <a:ea typeface="Calibri"/>
                <a:cs typeface="Calibri"/>
              </a:rPr>
              <a:t>usará</a:t>
            </a:r>
            <a:r>
              <a:rPr lang="en-US" sz="1600">
                <a:latin typeface="Calibri"/>
                <a:ea typeface="Calibri"/>
                <a:cs typeface="Calibri"/>
              </a:rPr>
              <a:t> o Wizard para </a:t>
            </a:r>
            <a:r>
              <a:rPr lang="en-US" sz="1600" err="1">
                <a:latin typeface="Calibri"/>
                <a:ea typeface="Calibri"/>
                <a:cs typeface="Calibri"/>
              </a:rPr>
              <a:t>definir</a:t>
            </a:r>
            <a:r>
              <a:rPr lang="en-US" sz="1600">
                <a:latin typeface="Calibri"/>
                <a:ea typeface="Calibri"/>
                <a:cs typeface="Calibri"/>
              </a:rPr>
              <a:t> quais </a:t>
            </a:r>
            <a:r>
              <a:rPr lang="en-US" sz="1600" err="1">
                <a:latin typeface="Calibri"/>
                <a:ea typeface="Calibri"/>
                <a:cs typeface="Calibri"/>
              </a:rPr>
              <a:t>valores</a:t>
            </a:r>
            <a:r>
              <a:rPr lang="en-US" sz="1600">
                <a:latin typeface="Calibri"/>
                <a:ea typeface="Calibri"/>
                <a:cs typeface="Calibri"/>
              </a:rPr>
              <a:t> de "</a:t>
            </a:r>
            <a:r>
              <a:rPr lang="en-US" sz="1600" err="1">
                <a:latin typeface="Calibri"/>
                <a:ea typeface="Calibri"/>
                <a:cs typeface="Calibri"/>
              </a:rPr>
              <a:t>tipo</a:t>
            </a:r>
            <a:r>
              <a:rPr lang="en-US" sz="1600">
                <a:latin typeface="Calibri"/>
                <a:ea typeface="Calibri"/>
                <a:cs typeface="Calibri"/>
              </a:rPr>
              <a:t> de </a:t>
            </a:r>
            <a:r>
              <a:rPr lang="en-US" sz="1600" err="1">
                <a:latin typeface="Calibri"/>
                <a:ea typeface="Calibri"/>
                <a:cs typeface="Calibri"/>
              </a:rPr>
              <a:t>cano</a:t>
            </a:r>
            <a:r>
              <a:rPr lang="en-US" sz="1600">
                <a:latin typeface="Calibri"/>
                <a:ea typeface="Calibri"/>
                <a:cs typeface="Calibri"/>
              </a:rPr>
              <a:t>" </a:t>
            </a:r>
            <a:r>
              <a:rPr lang="en-US" sz="1600" err="1">
                <a:latin typeface="Calibri"/>
                <a:ea typeface="Calibri"/>
                <a:cs typeface="Calibri"/>
              </a:rPr>
              <a:t>ou</a:t>
            </a:r>
            <a:r>
              <a:rPr lang="en-US" sz="1600">
                <a:latin typeface="Calibri"/>
                <a:ea typeface="Calibri"/>
                <a:cs typeface="Calibri"/>
              </a:rPr>
              <a:t> "</a:t>
            </a:r>
            <a:r>
              <a:rPr lang="en-US" sz="1600" err="1">
                <a:latin typeface="Calibri"/>
                <a:ea typeface="Calibri"/>
                <a:cs typeface="Calibri"/>
              </a:rPr>
              <a:t>voltagem</a:t>
            </a:r>
            <a:r>
              <a:rPr lang="en-US" sz="1600">
                <a:latin typeface="Calibri"/>
                <a:ea typeface="Calibri"/>
                <a:cs typeface="Calibri"/>
              </a:rPr>
              <a:t>" se </a:t>
            </a:r>
            <a:r>
              <a:rPr lang="en-US" sz="1600" err="1">
                <a:latin typeface="Calibri"/>
                <a:ea typeface="Calibri"/>
                <a:cs typeface="Calibri"/>
              </a:rPr>
              <a:t>tornam</a:t>
            </a:r>
            <a:r>
              <a:rPr lang="en-US" sz="1600">
                <a:latin typeface="Calibri"/>
                <a:ea typeface="Calibri"/>
                <a:cs typeface="Calibri"/>
              </a:rPr>
              <a:t> </a:t>
            </a:r>
            <a:r>
              <a:rPr lang="en-US" sz="1600" err="1">
                <a:latin typeface="Calibri"/>
                <a:ea typeface="Calibri"/>
                <a:cs typeface="Calibri"/>
              </a:rPr>
              <a:t>subtipos</a:t>
            </a:r>
            <a:r>
              <a:rPr lang="en-US" sz="1600">
                <a:latin typeface="Calibri"/>
                <a:ea typeface="Calibri"/>
                <a:cs typeface="Calibri"/>
              </a:rPr>
              <a:t> </a:t>
            </a:r>
            <a:r>
              <a:rPr lang="en-US" sz="1600" err="1">
                <a:latin typeface="Calibri"/>
                <a:ea typeface="Calibri"/>
                <a:cs typeface="Calibri"/>
              </a:rPr>
              <a:t>oficiais</a:t>
            </a:r>
            <a:r>
              <a:rPr lang="en-US" sz="1600">
                <a:latin typeface="Calibri"/>
                <a:ea typeface="Calibri"/>
                <a:cs typeface="Calibri"/>
              </a:rPr>
              <a:t>.</a:t>
            </a:r>
            <a:br>
              <a:rPr lang="en-US" sz="1600">
                <a:latin typeface="Calibri"/>
                <a:ea typeface="Calibri"/>
                <a:cs typeface="Calibri"/>
              </a:rPr>
            </a:br>
            <a:r>
              <a:rPr lang="en-US" sz="1600" err="1">
                <a:latin typeface="Calibri"/>
                <a:ea typeface="Calibri"/>
                <a:cs typeface="Calibri"/>
              </a:rPr>
              <a:t>Justificativa</a:t>
            </a:r>
            <a:r>
              <a:rPr lang="en-US" sz="1600">
                <a:latin typeface="Calibri"/>
                <a:ea typeface="Calibri"/>
                <a:cs typeface="Calibri"/>
              </a:rPr>
              <a:t>: </a:t>
            </a:r>
            <a:r>
              <a:rPr lang="en-US" sz="1600" err="1">
                <a:latin typeface="Calibri"/>
                <a:ea typeface="Calibri"/>
                <a:cs typeface="Calibri"/>
              </a:rPr>
              <a:t>Isso</a:t>
            </a:r>
            <a:r>
              <a:rPr lang="en-US" sz="1600">
                <a:latin typeface="Calibri"/>
                <a:ea typeface="Calibri"/>
                <a:cs typeface="Calibri"/>
              </a:rPr>
              <a:t> </a:t>
            </a:r>
            <a:r>
              <a:rPr lang="en-US" sz="1600" err="1">
                <a:latin typeface="Calibri"/>
                <a:ea typeface="Calibri"/>
                <a:cs typeface="Calibri"/>
              </a:rPr>
              <a:t>garante</a:t>
            </a:r>
            <a:r>
              <a:rPr lang="en-US" sz="1600">
                <a:latin typeface="Calibri"/>
                <a:ea typeface="Calibri"/>
                <a:cs typeface="Calibri"/>
              </a:rPr>
              <a:t> </a:t>
            </a:r>
            <a:r>
              <a:rPr lang="en-US" sz="1600" err="1">
                <a:latin typeface="Calibri"/>
                <a:ea typeface="Calibri"/>
                <a:cs typeface="Calibri"/>
              </a:rPr>
              <a:t>que</a:t>
            </a:r>
            <a:r>
              <a:rPr lang="en-US" sz="1600">
                <a:latin typeface="Calibri"/>
                <a:ea typeface="Calibri"/>
                <a:cs typeface="Calibri"/>
              </a:rPr>
              <a:t> </a:t>
            </a:r>
            <a:r>
              <a:rPr lang="en-US" sz="1600" err="1">
                <a:latin typeface="Calibri"/>
                <a:ea typeface="Calibri"/>
                <a:cs typeface="Calibri"/>
              </a:rPr>
              <a:t>a</a:t>
            </a:r>
            <a:r>
              <a:rPr lang="en-US" sz="1600">
                <a:latin typeface="Calibri"/>
                <a:ea typeface="Calibri"/>
                <a:cs typeface="Calibri"/>
              </a:rPr>
              <a:t> </a:t>
            </a:r>
            <a:r>
              <a:rPr lang="en-US" sz="1600" err="1">
                <a:latin typeface="Calibri"/>
                <a:ea typeface="Calibri"/>
                <a:cs typeface="Calibri"/>
              </a:rPr>
              <a:t>integridade</a:t>
            </a:r>
            <a:r>
              <a:rPr lang="en-US" sz="1600">
                <a:latin typeface="Calibri"/>
                <a:ea typeface="Calibri"/>
                <a:cs typeface="Calibri"/>
              </a:rPr>
              <a:t> dos dados </a:t>
            </a:r>
            <a:r>
              <a:rPr lang="en-US" sz="1600" err="1">
                <a:latin typeface="Calibri"/>
                <a:ea typeface="Calibri"/>
                <a:cs typeface="Calibri"/>
              </a:rPr>
              <a:t>históricos</a:t>
            </a:r>
            <a:r>
              <a:rPr lang="en-US" sz="1600">
                <a:latin typeface="Calibri"/>
                <a:ea typeface="Calibri"/>
                <a:cs typeface="Calibri"/>
              </a:rPr>
              <a:t> </a:t>
            </a:r>
            <a:r>
              <a:rPr lang="en-US" sz="1600" err="1">
                <a:latin typeface="Calibri"/>
                <a:ea typeface="Calibri"/>
                <a:cs typeface="Calibri"/>
              </a:rPr>
              <a:t>seja</a:t>
            </a:r>
            <a:r>
              <a:rPr lang="en-US" sz="1600">
                <a:latin typeface="Calibri"/>
                <a:ea typeface="Calibri"/>
                <a:cs typeface="Calibri"/>
              </a:rPr>
              <a:t> </a:t>
            </a:r>
            <a:r>
              <a:rPr lang="en-US" sz="1600" err="1">
                <a:latin typeface="Calibri"/>
                <a:ea typeface="Calibri"/>
                <a:cs typeface="Calibri"/>
              </a:rPr>
              <a:t>mantida</a:t>
            </a:r>
            <a:r>
              <a:rPr lang="en-US" sz="1600">
                <a:latin typeface="Calibri"/>
                <a:ea typeface="Calibri"/>
                <a:cs typeface="Calibri"/>
              </a:rPr>
              <a:t> </a:t>
            </a:r>
            <a:r>
              <a:rPr lang="en-US" sz="1600" err="1">
                <a:latin typeface="Calibri"/>
                <a:ea typeface="Calibri"/>
                <a:cs typeface="Calibri"/>
              </a:rPr>
              <a:t>na</a:t>
            </a:r>
            <a:r>
              <a:rPr lang="en-US" sz="1600">
                <a:latin typeface="Calibri"/>
                <a:ea typeface="Calibri"/>
                <a:cs typeface="Calibri"/>
              </a:rPr>
              <a:t> nova </a:t>
            </a:r>
            <a:r>
              <a:rPr lang="en-US" sz="1600" err="1">
                <a:latin typeface="Calibri"/>
                <a:ea typeface="Calibri"/>
                <a:cs typeface="Calibri"/>
              </a:rPr>
              <a:t>arquitetura</a:t>
            </a:r>
            <a:r>
              <a:rPr lang="en-US" sz="1600">
                <a:latin typeface="Calibri"/>
                <a:ea typeface="Calibri"/>
                <a:cs typeface="Calibri"/>
              </a:rPr>
              <a:t>.</a:t>
            </a:r>
            <a:br>
              <a:rPr lang="en-US" sz="1600">
                <a:latin typeface="Calibri"/>
                <a:ea typeface="Calibri"/>
                <a:cs typeface="Calibri"/>
              </a:rPr>
            </a:br>
            <a:br>
              <a:rPr lang="en-US" sz="1600">
                <a:latin typeface="Calibri"/>
                <a:ea typeface="Calibri"/>
                <a:cs typeface="Calibri"/>
              </a:rPr>
            </a:br>
            <a:r>
              <a:rPr lang="en-US" sz="1600">
                <a:latin typeface="Calibri"/>
                <a:ea typeface="Calibri"/>
                <a:cs typeface="Calibri"/>
              </a:rPr>
              <a:t>4. </a:t>
            </a:r>
            <a:r>
              <a:rPr lang="en-US" sz="1600" err="1">
                <a:latin typeface="Calibri"/>
                <a:ea typeface="Calibri"/>
                <a:cs typeface="Calibri"/>
              </a:rPr>
              <a:t>Aplicação</a:t>
            </a:r>
            <a:r>
              <a:rPr lang="en-US" sz="1600">
                <a:latin typeface="Calibri"/>
                <a:ea typeface="Calibri"/>
                <a:cs typeface="Calibri"/>
              </a:rPr>
              <a:t> do Data Loading Workspace</a:t>
            </a:r>
            <a:br>
              <a:rPr lang="en-US" sz="1600">
                <a:latin typeface="Calibri"/>
                <a:ea typeface="Calibri"/>
                <a:cs typeface="Calibri"/>
              </a:rPr>
            </a:br>
            <a:r>
              <a:rPr lang="en-US" sz="1600">
                <a:latin typeface="Calibri"/>
                <a:ea typeface="Calibri"/>
                <a:cs typeface="Calibri"/>
              </a:rPr>
              <a:t>O Wizard </a:t>
            </a:r>
            <a:r>
              <a:rPr lang="en-US" sz="1600" err="1">
                <a:latin typeface="Calibri"/>
                <a:ea typeface="Calibri"/>
                <a:cs typeface="Calibri"/>
              </a:rPr>
              <a:t>utiliza</a:t>
            </a:r>
            <a:r>
              <a:rPr lang="en-US" sz="1600">
                <a:latin typeface="Calibri"/>
                <a:ea typeface="Calibri"/>
                <a:cs typeface="Calibri"/>
              </a:rPr>
              <a:t> o Data Loading Tools (Python-based) </a:t>
            </a:r>
            <a:r>
              <a:rPr lang="en-US" sz="1600" err="1">
                <a:latin typeface="Calibri"/>
                <a:ea typeface="Calibri"/>
                <a:cs typeface="Calibri"/>
              </a:rPr>
              <a:t>por</a:t>
            </a:r>
            <a:r>
              <a:rPr lang="en-US" sz="1600">
                <a:latin typeface="Calibri"/>
                <a:ea typeface="Calibri"/>
                <a:cs typeface="Calibri"/>
              </a:rPr>
              <a:t> </a:t>
            </a:r>
            <a:r>
              <a:rPr lang="en-US" sz="1600" err="1">
                <a:latin typeface="Calibri"/>
                <a:ea typeface="Calibri"/>
                <a:cs typeface="Calibri"/>
              </a:rPr>
              <a:t>baixo</a:t>
            </a:r>
            <a:r>
              <a:rPr lang="en-US" sz="1600">
                <a:latin typeface="Calibri"/>
                <a:ea typeface="Calibri"/>
                <a:cs typeface="Calibri"/>
              </a:rPr>
              <a:t> do </a:t>
            </a:r>
            <a:r>
              <a:rPr lang="en-US" sz="1600" err="1">
                <a:latin typeface="Calibri"/>
                <a:ea typeface="Calibri"/>
                <a:cs typeface="Calibri"/>
              </a:rPr>
              <a:t>capô</a:t>
            </a:r>
            <a:r>
              <a:rPr lang="en-US" sz="1600">
                <a:latin typeface="Calibri"/>
                <a:ea typeface="Calibri"/>
                <a:cs typeface="Calibri"/>
              </a:rPr>
              <a:t>.</a:t>
            </a:r>
            <a:br>
              <a:rPr lang="en-US" sz="1600">
                <a:latin typeface="Calibri"/>
                <a:ea typeface="Calibri"/>
                <a:cs typeface="Calibri"/>
              </a:rPr>
            </a:br>
            <a:r>
              <a:rPr lang="en-US" sz="1600" err="1">
                <a:latin typeface="Calibri"/>
                <a:ea typeface="Calibri"/>
                <a:cs typeface="Calibri"/>
              </a:rPr>
              <a:t>Você</a:t>
            </a:r>
            <a:r>
              <a:rPr lang="en-US" sz="1600">
                <a:latin typeface="Calibri"/>
                <a:ea typeface="Calibri"/>
                <a:cs typeface="Calibri"/>
              </a:rPr>
              <a:t> define </a:t>
            </a:r>
            <a:r>
              <a:rPr lang="en-US" sz="1600" err="1">
                <a:latin typeface="Calibri"/>
                <a:ea typeface="Calibri"/>
                <a:cs typeface="Calibri"/>
              </a:rPr>
              <a:t>a</a:t>
            </a:r>
            <a:r>
              <a:rPr lang="en-US" sz="1600">
                <a:latin typeface="Calibri"/>
                <a:ea typeface="Calibri"/>
                <a:cs typeface="Calibri"/>
              </a:rPr>
              <a:t> </a:t>
            </a:r>
            <a:r>
              <a:rPr lang="en-US" sz="1600" err="1">
                <a:latin typeface="Calibri"/>
                <a:ea typeface="Calibri"/>
                <a:cs typeface="Calibri"/>
              </a:rPr>
              <a:t>origem</a:t>
            </a:r>
            <a:r>
              <a:rPr lang="en-US" sz="1600">
                <a:latin typeface="Calibri"/>
                <a:ea typeface="Calibri"/>
                <a:cs typeface="Calibri"/>
              </a:rPr>
              <a:t> dos dados e o </a:t>
            </a:r>
            <a:r>
              <a:rPr lang="en-US" sz="1600" err="1">
                <a:latin typeface="Calibri"/>
                <a:ea typeface="Calibri"/>
                <a:cs typeface="Calibri"/>
              </a:rPr>
              <a:t>destino</a:t>
            </a:r>
            <a:r>
              <a:rPr lang="en-US" sz="1600">
                <a:latin typeface="Calibri"/>
                <a:ea typeface="Calibri"/>
                <a:cs typeface="Calibri"/>
              </a:rPr>
              <a:t>.</a:t>
            </a:r>
            <a:br>
              <a:rPr lang="en-US" sz="1600">
                <a:latin typeface="Calibri"/>
                <a:ea typeface="Calibri"/>
                <a:cs typeface="Calibri"/>
              </a:rPr>
            </a:br>
            <a:r>
              <a:rPr lang="en-US" sz="1600">
                <a:latin typeface="Calibri"/>
                <a:ea typeface="Calibri"/>
                <a:cs typeface="Calibri"/>
              </a:rPr>
              <a:t>O </a:t>
            </a:r>
            <a:r>
              <a:rPr lang="en-US" sz="1600" err="1">
                <a:latin typeface="Calibri"/>
                <a:ea typeface="Calibri"/>
                <a:cs typeface="Calibri"/>
              </a:rPr>
              <a:t>assistente</a:t>
            </a:r>
            <a:r>
              <a:rPr lang="en-US" sz="1600">
                <a:latin typeface="Calibri"/>
                <a:ea typeface="Calibri"/>
                <a:cs typeface="Calibri"/>
              </a:rPr>
              <a:t> </a:t>
            </a:r>
            <a:r>
              <a:rPr lang="en-US" sz="1600" err="1">
                <a:latin typeface="Calibri"/>
                <a:ea typeface="Calibri"/>
                <a:cs typeface="Calibri"/>
              </a:rPr>
              <a:t>gera</a:t>
            </a:r>
            <a:r>
              <a:rPr lang="en-US" sz="1600">
                <a:latin typeface="Calibri"/>
                <a:ea typeface="Calibri"/>
                <a:cs typeface="Calibri"/>
              </a:rPr>
              <a:t> um </a:t>
            </a:r>
            <a:r>
              <a:rPr lang="en-US" sz="1600" err="1">
                <a:latin typeface="Calibri"/>
                <a:ea typeface="Calibri"/>
                <a:cs typeface="Calibri"/>
              </a:rPr>
              <a:t>arquivo</a:t>
            </a:r>
            <a:r>
              <a:rPr lang="en-US" sz="1600">
                <a:latin typeface="Calibri"/>
                <a:ea typeface="Calibri"/>
                <a:cs typeface="Calibri"/>
              </a:rPr>
              <a:t> de </a:t>
            </a:r>
            <a:r>
              <a:rPr lang="en-US" sz="1600" err="1">
                <a:latin typeface="Calibri"/>
                <a:ea typeface="Calibri"/>
                <a:cs typeface="Calibri"/>
              </a:rPr>
              <a:t>mapeamento</a:t>
            </a:r>
            <a:r>
              <a:rPr lang="en-US" sz="1600">
                <a:latin typeface="Calibri"/>
                <a:ea typeface="Calibri"/>
                <a:cs typeface="Calibri"/>
              </a:rPr>
              <a:t> (</a:t>
            </a:r>
            <a:r>
              <a:rPr lang="en-US" sz="1600" err="1">
                <a:latin typeface="Calibri"/>
                <a:ea typeface="Calibri"/>
                <a:cs typeface="Calibri"/>
              </a:rPr>
              <a:t>geralmente</a:t>
            </a:r>
            <a:r>
              <a:rPr lang="en-US" sz="1600">
                <a:latin typeface="Calibri"/>
                <a:ea typeface="Calibri"/>
                <a:cs typeface="Calibri"/>
              </a:rPr>
              <a:t> </a:t>
            </a:r>
            <a:r>
              <a:rPr lang="en-US" sz="1600" err="1">
                <a:latin typeface="Calibri"/>
                <a:ea typeface="Calibri"/>
                <a:cs typeface="Calibri"/>
              </a:rPr>
              <a:t>em</a:t>
            </a:r>
            <a:r>
              <a:rPr lang="en-US" sz="1600">
                <a:latin typeface="Calibri"/>
                <a:ea typeface="Calibri"/>
                <a:cs typeface="Calibri"/>
              </a:rPr>
              <a:t> Excel </a:t>
            </a:r>
            <a:r>
              <a:rPr lang="en-US" sz="1600" err="1">
                <a:latin typeface="Calibri"/>
                <a:ea typeface="Calibri"/>
                <a:cs typeface="Calibri"/>
              </a:rPr>
              <a:t>ou</a:t>
            </a:r>
            <a:r>
              <a:rPr lang="en-US" sz="1600">
                <a:latin typeface="Calibri"/>
                <a:ea typeface="Calibri"/>
                <a:cs typeface="Calibri"/>
              </a:rPr>
              <a:t> JSON) </a:t>
            </a:r>
            <a:r>
              <a:rPr lang="en-US" sz="1600" err="1">
                <a:latin typeface="Calibri"/>
                <a:ea typeface="Calibri"/>
                <a:cs typeface="Calibri"/>
              </a:rPr>
              <a:t>onde</a:t>
            </a:r>
            <a:r>
              <a:rPr lang="en-US" sz="1600">
                <a:latin typeface="Calibri"/>
                <a:ea typeface="Calibri"/>
                <a:cs typeface="Calibri"/>
              </a:rPr>
              <a:t> </a:t>
            </a:r>
            <a:r>
              <a:rPr lang="en-US" sz="1600" err="1">
                <a:latin typeface="Calibri"/>
                <a:ea typeface="Calibri"/>
                <a:cs typeface="Calibri"/>
              </a:rPr>
              <a:t>você</a:t>
            </a:r>
            <a:r>
              <a:rPr lang="en-US" sz="1600">
                <a:latin typeface="Calibri"/>
                <a:ea typeface="Calibri"/>
                <a:cs typeface="Calibri"/>
              </a:rPr>
              <a:t> </a:t>
            </a:r>
            <a:r>
              <a:rPr lang="en-US" sz="1600" err="1">
                <a:latin typeface="Calibri"/>
                <a:ea typeface="Calibri"/>
                <a:cs typeface="Calibri"/>
              </a:rPr>
              <a:t>pode</a:t>
            </a:r>
            <a:r>
              <a:rPr lang="en-US" sz="1600">
                <a:latin typeface="Calibri"/>
                <a:ea typeface="Calibri"/>
                <a:cs typeface="Calibri"/>
              </a:rPr>
              <a:t> </a:t>
            </a:r>
            <a:r>
              <a:rPr lang="en-US" sz="1600" err="1">
                <a:latin typeface="Calibri"/>
                <a:ea typeface="Calibri"/>
                <a:cs typeface="Calibri"/>
              </a:rPr>
              <a:t>revisar</a:t>
            </a:r>
            <a:r>
              <a:rPr lang="en-US" sz="1600">
                <a:latin typeface="Calibri"/>
                <a:ea typeface="Calibri"/>
                <a:cs typeface="Calibri"/>
              </a:rPr>
              <a:t> as </a:t>
            </a:r>
            <a:r>
              <a:rPr lang="en-US" sz="1600" err="1">
                <a:latin typeface="Calibri"/>
                <a:ea typeface="Calibri"/>
                <a:cs typeface="Calibri"/>
              </a:rPr>
              <a:t>regras</a:t>
            </a:r>
            <a:r>
              <a:rPr lang="en-US" sz="1600">
                <a:latin typeface="Calibri"/>
                <a:ea typeface="Calibri"/>
                <a:cs typeface="Calibri"/>
              </a:rPr>
              <a:t> antes de </a:t>
            </a:r>
            <a:r>
              <a:rPr lang="en-US" sz="1600" err="1">
                <a:latin typeface="Calibri"/>
                <a:ea typeface="Calibri"/>
                <a:cs typeface="Calibri"/>
              </a:rPr>
              <a:t>executar</a:t>
            </a:r>
            <a:r>
              <a:rPr lang="en-US" sz="1600">
                <a:latin typeface="Calibri"/>
                <a:ea typeface="Calibri"/>
                <a:cs typeface="Calibri"/>
              </a:rPr>
              <a:t> a carga </a:t>
            </a:r>
            <a:r>
              <a:rPr lang="en-US" sz="1600" err="1">
                <a:latin typeface="Calibri"/>
                <a:ea typeface="Calibri"/>
                <a:cs typeface="Calibri"/>
              </a:rPr>
              <a:t>definitiva</a:t>
            </a:r>
            <a:r>
              <a:rPr lang="en-US" sz="1600">
                <a:latin typeface="Calibri"/>
                <a:ea typeface="Calibri"/>
                <a:cs typeface="Calibri"/>
              </a:rPr>
              <a:t>.</a:t>
            </a:r>
            <a:br>
              <a:rPr lang="en-US" sz="1600">
                <a:latin typeface="Calibri"/>
                <a:ea typeface="Calibri"/>
                <a:cs typeface="Calibri"/>
              </a:rPr>
            </a:br>
            <a:br>
              <a:rPr lang="en-US" sz="1600">
                <a:latin typeface="Calibri"/>
                <a:ea typeface="Calibri"/>
                <a:cs typeface="Calibri"/>
              </a:rPr>
            </a:br>
            <a:r>
              <a:rPr lang="en-US" sz="1600">
                <a:latin typeface="Calibri"/>
                <a:ea typeface="Calibri"/>
                <a:cs typeface="Calibri"/>
              </a:rPr>
              <a:t>5. </a:t>
            </a:r>
            <a:r>
              <a:rPr lang="en-US" sz="1600" err="1">
                <a:latin typeface="Calibri"/>
                <a:ea typeface="Calibri"/>
                <a:cs typeface="Calibri"/>
              </a:rPr>
              <a:t>Validação</a:t>
            </a:r>
            <a:r>
              <a:rPr lang="en-US" sz="1600">
                <a:latin typeface="Calibri"/>
                <a:ea typeface="Calibri"/>
                <a:cs typeface="Calibri"/>
              </a:rPr>
              <a:t> e </a:t>
            </a:r>
            <a:r>
              <a:rPr lang="en-US" sz="1600" err="1">
                <a:latin typeface="Calibri"/>
                <a:ea typeface="Calibri"/>
                <a:cs typeface="Calibri"/>
              </a:rPr>
              <a:t>Limpeza</a:t>
            </a:r>
            <a:br>
              <a:rPr lang="en-US" sz="1600">
                <a:latin typeface="Calibri"/>
                <a:ea typeface="Calibri"/>
                <a:cs typeface="Calibri"/>
              </a:rPr>
            </a:br>
            <a:r>
              <a:rPr lang="en-US" sz="1600" err="1">
                <a:latin typeface="Calibri"/>
                <a:ea typeface="Calibri"/>
                <a:cs typeface="Calibri"/>
              </a:rPr>
              <a:t>Após</a:t>
            </a:r>
            <a:r>
              <a:rPr lang="en-US" sz="1600">
                <a:latin typeface="Calibri"/>
                <a:ea typeface="Calibri"/>
                <a:cs typeface="Calibri"/>
              </a:rPr>
              <a:t> a carga, o Wizard </a:t>
            </a:r>
            <a:r>
              <a:rPr lang="en-US" sz="1600" err="1">
                <a:latin typeface="Calibri"/>
                <a:ea typeface="Calibri"/>
                <a:cs typeface="Calibri"/>
              </a:rPr>
              <a:t>ajuda</a:t>
            </a:r>
            <a:r>
              <a:rPr lang="en-US" sz="1600">
                <a:latin typeface="Calibri"/>
                <a:ea typeface="Calibri"/>
                <a:cs typeface="Calibri"/>
              </a:rPr>
              <a:t> </a:t>
            </a:r>
            <a:r>
              <a:rPr lang="en-US" sz="1600" err="1">
                <a:latin typeface="Calibri"/>
                <a:ea typeface="Calibri"/>
                <a:cs typeface="Calibri"/>
              </a:rPr>
              <a:t>a</a:t>
            </a:r>
            <a:r>
              <a:rPr lang="en-US" sz="1600">
                <a:latin typeface="Calibri"/>
                <a:ea typeface="Calibri"/>
                <a:cs typeface="Calibri"/>
              </a:rPr>
              <a:t> </a:t>
            </a:r>
            <a:r>
              <a:rPr lang="en-US" sz="1600" err="1">
                <a:latin typeface="Calibri"/>
                <a:ea typeface="Calibri"/>
                <a:cs typeface="Calibri"/>
              </a:rPr>
              <a:t>identificar</a:t>
            </a:r>
            <a:r>
              <a:rPr lang="en-US" sz="1600">
                <a:latin typeface="Calibri"/>
                <a:ea typeface="Calibri"/>
                <a:cs typeface="Calibri"/>
              </a:rPr>
              <a:t> as Dirty Areas (</a:t>
            </a:r>
            <a:r>
              <a:rPr lang="en-US" sz="1600" err="1">
                <a:latin typeface="Calibri"/>
                <a:ea typeface="Calibri"/>
                <a:cs typeface="Calibri"/>
              </a:rPr>
              <a:t>áreas</a:t>
            </a:r>
            <a:r>
              <a:rPr lang="en-US" sz="1600">
                <a:latin typeface="Calibri"/>
                <a:ea typeface="Calibri"/>
                <a:cs typeface="Calibri"/>
              </a:rPr>
              <a:t> </a:t>
            </a:r>
            <a:r>
              <a:rPr lang="en-US" sz="1600" err="1">
                <a:latin typeface="Calibri"/>
                <a:ea typeface="Calibri"/>
                <a:cs typeface="Calibri"/>
              </a:rPr>
              <a:t>sujas</a:t>
            </a:r>
            <a:r>
              <a:rPr lang="en-US" sz="1600">
                <a:latin typeface="Calibri"/>
                <a:ea typeface="Calibri"/>
                <a:cs typeface="Calibri"/>
              </a:rPr>
              <a:t>).</a:t>
            </a:r>
            <a:br>
              <a:rPr lang="en-US" sz="1600">
                <a:latin typeface="Calibri"/>
                <a:ea typeface="Calibri"/>
                <a:cs typeface="Calibri"/>
              </a:rPr>
            </a:br>
            <a:r>
              <a:rPr lang="en-US" sz="1600" err="1">
                <a:latin typeface="Calibri"/>
                <a:ea typeface="Calibri"/>
                <a:cs typeface="Calibri"/>
              </a:rPr>
              <a:t>Validação</a:t>
            </a:r>
            <a:r>
              <a:rPr lang="en-US" sz="1600">
                <a:latin typeface="Calibri"/>
                <a:ea typeface="Calibri"/>
                <a:cs typeface="Calibri"/>
              </a:rPr>
              <a:t> de </a:t>
            </a:r>
            <a:r>
              <a:rPr lang="en-US" sz="1600" err="1">
                <a:latin typeface="Calibri"/>
                <a:ea typeface="Calibri"/>
                <a:cs typeface="Calibri"/>
              </a:rPr>
              <a:t>Topologia</a:t>
            </a:r>
            <a:r>
              <a:rPr lang="en-US" sz="1600">
                <a:latin typeface="Calibri"/>
                <a:ea typeface="Calibri"/>
                <a:cs typeface="Calibri"/>
              </a:rPr>
              <a:t>: A UN </a:t>
            </a:r>
            <a:r>
              <a:rPr lang="en-US" sz="1600" err="1">
                <a:latin typeface="Calibri"/>
                <a:ea typeface="Calibri"/>
                <a:cs typeface="Calibri"/>
              </a:rPr>
              <a:t>não</a:t>
            </a:r>
            <a:r>
              <a:rPr lang="en-US" sz="1600">
                <a:latin typeface="Calibri"/>
                <a:ea typeface="Calibri"/>
                <a:cs typeface="Calibri"/>
              </a:rPr>
              <a:t> </a:t>
            </a:r>
            <a:r>
              <a:rPr lang="en-US" sz="1600" err="1">
                <a:latin typeface="Calibri"/>
                <a:ea typeface="Calibri"/>
                <a:cs typeface="Calibri"/>
              </a:rPr>
              <a:t>aceita</a:t>
            </a:r>
            <a:r>
              <a:rPr lang="en-US" sz="1600">
                <a:latin typeface="Calibri"/>
                <a:ea typeface="Calibri"/>
                <a:cs typeface="Calibri"/>
              </a:rPr>
              <a:t> </a:t>
            </a:r>
            <a:r>
              <a:rPr lang="en-US" sz="1600" err="1">
                <a:latin typeface="Calibri"/>
                <a:ea typeface="Calibri"/>
                <a:cs typeface="Calibri"/>
              </a:rPr>
              <a:t>conectividade</a:t>
            </a:r>
            <a:r>
              <a:rPr lang="en-US" sz="1600">
                <a:latin typeface="Calibri"/>
                <a:ea typeface="Calibri"/>
                <a:cs typeface="Calibri"/>
              </a:rPr>
              <a:t> </a:t>
            </a:r>
            <a:r>
              <a:rPr lang="en-US" sz="1600" err="1">
                <a:latin typeface="Calibri"/>
                <a:ea typeface="Calibri"/>
                <a:cs typeface="Calibri"/>
              </a:rPr>
              <a:t>inválida</a:t>
            </a:r>
            <a:r>
              <a:rPr lang="en-US" sz="1600">
                <a:latin typeface="Calibri"/>
                <a:ea typeface="Calibri"/>
                <a:cs typeface="Calibri"/>
              </a:rPr>
              <a:t>. O </a:t>
            </a:r>
            <a:r>
              <a:rPr lang="en-US" sz="1600" err="1">
                <a:latin typeface="Calibri"/>
                <a:ea typeface="Calibri"/>
                <a:cs typeface="Calibri"/>
              </a:rPr>
              <a:t>assistente</a:t>
            </a:r>
            <a:r>
              <a:rPr lang="en-US" sz="1600">
                <a:latin typeface="Calibri"/>
                <a:ea typeface="Calibri"/>
                <a:cs typeface="Calibri"/>
              </a:rPr>
              <a:t> </a:t>
            </a:r>
            <a:r>
              <a:rPr lang="en-US" sz="1600" err="1">
                <a:latin typeface="Calibri"/>
                <a:ea typeface="Calibri"/>
                <a:cs typeface="Calibri"/>
              </a:rPr>
              <a:t>listará</a:t>
            </a:r>
            <a:r>
              <a:rPr lang="en-US" sz="1600">
                <a:latin typeface="Calibri"/>
                <a:ea typeface="Calibri"/>
                <a:cs typeface="Calibri"/>
              </a:rPr>
              <a:t> </a:t>
            </a:r>
            <a:r>
              <a:rPr lang="en-US" sz="1600" err="1">
                <a:latin typeface="Calibri"/>
                <a:ea typeface="Calibri"/>
                <a:cs typeface="Calibri"/>
              </a:rPr>
              <a:t>erros</a:t>
            </a:r>
            <a:r>
              <a:rPr lang="en-US" sz="1600">
                <a:latin typeface="Calibri"/>
                <a:ea typeface="Calibri"/>
                <a:cs typeface="Calibri"/>
              </a:rPr>
              <a:t> </a:t>
            </a:r>
            <a:r>
              <a:rPr lang="en-US" sz="1600" err="1">
                <a:latin typeface="Calibri"/>
                <a:ea typeface="Calibri"/>
                <a:cs typeface="Calibri"/>
              </a:rPr>
              <a:t>onde</a:t>
            </a:r>
            <a:r>
              <a:rPr lang="en-US" sz="1600">
                <a:latin typeface="Calibri"/>
                <a:ea typeface="Calibri"/>
                <a:cs typeface="Calibri"/>
              </a:rPr>
              <a:t> as </a:t>
            </a:r>
            <a:r>
              <a:rPr lang="en-US" sz="1600" err="1">
                <a:latin typeface="Calibri"/>
                <a:ea typeface="Calibri"/>
                <a:cs typeface="Calibri"/>
              </a:rPr>
              <a:t>regras</a:t>
            </a:r>
            <a:r>
              <a:rPr lang="en-US" sz="1600">
                <a:latin typeface="Calibri"/>
                <a:ea typeface="Calibri"/>
                <a:cs typeface="Calibri"/>
              </a:rPr>
              <a:t> de </a:t>
            </a:r>
            <a:r>
              <a:rPr lang="en-US" sz="1600" err="1">
                <a:latin typeface="Calibri"/>
                <a:ea typeface="Calibri"/>
                <a:cs typeface="Calibri"/>
              </a:rPr>
              <a:t>associação</a:t>
            </a:r>
            <a:r>
              <a:rPr lang="en-US" sz="1600">
                <a:latin typeface="Calibri"/>
                <a:ea typeface="Calibri"/>
                <a:cs typeface="Calibri"/>
              </a:rPr>
              <a:t> (</a:t>
            </a:r>
            <a:r>
              <a:rPr lang="en-US" sz="1600" err="1">
                <a:latin typeface="Calibri"/>
                <a:ea typeface="Calibri"/>
                <a:cs typeface="Calibri"/>
              </a:rPr>
              <a:t>como</a:t>
            </a:r>
            <a:r>
              <a:rPr lang="en-US" sz="1600">
                <a:latin typeface="Calibri"/>
                <a:ea typeface="Calibri"/>
                <a:cs typeface="Calibri"/>
              </a:rPr>
              <a:t> </a:t>
            </a:r>
            <a:r>
              <a:rPr lang="en-US" sz="1600" err="1">
                <a:latin typeface="Calibri"/>
                <a:ea typeface="Calibri"/>
                <a:cs typeface="Calibri"/>
              </a:rPr>
              <a:t>uma</a:t>
            </a:r>
            <a:r>
              <a:rPr lang="en-US" sz="1600">
                <a:latin typeface="Calibri"/>
                <a:ea typeface="Calibri"/>
                <a:cs typeface="Calibri"/>
              </a:rPr>
              <a:t> </a:t>
            </a:r>
            <a:r>
              <a:rPr lang="en-US" sz="1600" err="1">
                <a:latin typeface="Calibri"/>
                <a:ea typeface="Calibri"/>
                <a:cs typeface="Calibri"/>
              </a:rPr>
              <a:t>bomba</a:t>
            </a:r>
            <a:r>
              <a:rPr lang="en-US" sz="1600">
                <a:latin typeface="Calibri"/>
                <a:ea typeface="Calibri"/>
                <a:cs typeface="Calibri"/>
              </a:rPr>
              <a:t> </a:t>
            </a:r>
            <a:r>
              <a:rPr lang="en-US" sz="1600" err="1">
                <a:latin typeface="Calibri"/>
                <a:ea typeface="Calibri"/>
                <a:cs typeface="Calibri"/>
              </a:rPr>
              <a:t>conectada</a:t>
            </a:r>
            <a:r>
              <a:rPr lang="en-US" sz="1600">
                <a:latin typeface="Calibri"/>
                <a:ea typeface="Calibri"/>
                <a:cs typeface="Calibri"/>
              </a:rPr>
              <a:t> </a:t>
            </a:r>
            <a:r>
              <a:rPr lang="en-US" sz="1600" err="1">
                <a:latin typeface="Calibri"/>
                <a:ea typeface="Calibri"/>
                <a:cs typeface="Calibri"/>
              </a:rPr>
              <a:t>diretamente</a:t>
            </a:r>
            <a:r>
              <a:rPr lang="en-US" sz="1600">
                <a:latin typeface="Calibri"/>
                <a:ea typeface="Calibri"/>
                <a:cs typeface="Calibri"/>
              </a:rPr>
              <a:t> </a:t>
            </a:r>
            <a:r>
              <a:rPr lang="en-US" sz="1600" err="1">
                <a:latin typeface="Calibri"/>
                <a:ea typeface="Calibri"/>
                <a:cs typeface="Calibri"/>
              </a:rPr>
              <a:t>a</a:t>
            </a:r>
            <a:r>
              <a:rPr lang="en-US" sz="1600">
                <a:latin typeface="Calibri"/>
                <a:ea typeface="Calibri"/>
                <a:cs typeface="Calibri"/>
              </a:rPr>
              <a:t> um </a:t>
            </a:r>
            <a:r>
              <a:rPr lang="en-US" sz="1600" err="1">
                <a:latin typeface="Calibri"/>
                <a:ea typeface="Calibri"/>
                <a:cs typeface="Calibri"/>
              </a:rPr>
              <a:t>hidrante</a:t>
            </a:r>
            <a:r>
              <a:rPr lang="en-US" sz="1600">
                <a:latin typeface="Calibri"/>
                <a:ea typeface="Calibri"/>
                <a:cs typeface="Calibri"/>
              </a:rPr>
              <a:t> </a:t>
            </a:r>
            <a:r>
              <a:rPr lang="en-US" sz="1600" err="1">
                <a:latin typeface="Calibri"/>
                <a:ea typeface="Calibri"/>
                <a:cs typeface="Calibri"/>
              </a:rPr>
              <a:t>sem</a:t>
            </a:r>
            <a:r>
              <a:rPr lang="en-US" sz="1600">
                <a:latin typeface="Calibri"/>
                <a:ea typeface="Calibri"/>
                <a:cs typeface="Calibri"/>
              </a:rPr>
              <a:t> </a:t>
            </a:r>
            <a:r>
              <a:rPr lang="en-US" sz="1600" err="1">
                <a:latin typeface="Calibri"/>
                <a:ea typeface="Calibri"/>
                <a:cs typeface="Calibri"/>
              </a:rPr>
              <a:t>válvula</a:t>
            </a:r>
            <a:r>
              <a:rPr lang="en-US" sz="1600">
                <a:latin typeface="Calibri"/>
                <a:ea typeface="Calibri"/>
                <a:cs typeface="Calibri"/>
              </a:rPr>
              <a:t> </a:t>
            </a:r>
            <a:r>
              <a:rPr lang="en-US" sz="1600" err="1">
                <a:latin typeface="Calibri"/>
                <a:ea typeface="Calibri"/>
                <a:cs typeface="Calibri"/>
              </a:rPr>
              <a:t>intermediária</a:t>
            </a:r>
            <a:r>
              <a:rPr lang="en-US" sz="1600">
                <a:latin typeface="Calibri"/>
                <a:ea typeface="Calibri"/>
                <a:cs typeface="Calibri"/>
              </a:rPr>
              <a:t>) </a:t>
            </a:r>
            <a:r>
              <a:rPr lang="en-US" sz="1600" err="1">
                <a:latin typeface="Calibri"/>
                <a:ea typeface="Calibri"/>
                <a:cs typeface="Calibri"/>
              </a:rPr>
              <a:t>foram</a:t>
            </a:r>
            <a:r>
              <a:rPr lang="en-US" sz="1600">
                <a:latin typeface="Calibri"/>
                <a:ea typeface="Calibri"/>
                <a:cs typeface="Calibri"/>
              </a:rPr>
              <a:t> </a:t>
            </a:r>
            <a:r>
              <a:rPr lang="en-US" sz="1600" err="1">
                <a:latin typeface="Calibri"/>
                <a:ea typeface="Calibri"/>
                <a:cs typeface="Calibri"/>
              </a:rPr>
              <a:t>violadas</a:t>
            </a:r>
            <a:r>
              <a:rPr lang="en-US" sz="1600">
                <a:latin typeface="Calibri"/>
                <a:ea typeface="Calibri"/>
                <a:cs typeface="Calibri"/>
              </a:rPr>
              <a:t>.</a:t>
            </a:r>
          </a:p>
          <a:p>
            <a:pPr algn="ctr"/>
            <a:endParaRPr lang="pt-BR"/>
          </a:p>
        </p:txBody>
      </p:sp>
      <p:sp>
        <p:nvSpPr>
          <p:cNvPr id="4" name="CaixaDeTexto 3">
            <a:extLst>
              <a:ext uri="{FF2B5EF4-FFF2-40B4-BE49-F238E27FC236}">
                <a16:creationId xmlns:a16="http://schemas.microsoft.com/office/drawing/2014/main" id="{CD41808C-7873-4617-081F-407E542BF8CC}"/>
              </a:ext>
            </a:extLst>
          </p:cNvPr>
          <p:cNvSpPr txBox="1"/>
          <p:nvPr/>
        </p:nvSpPr>
        <p:spPr>
          <a:xfrm>
            <a:off x="10898038" y="2346"/>
            <a:ext cx="138404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a:ea typeface="Calibri"/>
                <a:cs typeface="Calibri"/>
              </a:rPr>
              <a:t>PARTE 1</a:t>
            </a:r>
            <a:endParaRPr lang="pt-BR"/>
          </a:p>
        </p:txBody>
      </p:sp>
    </p:spTree>
    <p:extLst>
      <p:ext uri="{BB962C8B-B14F-4D97-AF65-F5344CB8AC3E}">
        <p14:creationId xmlns:p14="http://schemas.microsoft.com/office/powerpoint/2010/main" val="20243036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m 3" descr="Diagrama&#10;&#10;O conteúdo gerado por IA pode estar incorreto.">
            <a:extLst>
              <a:ext uri="{FF2B5EF4-FFF2-40B4-BE49-F238E27FC236}">
                <a16:creationId xmlns:a16="http://schemas.microsoft.com/office/drawing/2014/main" id="{631A7B73-02DC-16B7-A299-E68AA35DF852}"/>
              </a:ext>
            </a:extLst>
          </p:cNvPr>
          <p:cNvPicPr>
            <a:picLocks noChangeAspect="1"/>
          </p:cNvPicPr>
          <p:nvPr/>
        </p:nvPicPr>
        <p:blipFill>
          <a:blip r:embed="rId2"/>
          <a:stretch>
            <a:fillRect/>
          </a:stretch>
        </p:blipFill>
        <p:spPr>
          <a:xfrm>
            <a:off x="4546" y="1213520"/>
            <a:ext cx="5842061" cy="3076036"/>
          </a:xfrm>
          <a:prstGeom prst="rect">
            <a:avLst/>
          </a:prstGeom>
        </p:spPr>
      </p:pic>
      <p:sp>
        <p:nvSpPr>
          <p:cNvPr id="2" name="CaixaDeTexto 1">
            <a:extLst>
              <a:ext uri="{FF2B5EF4-FFF2-40B4-BE49-F238E27FC236}">
                <a16:creationId xmlns:a16="http://schemas.microsoft.com/office/drawing/2014/main" id="{621D3365-A6DD-914F-3296-F27049DB5FE3}"/>
              </a:ext>
            </a:extLst>
          </p:cNvPr>
          <p:cNvSpPr txBox="1"/>
          <p:nvPr/>
        </p:nvSpPr>
        <p:spPr>
          <a:xfrm>
            <a:off x="230038" y="4823603"/>
            <a:ext cx="60960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t>Link:https</a:t>
            </a:r>
            <a:r>
              <a:rPr lang="en-US"/>
              <a:t>://www.linkedin.com/posts/cyntia-virolli_gis-utilitynetwork-arcgispro-activity-7435319032330919937-mcVa?utm_source=share&amp;utm_medium=member_desktop&amp;rcm=ACoAAAMQtAUB5UouXqdBJgo_gWpNVZ7Imay_2Tg</a:t>
            </a:r>
          </a:p>
          <a:p>
            <a:pPr algn="ctr"/>
            <a:endParaRPr lang="pt-BR"/>
          </a:p>
        </p:txBody>
      </p:sp>
      <p:sp>
        <p:nvSpPr>
          <p:cNvPr id="3" name="CaixaDeTexto 2">
            <a:extLst>
              <a:ext uri="{FF2B5EF4-FFF2-40B4-BE49-F238E27FC236}">
                <a16:creationId xmlns:a16="http://schemas.microsoft.com/office/drawing/2014/main" id="{C60C9796-F0EF-A1F2-85B5-0D519868EA41}"/>
              </a:ext>
            </a:extLst>
          </p:cNvPr>
          <p:cNvSpPr txBox="1"/>
          <p:nvPr/>
        </p:nvSpPr>
        <p:spPr>
          <a:xfrm>
            <a:off x="6096000" y="1502434"/>
            <a:ext cx="6096000" cy="33239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0" i="0">
                <a:latin typeface="Calibri"/>
                <a:ea typeface="Calibri"/>
                <a:cs typeface="Calibri"/>
              </a:rPr>
              <a:t>Para </a:t>
            </a:r>
            <a:r>
              <a:rPr lang="en-US" sz="1600" b="0" i="0" err="1">
                <a:latin typeface="Calibri"/>
                <a:ea typeface="Calibri"/>
                <a:cs typeface="Calibri"/>
              </a:rPr>
              <a:t>empresas</a:t>
            </a:r>
            <a:r>
              <a:rPr lang="en-US" sz="1600" b="0" i="0">
                <a:latin typeface="Calibri"/>
                <a:ea typeface="Calibri"/>
                <a:cs typeface="Calibri"/>
              </a:rPr>
              <a:t> com redes </a:t>
            </a:r>
            <a:r>
              <a:rPr lang="en-US" sz="1600" b="0" i="0" err="1">
                <a:latin typeface="Calibri"/>
                <a:ea typeface="Calibri"/>
                <a:cs typeface="Calibri"/>
              </a:rPr>
              <a:t>complexas</a:t>
            </a:r>
            <a:r>
              <a:rPr lang="en-US" sz="1600" b="0" i="0">
                <a:latin typeface="Calibri"/>
                <a:ea typeface="Calibri"/>
                <a:cs typeface="Calibri"/>
              </a:rPr>
              <a:t>, o </a:t>
            </a:r>
            <a:r>
              <a:rPr lang="en-US" sz="1600" b="0" i="0" err="1">
                <a:latin typeface="Calibri"/>
                <a:ea typeface="Calibri"/>
                <a:cs typeface="Calibri"/>
              </a:rPr>
              <a:t>uso</a:t>
            </a:r>
            <a:r>
              <a:rPr lang="en-US" sz="1600" b="0" i="0">
                <a:latin typeface="Calibri"/>
                <a:ea typeface="Calibri"/>
                <a:cs typeface="Calibri"/>
              </a:rPr>
              <a:t> do </a:t>
            </a:r>
            <a:r>
              <a:rPr lang="en-US" sz="1600" b="0" i="0" err="1">
                <a:latin typeface="Calibri"/>
                <a:ea typeface="Calibri"/>
                <a:cs typeface="Calibri"/>
              </a:rPr>
              <a:t>assistente</a:t>
            </a:r>
            <a:r>
              <a:rPr lang="en-US" sz="1600" b="0" i="0">
                <a:latin typeface="Calibri"/>
                <a:ea typeface="Calibri"/>
                <a:cs typeface="Calibri"/>
              </a:rPr>
              <a:t> </a:t>
            </a:r>
            <a:r>
              <a:rPr lang="en-US" sz="1600" b="0" i="0" err="1">
                <a:latin typeface="Calibri"/>
                <a:ea typeface="Calibri"/>
                <a:cs typeface="Calibri"/>
              </a:rPr>
              <a:t>reduz</a:t>
            </a:r>
            <a:r>
              <a:rPr lang="en-US" sz="1600" b="0" i="0">
                <a:latin typeface="Calibri"/>
                <a:ea typeface="Calibri"/>
                <a:cs typeface="Calibri"/>
              </a:rPr>
              <a:t> o </a:t>
            </a:r>
            <a:r>
              <a:rPr lang="en-US" sz="1600" b="0" i="0" err="1">
                <a:latin typeface="Calibri"/>
                <a:ea typeface="Calibri"/>
                <a:cs typeface="Calibri"/>
              </a:rPr>
              <a:t>erro</a:t>
            </a:r>
            <a:r>
              <a:rPr lang="en-US" sz="1600" b="0" i="0">
                <a:latin typeface="Calibri"/>
                <a:ea typeface="Calibri"/>
                <a:cs typeface="Calibri"/>
              </a:rPr>
              <a:t> </a:t>
            </a:r>
            <a:r>
              <a:rPr lang="en-US" sz="1600" b="0" i="0" err="1">
                <a:latin typeface="Calibri"/>
                <a:ea typeface="Calibri"/>
                <a:cs typeface="Calibri"/>
              </a:rPr>
              <a:t>humano</a:t>
            </a:r>
            <a:r>
              <a:rPr lang="en-US" sz="1600" b="0" i="0">
                <a:latin typeface="Calibri"/>
                <a:ea typeface="Calibri"/>
                <a:cs typeface="Calibri"/>
              </a:rPr>
              <a:t> </a:t>
            </a:r>
            <a:r>
              <a:rPr lang="en-US" sz="1600" b="0" i="0" err="1">
                <a:latin typeface="Calibri"/>
                <a:ea typeface="Calibri"/>
                <a:cs typeface="Calibri"/>
              </a:rPr>
              <a:t>em</a:t>
            </a:r>
            <a:r>
              <a:rPr lang="en-US" sz="1600" b="0" i="0">
                <a:latin typeface="Calibri"/>
                <a:ea typeface="Calibri"/>
                <a:cs typeface="Calibri"/>
              </a:rPr>
              <a:t> </a:t>
            </a:r>
            <a:r>
              <a:rPr lang="en-US" sz="1600" b="0" i="0" err="1">
                <a:latin typeface="Calibri"/>
                <a:ea typeface="Calibri"/>
                <a:cs typeface="Calibri"/>
              </a:rPr>
              <a:t>até</a:t>
            </a:r>
            <a:r>
              <a:rPr lang="en-US" sz="1600" b="0" i="0">
                <a:latin typeface="Calibri"/>
                <a:ea typeface="Calibri"/>
                <a:cs typeface="Calibri"/>
              </a:rPr>
              <a:t> 60% </a:t>
            </a:r>
            <a:r>
              <a:rPr lang="en-US" sz="1600" b="0" i="0" err="1">
                <a:latin typeface="Calibri"/>
                <a:ea typeface="Calibri"/>
                <a:cs typeface="Calibri"/>
              </a:rPr>
              <a:t>comparado</a:t>
            </a:r>
            <a:r>
              <a:rPr lang="en-US" sz="1600" b="0" i="0">
                <a:latin typeface="Calibri"/>
                <a:ea typeface="Calibri"/>
                <a:cs typeface="Calibri"/>
              </a:rPr>
              <a:t> à </a:t>
            </a:r>
            <a:r>
              <a:rPr lang="en-US" sz="1600" b="0" i="0" err="1">
                <a:latin typeface="Calibri"/>
                <a:ea typeface="Calibri"/>
                <a:cs typeface="Calibri"/>
              </a:rPr>
              <a:t>migração</a:t>
            </a:r>
            <a:r>
              <a:rPr lang="en-US" sz="1600" b="0" i="0">
                <a:latin typeface="Calibri"/>
                <a:ea typeface="Calibri"/>
                <a:cs typeface="Calibri"/>
              </a:rPr>
              <a:t> manual via scripts Python puros. Ele </a:t>
            </a:r>
            <a:r>
              <a:rPr lang="en-US" sz="1600" b="0" i="0" err="1">
                <a:latin typeface="Calibri"/>
                <a:ea typeface="Calibri"/>
                <a:cs typeface="Calibri"/>
              </a:rPr>
              <a:t>garante</a:t>
            </a:r>
            <a:r>
              <a:rPr lang="en-US" sz="1600" b="0" i="0">
                <a:latin typeface="Calibri"/>
                <a:ea typeface="Calibri"/>
                <a:cs typeface="Calibri"/>
              </a:rPr>
              <a:t> </a:t>
            </a:r>
            <a:r>
              <a:rPr lang="en-US" sz="1600" b="0" i="0" err="1">
                <a:latin typeface="Calibri"/>
                <a:ea typeface="Calibri"/>
                <a:cs typeface="Calibri"/>
              </a:rPr>
              <a:t>que</a:t>
            </a:r>
            <a:r>
              <a:rPr lang="en-US" sz="1600" b="0" i="0">
                <a:latin typeface="Calibri"/>
                <a:ea typeface="Calibri"/>
                <a:cs typeface="Calibri"/>
              </a:rPr>
              <a:t> as </a:t>
            </a:r>
            <a:r>
              <a:rPr lang="en-US" sz="1600" b="0" i="0" err="1">
                <a:latin typeface="Calibri"/>
                <a:ea typeface="Calibri"/>
                <a:cs typeface="Calibri"/>
              </a:rPr>
              <a:t>regras</a:t>
            </a:r>
            <a:r>
              <a:rPr lang="en-US" sz="1600" b="0" i="0">
                <a:latin typeface="Calibri"/>
                <a:ea typeface="Calibri"/>
                <a:cs typeface="Calibri"/>
              </a:rPr>
              <a:t> de rede (Network Rules) </a:t>
            </a:r>
            <a:r>
              <a:rPr lang="en-US" sz="1600" b="0" i="0" err="1">
                <a:latin typeface="Calibri"/>
                <a:ea typeface="Calibri"/>
                <a:cs typeface="Calibri"/>
              </a:rPr>
              <a:t>sejam</a:t>
            </a:r>
            <a:r>
              <a:rPr lang="en-US" sz="1600" b="0" i="0">
                <a:latin typeface="Calibri"/>
                <a:ea typeface="Calibri"/>
                <a:cs typeface="Calibri"/>
              </a:rPr>
              <a:t> </a:t>
            </a:r>
            <a:r>
              <a:rPr lang="en-US" sz="1600" b="0" i="0" err="1">
                <a:latin typeface="Calibri"/>
                <a:ea typeface="Calibri"/>
                <a:cs typeface="Calibri"/>
              </a:rPr>
              <a:t>aplicadas</a:t>
            </a:r>
            <a:r>
              <a:rPr lang="en-US" sz="1600" b="0" i="0">
                <a:latin typeface="Calibri"/>
                <a:ea typeface="Calibri"/>
                <a:cs typeface="Calibri"/>
              </a:rPr>
              <a:t> </a:t>
            </a:r>
            <a:r>
              <a:rPr lang="en-US" sz="1600" b="0" i="0" err="1">
                <a:latin typeface="Calibri"/>
                <a:ea typeface="Calibri"/>
                <a:cs typeface="Calibri"/>
              </a:rPr>
              <a:t>uniformemente</a:t>
            </a:r>
            <a:r>
              <a:rPr lang="en-US" sz="1600" b="0" i="0">
                <a:latin typeface="Calibri"/>
                <a:ea typeface="Calibri"/>
                <a:cs typeface="Calibri"/>
              </a:rPr>
              <a:t> </a:t>
            </a:r>
            <a:r>
              <a:rPr lang="en-US" sz="1600" b="0" i="0" err="1">
                <a:latin typeface="Calibri"/>
                <a:ea typeface="Calibri"/>
                <a:cs typeface="Calibri"/>
              </a:rPr>
              <a:t>desde</a:t>
            </a:r>
            <a:r>
              <a:rPr lang="en-US" sz="1600" b="0" i="0">
                <a:latin typeface="Calibri"/>
                <a:ea typeface="Calibri"/>
                <a:cs typeface="Calibri"/>
              </a:rPr>
              <a:t> o </a:t>
            </a:r>
            <a:r>
              <a:rPr lang="en-US" sz="1600" b="0" i="0" err="1">
                <a:latin typeface="Calibri"/>
                <a:ea typeface="Calibri"/>
                <a:cs typeface="Calibri"/>
              </a:rPr>
              <a:t>primeiro</a:t>
            </a:r>
            <a:r>
              <a:rPr lang="en-US" sz="1600" b="0" i="0">
                <a:latin typeface="Calibri"/>
                <a:ea typeface="Calibri"/>
                <a:cs typeface="Calibri"/>
              </a:rPr>
              <a:t> dia.</a:t>
            </a:r>
            <a:br>
              <a:rPr lang="en-US" sz="1600" b="0" i="0">
                <a:latin typeface="Calibri"/>
                <a:ea typeface="Calibri"/>
                <a:cs typeface="Calibri"/>
              </a:rPr>
            </a:br>
            <a:br>
              <a:rPr lang="en-US" sz="1600" b="0" i="0">
                <a:latin typeface="Calibri"/>
                <a:ea typeface="Calibri"/>
                <a:cs typeface="Calibri"/>
              </a:rPr>
            </a:br>
            <a:r>
              <a:rPr lang="en-US" sz="1600" b="0" i="0" err="1">
                <a:latin typeface="Calibri"/>
                <a:ea typeface="Calibri"/>
                <a:cs typeface="Calibri"/>
              </a:rPr>
              <a:t>Dica</a:t>
            </a:r>
            <a:r>
              <a:rPr lang="en-US" sz="1600" b="0" i="0">
                <a:latin typeface="Calibri"/>
                <a:ea typeface="Calibri"/>
                <a:cs typeface="Calibri"/>
              </a:rPr>
              <a:t> Pro: Sempre execute um </a:t>
            </a:r>
            <a:r>
              <a:rPr lang="en-US" sz="1600" b="0" i="0" err="1">
                <a:latin typeface="Calibri"/>
                <a:ea typeface="Calibri"/>
                <a:cs typeface="Calibri"/>
              </a:rPr>
              <a:t>projeto</a:t>
            </a:r>
            <a:r>
              <a:rPr lang="en-US" sz="1600" b="0" i="0">
                <a:latin typeface="Calibri"/>
                <a:ea typeface="Calibri"/>
                <a:cs typeface="Calibri"/>
              </a:rPr>
              <a:t> </a:t>
            </a:r>
            <a:r>
              <a:rPr lang="en-US" sz="1600" b="0" i="0" err="1">
                <a:latin typeface="Calibri"/>
                <a:ea typeface="Calibri"/>
                <a:cs typeface="Calibri"/>
              </a:rPr>
              <a:t>piloto</a:t>
            </a:r>
            <a:r>
              <a:rPr lang="en-US" sz="1600" b="0" i="0">
                <a:latin typeface="Calibri"/>
                <a:ea typeface="Calibri"/>
                <a:cs typeface="Calibri"/>
              </a:rPr>
              <a:t> </a:t>
            </a:r>
            <a:r>
              <a:rPr lang="en-US" sz="1600" b="0" i="0" err="1">
                <a:latin typeface="Calibri"/>
                <a:ea typeface="Calibri"/>
                <a:cs typeface="Calibri"/>
              </a:rPr>
              <a:t>em</a:t>
            </a:r>
            <a:r>
              <a:rPr lang="en-US" sz="1600" b="0" i="0">
                <a:latin typeface="Calibri"/>
                <a:ea typeface="Calibri"/>
                <a:cs typeface="Calibri"/>
              </a:rPr>
              <a:t> </a:t>
            </a:r>
            <a:r>
              <a:rPr lang="en-US" sz="1600" b="0" i="0" err="1">
                <a:latin typeface="Calibri"/>
                <a:ea typeface="Calibri"/>
                <a:cs typeface="Calibri"/>
              </a:rPr>
              <a:t>uma</a:t>
            </a:r>
            <a:r>
              <a:rPr lang="en-US" sz="1600" b="0" i="0">
                <a:latin typeface="Calibri"/>
                <a:ea typeface="Calibri"/>
                <a:cs typeface="Calibri"/>
              </a:rPr>
              <a:t> </a:t>
            </a:r>
            <a:r>
              <a:rPr lang="en-US" sz="1600" b="0" i="0" err="1">
                <a:latin typeface="Calibri"/>
                <a:ea typeface="Calibri"/>
                <a:cs typeface="Calibri"/>
              </a:rPr>
              <a:t>pequena</a:t>
            </a:r>
            <a:r>
              <a:rPr lang="en-US" sz="1600" b="0" i="0">
                <a:latin typeface="Calibri"/>
                <a:ea typeface="Calibri"/>
                <a:cs typeface="Calibri"/>
              </a:rPr>
              <a:t> </a:t>
            </a:r>
            <a:r>
              <a:rPr lang="en-US" sz="1600" b="0" i="0" err="1">
                <a:latin typeface="Calibri"/>
                <a:ea typeface="Calibri"/>
                <a:cs typeface="Calibri"/>
              </a:rPr>
              <a:t>área</a:t>
            </a:r>
            <a:r>
              <a:rPr lang="en-US" sz="1600" b="0" i="0">
                <a:latin typeface="Calibri"/>
                <a:ea typeface="Calibri"/>
                <a:cs typeface="Calibri"/>
              </a:rPr>
              <a:t> </a:t>
            </a:r>
            <a:r>
              <a:rPr lang="en-US" sz="1600" b="0" i="0" err="1">
                <a:latin typeface="Calibri"/>
                <a:ea typeface="Calibri"/>
                <a:cs typeface="Calibri"/>
              </a:rPr>
              <a:t>geográfica</a:t>
            </a:r>
            <a:r>
              <a:rPr lang="en-US" sz="1600" b="0" i="0">
                <a:latin typeface="Calibri"/>
                <a:ea typeface="Calibri"/>
                <a:cs typeface="Calibri"/>
              </a:rPr>
              <a:t> antes de </a:t>
            </a:r>
            <a:r>
              <a:rPr lang="en-US" sz="1600" b="0" i="0" err="1">
                <a:latin typeface="Calibri"/>
                <a:ea typeface="Calibri"/>
                <a:cs typeface="Calibri"/>
              </a:rPr>
              <a:t>rodar</a:t>
            </a:r>
            <a:r>
              <a:rPr lang="en-US" sz="1600" b="0" i="0">
                <a:latin typeface="Calibri"/>
                <a:ea typeface="Calibri"/>
                <a:cs typeface="Calibri"/>
              </a:rPr>
              <a:t> o Wizard </a:t>
            </a:r>
            <a:r>
              <a:rPr lang="en-US" sz="1600" b="0" i="0" err="1">
                <a:latin typeface="Calibri"/>
                <a:ea typeface="Calibri"/>
                <a:cs typeface="Calibri"/>
              </a:rPr>
              <a:t>em</a:t>
            </a:r>
            <a:r>
              <a:rPr lang="en-US" sz="1600" b="0" i="0">
                <a:latin typeface="Calibri"/>
                <a:ea typeface="Calibri"/>
                <a:cs typeface="Calibri"/>
              </a:rPr>
              <a:t> </a:t>
            </a:r>
            <a:r>
              <a:rPr lang="en-US" sz="1600" b="0" i="0" err="1">
                <a:latin typeface="Calibri"/>
                <a:ea typeface="Calibri"/>
                <a:cs typeface="Calibri"/>
              </a:rPr>
              <a:t>todo</a:t>
            </a:r>
            <a:r>
              <a:rPr lang="en-US" sz="1600" b="0" i="0">
                <a:latin typeface="Calibri"/>
                <a:ea typeface="Calibri"/>
                <a:cs typeface="Calibri"/>
              </a:rPr>
              <a:t> o banco de dados da </a:t>
            </a:r>
            <a:r>
              <a:rPr lang="en-US" sz="1600" b="0" i="0" err="1">
                <a:latin typeface="Calibri"/>
                <a:ea typeface="Calibri"/>
                <a:cs typeface="Calibri"/>
              </a:rPr>
              <a:t>empresa</a:t>
            </a:r>
            <a:r>
              <a:rPr lang="en-US" sz="1600" b="0" i="0">
                <a:latin typeface="Calibri"/>
                <a:ea typeface="Calibri"/>
                <a:cs typeface="Calibri"/>
              </a:rPr>
              <a:t>! </a:t>
            </a:r>
            <a:br>
              <a:rPr lang="en-US" sz="1600" b="0" i="0">
                <a:latin typeface="Calibri"/>
                <a:ea typeface="Calibri"/>
                <a:cs typeface="Calibri"/>
              </a:rPr>
            </a:br>
            <a:br>
              <a:rPr lang="en-US" sz="1600" b="0" i="0">
                <a:latin typeface="Calibri"/>
                <a:ea typeface="Calibri"/>
                <a:cs typeface="Calibri"/>
              </a:rPr>
            </a:br>
            <a:r>
              <a:rPr lang="en-US" sz="1600" b="0" i="0" err="1">
                <a:latin typeface="Calibri"/>
                <a:ea typeface="Calibri"/>
                <a:cs typeface="Calibri"/>
              </a:rPr>
              <a:t>Explicando</a:t>
            </a:r>
            <a:r>
              <a:rPr lang="en-US" sz="1600" b="0" i="0">
                <a:latin typeface="Calibri"/>
                <a:ea typeface="Calibri"/>
                <a:cs typeface="Calibri"/>
              </a:rPr>
              <a:t> a </a:t>
            </a:r>
            <a:r>
              <a:rPr lang="en-US" sz="1600" b="0" i="0" err="1">
                <a:latin typeface="Calibri"/>
                <a:ea typeface="Calibri"/>
                <a:cs typeface="Calibri"/>
              </a:rPr>
              <a:t>figura</a:t>
            </a:r>
            <a:r>
              <a:rPr lang="en-US" sz="1600" b="0" i="0">
                <a:latin typeface="Calibri"/>
                <a:ea typeface="Calibri"/>
                <a:cs typeface="Calibri"/>
              </a:rPr>
              <a:t>: O "Utility Network Migration Wizard" é </a:t>
            </a:r>
            <a:r>
              <a:rPr lang="en-US" sz="1600" b="0" i="0" err="1">
                <a:latin typeface="Calibri"/>
                <a:ea typeface="Calibri"/>
                <a:cs typeface="Calibri"/>
              </a:rPr>
              <a:t>como</a:t>
            </a:r>
            <a:r>
              <a:rPr lang="en-US" sz="1600" b="0" i="0">
                <a:latin typeface="Calibri"/>
                <a:ea typeface="Calibri"/>
                <a:cs typeface="Calibri"/>
              </a:rPr>
              <a:t> o </a:t>
            </a:r>
            <a:r>
              <a:rPr lang="en-US" sz="1600" b="0" i="0" err="1">
                <a:latin typeface="Calibri"/>
                <a:ea typeface="Calibri"/>
                <a:cs typeface="Calibri"/>
              </a:rPr>
              <a:t>núcleo</a:t>
            </a:r>
            <a:r>
              <a:rPr lang="en-US" sz="1600" b="0" i="0">
                <a:latin typeface="Calibri"/>
                <a:ea typeface="Calibri"/>
                <a:cs typeface="Calibri"/>
              </a:rPr>
              <a:t> do </a:t>
            </a:r>
            <a:r>
              <a:rPr lang="en-US" sz="1600" b="0" i="0" err="1">
                <a:latin typeface="Calibri"/>
                <a:ea typeface="Calibri"/>
                <a:cs typeface="Calibri"/>
              </a:rPr>
              <a:t>processo</a:t>
            </a:r>
            <a:r>
              <a:rPr lang="en-US" sz="1600" b="0" i="0">
                <a:latin typeface="Calibri"/>
                <a:ea typeface="Calibri"/>
                <a:cs typeface="Calibri"/>
              </a:rPr>
              <a:t>, com </a:t>
            </a:r>
            <a:r>
              <a:rPr lang="en-US" sz="1600" b="0" i="0" err="1">
                <a:latin typeface="Calibri"/>
                <a:ea typeface="Calibri"/>
                <a:cs typeface="Calibri"/>
              </a:rPr>
              <a:t>os</a:t>
            </a:r>
            <a:r>
              <a:rPr lang="en-US" sz="1600" b="0" i="0">
                <a:latin typeface="Calibri"/>
                <a:ea typeface="Calibri"/>
                <a:cs typeface="Calibri"/>
              </a:rPr>
              <a:t> </a:t>
            </a:r>
            <a:r>
              <a:rPr lang="en-US" sz="1600" b="0" i="0" err="1">
                <a:latin typeface="Calibri"/>
                <a:ea typeface="Calibri"/>
                <a:cs typeface="Calibri"/>
              </a:rPr>
              <a:t>cinco</a:t>
            </a:r>
            <a:r>
              <a:rPr lang="en-US" sz="1600" b="0" i="0">
                <a:latin typeface="Calibri"/>
                <a:ea typeface="Calibri"/>
                <a:cs typeface="Calibri"/>
              </a:rPr>
              <a:t> </a:t>
            </a:r>
            <a:r>
              <a:rPr lang="en-US" sz="1600" b="0" i="0" err="1">
                <a:latin typeface="Calibri"/>
                <a:ea typeface="Calibri"/>
                <a:cs typeface="Calibri"/>
              </a:rPr>
              <a:t>passos</a:t>
            </a:r>
            <a:r>
              <a:rPr lang="en-US" sz="1600" b="0" i="0">
                <a:latin typeface="Calibri"/>
                <a:ea typeface="Calibri"/>
                <a:cs typeface="Calibri"/>
              </a:rPr>
              <a:t> </a:t>
            </a:r>
            <a:r>
              <a:rPr lang="en-US" sz="1600" b="0" i="0" err="1">
                <a:latin typeface="Calibri"/>
                <a:ea typeface="Calibri"/>
                <a:cs typeface="Calibri"/>
              </a:rPr>
              <a:t>críticos</a:t>
            </a:r>
            <a:r>
              <a:rPr lang="en-US" sz="1600" b="0" i="0">
                <a:latin typeface="Calibri"/>
                <a:ea typeface="Calibri"/>
                <a:cs typeface="Calibri"/>
              </a:rPr>
              <a:t> </a:t>
            </a:r>
            <a:r>
              <a:rPr lang="en-US" sz="1600" b="0" i="0" err="1">
                <a:latin typeface="Calibri"/>
                <a:ea typeface="Calibri"/>
                <a:cs typeface="Calibri"/>
              </a:rPr>
              <a:t>que</a:t>
            </a:r>
            <a:r>
              <a:rPr lang="en-US" sz="1600" b="0" i="0">
                <a:latin typeface="Calibri"/>
                <a:ea typeface="Calibri"/>
                <a:cs typeface="Calibri"/>
              </a:rPr>
              <a:t> </a:t>
            </a:r>
            <a:r>
              <a:rPr lang="en-US" sz="1600" b="0" i="0" err="1">
                <a:latin typeface="Calibri"/>
                <a:ea typeface="Calibri"/>
                <a:cs typeface="Calibri"/>
              </a:rPr>
              <a:t>mencionei</a:t>
            </a:r>
            <a:r>
              <a:rPr lang="en-US" sz="1600" b="0" i="0">
                <a:latin typeface="Calibri"/>
                <a:ea typeface="Calibri"/>
                <a:cs typeface="Calibri"/>
              </a:rPr>
              <a:t> </a:t>
            </a:r>
            <a:r>
              <a:rPr lang="en-US" sz="1600" b="0" i="0" err="1">
                <a:latin typeface="Calibri"/>
                <a:ea typeface="Calibri"/>
                <a:cs typeface="Calibri"/>
              </a:rPr>
              <a:t>anteriormente</a:t>
            </a:r>
            <a:r>
              <a:rPr lang="en-US" sz="1600" b="0" i="0">
                <a:latin typeface="Calibri"/>
                <a:ea typeface="Calibri"/>
                <a:cs typeface="Calibri"/>
              </a:rPr>
              <a:t> (</a:t>
            </a:r>
            <a:r>
              <a:rPr lang="en-US" sz="1600" b="0" i="0" err="1">
                <a:latin typeface="Calibri"/>
                <a:ea typeface="Calibri"/>
                <a:cs typeface="Calibri"/>
              </a:rPr>
              <a:t>Preparação</a:t>
            </a:r>
            <a:r>
              <a:rPr lang="en-US" sz="1600" b="0" i="0">
                <a:latin typeface="Calibri"/>
                <a:ea typeface="Calibri"/>
                <a:cs typeface="Calibri"/>
              </a:rPr>
              <a:t>, </a:t>
            </a:r>
            <a:r>
              <a:rPr lang="en-US" sz="1600" b="0" i="0" err="1">
                <a:latin typeface="Calibri"/>
                <a:ea typeface="Calibri"/>
                <a:cs typeface="Calibri"/>
              </a:rPr>
              <a:t>Mapeamento</a:t>
            </a:r>
            <a:r>
              <a:rPr lang="en-US" sz="1600" b="0" i="0">
                <a:latin typeface="Calibri"/>
                <a:ea typeface="Calibri"/>
                <a:cs typeface="Calibri"/>
              </a:rPr>
              <a:t>, </a:t>
            </a:r>
            <a:r>
              <a:rPr lang="en-US" sz="1600" b="0" i="0" err="1">
                <a:latin typeface="Calibri"/>
                <a:ea typeface="Calibri"/>
                <a:cs typeface="Calibri"/>
              </a:rPr>
              <a:t>Regras</a:t>
            </a:r>
            <a:r>
              <a:rPr lang="en-US" sz="1600" b="0" i="0">
                <a:latin typeface="Calibri"/>
                <a:ea typeface="Calibri"/>
                <a:cs typeface="Calibri"/>
              </a:rPr>
              <a:t>, Carga e </a:t>
            </a:r>
            <a:r>
              <a:rPr lang="en-US" sz="1600" b="0" i="0" err="1">
                <a:latin typeface="Calibri"/>
                <a:ea typeface="Calibri"/>
                <a:cs typeface="Calibri"/>
              </a:rPr>
              <a:t>Validação</a:t>
            </a:r>
            <a:r>
              <a:rPr lang="en-US" sz="1600" b="0" i="0">
                <a:latin typeface="Calibri"/>
                <a:ea typeface="Calibri"/>
                <a:cs typeface="Calibri"/>
              </a:rPr>
              <a:t>).</a:t>
            </a:r>
            <a:endParaRPr lang="en-US" sz="1600">
              <a:latin typeface="Calibri"/>
              <a:ea typeface="Calibri"/>
              <a:cs typeface="Calibri"/>
            </a:endParaRPr>
          </a:p>
          <a:p>
            <a:pPr algn="ctr"/>
            <a:endParaRPr lang="pt-BR"/>
          </a:p>
        </p:txBody>
      </p:sp>
      <p:sp>
        <p:nvSpPr>
          <p:cNvPr id="5" name="CaixaDeTexto 4">
            <a:extLst>
              <a:ext uri="{FF2B5EF4-FFF2-40B4-BE49-F238E27FC236}">
                <a16:creationId xmlns:a16="http://schemas.microsoft.com/office/drawing/2014/main" id="{44B12CC2-467A-7710-FF6D-58F26C33995A}"/>
              </a:ext>
            </a:extLst>
          </p:cNvPr>
          <p:cNvSpPr txBox="1"/>
          <p:nvPr/>
        </p:nvSpPr>
        <p:spPr>
          <a:xfrm>
            <a:off x="11136877" y="-3816"/>
            <a:ext cx="174171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a:ea typeface="Calibri"/>
                <a:cs typeface="Calibri"/>
              </a:rPr>
              <a:t>PARTE 2</a:t>
            </a:r>
            <a:endParaRPr lang="pt-BR"/>
          </a:p>
        </p:txBody>
      </p:sp>
    </p:spTree>
    <p:extLst>
      <p:ext uri="{BB962C8B-B14F-4D97-AF65-F5344CB8AC3E}">
        <p14:creationId xmlns:p14="http://schemas.microsoft.com/office/powerpoint/2010/main" val="45291833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9A3DFFF2-46A1-7EAE-14E9-8B772708D72A}"/>
              </a:ext>
            </a:extLst>
          </p:cNvPr>
          <p:cNvSpPr txBox="1"/>
          <p:nvPr/>
        </p:nvSpPr>
        <p:spPr>
          <a:xfrm>
            <a:off x="6096000" y="1027981"/>
            <a:ext cx="6096000"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We are 1 week away from the Esri Developer and Technology Summit in Palm Springs. If you are interested in Utility Network related content, check out this custom agenda that the team put together: </a:t>
            </a:r>
            <a:r>
              <a:rPr lang="en-US" b="1">
                <a:solidFill>
                  <a:srgbClr val="0A66C2"/>
                </a:solidFill>
                <a:latin typeface="-apple-system"/>
                <a:ea typeface="-apple-system"/>
                <a:cs typeface="-apple-system"/>
                <a:hlinkClick r:id="rId2"/>
              </a:rPr>
              <a:t>https://lnkd.in/grCgQmXu</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I will be doing a presentation with </a:t>
            </a:r>
            <a:r>
              <a:rPr lang="en-US" b="1">
                <a:solidFill>
                  <a:srgbClr val="0A66C2"/>
                </a:solidFill>
                <a:latin typeface="-apple-system"/>
                <a:ea typeface="-apple-system"/>
                <a:cs typeface="-apple-system"/>
                <a:hlinkClick r:id="rId3"/>
              </a:rPr>
              <a:t>Xu Teng</a:t>
            </a:r>
            <a:r>
              <a:rPr lang="en-US">
                <a:latin typeface="-apple-system"/>
                <a:ea typeface="-apple-system"/>
                <a:cs typeface="-apple-system"/>
              </a:rPr>
              <a:t> about extracting network data from a utility network for analysis. I will also be doing a demo theatre where I show off some of the newly released (and upcoming!) community samples we have for the utility network. I will be spending the rest of my time at the ArcGIS Utility Network booth in the "Technology Zone" answering YOUR questions!</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If you're going to be there, I hope we can catch up! If not, there's always the Esri Community site: </a:t>
            </a:r>
            <a:r>
              <a:rPr lang="en-US" b="1">
                <a:solidFill>
                  <a:srgbClr val="0A66C2"/>
                </a:solidFill>
                <a:latin typeface="-apple-system"/>
                <a:ea typeface="-apple-system"/>
                <a:cs typeface="-apple-system"/>
                <a:hlinkClick r:id="rId4"/>
              </a:rPr>
              <a:t>https://lnkd.in/g-3TFtYH</a:t>
            </a:r>
            <a:endParaRPr lang="en-US"/>
          </a:p>
          <a:p>
            <a:pPr algn="ctr"/>
            <a:endParaRPr lang="pt-BR"/>
          </a:p>
        </p:txBody>
      </p:sp>
      <p:pic>
        <p:nvPicPr>
          <p:cNvPr id="5" name="Imagem 4" descr="Interface gráfica do usuário, Texto, Aplicativo&#10;&#10;O conteúdo gerado por IA pode estar incorreto.">
            <a:extLst>
              <a:ext uri="{FF2B5EF4-FFF2-40B4-BE49-F238E27FC236}">
                <a16:creationId xmlns:a16="http://schemas.microsoft.com/office/drawing/2014/main" id="{9DCE7C60-0DCB-E198-7DA9-A2999B35E233}"/>
              </a:ext>
            </a:extLst>
          </p:cNvPr>
          <p:cNvPicPr>
            <a:picLocks noChangeAspect="1"/>
          </p:cNvPicPr>
          <p:nvPr/>
        </p:nvPicPr>
        <p:blipFill>
          <a:blip r:embed="rId5"/>
          <a:stretch>
            <a:fillRect/>
          </a:stretch>
        </p:blipFill>
        <p:spPr>
          <a:xfrm>
            <a:off x="207842" y="863720"/>
            <a:ext cx="5493411" cy="3764713"/>
          </a:xfrm>
          <a:prstGeom prst="rect">
            <a:avLst/>
          </a:prstGeom>
        </p:spPr>
      </p:pic>
      <p:sp>
        <p:nvSpPr>
          <p:cNvPr id="6" name="CaixaDeTexto 5">
            <a:extLst>
              <a:ext uri="{FF2B5EF4-FFF2-40B4-BE49-F238E27FC236}">
                <a16:creationId xmlns:a16="http://schemas.microsoft.com/office/drawing/2014/main" id="{316E5B92-02BD-8BA0-6D7C-DD2118D3732E}"/>
              </a:ext>
            </a:extLst>
          </p:cNvPr>
          <p:cNvSpPr txBox="1"/>
          <p:nvPr/>
        </p:nvSpPr>
        <p:spPr>
          <a:xfrm>
            <a:off x="201283" y="5096774"/>
            <a:ext cx="609600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Link: https://www.linkedin.com/posts/robert-krisher-5a989438_arcgis-utility-network-activity-7434618638533529602-Z9Ko?utm_source=share&amp;utm_medium=member_desktop&amp;rcm=ACoAAAMQtAUB5UouXqdBJgo_gWpNVZ7Imay_2Tg</a:t>
            </a:r>
          </a:p>
          <a:p>
            <a:pPr algn="ctr"/>
            <a:endParaRPr lang="pt-BR"/>
          </a:p>
        </p:txBody>
      </p:sp>
    </p:spTree>
    <p:extLst>
      <p:ext uri="{BB962C8B-B14F-4D97-AF65-F5344CB8AC3E}">
        <p14:creationId xmlns:p14="http://schemas.microsoft.com/office/powerpoint/2010/main" val="15226948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m 3" descr="Linha do tempo&#10;&#10;O conteúdo gerado por IA pode estar incorreto.">
            <a:extLst>
              <a:ext uri="{FF2B5EF4-FFF2-40B4-BE49-F238E27FC236}">
                <a16:creationId xmlns:a16="http://schemas.microsoft.com/office/drawing/2014/main" id="{F6325DFA-A408-4EEA-813C-00DEBCE40033}"/>
              </a:ext>
            </a:extLst>
          </p:cNvPr>
          <p:cNvPicPr>
            <a:picLocks noChangeAspect="1"/>
          </p:cNvPicPr>
          <p:nvPr/>
        </p:nvPicPr>
        <p:blipFill>
          <a:blip r:embed="rId2"/>
          <a:stretch>
            <a:fillRect/>
          </a:stretch>
        </p:blipFill>
        <p:spPr>
          <a:xfrm>
            <a:off x="3449398" y="600794"/>
            <a:ext cx="6328374" cy="4261808"/>
          </a:xfrm>
          <a:prstGeom prst="rect">
            <a:avLst/>
          </a:prstGeom>
        </p:spPr>
      </p:pic>
      <p:sp>
        <p:nvSpPr>
          <p:cNvPr id="5" name="CaixaDeTexto 4">
            <a:extLst>
              <a:ext uri="{FF2B5EF4-FFF2-40B4-BE49-F238E27FC236}">
                <a16:creationId xmlns:a16="http://schemas.microsoft.com/office/drawing/2014/main" id="{7F7DC107-F92E-4870-AD0E-BAE78FEC7D10}"/>
              </a:ext>
            </a:extLst>
          </p:cNvPr>
          <p:cNvSpPr txBox="1"/>
          <p:nvPr/>
        </p:nvSpPr>
        <p:spPr>
          <a:xfrm>
            <a:off x="172529" y="5384321"/>
            <a:ext cx="60960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Link: https://www.linkedin.com/posts/gowri-srinivas-guthikonda_activity-7433022996841390080-wswV?utm_source=share&amp;utm_medium=member_desktop&amp;rcm=ACoAAAMQtAUB5UouXqdBJgo_gWpNVZ7Imay_2Tg</a:t>
            </a:r>
          </a:p>
          <a:p>
            <a:pPr algn="ctr"/>
            <a:endParaRPr lang="pt-BR"/>
          </a:p>
        </p:txBody>
      </p:sp>
    </p:spTree>
    <p:extLst>
      <p:ext uri="{BB962C8B-B14F-4D97-AF65-F5344CB8AC3E}">
        <p14:creationId xmlns:p14="http://schemas.microsoft.com/office/powerpoint/2010/main" val="6573550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m 1">
            <a:extLst>
              <a:ext uri="{FF2B5EF4-FFF2-40B4-BE49-F238E27FC236}">
                <a16:creationId xmlns:a16="http://schemas.microsoft.com/office/drawing/2014/main" id="{885F7AEE-85D8-4185-BF97-6FFDAF45D8FB}"/>
              </a:ext>
            </a:extLst>
          </p:cNvPr>
          <p:cNvPicPr>
            <a:picLocks noChangeAspect="1"/>
          </p:cNvPicPr>
          <p:nvPr/>
        </p:nvPicPr>
        <p:blipFill>
          <a:blip r:embed="rId2"/>
          <a:stretch>
            <a:fillRect/>
          </a:stretch>
        </p:blipFill>
        <p:spPr>
          <a:xfrm>
            <a:off x="552887" y="1367405"/>
            <a:ext cx="4600310" cy="4447476"/>
          </a:xfrm>
          <a:prstGeom prst="rect">
            <a:avLst/>
          </a:prstGeom>
        </p:spPr>
      </p:pic>
      <p:sp>
        <p:nvSpPr>
          <p:cNvPr id="4" name="Retângulo 3">
            <a:extLst>
              <a:ext uri="{FF2B5EF4-FFF2-40B4-BE49-F238E27FC236}">
                <a16:creationId xmlns:a16="http://schemas.microsoft.com/office/drawing/2014/main" id="{CAF3E3C2-488E-4106-8D63-D520EC0309DF}"/>
              </a:ext>
            </a:extLst>
          </p:cNvPr>
          <p:cNvSpPr/>
          <p:nvPr/>
        </p:nvSpPr>
        <p:spPr>
          <a:xfrm>
            <a:off x="668322" y="396788"/>
            <a:ext cx="2913777" cy="646331"/>
          </a:xfrm>
          <a:prstGeom prst="rect">
            <a:avLst/>
          </a:prstGeom>
        </p:spPr>
        <p:txBody>
          <a:bodyPr wrap="square">
            <a:spAutoFit/>
          </a:bodyPr>
          <a:lstStyle/>
          <a:p>
            <a:r>
              <a:rPr lang="pt-BR" b="1"/>
              <a:t>Por que o </a:t>
            </a:r>
            <a:r>
              <a:rPr lang="pt-BR" b="1" err="1"/>
              <a:t>esri</a:t>
            </a:r>
            <a:r>
              <a:rPr lang="pt-BR" b="1"/>
              <a:t> UN ? Posso fazer eu mesmo ?</a:t>
            </a:r>
          </a:p>
        </p:txBody>
      </p:sp>
      <p:sp>
        <p:nvSpPr>
          <p:cNvPr id="3" name="Retângulo 2">
            <a:extLst>
              <a:ext uri="{FF2B5EF4-FFF2-40B4-BE49-F238E27FC236}">
                <a16:creationId xmlns:a16="http://schemas.microsoft.com/office/drawing/2014/main" id="{4F4CA605-9214-484D-9404-2A3BD3465A81}"/>
              </a:ext>
            </a:extLst>
          </p:cNvPr>
          <p:cNvSpPr/>
          <p:nvPr/>
        </p:nvSpPr>
        <p:spPr>
          <a:xfrm>
            <a:off x="5610225" y="656249"/>
            <a:ext cx="6096000" cy="646331"/>
          </a:xfrm>
          <a:prstGeom prst="rect">
            <a:avLst/>
          </a:prstGeom>
        </p:spPr>
        <p:txBody>
          <a:bodyPr>
            <a:spAutoFit/>
          </a:bodyPr>
          <a:lstStyle/>
          <a:p>
            <a:r>
              <a:rPr lang="pt-BR"/>
              <a:t>https://www.esri.com/arcgis-blog/products/utility-network/electric-gas/arcgis-utility-network-out-of-the-box/</a:t>
            </a:r>
          </a:p>
        </p:txBody>
      </p:sp>
      <p:pic>
        <p:nvPicPr>
          <p:cNvPr id="5" name="Imagem 4">
            <a:extLst>
              <a:ext uri="{FF2B5EF4-FFF2-40B4-BE49-F238E27FC236}">
                <a16:creationId xmlns:a16="http://schemas.microsoft.com/office/drawing/2014/main" id="{1BCA2B77-7FE4-459E-BC15-3C9E5E7DF350}"/>
              </a:ext>
            </a:extLst>
          </p:cNvPr>
          <p:cNvPicPr>
            <a:picLocks noChangeAspect="1"/>
          </p:cNvPicPr>
          <p:nvPr/>
        </p:nvPicPr>
        <p:blipFill>
          <a:blip r:embed="rId3"/>
          <a:stretch>
            <a:fillRect/>
          </a:stretch>
        </p:blipFill>
        <p:spPr>
          <a:xfrm>
            <a:off x="5392703" y="1992428"/>
            <a:ext cx="6279966" cy="3531678"/>
          </a:xfrm>
          <a:prstGeom prst="rect">
            <a:avLst/>
          </a:prstGeom>
        </p:spPr>
      </p:pic>
    </p:spTree>
    <p:extLst>
      <p:ext uri="{BB962C8B-B14F-4D97-AF65-F5344CB8AC3E}">
        <p14:creationId xmlns:p14="http://schemas.microsoft.com/office/powerpoint/2010/main" val="58598013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ângulo 4">
            <a:extLst>
              <a:ext uri="{FF2B5EF4-FFF2-40B4-BE49-F238E27FC236}">
                <a16:creationId xmlns:a16="http://schemas.microsoft.com/office/drawing/2014/main" id="{D463C5FB-8CD7-4151-895B-C7AA4E862EF6}"/>
              </a:ext>
            </a:extLst>
          </p:cNvPr>
          <p:cNvSpPr/>
          <p:nvPr/>
        </p:nvSpPr>
        <p:spPr>
          <a:xfrm>
            <a:off x="5141712" y="2921168"/>
            <a:ext cx="1218603" cy="1015663"/>
          </a:xfrm>
          <a:prstGeom prst="rect">
            <a:avLst/>
          </a:prstGeom>
        </p:spPr>
        <p:txBody>
          <a:bodyPr wrap="none" lIns="91440" tIns="45720" rIns="91440" bIns="45720" anchor="t">
            <a:spAutoFit/>
          </a:bodyPr>
          <a:lstStyle/>
          <a:p>
            <a:pPr algn="ctr"/>
            <a:r>
              <a:rPr lang="pt-BR" sz="6000">
                <a:solidFill>
                  <a:srgbClr val="FF0000"/>
                </a:solidFill>
              </a:rPr>
              <a:t>GIS</a:t>
            </a:r>
          </a:p>
        </p:txBody>
      </p:sp>
    </p:spTree>
    <p:extLst>
      <p:ext uri="{BB962C8B-B14F-4D97-AF65-F5344CB8AC3E}">
        <p14:creationId xmlns:p14="http://schemas.microsoft.com/office/powerpoint/2010/main" val="201955276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a:extLst>
              <a:ext uri="{FF2B5EF4-FFF2-40B4-BE49-F238E27FC236}">
                <a16:creationId xmlns:a16="http://schemas.microsoft.com/office/drawing/2014/main" id="{1883DBDE-4A0D-A0C4-7CE8-C7E6E8E3B37A}"/>
              </a:ext>
            </a:extLst>
          </p:cNvPr>
          <p:cNvSpPr txBox="1"/>
          <p:nvPr/>
        </p:nvSpPr>
        <p:spPr>
          <a:xfrm>
            <a:off x="4658264" y="7188"/>
            <a:ext cx="7404339" cy="72635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err="1">
                <a:latin typeface="-apple-system"/>
                <a:ea typeface="-apple-system"/>
                <a:cs typeface="-apple-system"/>
              </a:rPr>
              <a:t>Você</a:t>
            </a:r>
            <a:r>
              <a:rPr lang="en-US" sz="1400" dirty="0">
                <a:latin typeface="-apple-system"/>
                <a:ea typeface="-apple-system"/>
                <a:cs typeface="-apple-system"/>
              </a:rPr>
              <a:t> sabia </a:t>
            </a:r>
            <a:r>
              <a:rPr lang="en-US" sz="1400" dirty="0" err="1">
                <a:latin typeface="-apple-system"/>
                <a:ea typeface="-apple-system"/>
                <a:cs typeface="-apple-system"/>
              </a:rPr>
              <a:t>que</a:t>
            </a:r>
            <a:r>
              <a:rPr lang="en-US" sz="1400" dirty="0">
                <a:latin typeface="-apple-system"/>
                <a:ea typeface="-apple-system"/>
                <a:cs typeface="-apple-system"/>
              </a:rPr>
              <a:t> </a:t>
            </a:r>
            <a:r>
              <a:rPr lang="en-US" sz="1400" dirty="0" err="1">
                <a:latin typeface="-apple-system"/>
                <a:ea typeface="-apple-system"/>
                <a:cs typeface="-apple-system"/>
              </a:rPr>
              <a:t>pode</a:t>
            </a:r>
            <a:r>
              <a:rPr lang="en-US" sz="1400" dirty="0">
                <a:latin typeface="-apple-system"/>
                <a:ea typeface="-apple-system"/>
                <a:cs typeface="-apple-system"/>
              </a:rPr>
              <a:t> </a:t>
            </a:r>
            <a:r>
              <a:rPr lang="en-US" sz="1400" dirty="0" err="1">
                <a:latin typeface="-apple-system"/>
                <a:ea typeface="-apple-system"/>
                <a:cs typeface="-apple-system"/>
              </a:rPr>
              <a:t>criar</a:t>
            </a:r>
            <a:r>
              <a:rPr lang="en-US" sz="1400" dirty="0">
                <a:latin typeface="-apple-system"/>
                <a:ea typeface="-apple-system"/>
                <a:cs typeface="-apple-system"/>
              </a:rPr>
              <a:t> </a:t>
            </a:r>
            <a:r>
              <a:rPr lang="en-US" sz="1400" dirty="0" err="1">
                <a:latin typeface="-apple-system"/>
                <a:ea typeface="-apple-system"/>
                <a:cs typeface="-apple-system"/>
              </a:rPr>
              <a:t>seu</a:t>
            </a:r>
            <a:r>
              <a:rPr lang="en-US" sz="1400" dirty="0">
                <a:latin typeface="-apple-system"/>
                <a:ea typeface="-apple-system"/>
                <a:cs typeface="-apple-system"/>
              </a:rPr>
              <a:t> </a:t>
            </a:r>
            <a:r>
              <a:rPr lang="en-US" sz="1400" dirty="0" err="1">
                <a:latin typeface="-apple-system"/>
                <a:ea typeface="-apple-system"/>
                <a:cs typeface="-apple-system"/>
              </a:rPr>
              <a:t>WebGIS</a:t>
            </a:r>
            <a:r>
              <a:rPr lang="en-US" sz="1400" dirty="0">
                <a:latin typeface="-apple-system"/>
                <a:ea typeface="-apple-system"/>
                <a:cs typeface="-apple-system"/>
              </a:rPr>
              <a:t> e </a:t>
            </a:r>
            <a:r>
              <a:rPr lang="en-US" sz="1400" dirty="0" err="1">
                <a:latin typeface="-apple-system"/>
                <a:ea typeface="-apple-system"/>
                <a:cs typeface="-apple-system"/>
              </a:rPr>
              <a:t>compartilhar</a:t>
            </a:r>
            <a:r>
              <a:rPr lang="en-US" sz="1400" dirty="0">
                <a:latin typeface="-apple-system"/>
                <a:ea typeface="-apple-system"/>
                <a:cs typeface="-apple-system"/>
              </a:rPr>
              <a:t> </a:t>
            </a:r>
            <a:r>
              <a:rPr lang="en-US" sz="1400" dirty="0" err="1">
                <a:latin typeface="-apple-system"/>
                <a:ea typeface="-apple-system"/>
                <a:cs typeface="-apple-system"/>
              </a:rPr>
              <a:t>seus</a:t>
            </a:r>
            <a:r>
              <a:rPr lang="en-US" sz="1400" dirty="0">
                <a:latin typeface="-apple-system"/>
                <a:ea typeface="-apple-system"/>
                <a:cs typeface="-apple-system"/>
              </a:rPr>
              <a:t> </a:t>
            </a:r>
            <a:r>
              <a:rPr lang="en-US" sz="1400" dirty="0" err="1">
                <a:latin typeface="-apple-system"/>
                <a:ea typeface="-apple-system"/>
                <a:cs typeface="-apple-system"/>
              </a:rPr>
              <a:t>projetos</a:t>
            </a:r>
            <a:r>
              <a:rPr lang="en-US" sz="1400" dirty="0">
                <a:latin typeface="-apple-system"/>
                <a:ea typeface="-apple-system"/>
                <a:cs typeface="-apple-system"/>
              </a:rPr>
              <a:t> GIS Desktop pela Internet </a:t>
            </a:r>
            <a:r>
              <a:rPr lang="en-US" sz="1400" dirty="0" err="1">
                <a:latin typeface="-apple-system"/>
                <a:ea typeface="-apple-system"/>
                <a:cs typeface="-apple-system"/>
              </a:rPr>
              <a:t>tornando-os</a:t>
            </a:r>
            <a:r>
              <a:rPr lang="en-US" sz="1400" dirty="0">
                <a:latin typeface="-apple-system"/>
                <a:ea typeface="-apple-system"/>
                <a:cs typeface="-apple-system"/>
              </a:rPr>
              <a:t> </a:t>
            </a:r>
            <a:r>
              <a:rPr lang="en-US" sz="1400" dirty="0" err="1">
                <a:latin typeface="-apple-system"/>
                <a:ea typeface="-apple-system"/>
                <a:cs typeface="-apple-system"/>
              </a:rPr>
              <a:t>acessíveis</a:t>
            </a:r>
            <a:r>
              <a:rPr lang="en-US" sz="1400" dirty="0">
                <a:latin typeface="-apple-system"/>
                <a:ea typeface="-apple-system"/>
                <a:cs typeface="-apple-system"/>
              </a:rPr>
              <a:t> a outros </a:t>
            </a:r>
            <a:r>
              <a:rPr lang="en-US" sz="1400" dirty="0" err="1">
                <a:latin typeface="-apple-system"/>
                <a:ea typeface="-apple-system"/>
                <a:cs typeface="-apple-system"/>
              </a:rPr>
              <a:t>usuários</a:t>
            </a:r>
            <a:r>
              <a:rPr lang="en-US" sz="1400" dirty="0">
                <a:latin typeface="-apple-system"/>
                <a:ea typeface="-apple-system"/>
                <a:cs typeface="-apple-system"/>
              </a:rPr>
              <a:t> </a:t>
            </a:r>
            <a:r>
              <a:rPr lang="en-US" sz="1400" dirty="0" err="1">
                <a:latin typeface="-apple-system"/>
                <a:ea typeface="-apple-system"/>
                <a:cs typeface="-apple-system"/>
              </a:rPr>
              <a:t>sem</a:t>
            </a:r>
            <a:r>
              <a:rPr lang="en-US" sz="1400" dirty="0">
                <a:latin typeface="-apple-system"/>
                <a:ea typeface="-apple-system"/>
                <a:cs typeface="-apple-system"/>
              </a:rPr>
              <a:t> </a:t>
            </a:r>
            <a:r>
              <a:rPr lang="en-US" sz="1400" dirty="0" err="1">
                <a:latin typeface="-apple-system"/>
                <a:ea typeface="-apple-system"/>
                <a:cs typeface="-apple-system"/>
              </a:rPr>
              <a:t>digitar</a:t>
            </a:r>
            <a:r>
              <a:rPr lang="en-US" sz="1400" dirty="0">
                <a:latin typeface="-apple-system"/>
                <a:ea typeface="-apple-system"/>
                <a:cs typeface="-apple-system"/>
              </a:rPr>
              <a:t> </a:t>
            </a:r>
            <a:r>
              <a:rPr lang="en-US" sz="1400" dirty="0" err="1">
                <a:latin typeface="-apple-system"/>
                <a:ea typeface="-apple-system"/>
                <a:cs typeface="-apple-system"/>
              </a:rPr>
              <a:t>uma</a:t>
            </a:r>
            <a:r>
              <a:rPr lang="en-US" sz="1400" dirty="0">
                <a:latin typeface="-apple-system"/>
                <a:ea typeface="-apple-system"/>
                <a:cs typeface="-apple-system"/>
              </a:rPr>
              <a:t> </a:t>
            </a:r>
            <a:r>
              <a:rPr lang="en-US" sz="1400" dirty="0" err="1">
                <a:latin typeface="-apple-system"/>
                <a:ea typeface="-apple-system"/>
                <a:cs typeface="-apple-system"/>
              </a:rPr>
              <a:t>única</a:t>
            </a:r>
            <a:r>
              <a:rPr lang="en-US" sz="1400" dirty="0">
                <a:latin typeface="-apple-system"/>
                <a:ea typeface="-apple-system"/>
                <a:cs typeface="-apple-system"/>
              </a:rPr>
              <a:t> </a:t>
            </a:r>
            <a:r>
              <a:rPr lang="en-US" sz="1400" dirty="0" err="1">
                <a:latin typeface="-apple-system"/>
                <a:ea typeface="-apple-system"/>
                <a:cs typeface="-apple-system"/>
              </a:rPr>
              <a:t>linha</a:t>
            </a:r>
            <a:r>
              <a:rPr lang="en-US" sz="1400" dirty="0">
                <a:latin typeface="-apple-system"/>
                <a:ea typeface="-apple-system"/>
                <a:cs typeface="-apple-system"/>
              </a:rPr>
              <a:t> de </a:t>
            </a:r>
            <a:r>
              <a:rPr lang="en-US" sz="1400" dirty="0" err="1">
                <a:latin typeface="-apple-system"/>
                <a:ea typeface="-apple-system"/>
                <a:cs typeface="-apple-system"/>
              </a:rPr>
              <a:t>código</a:t>
            </a:r>
            <a:r>
              <a:rPr lang="en-US" sz="1400" dirty="0">
                <a:latin typeface="-apple-system"/>
                <a:ea typeface="-apple-system"/>
                <a:cs typeface="-apple-system"/>
              </a:rPr>
              <a:t>?</a:t>
            </a:r>
            <a:br>
              <a:rPr lang="en-US" sz="1400" dirty="0">
                <a:latin typeface="-apple-system"/>
                <a:ea typeface="-apple-system"/>
                <a:cs typeface="-apple-system"/>
              </a:rPr>
            </a:br>
            <a:br>
              <a:rPr lang="en-US" sz="1400" dirty="0">
                <a:latin typeface="-apple-system"/>
                <a:ea typeface="-apple-system"/>
                <a:cs typeface="-apple-system"/>
              </a:rPr>
            </a:br>
            <a:r>
              <a:rPr lang="en-US" sz="1400" dirty="0">
                <a:latin typeface="-apple-system"/>
                <a:ea typeface="-apple-system"/>
                <a:cs typeface="-apple-system"/>
              </a:rPr>
              <a:t>Se </a:t>
            </a:r>
            <a:r>
              <a:rPr lang="en-US" sz="1400" dirty="0" err="1">
                <a:latin typeface="-apple-system"/>
                <a:ea typeface="-apple-system"/>
                <a:cs typeface="-apple-system"/>
              </a:rPr>
              <a:t>sua</a:t>
            </a:r>
            <a:r>
              <a:rPr lang="en-US" sz="1400" dirty="0">
                <a:latin typeface="-apple-system"/>
                <a:ea typeface="-apple-system"/>
                <a:cs typeface="-apple-system"/>
              </a:rPr>
              <a:t> </a:t>
            </a:r>
            <a:r>
              <a:rPr lang="en-US" sz="1400" dirty="0" err="1">
                <a:latin typeface="-apple-system"/>
                <a:ea typeface="-apple-system"/>
                <a:cs typeface="-apple-system"/>
              </a:rPr>
              <a:t>resposta</a:t>
            </a:r>
            <a:r>
              <a:rPr lang="en-US" sz="1400" dirty="0">
                <a:latin typeface="-apple-system"/>
                <a:ea typeface="-apple-system"/>
                <a:cs typeface="-apple-system"/>
              </a:rPr>
              <a:t> for </a:t>
            </a:r>
            <a:r>
              <a:rPr lang="en-US" sz="1400" dirty="0" err="1">
                <a:latin typeface="-apple-system"/>
                <a:ea typeface="-apple-system"/>
                <a:cs typeface="-apple-system"/>
              </a:rPr>
              <a:t>não</a:t>
            </a:r>
            <a:r>
              <a:rPr lang="en-US" sz="1400" dirty="0">
                <a:latin typeface="-apple-system"/>
                <a:ea typeface="-apple-system"/>
                <a:cs typeface="-apple-system"/>
              </a:rPr>
              <a:t>, </a:t>
            </a:r>
            <a:r>
              <a:rPr lang="en-US" sz="1400" dirty="0" err="1">
                <a:latin typeface="-apple-system"/>
                <a:ea typeface="-apple-system"/>
                <a:cs typeface="-apple-system"/>
              </a:rPr>
              <a:t>neste</a:t>
            </a:r>
            <a:r>
              <a:rPr lang="en-US" sz="1400" dirty="0">
                <a:latin typeface="-apple-system"/>
                <a:ea typeface="-apple-system"/>
                <a:cs typeface="-apple-system"/>
              </a:rPr>
              <a:t> post, </a:t>
            </a:r>
            <a:r>
              <a:rPr lang="en-US" sz="1400" dirty="0" err="1">
                <a:latin typeface="-apple-system"/>
                <a:ea typeface="-apple-system"/>
                <a:cs typeface="-apple-system"/>
              </a:rPr>
              <a:t>vamos</a:t>
            </a:r>
            <a:r>
              <a:rPr lang="en-US" sz="1400" dirty="0">
                <a:latin typeface="-apple-system"/>
                <a:ea typeface="-apple-system"/>
                <a:cs typeface="-apple-system"/>
              </a:rPr>
              <a:t> </a:t>
            </a:r>
            <a:r>
              <a:rPr lang="en-US" sz="1400" dirty="0" err="1">
                <a:latin typeface="-apple-system"/>
                <a:ea typeface="-apple-system"/>
                <a:cs typeface="-apple-system"/>
              </a:rPr>
              <a:t>compartilhar</a:t>
            </a:r>
            <a:r>
              <a:rPr lang="en-US" sz="1400" dirty="0">
                <a:latin typeface="-apple-system"/>
                <a:ea typeface="-apple-system"/>
                <a:cs typeface="-apple-system"/>
              </a:rPr>
              <a:t> 5 ferramentas de </a:t>
            </a:r>
            <a:r>
              <a:rPr lang="en-US" sz="1400" dirty="0" err="1">
                <a:latin typeface="-apple-system"/>
                <a:ea typeface="-apple-system"/>
                <a:cs typeface="-apple-system"/>
              </a:rPr>
              <a:t>código</a:t>
            </a:r>
            <a:r>
              <a:rPr lang="en-US" sz="1400" dirty="0">
                <a:latin typeface="-apple-system"/>
                <a:ea typeface="-apple-system"/>
                <a:cs typeface="-apple-system"/>
              </a:rPr>
              <a:t> </a:t>
            </a:r>
            <a:r>
              <a:rPr lang="en-US" sz="1400" dirty="0" err="1">
                <a:latin typeface="-apple-system"/>
                <a:ea typeface="-apple-system"/>
                <a:cs typeface="-apple-system"/>
              </a:rPr>
              <a:t>aberto</a:t>
            </a:r>
            <a:r>
              <a:rPr lang="en-US" sz="1400" dirty="0">
                <a:latin typeface="-apple-system"/>
                <a:ea typeface="-apple-system"/>
                <a:cs typeface="-apple-system"/>
              </a:rPr>
              <a:t> </a:t>
            </a:r>
            <a:r>
              <a:rPr lang="en-US" sz="1400" dirty="0" err="1">
                <a:latin typeface="-apple-system"/>
                <a:ea typeface="-apple-system"/>
                <a:cs typeface="-apple-system"/>
              </a:rPr>
              <a:t>que</a:t>
            </a:r>
            <a:r>
              <a:rPr lang="en-US" sz="1400" dirty="0">
                <a:latin typeface="-apple-system"/>
                <a:ea typeface="-apple-system"/>
                <a:cs typeface="-apple-system"/>
              </a:rPr>
              <a:t> </a:t>
            </a:r>
            <a:r>
              <a:rPr lang="en-US" sz="1400" dirty="0" err="1">
                <a:latin typeface="-apple-system"/>
                <a:ea typeface="-apple-system"/>
                <a:cs typeface="-apple-system"/>
              </a:rPr>
              <a:t>permitirão</a:t>
            </a:r>
            <a:r>
              <a:rPr lang="en-US" sz="1400" dirty="0">
                <a:latin typeface="-apple-system"/>
                <a:ea typeface="-apple-system"/>
                <a:cs typeface="-apple-system"/>
              </a:rPr>
              <a:t> </a:t>
            </a:r>
            <a:r>
              <a:rPr lang="en-US" sz="1400" dirty="0" err="1">
                <a:latin typeface="-apple-system"/>
                <a:ea typeface="-apple-system"/>
                <a:cs typeface="-apple-system"/>
              </a:rPr>
              <a:t>que</a:t>
            </a:r>
            <a:r>
              <a:rPr lang="en-US" sz="1400" dirty="0">
                <a:latin typeface="-apple-system"/>
                <a:ea typeface="-apple-system"/>
                <a:cs typeface="-apple-system"/>
              </a:rPr>
              <a:t> </a:t>
            </a:r>
            <a:r>
              <a:rPr lang="en-US" sz="1400" dirty="0" err="1">
                <a:latin typeface="-apple-system"/>
                <a:ea typeface="-apple-system"/>
                <a:cs typeface="-apple-system"/>
              </a:rPr>
              <a:t>você</a:t>
            </a:r>
            <a:r>
              <a:rPr lang="en-US" sz="1400" dirty="0">
                <a:latin typeface="-apple-system"/>
                <a:ea typeface="-apple-system"/>
                <a:cs typeface="-apple-system"/>
              </a:rPr>
              <a:t> </a:t>
            </a:r>
            <a:r>
              <a:rPr lang="en-US" sz="1400" dirty="0" err="1">
                <a:latin typeface="-apple-system"/>
                <a:ea typeface="-apple-system"/>
                <a:cs typeface="-apple-system"/>
              </a:rPr>
              <a:t>transforme</a:t>
            </a:r>
            <a:r>
              <a:rPr lang="en-US" sz="1400" dirty="0">
                <a:latin typeface="-apple-system"/>
                <a:ea typeface="-apple-system"/>
                <a:cs typeface="-apple-system"/>
              </a:rPr>
              <a:t> </a:t>
            </a:r>
            <a:r>
              <a:rPr lang="en-US" sz="1400" dirty="0" err="1">
                <a:latin typeface="-apple-system"/>
                <a:ea typeface="-apple-system"/>
                <a:cs typeface="-apple-system"/>
              </a:rPr>
              <a:t>seus</a:t>
            </a:r>
            <a:r>
              <a:rPr lang="en-US" sz="1400" dirty="0">
                <a:latin typeface="-apple-system"/>
                <a:ea typeface="-apple-system"/>
                <a:cs typeface="-apple-system"/>
              </a:rPr>
              <a:t> </a:t>
            </a:r>
            <a:r>
              <a:rPr lang="en-US" sz="1400" dirty="0" err="1">
                <a:latin typeface="-apple-system"/>
                <a:ea typeface="-apple-system"/>
                <a:cs typeface="-apple-system"/>
              </a:rPr>
              <a:t>projetos</a:t>
            </a:r>
            <a:r>
              <a:rPr lang="en-US" sz="1400" dirty="0">
                <a:latin typeface="-apple-system"/>
                <a:ea typeface="-apple-system"/>
                <a:cs typeface="-apple-system"/>
              </a:rPr>
              <a:t> QGIS (</a:t>
            </a:r>
            <a:r>
              <a:rPr lang="en-US" sz="1400" dirty="0" err="1">
                <a:latin typeface="-apple-system"/>
                <a:ea typeface="-apple-system"/>
                <a:cs typeface="-apple-system"/>
              </a:rPr>
              <a:t>localmente</a:t>
            </a:r>
            <a:r>
              <a:rPr lang="en-US" sz="1400" dirty="0">
                <a:latin typeface="-apple-system"/>
                <a:ea typeface="-apple-system"/>
                <a:cs typeface="-apple-system"/>
              </a:rPr>
              <a:t>), </a:t>
            </a:r>
            <a:r>
              <a:rPr lang="en-US" sz="1400" dirty="0" err="1">
                <a:latin typeface="-apple-system"/>
                <a:ea typeface="-apple-system"/>
                <a:cs typeface="-apple-system"/>
              </a:rPr>
              <a:t>mesmo</a:t>
            </a:r>
            <a:r>
              <a:rPr lang="en-US" sz="1400" dirty="0">
                <a:latin typeface="-apple-system"/>
                <a:ea typeface="-apple-system"/>
                <a:cs typeface="-apple-system"/>
              </a:rPr>
              <a:t> se </a:t>
            </a:r>
            <a:r>
              <a:rPr lang="en-US" sz="1400" dirty="0" err="1">
                <a:latin typeface="-apple-system"/>
                <a:ea typeface="-apple-system"/>
                <a:cs typeface="-apple-system"/>
              </a:rPr>
              <a:t>você</a:t>
            </a:r>
            <a:r>
              <a:rPr lang="en-US" sz="1400" dirty="0">
                <a:latin typeface="-apple-system"/>
                <a:ea typeface="-apple-system"/>
                <a:cs typeface="-apple-system"/>
              </a:rPr>
              <a:t> </a:t>
            </a:r>
            <a:r>
              <a:rPr lang="en-US" sz="1400" dirty="0" err="1">
                <a:latin typeface="-apple-system"/>
                <a:ea typeface="-apple-system"/>
                <a:cs typeface="-apple-system"/>
              </a:rPr>
              <a:t>não</a:t>
            </a:r>
            <a:r>
              <a:rPr lang="en-US" sz="1400" dirty="0">
                <a:latin typeface="-apple-system"/>
                <a:ea typeface="-apple-system"/>
                <a:cs typeface="-apple-system"/>
              </a:rPr>
              <a:t> </a:t>
            </a:r>
            <a:r>
              <a:rPr lang="en-US" sz="1400" dirty="0" err="1">
                <a:latin typeface="-apple-system"/>
                <a:ea typeface="-apple-system"/>
                <a:cs typeface="-apple-system"/>
              </a:rPr>
              <a:t>for um</a:t>
            </a:r>
            <a:r>
              <a:rPr lang="en-US" sz="1400" dirty="0">
                <a:latin typeface="-apple-system"/>
                <a:ea typeface="-apple-system"/>
                <a:cs typeface="-apple-system"/>
              </a:rPr>
              <a:t> </a:t>
            </a:r>
            <a:r>
              <a:rPr lang="en-US" sz="1400" dirty="0" err="1">
                <a:latin typeface="-apple-system"/>
                <a:ea typeface="-apple-system"/>
                <a:cs typeface="-apple-system"/>
              </a:rPr>
              <a:t>profissional</a:t>
            </a:r>
            <a:r>
              <a:rPr lang="en-US" sz="1400" dirty="0">
                <a:latin typeface="-apple-system"/>
                <a:ea typeface="-apple-system"/>
                <a:cs typeface="-apple-system"/>
              </a:rPr>
              <a:t> de </a:t>
            </a:r>
            <a:r>
              <a:rPr lang="en-US" sz="1400" dirty="0" err="1">
                <a:latin typeface="-apple-system"/>
                <a:ea typeface="-apple-system"/>
                <a:cs typeface="-apple-system"/>
              </a:rPr>
              <a:t>programação</a:t>
            </a:r>
            <a:r>
              <a:rPr lang="en-US" sz="1400" dirty="0">
                <a:latin typeface="-apple-system"/>
                <a:ea typeface="-apple-system"/>
                <a:cs typeface="-apple-system"/>
              </a:rPr>
              <a:t>, </a:t>
            </a:r>
            <a:r>
              <a:rPr lang="en-US" sz="1400" dirty="0" err="1">
                <a:latin typeface="-apple-system"/>
                <a:ea typeface="-apple-system"/>
                <a:cs typeface="-apple-system"/>
              </a:rPr>
              <a:t>veja</a:t>
            </a:r>
            <a:r>
              <a:rPr lang="en-US" sz="1400" dirty="0">
                <a:latin typeface="-apple-system"/>
                <a:ea typeface="-apple-system"/>
                <a:cs typeface="-apple-system"/>
              </a:rPr>
              <a:t>:</a:t>
            </a:r>
            <a:br>
              <a:rPr lang="en-US" sz="1400" dirty="0">
                <a:latin typeface="-apple-system"/>
                <a:ea typeface="-apple-system"/>
                <a:cs typeface="-apple-system"/>
              </a:rPr>
            </a:br>
            <a:br>
              <a:rPr lang="en-US" sz="1400" dirty="0">
                <a:latin typeface="-apple-system"/>
                <a:ea typeface="-apple-system"/>
                <a:cs typeface="-apple-system"/>
              </a:rPr>
            </a:br>
            <a:r>
              <a:rPr lang="en-US" sz="1400" dirty="0">
                <a:latin typeface="-apple-system"/>
                <a:ea typeface="-apple-system"/>
                <a:cs typeface="-apple-system"/>
              </a:rPr>
              <a:t>👉 Qgis2Web: </a:t>
            </a:r>
            <a:r>
              <a:rPr lang="en-US" sz="1400" dirty="0" err="1">
                <a:latin typeface="-apple-system"/>
                <a:ea typeface="-apple-system"/>
                <a:cs typeface="-apple-system"/>
              </a:rPr>
              <a:t>extensão</a:t>
            </a:r>
            <a:r>
              <a:rPr lang="en-US" sz="1400" dirty="0">
                <a:latin typeface="-apple-system"/>
                <a:ea typeface="-apple-system"/>
                <a:cs typeface="-apple-system"/>
              </a:rPr>
              <a:t> do QGIS </a:t>
            </a:r>
            <a:r>
              <a:rPr lang="en-US" sz="1400" dirty="0" err="1">
                <a:latin typeface="-apple-system"/>
                <a:ea typeface="-apple-system"/>
                <a:cs typeface="-apple-system"/>
              </a:rPr>
              <a:t>que</a:t>
            </a:r>
            <a:r>
              <a:rPr lang="en-US" sz="1400" dirty="0">
                <a:latin typeface="-apple-system"/>
                <a:ea typeface="-apple-system"/>
                <a:cs typeface="-apple-system"/>
              </a:rPr>
              <a:t> </a:t>
            </a:r>
            <a:r>
              <a:rPr lang="en-US" sz="1400" dirty="0" err="1">
                <a:latin typeface="-apple-system"/>
                <a:ea typeface="-apple-system"/>
                <a:cs typeface="-apple-system"/>
              </a:rPr>
              <a:t>permite</a:t>
            </a:r>
            <a:r>
              <a:rPr lang="en-US" sz="1400" dirty="0">
                <a:latin typeface="-apple-system"/>
                <a:ea typeface="-apple-system"/>
                <a:cs typeface="-apple-system"/>
              </a:rPr>
              <a:t> </a:t>
            </a:r>
            <a:r>
              <a:rPr lang="en-US" sz="1400" dirty="0" err="1">
                <a:latin typeface="-apple-system"/>
                <a:ea typeface="-apple-system"/>
                <a:cs typeface="-apple-system"/>
              </a:rPr>
              <a:t>criar</a:t>
            </a:r>
            <a:r>
              <a:rPr lang="en-US" sz="1400" dirty="0">
                <a:latin typeface="-apple-system"/>
                <a:ea typeface="-apple-system"/>
                <a:cs typeface="-apple-system"/>
              </a:rPr>
              <a:t> um </a:t>
            </a:r>
            <a:r>
              <a:rPr lang="en-US" sz="1400" dirty="0" err="1">
                <a:latin typeface="-apple-system"/>
                <a:ea typeface="-apple-system"/>
                <a:cs typeface="-apple-system"/>
              </a:rPr>
              <a:t>mapa</a:t>
            </a:r>
            <a:r>
              <a:rPr lang="en-US" sz="1400" dirty="0">
                <a:latin typeface="-apple-system"/>
                <a:ea typeface="-apple-system"/>
                <a:cs typeface="-apple-system"/>
              </a:rPr>
              <a:t> web a </a:t>
            </a:r>
            <a:r>
              <a:rPr lang="en-US" sz="1400" dirty="0" err="1">
                <a:latin typeface="-apple-system"/>
                <a:ea typeface="-apple-system"/>
                <a:cs typeface="-apple-system"/>
              </a:rPr>
              <a:t>partir</a:t>
            </a:r>
            <a:r>
              <a:rPr lang="en-US" sz="1400" dirty="0">
                <a:latin typeface="-apple-system"/>
                <a:ea typeface="-apple-system"/>
                <a:cs typeface="-apple-system"/>
              </a:rPr>
              <a:t> de um </a:t>
            </a:r>
            <a:r>
              <a:rPr lang="en-US" sz="1400" dirty="0" err="1">
                <a:latin typeface="-apple-system"/>
                <a:ea typeface="-apple-system"/>
                <a:cs typeface="-apple-system"/>
              </a:rPr>
              <a:t>projeto</a:t>
            </a:r>
            <a:r>
              <a:rPr lang="en-US" sz="1400" dirty="0">
                <a:latin typeface="-apple-system"/>
                <a:ea typeface="-apple-system"/>
                <a:cs typeface="-apple-system"/>
              </a:rPr>
              <a:t> QGIS. O </a:t>
            </a:r>
            <a:r>
              <a:rPr lang="en-US" sz="1400" dirty="0" err="1">
                <a:latin typeface="-apple-system"/>
                <a:ea typeface="-apple-system"/>
                <a:cs typeface="-apple-system"/>
              </a:rPr>
              <a:t>resultado</a:t>
            </a:r>
            <a:r>
              <a:rPr lang="en-US" sz="1400" dirty="0">
                <a:latin typeface="-apple-system"/>
                <a:ea typeface="-apple-system"/>
                <a:cs typeface="-apple-system"/>
              </a:rPr>
              <a:t> da </a:t>
            </a:r>
            <a:r>
              <a:rPr lang="en-US" sz="1400" dirty="0" err="1">
                <a:latin typeface="-apple-system"/>
                <a:ea typeface="-apple-system"/>
                <a:cs typeface="-apple-system"/>
              </a:rPr>
              <a:t>exportação</a:t>
            </a:r>
            <a:r>
              <a:rPr lang="en-US" sz="1400" dirty="0">
                <a:latin typeface="-apple-system"/>
                <a:ea typeface="-apple-system"/>
                <a:cs typeface="-apple-system"/>
              </a:rPr>
              <a:t> </a:t>
            </a:r>
            <a:r>
              <a:rPr lang="en-US" sz="1400" dirty="0" err="1">
                <a:latin typeface="-apple-system"/>
                <a:ea typeface="-apple-system"/>
                <a:cs typeface="-apple-system"/>
              </a:rPr>
              <a:t>desse</a:t>
            </a:r>
            <a:r>
              <a:rPr lang="en-US" sz="1400" dirty="0">
                <a:latin typeface="-apple-system"/>
                <a:ea typeface="-apple-system"/>
                <a:cs typeface="-apple-system"/>
              </a:rPr>
              <a:t> </a:t>
            </a:r>
            <a:r>
              <a:rPr lang="en-US" sz="1400" dirty="0" err="1">
                <a:latin typeface="-apple-system"/>
                <a:ea typeface="-apple-system"/>
                <a:cs typeface="-apple-system"/>
              </a:rPr>
              <a:t>projeto</a:t>
            </a:r>
            <a:r>
              <a:rPr lang="en-US" sz="1400" dirty="0">
                <a:latin typeface="-apple-system"/>
                <a:ea typeface="-apple-system"/>
                <a:cs typeface="-apple-system"/>
              </a:rPr>
              <a:t> </a:t>
            </a:r>
            <a:r>
              <a:rPr lang="en-US" sz="1400" dirty="0" err="1">
                <a:latin typeface="-apple-system"/>
                <a:ea typeface="-apple-system"/>
                <a:cs typeface="-apple-system"/>
              </a:rPr>
              <a:t>está</a:t>
            </a:r>
            <a:r>
              <a:rPr lang="en-US" sz="1400" dirty="0">
                <a:latin typeface="-apple-system"/>
                <a:ea typeface="-apple-system"/>
                <a:cs typeface="-apple-system"/>
              </a:rPr>
              <a:t> </a:t>
            </a:r>
            <a:r>
              <a:rPr lang="en-US" sz="1400" dirty="0" err="1">
                <a:latin typeface="-apple-system"/>
                <a:ea typeface="-apple-system"/>
                <a:cs typeface="-apple-system"/>
              </a:rPr>
              <a:t>na</a:t>
            </a:r>
            <a:r>
              <a:rPr lang="en-US" sz="1400" dirty="0">
                <a:latin typeface="-apple-system"/>
                <a:ea typeface="-apple-system"/>
                <a:cs typeface="-apple-system"/>
              </a:rPr>
              <a:t> forma de um conjunto de </a:t>
            </a:r>
            <a:r>
              <a:rPr lang="en-US" sz="1400" dirty="0" err="1">
                <a:latin typeface="-apple-system"/>
                <a:ea typeface="-apple-system"/>
                <a:cs typeface="-apple-system"/>
              </a:rPr>
              <a:t>arquivos</a:t>
            </a:r>
            <a:r>
              <a:rPr lang="en-US" sz="1400" dirty="0">
                <a:latin typeface="-apple-system"/>
                <a:ea typeface="-apple-system"/>
                <a:cs typeface="-apple-system"/>
              </a:rPr>
              <a:t> html, </a:t>
            </a:r>
            <a:r>
              <a:rPr lang="en-US" sz="1400" dirty="0" err="1">
                <a:latin typeface="-apple-system"/>
                <a:ea typeface="-apple-system"/>
                <a:cs typeface="-apple-system"/>
              </a:rPr>
              <a:t>css</a:t>
            </a:r>
            <a:r>
              <a:rPr lang="en-US" sz="1400" dirty="0">
                <a:latin typeface="-apple-system"/>
                <a:ea typeface="-apple-system"/>
                <a:cs typeface="-apple-system"/>
              </a:rPr>
              <a:t> e </a:t>
            </a:r>
            <a:r>
              <a:rPr lang="en-US" sz="1400" dirty="0" err="1">
                <a:latin typeface="-apple-system"/>
                <a:ea typeface="-apple-system"/>
                <a:cs typeface="-apple-system"/>
              </a:rPr>
              <a:t>javascript</a:t>
            </a:r>
            <a:r>
              <a:rPr lang="en-US" sz="1400" dirty="0">
                <a:latin typeface="-apple-system"/>
                <a:ea typeface="-apple-system"/>
                <a:cs typeface="-apple-system"/>
              </a:rPr>
              <a:t> </a:t>
            </a:r>
            <a:r>
              <a:rPr lang="en-US" sz="1400" dirty="0" err="1">
                <a:latin typeface="-apple-system"/>
                <a:ea typeface="-apple-system"/>
                <a:cs typeface="-apple-system"/>
              </a:rPr>
              <a:t>que</a:t>
            </a:r>
            <a:r>
              <a:rPr lang="en-US" sz="1400" dirty="0">
                <a:latin typeface="-apple-system"/>
                <a:ea typeface="-apple-system"/>
                <a:cs typeface="-apple-system"/>
              </a:rPr>
              <a:t> </a:t>
            </a:r>
            <a:r>
              <a:rPr lang="en-US" sz="1400" dirty="0" err="1">
                <a:latin typeface="-apple-system"/>
                <a:ea typeface="-apple-system"/>
                <a:cs typeface="-apple-system"/>
              </a:rPr>
              <a:t>você</a:t>
            </a:r>
            <a:r>
              <a:rPr lang="en-US" sz="1400" dirty="0">
                <a:latin typeface="-apple-system"/>
                <a:ea typeface="-apple-system"/>
                <a:cs typeface="-apple-system"/>
              </a:rPr>
              <a:t> </a:t>
            </a:r>
            <a:r>
              <a:rPr lang="en-US" sz="1400" dirty="0" err="1">
                <a:latin typeface="-apple-system"/>
                <a:ea typeface="-apple-system"/>
                <a:cs typeface="-apple-system"/>
              </a:rPr>
              <a:t>pode</a:t>
            </a:r>
            <a:r>
              <a:rPr lang="en-US" sz="1400" dirty="0">
                <a:latin typeface="-apple-system"/>
                <a:ea typeface="-apple-system"/>
                <a:cs typeface="-apple-system"/>
              </a:rPr>
              <a:t> </a:t>
            </a:r>
            <a:r>
              <a:rPr lang="en-US" sz="1400" dirty="0" err="1">
                <a:latin typeface="-apple-system"/>
                <a:ea typeface="-apple-system"/>
                <a:cs typeface="-apple-system"/>
              </a:rPr>
              <a:t>publicar</a:t>
            </a:r>
            <a:r>
              <a:rPr lang="en-US" sz="1400" dirty="0">
                <a:latin typeface="-apple-system"/>
                <a:ea typeface="-apple-system"/>
                <a:cs typeface="-apple-system"/>
              </a:rPr>
              <a:t> </a:t>
            </a:r>
            <a:r>
              <a:rPr lang="en-US" sz="1400" dirty="0" err="1">
                <a:latin typeface="-apple-system"/>
                <a:ea typeface="-apple-system"/>
                <a:cs typeface="-apple-system"/>
              </a:rPr>
              <a:t>na</a:t>
            </a:r>
            <a:r>
              <a:rPr lang="en-US" sz="1400" dirty="0">
                <a:latin typeface="-apple-system"/>
                <a:ea typeface="-apple-system"/>
                <a:cs typeface="-apple-system"/>
              </a:rPr>
              <a:t> internet (</a:t>
            </a:r>
            <a:r>
              <a:rPr lang="en-US" sz="1400" dirty="0" err="1">
                <a:latin typeface="-apple-system"/>
                <a:ea typeface="-apple-system"/>
                <a:cs typeface="-apple-system"/>
              </a:rPr>
              <a:t>página</a:t>
            </a:r>
            <a:r>
              <a:rPr lang="en-US" sz="1400" dirty="0">
                <a:latin typeface="-apple-system"/>
                <a:ea typeface="-apple-system"/>
                <a:cs typeface="-apple-system"/>
              </a:rPr>
              <a:t> do GitHub, </a:t>
            </a:r>
            <a:r>
              <a:rPr lang="en-US" sz="1400" dirty="0" err="1">
                <a:latin typeface="-apple-system"/>
                <a:ea typeface="-apple-system"/>
                <a:cs typeface="-apple-system"/>
              </a:rPr>
              <a:t>por</a:t>
            </a:r>
            <a:r>
              <a:rPr lang="en-US" sz="1400" dirty="0">
                <a:latin typeface="-apple-system"/>
                <a:ea typeface="-apple-system"/>
                <a:cs typeface="-apple-system"/>
              </a:rPr>
              <a:t> </a:t>
            </a:r>
            <a:r>
              <a:rPr lang="en-US" sz="1400" dirty="0" err="1">
                <a:latin typeface="-apple-system"/>
                <a:ea typeface="-apple-system"/>
                <a:cs typeface="-apple-system"/>
              </a:rPr>
              <a:t>exemplo</a:t>
            </a:r>
            <a:r>
              <a:rPr lang="en-US" sz="1400" dirty="0">
                <a:latin typeface="-apple-system"/>
                <a:ea typeface="-apple-system"/>
                <a:cs typeface="-apple-system"/>
              </a:rPr>
              <a:t>). </a:t>
            </a:r>
            <a:r>
              <a:rPr lang="en-US" sz="1400" dirty="0" err="1">
                <a:latin typeface="-apple-system"/>
                <a:ea typeface="-apple-system"/>
                <a:cs typeface="-apple-system"/>
              </a:rPr>
              <a:t>Você</a:t>
            </a:r>
            <a:r>
              <a:rPr lang="en-US" sz="1400" dirty="0">
                <a:latin typeface="-apple-system"/>
                <a:ea typeface="-apple-system"/>
                <a:cs typeface="-apple-system"/>
              </a:rPr>
              <a:t> </a:t>
            </a:r>
            <a:r>
              <a:rPr lang="en-US" sz="1400" dirty="0" err="1">
                <a:latin typeface="-apple-system"/>
                <a:ea typeface="-apple-system"/>
                <a:cs typeface="-apple-system"/>
              </a:rPr>
              <a:t>levará</a:t>
            </a:r>
            <a:r>
              <a:rPr lang="en-US" sz="1400" dirty="0">
                <a:latin typeface="-apple-system"/>
                <a:ea typeface="-apple-system"/>
                <a:cs typeface="-apple-system"/>
              </a:rPr>
              <a:t> </a:t>
            </a:r>
            <a:r>
              <a:rPr lang="en-US" sz="1400" dirty="0" err="1">
                <a:latin typeface="-apple-system"/>
                <a:ea typeface="-apple-system"/>
                <a:cs typeface="-apple-system"/>
              </a:rPr>
              <a:t>apenas</a:t>
            </a:r>
            <a:r>
              <a:rPr lang="en-US" sz="1400" dirty="0">
                <a:latin typeface="-apple-system"/>
                <a:ea typeface="-apple-system"/>
                <a:cs typeface="-apple-system"/>
              </a:rPr>
              <a:t> </a:t>
            </a:r>
            <a:r>
              <a:rPr lang="en-US" sz="1400" dirty="0" err="1">
                <a:latin typeface="-apple-system"/>
                <a:ea typeface="-apple-system"/>
                <a:cs typeface="-apple-system"/>
              </a:rPr>
              <a:t>alguns</a:t>
            </a:r>
            <a:r>
              <a:rPr lang="en-US" sz="1400" dirty="0">
                <a:latin typeface="-apple-system"/>
                <a:ea typeface="-apple-system"/>
                <a:cs typeface="-apple-system"/>
              </a:rPr>
              <a:t> </a:t>
            </a:r>
            <a:r>
              <a:rPr lang="en-US" sz="1400" dirty="0" err="1">
                <a:latin typeface="-apple-system"/>
                <a:ea typeface="-apple-system"/>
                <a:cs typeface="-apple-system"/>
              </a:rPr>
              <a:t>minutos</a:t>
            </a:r>
            <a:r>
              <a:rPr lang="en-US" sz="1400" dirty="0">
                <a:latin typeface="-apple-system"/>
                <a:ea typeface="-apple-system"/>
                <a:cs typeface="-apple-system"/>
              </a:rPr>
              <a:t> para </a:t>
            </a:r>
            <a:r>
              <a:rPr lang="en-US" sz="1400" dirty="0" err="1">
                <a:latin typeface="-apple-system"/>
                <a:ea typeface="-apple-system"/>
                <a:cs typeface="-apple-system"/>
              </a:rPr>
              <a:t>publicar</a:t>
            </a:r>
            <a:r>
              <a:rPr lang="en-US" sz="1400" dirty="0">
                <a:latin typeface="-apple-system"/>
                <a:ea typeface="-apple-system"/>
                <a:cs typeface="-apple-system"/>
              </a:rPr>
              <a:t>;</a:t>
            </a:r>
            <a:br>
              <a:rPr lang="en-US" sz="1400" dirty="0">
                <a:latin typeface="-apple-system"/>
                <a:ea typeface="-apple-system"/>
                <a:cs typeface="-apple-system"/>
              </a:rPr>
            </a:br>
            <a:br>
              <a:rPr lang="en-US" sz="1400" dirty="0">
                <a:latin typeface="-apple-system"/>
                <a:ea typeface="-apple-system"/>
                <a:cs typeface="-apple-system"/>
              </a:rPr>
            </a:br>
            <a:r>
              <a:rPr lang="en-US" sz="1400" dirty="0">
                <a:latin typeface="-apple-system"/>
                <a:ea typeface="-apple-system"/>
                <a:cs typeface="-apple-system"/>
              </a:rPr>
              <a:t>👉 </a:t>
            </a:r>
            <a:r>
              <a:rPr lang="en-US" sz="1400" dirty="0" err="1">
                <a:latin typeface="-apple-system"/>
                <a:ea typeface="-apple-system"/>
                <a:cs typeface="-apple-system"/>
              </a:rPr>
              <a:t>Lizmap</a:t>
            </a:r>
            <a:r>
              <a:rPr lang="en-US" sz="1400" dirty="0">
                <a:latin typeface="-apple-system"/>
                <a:ea typeface="-apple-system"/>
                <a:cs typeface="-apple-system"/>
              </a:rPr>
              <a:t>: </a:t>
            </a:r>
            <a:r>
              <a:rPr lang="en-US" sz="1400" dirty="0" err="1">
                <a:latin typeface="-apple-system"/>
                <a:ea typeface="-apple-system"/>
                <a:cs typeface="-apple-system"/>
              </a:rPr>
              <a:t>Solução</a:t>
            </a:r>
            <a:r>
              <a:rPr lang="en-US" sz="1400" dirty="0">
                <a:latin typeface="-apple-system"/>
                <a:ea typeface="-apple-system"/>
                <a:cs typeface="-apple-system"/>
              </a:rPr>
              <a:t> completa para </a:t>
            </a:r>
            <a:r>
              <a:rPr lang="en-US" sz="1400" dirty="0" err="1">
                <a:latin typeface="-apple-system"/>
                <a:ea typeface="-apple-system"/>
                <a:cs typeface="-apple-system"/>
              </a:rPr>
              <a:t>publicação</a:t>
            </a:r>
            <a:r>
              <a:rPr lang="en-US" sz="1400" dirty="0">
                <a:latin typeface="-apple-system"/>
                <a:ea typeface="-apple-system"/>
                <a:cs typeface="-apple-system"/>
              </a:rPr>
              <a:t> de um </a:t>
            </a:r>
            <a:r>
              <a:rPr lang="en-US" sz="1400" dirty="0" err="1">
                <a:latin typeface="-apple-system"/>
                <a:ea typeface="-apple-system"/>
                <a:cs typeface="-apple-system"/>
              </a:rPr>
              <a:t>WebGIS</a:t>
            </a:r>
            <a:r>
              <a:rPr lang="en-US" sz="1400" dirty="0">
                <a:latin typeface="-apple-system"/>
                <a:ea typeface="-apple-system"/>
                <a:cs typeface="-apple-system"/>
              </a:rPr>
              <a:t> a </a:t>
            </a:r>
            <a:r>
              <a:rPr lang="en-US" sz="1400" dirty="0" err="1">
                <a:latin typeface="-apple-system"/>
                <a:ea typeface="-apple-system"/>
                <a:cs typeface="-apple-system"/>
              </a:rPr>
              <a:t>partir</a:t>
            </a:r>
            <a:r>
              <a:rPr lang="en-US" sz="1400" dirty="0">
                <a:latin typeface="-apple-system"/>
                <a:ea typeface="-apple-system"/>
                <a:cs typeface="-apple-system"/>
              </a:rPr>
              <a:t> de um </a:t>
            </a:r>
            <a:r>
              <a:rPr lang="en-US" sz="1400" dirty="0" err="1">
                <a:latin typeface="-apple-system"/>
                <a:ea typeface="-apple-system"/>
                <a:cs typeface="-apple-system"/>
              </a:rPr>
              <a:t>projeto</a:t>
            </a:r>
            <a:r>
              <a:rPr lang="en-US" sz="1400" dirty="0">
                <a:latin typeface="-apple-system"/>
                <a:ea typeface="-apple-system"/>
                <a:cs typeface="-apple-system"/>
              </a:rPr>
              <a:t> QGIS. </a:t>
            </a:r>
            <a:r>
              <a:rPr lang="en-US" sz="1400" dirty="0" err="1">
                <a:latin typeface="-apple-system"/>
                <a:ea typeface="-apple-system"/>
                <a:cs typeface="-apple-system"/>
              </a:rPr>
              <a:t>Desenvolvido</a:t>
            </a:r>
            <a:r>
              <a:rPr lang="en-US" sz="1400" dirty="0">
                <a:latin typeface="-apple-system"/>
                <a:ea typeface="-apple-system"/>
                <a:cs typeface="-apple-system"/>
              </a:rPr>
              <a:t> pela </a:t>
            </a:r>
            <a:r>
              <a:rPr lang="en-US" sz="1400" dirty="0" err="1">
                <a:latin typeface="-apple-system"/>
                <a:ea typeface="-apple-system"/>
                <a:cs typeface="-apple-system"/>
              </a:rPr>
              <a:t>empresa</a:t>
            </a:r>
            <a:r>
              <a:rPr lang="en-US" sz="1400" dirty="0">
                <a:latin typeface="-apple-system"/>
                <a:ea typeface="-apple-system"/>
                <a:cs typeface="-apple-system"/>
              </a:rPr>
              <a:t> 3liz, </a:t>
            </a:r>
            <a:r>
              <a:rPr lang="en-US" sz="1400" dirty="0" err="1">
                <a:latin typeface="-apple-system"/>
                <a:ea typeface="-apple-system"/>
                <a:cs typeface="-apple-system"/>
              </a:rPr>
              <a:t>sua</a:t>
            </a:r>
            <a:r>
              <a:rPr lang="en-US" sz="1400" dirty="0">
                <a:latin typeface="-apple-system"/>
                <a:ea typeface="-apple-system"/>
                <a:cs typeface="-apple-system"/>
              </a:rPr>
              <a:t> </a:t>
            </a:r>
            <a:r>
              <a:rPr lang="en-US" sz="1400" dirty="0" err="1">
                <a:latin typeface="-apple-system"/>
                <a:ea typeface="-apple-system"/>
                <a:cs typeface="-apple-system"/>
              </a:rPr>
              <a:t>instalação</a:t>
            </a:r>
            <a:r>
              <a:rPr lang="en-US" sz="1400" dirty="0">
                <a:latin typeface="-apple-system"/>
                <a:ea typeface="-apple-system"/>
                <a:cs typeface="-apple-system"/>
              </a:rPr>
              <a:t>, </a:t>
            </a:r>
            <a:r>
              <a:rPr lang="en-US" sz="1400" dirty="0" err="1">
                <a:latin typeface="-apple-system"/>
                <a:ea typeface="-apple-system"/>
                <a:cs typeface="-apple-system"/>
              </a:rPr>
              <a:t>configuração</a:t>
            </a:r>
            <a:r>
              <a:rPr lang="en-US" sz="1400" dirty="0">
                <a:latin typeface="-apple-system"/>
                <a:ea typeface="-apple-system"/>
                <a:cs typeface="-apple-system"/>
              </a:rPr>
              <a:t> e </a:t>
            </a:r>
            <a:r>
              <a:rPr lang="en-US" sz="1400" dirty="0" err="1">
                <a:latin typeface="-apple-system"/>
                <a:ea typeface="-apple-system"/>
                <a:cs typeface="-apple-system"/>
              </a:rPr>
              <a:t>utilização</a:t>
            </a:r>
            <a:r>
              <a:rPr lang="en-US" sz="1400" dirty="0">
                <a:latin typeface="-apple-system"/>
                <a:ea typeface="-apple-system"/>
                <a:cs typeface="-apple-system"/>
              </a:rPr>
              <a:t> </a:t>
            </a:r>
            <a:r>
              <a:rPr lang="en-US" sz="1400" dirty="0" err="1">
                <a:latin typeface="-apple-system"/>
                <a:ea typeface="-apple-system"/>
                <a:cs typeface="-apple-system"/>
              </a:rPr>
              <a:t>requerem</a:t>
            </a:r>
            <a:r>
              <a:rPr lang="en-US" sz="1400" dirty="0">
                <a:latin typeface="-apple-system"/>
                <a:ea typeface="-apple-system"/>
                <a:cs typeface="-apple-system"/>
              </a:rPr>
              <a:t> um </a:t>
            </a:r>
            <a:r>
              <a:rPr lang="en-US" sz="1400" dirty="0" err="1">
                <a:latin typeface="-apple-system"/>
                <a:ea typeface="-apple-system"/>
                <a:cs typeface="-apple-system"/>
              </a:rPr>
              <a:t>certo</a:t>
            </a:r>
            <a:r>
              <a:rPr lang="en-US" sz="1400" dirty="0">
                <a:latin typeface="-apple-system"/>
                <a:ea typeface="-apple-system"/>
                <a:cs typeface="-apple-system"/>
              </a:rPr>
              <a:t> </a:t>
            </a:r>
            <a:r>
              <a:rPr lang="en-US" sz="1400" dirty="0" err="1">
                <a:latin typeface="-apple-system"/>
                <a:ea typeface="-apple-system"/>
                <a:cs typeface="-apple-system"/>
              </a:rPr>
              <a:t>número</a:t>
            </a:r>
            <a:r>
              <a:rPr lang="en-US" sz="1400" dirty="0">
                <a:latin typeface="-apple-system"/>
                <a:ea typeface="-apple-system"/>
                <a:cs typeface="-apple-system"/>
              </a:rPr>
              <a:t> de </a:t>
            </a:r>
            <a:r>
              <a:rPr lang="en-US" sz="1400" dirty="0" err="1">
                <a:latin typeface="-apple-system"/>
                <a:ea typeface="-apple-system"/>
                <a:cs typeface="-apple-system"/>
              </a:rPr>
              <a:t>pré-requisitos</a:t>
            </a:r>
            <a:r>
              <a:rPr lang="en-US" sz="1400" dirty="0">
                <a:latin typeface="-apple-system"/>
                <a:ea typeface="-apple-system"/>
                <a:cs typeface="-apple-system"/>
              </a:rPr>
              <a:t>, </a:t>
            </a:r>
            <a:r>
              <a:rPr lang="en-US" sz="1400" dirty="0" err="1">
                <a:latin typeface="-apple-system"/>
                <a:ea typeface="-apple-system"/>
                <a:cs typeface="-apple-system"/>
              </a:rPr>
              <a:t>incluindo</a:t>
            </a:r>
            <a:r>
              <a:rPr lang="en-US" sz="1400" dirty="0">
                <a:latin typeface="-apple-system"/>
                <a:ea typeface="-apple-system"/>
                <a:cs typeface="-apple-system"/>
              </a:rPr>
              <a:t> </a:t>
            </a:r>
            <a:r>
              <a:rPr lang="en-US" sz="1400" dirty="0" err="1">
                <a:latin typeface="-apple-system"/>
                <a:ea typeface="-apple-system"/>
                <a:cs typeface="-apple-system"/>
              </a:rPr>
              <a:t>administração</a:t>
            </a:r>
            <a:r>
              <a:rPr lang="en-US" sz="1400" dirty="0">
                <a:latin typeface="-apple-system"/>
                <a:ea typeface="-apple-system"/>
                <a:cs typeface="-apple-system"/>
              </a:rPr>
              <a:t> de </a:t>
            </a:r>
            <a:r>
              <a:rPr lang="en-US" sz="1400" dirty="0" err="1">
                <a:latin typeface="-apple-system"/>
                <a:ea typeface="-apple-system"/>
                <a:cs typeface="-apple-system"/>
              </a:rPr>
              <a:t>servidor</a:t>
            </a:r>
            <a:r>
              <a:rPr lang="en-US" sz="1400" dirty="0">
                <a:latin typeface="-apple-system"/>
                <a:ea typeface="-apple-system"/>
                <a:cs typeface="-apple-system"/>
              </a:rPr>
              <a:t> </a:t>
            </a:r>
            <a:r>
              <a:rPr lang="en-US" sz="1400" dirty="0" err="1">
                <a:latin typeface="-apple-system"/>
                <a:ea typeface="-apple-system"/>
                <a:cs typeface="-apple-system"/>
              </a:rPr>
              <a:t>por</a:t>
            </a:r>
            <a:r>
              <a:rPr lang="en-US" sz="1400" dirty="0">
                <a:latin typeface="-apple-system"/>
                <a:ea typeface="-apple-system"/>
                <a:cs typeface="-apple-system"/>
              </a:rPr>
              <a:t> ser </a:t>
            </a:r>
            <a:r>
              <a:rPr lang="en-US" sz="1400" dirty="0" err="1">
                <a:latin typeface="-apple-system"/>
                <a:ea typeface="-apple-system"/>
                <a:cs typeface="-apple-system"/>
              </a:rPr>
              <a:t>baseado</a:t>
            </a:r>
            <a:r>
              <a:rPr lang="en-US" sz="1400" dirty="0">
                <a:latin typeface="-apple-system"/>
                <a:ea typeface="-apple-system"/>
                <a:cs typeface="-apple-system"/>
              </a:rPr>
              <a:t> </a:t>
            </a:r>
            <a:r>
              <a:rPr lang="en-US" sz="1400" dirty="0" err="1">
                <a:latin typeface="-apple-system"/>
                <a:ea typeface="-apple-system"/>
                <a:cs typeface="-apple-system"/>
              </a:rPr>
              <a:t>em</a:t>
            </a:r>
            <a:r>
              <a:rPr lang="en-US" sz="1400" dirty="0">
                <a:latin typeface="-apple-system"/>
                <a:ea typeface="-apple-system"/>
                <a:cs typeface="-apple-system"/>
              </a:rPr>
              <a:t> QGIS Server e Apache;</a:t>
            </a:r>
            <a:br>
              <a:rPr lang="en-US" sz="1400" dirty="0">
                <a:latin typeface="-apple-system"/>
                <a:ea typeface="-apple-system"/>
                <a:cs typeface="-apple-system"/>
              </a:rPr>
            </a:br>
            <a:br>
              <a:rPr lang="en-US" sz="1400" dirty="0">
                <a:latin typeface="-apple-system"/>
                <a:ea typeface="-apple-system"/>
                <a:cs typeface="-apple-system"/>
              </a:rPr>
            </a:br>
            <a:r>
              <a:rPr lang="en-US" sz="1400" dirty="0">
                <a:latin typeface="-apple-system"/>
                <a:ea typeface="-apple-system"/>
                <a:cs typeface="-apple-system"/>
              </a:rPr>
              <a:t>👉 QGIS Cloud: Uma </a:t>
            </a:r>
            <a:r>
              <a:rPr lang="en-US" sz="1400" dirty="0" err="1">
                <a:latin typeface="-apple-system"/>
                <a:ea typeface="-apple-system"/>
                <a:cs typeface="-apple-system"/>
              </a:rPr>
              <a:t>plataforma</a:t>
            </a:r>
            <a:r>
              <a:rPr lang="en-US" sz="1400" dirty="0">
                <a:latin typeface="-apple-system"/>
                <a:ea typeface="-apple-system"/>
                <a:cs typeface="-apple-system"/>
              </a:rPr>
              <a:t> </a:t>
            </a:r>
            <a:r>
              <a:rPr lang="en-US" sz="1400" dirty="0" err="1">
                <a:latin typeface="-apple-system"/>
                <a:ea typeface="-apple-system"/>
                <a:cs typeface="-apple-system"/>
              </a:rPr>
              <a:t>baseada</a:t>
            </a:r>
            <a:r>
              <a:rPr lang="en-US" sz="1400" dirty="0">
                <a:latin typeface="-apple-system"/>
                <a:ea typeface="-apple-system"/>
                <a:cs typeface="-apple-system"/>
              </a:rPr>
              <a:t> </a:t>
            </a:r>
            <a:r>
              <a:rPr lang="en-US" sz="1400" dirty="0" err="1">
                <a:latin typeface="-apple-system"/>
                <a:ea typeface="-apple-system"/>
                <a:cs typeface="-apple-system"/>
              </a:rPr>
              <a:t>na</a:t>
            </a:r>
            <a:r>
              <a:rPr lang="en-US" sz="1400" dirty="0">
                <a:latin typeface="-apple-system"/>
                <a:ea typeface="-apple-system"/>
                <a:cs typeface="-apple-system"/>
              </a:rPr>
              <a:t> </a:t>
            </a:r>
            <a:r>
              <a:rPr lang="en-US" sz="1400" dirty="0" err="1">
                <a:latin typeface="-apple-system"/>
                <a:ea typeface="-apple-system"/>
                <a:cs typeface="-apple-system"/>
              </a:rPr>
              <a:t>nuvem</a:t>
            </a:r>
            <a:r>
              <a:rPr lang="en-US" sz="1400" dirty="0">
                <a:latin typeface="-apple-system"/>
                <a:ea typeface="-apple-system"/>
                <a:cs typeface="-apple-system"/>
              </a:rPr>
              <a:t> </a:t>
            </a:r>
            <a:r>
              <a:rPr lang="en-US" sz="1400" dirty="0" err="1">
                <a:latin typeface="-apple-system"/>
                <a:ea typeface="-apple-system"/>
                <a:cs typeface="-apple-system"/>
              </a:rPr>
              <a:t>projetada</a:t>
            </a:r>
            <a:r>
              <a:rPr lang="en-US" sz="1400" dirty="0">
                <a:latin typeface="-apple-system"/>
                <a:ea typeface="-apple-system"/>
                <a:cs typeface="-apple-system"/>
              </a:rPr>
              <a:t> para </a:t>
            </a:r>
            <a:r>
              <a:rPr lang="en-US" sz="1400" dirty="0" err="1">
                <a:latin typeface="-apple-system"/>
                <a:ea typeface="-apple-system"/>
                <a:cs typeface="-apple-system"/>
              </a:rPr>
              <a:t>hospedar</a:t>
            </a:r>
            <a:r>
              <a:rPr lang="en-US" sz="1400" dirty="0">
                <a:latin typeface="-apple-system"/>
                <a:ea typeface="-apple-system"/>
                <a:cs typeface="-apple-system"/>
              </a:rPr>
              <a:t> e </a:t>
            </a:r>
            <a:r>
              <a:rPr lang="en-US" sz="1400" dirty="0" err="1">
                <a:latin typeface="-apple-system"/>
                <a:ea typeface="-apple-system"/>
                <a:cs typeface="-apple-system"/>
              </a:rPr>
              <a:t>compartilhar</a:t>
            </a:r>
            <a:r>
              <a:rPr lang="en-US" sz="1400" dirty="0">
                <a:latin typeface="-apple-system"/>
                <a:ea typeface="-apple-system"/>
                <a:cs typeface="-apple-system"/>
              </a:rPr>
              <a:t> </a:t>
            </a:r>
            <a:r>
              <a:rPr lang="en-US" sz="1400" dirty="0" err="1">
                <a:latin typeface="-apple-system"/>
                <a:ea typeface="-apple-system"/>
                <a:cs typeface="-apple-system"/>
              </a:rPr>
              <a:t>projetos</a:t>
            </a:r>
            <a:r>
              <a:rPr lang="en-US" sz="1400" dirty="0">
                <a:latin typeface="-apple-system"/>
                <a:ea typeface="-apple-system"/>
                <a:cs typeface="-apple-system"/>
              </a:rPr>
              <a:t> GIS </a:t>
            </a:r>
            <a:r>
              <a:rPr lang="en-US" sz="1400" dirty="0" err="1">
                <a:latin typeface="-apple-system"/>
                <a:ea typeface="-apple-system"/>
                <a:cs typeface="-apple-system"/>
              </a:rPr>
              <a:t>criados</a:t>
            </a:r>
            <a:r>
              <a:rPr lang="en-US" sz="1400" dirty="0">
                <a:latin typeface="-apple-system"/>
                <a:ea typeface="-apple-system"/>
                <a:cs typeface="-apple-system"/>
              </a:rPr>
              <a:t> com QGIS. Esses </a:t>
            </a:r>
            <a:r>
              <a:rPr lang="en-US" sz="1400" dirty="0" err="1">
                <a:latin typeface="-apple-system"/>
                <a:ea typeface="-apple-system"/>
                <a:cs typeface="-apple-system"/>
              </a:rPr>
              <a:t>projetos</a:t>
            </a:r>
            <a:r>
              <a:rPr lang="en-US" sz="1400" dirty="0">
                <a:latin typeface="-apple-system"/>
                <a:ea typeface="-apple-system"/>
                <a:cs typeface="-apple-system"/>
              </a:rPr>
              <a:t> </a:t>
            </a:r>
            <a:r>
              <a:rPr lang="en-US" sz="1400" dirty="0" err="1">
                <a:latin typeface="-apple-system"/>
                <a:ea typeface="-apple-system"/>
                <a:cs typeface="-apple-system"/>
              </a:rPr>
              <a:t>podem</a:t>
            </a:r>
            <a:r>
              <a:rPr lang="en-US" sz="1400" dirty="0">
                <a:latin typeface="-apple-system"/>
                <a:ea typeface="-apple-system"/>
                <a:cs typeface="-apple-system"/>
              </a:rPr>
              <a:t> ser </a:t>
            </a:r>
            <a:r>
              <a:rPr lang="en-US" sz="1400" dirty="0" err="1">
                <a:latin typeface="-apple-system"/>
                <a:ea typeface="-apple-system"/>
                <a:cs typeface="-apple-system"/>
              </a:rPr>
              <a:t>visualizados</a:t>
            </a:r>
            <a:r>
              <a:rPr lang="en-US" sz="1400" dirty="0">
                <a:latin typeface="-apple-system"/>
                <a:ea typeface="-apple-system"/>
                <a:cs typeface="-apple-system"/>
              </a:rPr>
              <a:t> </a:t>
            </a:r>
            <a:r>
              <a:rPr lang="en-US" sz="1400" dirty="0" err="1">
                <a:latin typeface="-apple-system"/>
                <a:ea typeface="-apple-system"/>
                <a:cs typeface="-apple-system"/>
              </a:rPr>
              <a:t>diretamente</a:t>
            </a:r>
            <a:r>
              <a:rPr lang="en-US" sz="1400" dirty="0">
                <a:latin typeface="-apple-system"/>
                <a:ea typeface="-apple-system"/>
                <a:cs typeface="-apple-system"/>
              </a:rPr>
              <a:t> online </a:t>
            </a:r>
            <a:r>
              <a:rPr lang="en-US" sz="1400" dirty="0" err="1">
                <a:latin typeface="-apple-system"/>
                <a:ea typeface="-apple-system"/>
                <a:cs typeface="-apple-system"/>
              </a:rPr>
              <a:t>através</a:t>
            </a:r>
            <a:r>
              <a:rPr lang="en-US" sz="1400" dirty="0">
                <a:latin typeface="-apple-system"/>
                <a:ea typeface="-apple-system"/>
                <a:cs typeface="-apple-system"/>
              </a:rPr>
              <a:t> de um </a:t>
            </a:r>
            <a:r>
              <a:rPr lang="en-US" sz="1400" dirty="0" err="1">
                <a:latin typeface="-apple-system"/>
                <a:ea typeface="-apple-system"/>
                <a:cs typeface="-apple-system"/>
              </a:rPr>
              <a:t>navegador</a:t>
            </a:r>
            <a:r>
              <a:rPr lang="en-US" sz="1400" dirty="0">
                <a:latin typeface="-apple-system"/>
                <a:ea typeface="-apple-system"/>
                <a:cs typeface="-apple-system"/>
              </a:rPr>
              <a:t> web e </a:t>
            </a:r>
            <a:r>
              <a:rPr lang="en-US" sz="1400" dirty="0" err="1">
                <a:latin typeface="-apple-system"/>
                <a:ea typeface="-apple-system"/>
                <a:cs typeface="-apple-system"/>
              </a:rPr>
              <a:t>podem</a:t>
            </a:r>
            <a:r>
              <a:rPr lang="en-US" sz="1400" dirty="0">
                <a:latin typeface="-apple-system"/>
                <a:ea typeface="-apple-system"/>
                <a:cs typeface="-apple-system"/>
              </a:rPr>
              <a:t> ser </a:t>
            </a:r>
            <a:r>
              <a:rPr lang="en-US" sz="1400" dirty="0" err="1">
                <a:latin typeface="-apple-system"/>
                <a:ea typeface="-apple-system"/>
                <a:cs typeface="-apple-system"/>
              </a:rPr>
              <a:t>sincronizados</a:t>
            </a:r>
            <a:r>
              <a:rPr lang="en-US" sz="1400" dirty="0">
                <a:latin typeface="-apple-system"/>
                <a:ea typeface="-apple-system"/>
                <a:cs typeface="-apple-system"/>
              </a:rPr>
              <a:t> com </a:t>
            </a:r>
            <a:r>
              <a:rPr lang="en-US" sz="1400" dirty="0" err="1">
                <a:latin typeface="-apple-system"/>
                <a:ea typeface="-apple-system"/>
                <a:cs typeface="-apple-system"/>
              </a:rPr>
              <a:t>sua</a:t>
            </a:r>
            <a:r>
              <a:rPr lang="en-US" sz="1400" dirty="0">
                <a:latin typeface="-apple-system"/>
                <a:ea typeface="-apple-system"/>
                <a:cs typeface="-apple-system"/>
              </a:rPr>
              <a:t> </a:t>
            </a:r>
            <a:r>
              <a:rPr lang="en-US" sz="1400" dirty="0" err="1">
                <a:latin typeface="-apple-system"/>
                <a:ea typeface="-apple-system"/>
                <a:cs typeface="-apple-system"/>
              </a:rPr>
              <a:t>versão</a:t>
            </a:r>
            <a:r>
              <a:rPr lang="en-US" sz="1400" dirty="0">
                <a:latin typeface="-apple-system"/>
                <a:ea typeface="-apple-system"/>
                <a:cs typeface="-apple-system"/>
              </a:rPr>
              <a:t> desktop </a:t>
            </a:r>
            <a:r>
              <a:rPr lang="en-US" sz="1400" dirty="0" err="1">
                <a:latin typeface="-apple-system"/>
                <a:ea typeface="-apple-system"/>
                <a:cs typeface="-apple-system"/>
              </a:rPr>
              <a:t>em</a:t>
            </a:r>
            <a:r>
              <a:rPr lang="en-US" sz="1400" dirty="0">
                <a:latin typeface="-apple-system"/>
                <a:ea typeface="-apple-system"/>
                <a:cs typeface="-apple-system"/>
              </a:rPr>
              <a:t> </a:t>
            </a:r>
            <a:r>
              <a:rPr lang="en-US" sz="1400" dirty="0" err="1">
                <a:latin typeface="-apple-system"/>
                <a:ea typeface="-apple-system"/>
                <a:cs typeface="-apple-system"/>
              </a:rPr>
              <a:t>caso</a:t>
            </a:r>
            <a:r>
              <a:rPr lang="en-US" sz="1400" dirty="0">
                <a:latin typeface="-apple-system"/>
                <a:ea typeface="-apple-system"/>
                <a:cs typeface="-apple-system"/>
              </a:rPr>
              <a:t> de </a:t>
            </a:r>
            <a:r>
              <a:rPr lang="en-US" sz="1400" dirty="0" err="1">
                <a:latin typeface="-apple-system"/>
                <a:ea typeface="-apple-system"/>
                <a:cs typeface="-apple-system"/>
              </a:rPr>
              <a:t>modificações</a:t>
            </a:r>
            <a:r>
              <a:rPr lang="en-US" sz="1400" dirty="0">
                <a:latin typeface="-apple-system"/>
                <a:ea typeface="-apple-system"/>
                <a:cs typeface="-apple-system"/>
              </a:rPr>
              <a:t>. A </a:t>
            </a:r>
            <a:r>
              <a:rPr lang="en-US" sz="1400" dirty="0" err="1">
                <a:latin typeface="-apple-system"/>
                <a:ea typeface="-apple-system"/>
                <a:cs typeface="-apple-system"/>
              </a:rPr>
              <a:t>hospedagem</a:t>
            </a:r>
            <a:r>
              <a:rPr lang="en-US" sz="1400" dirty="0">
                <a:latin typeface="-apple-system"/>
                <a:ea typeface="-apple-system"/>
                <a:cs typeface="-apple-system"/>
              </a:rPr>
              <a:t> é </a:t>
            </a:r>
            <a:r>
              <a:rPr lang="en-US" sz="1400" dirty="0" err="1">
                <a:latin typeface="-apple-system"/>
                <a:ea typeface="-apple-system"/>
                <a:cs typeface="-apple-system"/>
              </a:rPr>
              <a:t>gratuita</a:t>
            </a:r>
            <a:r>
              <a:rPr lang="en-US" sz="1400" dirty="0">
                <a:latin typeface="-apple-system"/>
                <a:ea typeface="-apple-system"/>
                <a:cs typeface="-apple-system"/>
              </a:rPr>
              <a:t> para </a:t>
            </a:r>
            <a:r>
              <a:rPr lang="en-US" sz="1400" dirty="0" err="1">
                <a:latin typeface="-apple-system"/>
                <a:ea typeface="-apple-system"/>
                <a:cs typeface="-apple-system"/>
              </a:rPr>
              <a:t>pequenos</a:t>
            </a:r>
            <a:r>
              <a:rPr lang="en-US" sz="1400" dirty="0">
                <a:latin typeface="-apple-system"/>
                <a:ea typeface="-apple-system"/>
                <a:cs typeface="-apple-system"/>
              </a:rPr>
              <a:t> </a:t>
            </a:r>
            <a:r>
              <a:rPr lang="en-US" sz="1400" dirty="0" err="1">
                <a:latin typeface="-apple-system"/>
                <a:ea typeface="-apple-system"/>
                <a:cs typeface="-apple-system"/>
              </a:rPr>
              <a:t>projetos</a:t>
            </a:r>
            <a:r>
              <a:rPr lang="en-US" sz="1400" dirty="0">
                <a:latin typeface="-apple-system"/>
                <a:ea typeface="-apple-system"/>
                <a:cs typeface="-apple-system"/>
              </a:rPr>
              <a:t>, mas </a:t>
            </a:r>
            <a:r>
              <a:rPr lang="en-US" sz="1400" dirty="0" err="1">
                <a:latin typeface="-apple-system"/>
                <a:ea typeface="-apple-system"/>
                <a:cs typeface="-apple-system"/>
              </a:rPr>
              <a:t>pode</a:t>
            </a:r>
            <a:r>
              <a:rPr lang="en-US" sz="1400" dirty="0">
                <a:latin typeface="-apple-system"/>
                <a:ea typeface="-apple-system"/>
                <a:cs typeface="-apple-system"/>
              </a:rPr>
              <a:t> ser </a:t>
            </a:r>
            <a:r>
              <a:rPr lang="en-US" sz="1400" dirty="0" err="1">
                <a:latin typeface="-apple-system"/>
                <a:ea typeface="-apple-system"/>
                <a:cs typeface="-apple-system"/>
              </a:rPr>
              <a:t>paga</a:t>
            </a:r>
            <a:r>
              <a:rPr lang="en-US" sz="1400" dirty="0">
                <a:latin typeface="-apple-system"/>
                <a:ea typeface="-apple-system"/>
                <a:cs typeface="-apple-system"/>
              </a:rPr>
              <a:t> para </a:t>
            </a:r>
            <a:r>
              <a:rPr lang="en-US" sz="1400" dirty="0" err="1">
                <a:latin typeface="-apple-system"/>
                <a:ea typeface="-apple-system"/>
                <a:cs typeface="-apple-system"/>
              </a:rPr>
              <a:t>projetos</a:t>
            </a:r>
            <a:r>
              <a:rPr lang="en-US" sz="1400" dirty="0">
                <a:latin typeface="-apple-system"/>
                <a:ea typeface="-apple-system"/>
                <a:cs typeface="-apple-system"/>
              </a:rPr>
              <a:t> de grande </a:t>
            </a:r>
            <a:r>
              <a:rPr lang="en-US" sz="1400" dirty="0" err="1">
                <a:latin typeface="-apple-system"/>
                <a:ea typeface="-apple-system"/>
                <a:cs typeface="-apple-system"/>
              </a:rPr>
              <a:t>escala</a:t>
            </a:r>
            <a:r>
              <a:rPr lang="en-US" sz="1400" dirty="0">
                <a:latin typeface="-apple-system"/>
                <a:ea typeface="-apple-system"/>
                <a:cs typeface="-apple-system"/>
              </a:rPr>
              <a:t>. Para se </a:t>
            </a:r>
            <a:r>
              <a:rPr lang="en-US" sz="1400" dirty="0" err="1">
                <a:latin typeface="-apple-system"/>
                <a:ea typeface="-apple-system"/>
                <a:cs typeface="-apple-system"/>
              </a:rPr>
              <a:t>beneficiar</a:t>
            </a:r>
            <a:r>
              <a:rPr lang="en-US" sz="1400" dirty="0">
                <a:latin typeface="-apple-system"/>
                <a:ea typeface="-apple-system"/>
                <a:cs typeface="-apple-system"/>
              </a:rPr>
              <a:t> </a:t>
            </a:r>
            <a:r>
              <a:rPr lang="en-US" sz="1400" dirty="0" err="1">
                <a:latin typeface="-apple-system"/>
                <a:ea typeface="-apple-system"/>
                <a:cs typeface="-apple-system"/>
              </a:rPr>
              <a:t>dele</a:t>
            </a:r>
            <a:r>
              <a:rPr lang="en-US" sz="1400" dirty="0">
                <a:latin typeface="-apple-system"/>
                <a:ea typeface="-apple-system"/>
                <a:cs typeface="-apple-system"/>
              </a:rPr>
              <a:t>, </a:t>
            </a:r>
            <a:r>
              <a:rPr lang="en-US" sz="1400" dirty="0" err="1">
                <a:latin typeface="-apple-system"/>
                <a:ea typeface="-apple-system"/>
                <a:cs typeface="-apple-system"/>
              </a:rPr>
              <a:t>você</a:t>
            </a:r>
            <a:r>
              <a:rPr lang="en-US" sz="1400" dirty="0">
                <a:latin typeface="-apple-system"/>
                <a:ea typeface="-apple-system"/>
                <a:cs typeface="-apple-system"/>
              </a:rPr>
              <a:t> </a:t>
            </a:r>
            <a:r>
              <a:rPr lang="en-US" sz="1400" dirty="0" err="1">
                <a:latin typeface="-apple-system"/>
                <a:ea typeface="-apple-system"/>
                <a:cs typeface="-apple-system"/>
              </a:rPr>
              <a:t>precisa</a:t>
            </a:r>
            <a:r>
              <a:rPr lang="en-US" sz="1400" dirty="0">
                <a:latin typeface="-apple-system"/>
                <a:ea typeface="-apple-system"/>
                <a:cs typeface="-apple-system"/>
              </a:rPr>
              <a:t> </a:t>
            </a:r>
            <a:r>
              <a:rPr lang="en-US" sz="1400" dirty="0" err="1">
                <a:latin typeface="-apple-system"/>
                <a:ea typeface="-apple-system"/>
                <a:cs typeface="-apple-system"/>
              </a:rPr>
              <a:t>criar</a:t>
            </a:r>
            <a:r>
              <a:rPr lang="en-US" sz="1400" dirty="0">
                <a:latin typeface="-apple-system"/>
                <a:ea typeface="-apple-system"/>
                <a:cs typeface="-apple-system"/>
              </a:rPr>
              <a:t> </a:t>
            </a:r>
            <a:r>
              <a:rPr lang="en-US" sz="1400" dirty="0" err="1">
                <a:latin typeface="-apple-system"/>
                <a:ea typeface="-apple-system"/>
                <a:cs typeface="-apple-system"/>
              </a:rPr>
              <a:t>uma</a:t>
            </a:r>
            <a:r>
              <a:rPr lang="en-US" sz="1400" dirty="0">
                <a:latin typeface="-apple-system"/>
                <a:ea typeface="-apple-system"/>
                <a:cs typeface="-apple-system"/>
              </a:rPr>
              <a:t> </a:t>
            </a:r>
            <a:r>
              <a:rPr lang="en-US" sz="1400" dirty="0" err="1">
                <a:latin typeface="-apple-system"/>
                <a:ea typeface="-apple-system"/>
                <a:cs typeface="-apple-system"/>
              </a:rPr>
              <a:t>conta</a:t>
            </a:r>
            <a:r>
              <a:rPr lang="en-US" sz="1400" dirty="0">
                <a:latin typeface="-apple-system"/>
                <a:ea typeface="-apple-system"/>
                <a:cs typeface="-apple-system"/>
              </a:rPr>
              <a:t>, </a:t>
            </a:r>
            <a:r>
              <a:rPr lang="en-US" sz="1400" dirty="0" err="1">
                <a:latin typeface="-apple-system"/>
                <a:ea typeface="-apple-system"/>
                <a:cs typeface="-apple-system"/>
              </a:rPr>
              <a:t>instalar</a:t>
            </a:r>
            <a:r>
              <a:rPr lang="en-US" sz="1400" dirty="0">
                <a:latin typeface="-apple-system"/>
                <a:ea typeface="-apple-system"/>
                <a:cs typeface="-apple-system"/>
              </a:rPr>
              <a:t> o plugin QGIS Cloud;</a:t>
            </a:r>
            <a:br>
              <a:rPr lang="en-US" sz="1400" dirty="0">
                <a:latin typeface="-apple-system"/>
                <a:ea typeface="-apple-system"/>
                <a:cs typeface="-apple-system"/>
              </a:rPr>
            </a:br>
            <a:br>
              <a:rPr lang="en-US" sz="1400" dirty="0">
                <a:latin typeface="-apple-system"/>
                <a:ea typeface="-apple-system"/>
                <a:cs typeface="-apple-system"/>
              </a:rPr>
            </a:br>
            <a:r>
              <a:rPr lang="en-US" sz="1400" dirty="0">
                <a:latin typeface="-apple-system"/>
                <a:ea typeface="-apple-system"/>
                <a:cs typeface="-apple-system"/>
              </a:rPr>
              <a:t>👉 </a:t>
            </a:r>
            <a:r>
              <a:rPr lang="en-US" sz="1400" dirty="0" err="1">
                <a:latin typeface="-apple-system"/>
                <a:ea typeface="-apple-system"/>
                <a:cs typeface="-apple-system"/>
              </a:rPr>
              <a:t>MapStore</a:t>
            </a:r>
            <a:r>
              <a:rPr lang="en-US" sz="1400" dirty="0">
                <a:latin typeface="-apple-system"/>
                <a:ea typeface="-apple-system"/>
                <a:cs typeface="-apple-system"/>
              </a:rPr>
              <a:t>: </a:t>
            </a:r>
            <a:r>
              <a:rPr lang="en-US" sz="1400" dirty="0" err="1">
                <a:latin typeface="-apple-system"/>
                <a:ea typeface="-apple-system"/>
                <a:cs typeface="-apple-system"/>
              </a:rPr>
              <a:t>plataforma</a:t>
            </a:r>
            <a:r>
              <a:rPr lang="en-US" sz="1400" dirty="0">
                <a:latin typeface="-apple-system"/>
                <a:ea typeface="-apple-system"/>
                <a:cs typeface="-apple-system"/>
              </a:rPr>
              <a:t> open source </a:t>
            </a:r>
            <a:r>
              <a:rPr lang="en-US" sz="1400" dirty="0" err="1">
                <a:latin typeface="-apple-system"/>
                <a:ea typeface="-apple-system"/>
                <a:cs typeface="-apple-system"/>
              </a:rPr>
              <a:t>desenvolvida</a:t>
            </a:r>
            <a:r>
              <a:rPr lang="en-US" sz="1400" dirty="0">
                <a:latin typeface="-apple-system"/>
                <a:ea typeface="-apple-system"/>
                <a:cs typeface="-apple-system"/>
              </a:rPr>
              <a:t> pela </a:t>
            </a:r>
            <a:r>
              <a:rPr lang="en-US" sz="1400" dirty="0" err="1">
                <a:latin typeface="-apple-system"/>
                <a:ea typeface="-apple-system"/>
                <a:cs typeface="-apple-system"/>
              </a:rPr>
              <a:t>Geosolutions</a:t>
            </a:r>
            <a:r>
              <a:rPr lang="en-US" sz="1400" dirty="0">
                <a:latin typeface="-apple-system"/>
                <a:ea typeface="-apple-system"/>
                <a:cs typeface="-apple-system"/>
              </a:rPr>
              <a:t> </a:t>
            </a:r>
            <a:r>
              <a:rPr lang="en-US" sz="1400" dirty="0" err="1">
                <a:latin typeface="-apple-system"/>
                <a:ea typeface="-apple-system"/>
                <a:cs typeface="-apple-system"/>
              </a:rPr>
              <a:t>destinada</a:t>
            </a:r>
            <a:r>
              <a:rPr lang="en-US" sz="1400" dirty="0">
                <a:latin typeface="-apple-system"/>
                <a:ea typeface="-apple-system"/>
                <a:cs typeface="-apple-system"/>
              </a:rPr>
              <a:t> à </a:t>
            </a:r>
            <a:r>
              <a:rPr lang="en-US" sz="1400" dirty="0" err="1">
                <a:latin typeface="-apple-system"/>
                <a:ea typeface="-apple-system"/>
                <a:cs typeface="-apple-system"/>
              </a:rPr>
              <a:t>criação</a:t>
            </a:r>
            <a:r>
              <a:rPr lang="en-US" sz="1400" dirty="0">
                <a:latin typeface="-apple-system"/>
                <a:ea typeface="-apple-system"/>
                <a:cs typeface="-apple-system"/>
              </a:rPr>
              <a:t>, </a:t>
            </a:r>
            <a:r>
              <a:rPr lang="en-US" sz="1400" dirty="0" err="1">
                <a:latin typeface="-apple-system"/>
                <a:ea typeface="-apple-system"/>
                <a:cs typeface="-apple-system"/>
              </a:rPr>
              <a:t>publicação</a:t>
            </a:r>
            <a:r>
              <a:rPr lang="en-US" sz="1400" dirty="0">
                <a:latin typeface="-apple-system"/>
                <a:ea typeface="-apple-system"/>
                <a:cs typeface="-apple-system"/>
              </a:rPr>
              <a:t> e </a:t>
            </a:r>
            <a:r>
              <a:rPr lang="en-US" sz="1400" dirty="0" err="1">
                <a:latin typeface="-apple-system"/>
                <a:ea typeface="-apple-system"/>
                <a:cs typeface="-apple-system"/>
              </a:rPr>
              <a:t>gestão</a:t>
            </a:r>
            <a:r>
              <a:rPr lang="en-US" sz="1400" dirty="0">
                <a:latin typeface="-apple-system"/>
                <a:ea typeface="-apple-system"/>
                <a:cs typeface="-apple-system"/>
              </a:rPr>
              <a:t> de </a:t>
            </a:r>
            <a:r>
              <a:rPr lang="en-US" sz="1400" dirty="0" err="1">
                <a:latin typeface="-apple-system"/>
                <a:ea typeface="-apple-system"/>
                <a:cs typeface="-apple-system"/>
              </a:rPr>
              <a:t>aplicações</a:t>
            </a:r>
            <a:r>
              <a:rPr lang="en-US" sz="1400" dirty="0">
                <a:latin typeface="-apple-system"/>
                <a:ea typeface="-apple-system"/>
                <a:cs typeface="-apple-system"/>
              </a:rPr>
              <a:t> </a:t>
            </a:r>
            <a:r>
              <a:rPr lang="en-US" sz="1400" dirty="0" err="1">
                <a:latin typeface="-apple-system"/>
                <a:ea typeface="-apple-system"/>
                <a:cs typeface="-apple-system"/>
              </a:rPr>
              <a:t>cartográficas</a:t>
            </a:r>
            <a:r>
              <a:rPr lang="en-US" sz="1400" dirty="0">
                <a:latin typeface="-apple-system"/>
                <a:ea typeface="-apple-system"/>
                <a:cs typeface="-apple-system"/>
              </a:rPr>
              <a:t> web, dashboards, </a:t>
            </a:r>
            <a:r>
              <a:rPr lang="en-US" sz="1400" dirty="0" err="1">
                <a:latin typeface="-apple-system"/>
                <a:ea typeface="-apple-system"/>
                <a:cs typeface="-apple-system"/>
              </a:rPr>
              <a:t>geostories</a:t>
            </a:r>
            <a:r>
              <a:rPr lang="en-US" sz="1400" dirty="0">
                <a:latin typeface="-apple-system"/>
                <a:ea typeface="-apple-system"/>
                <a:cs typeface="-apple-system"/>
              </a:rPr>
              <a:t>. Pode ser </a:t>
            </a:r>
            <a:r>
              <a:rPr lang="en-US" sz="1400" dirty="0" err="1">
                <a:latin typeface="-apple-system"/>
                <a:ea typeface="-apple-system"/>
                <a:cs typeface="-apple-system"/>
              </a:rPr>
              <a:t>usado</a:t>
            </a:r>
            <a:r>
              <a:rPr lang="en-US" sz="1400" dirty="0">
                <a:latin typeface="-apple-system"/>
                <a:ea typeface="-apple-system"/>
                <a:cs typeface="-apple-system"/>
              </a:rPr>
              <a:t> </a:t>
            </a:r>
            <a:r>
              <a:rPr lang="en-US" sz="1400" dirty="0" err="1">
                <a:latin typeface="-apple-system"/>
                <a:ea typeface="-apple-system"/>
                <a:cs typeface="-apple-system"/>
              </a:rPr>
              <a:t>em</a:t>
            </a:r>
            <a:r>
              <a:rPr lang="en-US" sz="1400" dirty="0">
                <a:latin typeface="-apple-system"/>
                <a:ea typeface="-apple-system"/>
                <a:cs typeface="-apple-system"/>
              </a:rPr>
              <a:t> conjunto com o </a:t>
            </a:r>
            <a:r>
              <a:rPr lang="en-US" sz="1400" dirty="0" err="1">
                <a:latin typeface="-apple-system"/>
                <a:ea typeface="-apple-system"/>
                <a:cs typeface="-apple-system"/>
              </a:rPr>
              <a:t>Geoserver</a:t>
            </a:r>
            <a:r>
              <a:rPr lang="en-US" sz="1400" dirty="0">
                <a:latin typeface="-apple-system"/>
                <a:ea typeface="-apple-system"/>
                <a:cs typeface="-apple-system"/>
              </a:rPr>
              <a:t>;</a:t>
            </a:r>
            <a:br>
              <a:rPr lang="en-US" sz="1400" dirty="0">
                <a:latin typeface="-apple-system"/>
                <a:ea typeface="-apple-system"/>
                <a:cs typeface="-apple-system"/>
              </a:rPr>
            </a:br>
            <a:br>
              <a:rPr lang="en-US" sz="1400" dirty="0">
                <a:latin typeface="-apple-system"/>
                <a:ea typeface="-apple-system"/>
                <a:cs typeface="-apple-system"/>
              </a:rPr>
            </a:br>
            <a:r>
              <a:rPr lang="en-US" sz="1400" dirty="0">
                <a:latin typeface="-apple-system"/>
                <a:ea typeface="-apple-system"/>
                <a:cs typeface="-apple-system"/>
              </a:rPr>
              <a:t>👉 </a:t>
            </a:r>
            <a:r>
              <a:rPr lang="en-US" sz="1400" dirty="0" err="1">
                <a:latin typeface="-apple-system"/>
                <a:ea typeface="-apple-system"/>
                <a:cs typeface="-apple-system"/>
              </a:rPr>
              <a:t>GeoNode</a:t>
            </a:r>
            <a:r>
              <a:rPr lang="en-US" sz="1400" dirty="0">
                <a:latin typeface="-apple-system"/>
                <a:ea typeface="-apple-system"/>
                <a:cs typeface="-apple-system"/>
              </a:rPr>
              <a:t>: É um </a:t>
            </a:r>
            <a:r>
              <a:rPr lang="en-US" sz="1400" dirty="0" err="1">
                <a:latin typeface="-apple-system"/>
                <a:ea typeface="-apple-system"/>
                <a:cs typeface="-apple-system"/>
              </a:rPr>
              <a:t>sistema</a:t>
            </a:r>
            <a:r>
              <a:rPr lang="en-US" sz="1400" dirty="0">
                <a:latin typeface="-apple-system"/>
                <a:ea typeface="-apple-system"/>
                <a:cs typeface="-apple-system"/>
              </a:rPr>
              <a:t> de </a:t>
            </a:r>
            <a:r>
              <a:rPr lang="en-US" sz="1400" dirty="0" err="1">
                <a:latin typeface="-apple-system"/>
                <a:ea typeface="-apple-system"/>
                <a:cs typeface="-apple-system"/>
              </a:rPr>
              <a:t>gerenciamento</a:t>
            </a:r>
            <a:r>
              <a:rPr lang="en-US" sz="1400" dirty="0">
                <a:latin typeface="-apple-system"/>
                <a:ea typeface="-apple-system"/>
                <a:cs typeface="-apple-system"/>
              </a:rPr>
              <a:t> de </a:t>
            </a:r>
            <a:r>
              <a:rPr lang="en-US" sz="1400" dirty="0" err="1">
                <a:latin typeface="-apple-system"/>
                <a:ea typeface="-apple-system"/>
                <a:cs typeface="-apple-system"/>
              </a:rPr>
              <a:t>conteúdo</a:t>
            </a:r>
            <a:r>
              <a:rPr lang="en-US" sz="1400" dirty="0">
                <a:latin typeface="-apple-system"/>
                <a:ea typeface="-apple-system"/>
                <a:cs typeface="-apple-system"/>
              </a:rPr>
              <a:t> (CMS) </a:t>
            </a:r>
            <a:r>
              <a:rPr lang="en-US" sz="1400" dirty="0" err="1">
                <a:latin typeface="-apple-system"/>
                <a:ea typeface="-apple-system"/>
                <a:cs typeface="-apple-system"/>
              </a:rPr>
              <a:t>geoespacial</a:t>
            </a:r>
            <a:r>
              <a:rPr lang="en-US" sz="1400" dirty="0">
                <a:latin typeface="-apple-system"/>
                <a:ea typeface="-apple-system"/>
                <a:cs typeface="-apple-system"/>
              </a:rPr>
              <a:t> </a:t>
            </a:r>
            <a:r>
              <a:rPr lang="en-US" sz="1400" dirty="0" err="1">
                <a:latin typeface="-apple-system"/>
                <a:ea typeface="-apple-system"/>
                <a:cs typeface="-apple-system"/>
              </a:rPr>
              <a:t>desenvolvido</a:t>
            </a:r>
            <a:r>
              <a:rPr lang="en-US" sz="1400" dirty="0">
                <a:latin typeface="-apple-system"/>
                <a:ea typeface="-apple-system"/>
                <a:cs typeface="-apple-system"/>
              </a:rPr>
              <a:t> pela </a:t>
            </a:r>
            <a:r>
              <a:rPr lang="en-US" sz="1400" dirty="0" err="1">
                <a:latin typeface="-apple-system"/>
                <a:ea typeface="-apple-system"/>
                <a:cs typeface="-apple-system"/>
              </a:rPr>
              <a:t>mesma</a:t>
            </a:r>
            <a:r>
              <a:rPr lang="en-US" sz="1400" dirty="0">
                <a:latin typeface="-apple-system"/>
                <a:ea typeface="-apple-system"/>
                <a:cs typeface="-apple-system"/>
              </a:rPr>
              <a:t> </a:t>
            </a:r>
            <a:r>
              <a:rPr lang="en-US" sz="1400" dirty="0" err="1">
                <a:latin typeface="-apple-system"/>
                <a:ea typeface="-apple-system"/>
                <a:cs typeface="-apple-system"/>
              </a:rPr>
              <a:t>empresa</a:t>
            </a:r>
            <a:r>
              <a:rPr lang="en-US" sz="1400" dirty="0">
                <a:latin typeface="-apple-system"/>
                <a:ea typeface="-apple-system"/>
                <a:cs typeface="-apple-system"/>
              </a:rPr>
              <a:t> </a:t>
            </a:r>
            <a:r>
              <a:rPr lang="en-US" sz="1400" dirty="0" err="1">
                <a:latin typeface="-apple-system"/>
                <a:ea typeface="-apple-system"/>
                <a:cs typeface="-apple-system"/>
              </a:rPr>
              <a:t>Geosolutions</a:t>
            </a:r>
            <a:r>
              <a:rPr lang="en-US" sz="1400" dirty="0">
                <a:latin typeface="-apple-system"/>
                <a:ea typeface="-apple-system"/>
                <a:cs typeface="-apple-system"/>
              </a:rPr>
              <a:t>, </a:t>
            </a:r>
            <a:r>
              <a:rPr lang="en-US" sz="1400" dirty="0" err="1">
                <a:latin typeface="-apple-system"/>
                <a:ea typeface="-apple-system"/>
                <a:cs typeface="-apple-system"/>
              </a:rPr>
              <a:t>uma</a:t>
            </a:r>
            <a:r>
              <a:rPr lang="en-US" sz="1400" dirty="0">
                <a:latin typeface="-apple-system"/>
                <a:ea typeface="-apple-system"/>
                <a:cs typeface="-apple-system"/>
              </a:rPr>
              <a:t> </a:t>
            </a:r>
            <a:r>
              <a:rPr lang="en-US" sz="1400" dirty="0" err="1">
                <a:latin typeface="-apple-system"/>
                <a:ea typeface="-apple-system"/>
                <a:cs typeface="-apple-system"/>
              </a:rPr>
              <a:t>plataforma</a:t>
            </a:r>
            <a:r>
              <a:rPr lang="en-US" sz="1400" dirty="0">
                <a:latin typeface="-apple-system"/>
                <a:ea typeface="-apple-system"/>
                <a:cs typeface="-apple-system"/>
              </a:rPr>
              <a:t> de </a:t>
            </a:r>
            <a:r>
              <a:rPr lang="en-US" sz="1400" dirty="0" err="1">
                <a:latin typeface="-apple-system"/>
                <a:ea typeface="-apple-system"/>
                <a:cs typeface="-apple-system"/>
              </a:rPr>
              <a:t>gerenciamento</a:t>
            </a:r>
            <a:r>
              <a:rPr lang="en-US" sz="1400" dirty="0">
                <a:latin typeface="-apple-system"/>
                <a:ea typeface="-apple-system"/>
                <a:cs typeface="-apple-system"/>
              </a:rPr>
              <a:t> e </a:t>
            </a:r>
            <a:r>
              <a:rPr lang="en-US" sz="1400" dirty="0" err="1">
                <a:latin typeface="-apple-system"/>
                <a:ea typeface="-apple-system"/>
                <a:cs typeface="-apple-system"/>
              </a:rPr>
              <a:t>publicação</a:t>
            </a:r>
            <a:r>
              <a:rPr lang="en-US" sz="1400" dirty="0">
                <a:latin typeface="-apple-system"/>
                <a:ea typeface="-apple-system"/>
                <a:cs typeface="-apple-system"/>
              </a:rPr>
              <a:t> de dados </a:t>
            </a:r>
            <a:r>
              <a:rPr lang="en-US" sz="1400" dirty="0" err="1">
                <a:latin typeface="-apple-system"/>
                <a:ea typeface="-apple-system"/>
                <a:cs typeface="-apple-system"/>
              </a:rPr>
              <a:t>geoespaciais</a:t>
            </a:r>
            <a:r>
              <a:rPr lang="en-US" sz="1400" dirty="0">
                <a:latin typeface="-apple-system"/>
                <a:ea typeface="-apple-system"/>
                <a:cs typeface="-apple-system"/>
              </a:rPr>
              <a:t> </a:t>
            </a:r>
            <a:r>
              <a:rPr lang="en-US" sz="1400" dirty="0" err="1">
                <a:latin typeface="-apple-system"/>
                <a:ea typeface="-apple-system"/>
                <a:cs typeface="-apple-system"/>
              </a:rPr>
              <a:t>que</a:t>
            </a:r>
            <a:r>
              <a:rPr lang="en-US" sz="1400" dirty="0">
                <a:latin typeface="-apple-system"/>
                <a:ea typeface="-apple-system"/>
                <a:cs typeface="-apple-system"/>
              </a:rPr>
              <a:t> </a:t>
            </a:r>
            <a:r>
              <a:rPr lang="en-US" sz="1400" dirty="0" err="1">
                <a:latin typeface="-apple-system"/>
                <a:ea typeface="-apple-system"/>
                <a:cs typeface="-apple-system"/>
              </a:rPr>
              <a:t>permite</a:t>
            </a:r>
            <a:r>
              <a:rPr lang="en-US" sz="1400" dirty="0">
                <a:latin typeface="-apple-system"/>
                <a:ea typeface="-apple-system"/>
                <a:cs typeface="-apple-system"/>
              </a:rPr>
              <a:t> a </a:t>
            </a:r>
            <a:r>
              <a:rPr lang="en-US" sz="1400" dirty="0" err="1">
                <a:latin typeface="-apple-system"/>
                <a:ea typeface="-apple-system"/>
                <a:cs typeface="-apple-system"/>
              </a:rPr>
              <a:t>usuários</a:t>
            </a:r>
            <a:r>
              <a:rPr lang="en-US" sz="1400" dirty="0">
                <a:latin typeface="-apple-system"/>
                <a:ea typeface="-apple-system"/>
                <a:cs typeface="-apple-system"/>
              </a:rPr>
              <a:t> </a:t>
            </a:r>
            <a:r>
              <a:rPr lang="en-US" sz="1400" dirty="0" err="1">
                <a:latin typeface="-apple-system"/>
                <a:ea typeface="-apple-system"/>
                <a:cs typeface="-apple-system"/>
              </a:rPr>
              <a:t>não</a:t>
            </a:r>
            <a:r>
              <a:rPr lang="en-US" sz="1400" dirty="0">
                <a:latin typeface="-apple-system"/>
                <a:ea typeface="-apple-system"/>
                <a:cs typeface="-apple-system"/>
              </a:rPr>
              <a:t> </a:t>
            </a:r>
            <a:r>
              <a:rPr lang="en-US" sz="1400" dirty="0" err="1">
                <a:latin typeface="-apple-system"/>
                <a:ea typeface="-apple-system"/>
                <a:cs typeface="-apple-system"/>
              </a:rPr>
              <a:t>especializados</a:t>
            </a:r>
            <a:r>
              <a:rPr lang="en-US" sz="1400" dirty="0">
                <a:latin typeface="-apple-system"/>
                <a:ea typeface="-apple-system"/>
                <a:cs typeface="-apple-system"/>
              </a:rPr>
              <a:t> </a:t>
            </a:r>
            <a:r>
              <a:rPr lang="en-US" sz="1400" dirty="0" err="1">
                <a:latin typeface="-apple-system"/>
                <a:ea typeface="-apple-system"/>
                <a:cs typeface="-apple-system"/>
              </a:rPr>
              <a:t>compartilhar</a:t>
            </a:r>
            <a:r>
              <a:rPr lang="en-US" sz="1400" dirty="0">
                <a:latin typeface="-apple-system"/>
                <a:ea typeface="-apple-system"/>
                <a:cs typeface="-apple-system"/>
              </a:rPr>
              <a:t> dados e </a:t>
            </a:r>
            <a:r>
              <a:rPr lang="en-US" sz="1400" dirty="0" err="1">
                <a:latin typeface="-apple-system"/>
                <a:ea typeface="-apple-system"/>
                <a:cs typeface="-apple-system"/>
              </a:rPr>
              <a:t>criar</a:t>
            </a:r>
            <a:r>
              <a:rPr lang="en-US" sz="1400" dirty="0">
                <a:latin typeface="-apple-system"/>
                <a:ea typeface="-apple-system"/>
                <a:cs typeface="-apple-system"/>
              </a:rPr>
              <a:t> </a:t>
            </a:r>
            <a:r>
              <a:rPr lang="en-US" sz="1400" dirty="0" err="1">
                <a:latin typeface="-apple-system"/>
                <a:ea typeface="-apple-system"/>
                <a:cs typeface="-apple-system"/>
              </a:rPr>
              <a:t>mapas</a:t>
            </a:r>
            <a:r>
              <a:rPr lang="en-US" sz="1400" dirty="0">
                <a:latin typeface="-apple-system"/>
                <a:ea typeface="-apple-system"/>
                <a:cs typeface="-apple-system"/>
              </a:rPr>
              <a:t> </a:t>
            </a:r>
            <a:r>
              <a:rPr lang="en-US" sz="1400" dirty="0" err="1">
                <a:latin typeface="-apple-system"/>
                <a:ea typeface="-apple-system"/>
                <a:cs typeface="-apple-system"/>
              </a:rPr>
              <a:t>interativos</a:t>
            </a:r>
            <a:r>
              <a:rPr lang="en-US" sz="1400" dirty="0">
                <a:latin typeface="-apple-system"/>
                <a:ea typeface="-apple-system"/>
                <a:cs typeface="-apple-system"/>
              </a:rPr>
              <a:t>. </a:t>
            </a:r>
            <a:r>
              <a:rPr lang="en-US" sz="1400" dirty="0" err="1">
                <a:latin typeface="-apple-system"/>
                <a:ea typeface="-apple-system"/>
                <a:cs typeface="-apple-system"/>
              </a:rPr>
              <a:t>Também</a:t>
            </a:r>
            <a:r>
              <a:rPr lang="en-US" sz="1400" dirty="0">
                <a:latin typeface="-apple-system"/>
                <a:ea typeface="-apple-system"/>
                <a:cs typeface="-apple-system"/>
              </a:rPr>
              <a:t> </a:t>
            </a:r>
            <a:r>
              <a:rPr lang="en-US" sz="1400" dirty="0" err="1">
                <a:latin typeface="-apple-system"/>
                <a:ea typeface="-apple-system"/>
                <a:cs typeface="-apple-system"/>
              </a:rPr>
              <a:t>pode</a:t>
            </a:r>
            <a:r>
              <a:rPr lang="en-US" sz="1400" dirty="0">
                <a:latin typeface="-apple-system"/>
                <a:ea typeface="-apple-system"/>
                <a:cs typeface="-apple-system"/>
              </a:rPr>
              <a:t> ser </a:t>
            </a:r>
            <a:r>
              <a:rPr lang="en-US" sz="1400" dirty="0" err="1">
                <a:latin typeface="-apple-system"/>
                <a:ea typeface="-apple-system"/>
                <a:cs typeface="-apple-system"/>
              </a:rPr>
              <a:t>usado</a:t>
            </a:r>
            <a:r>
              <a:rPr lang="en-US" sz="1400" dirty="0">
                <a:latin typeface="-apple-system"/>
                <a:ea typeface="-apple-system"/>
                <a:cs typeface="-apple-system"/>
              </a:rPr>
              <a:t> </a:t>
            </a:r>
            <a:r>
              <a:rPr lang="en-US" sz="1400" dirty="0" err="1">
                <a:latin typeface="-apple-system"/>
                <a:ea typeface="-apple-system"/>
                <a:cs typeface="-apple-system"/>
              </a:rPr>
              <a:t>em</a:t>
            </a:r>
            <a:r>
              <a:rPr lang="en-US" sz="1400" dirty="0">
                <a:latin typeface="-apple-system"/>
                <a:ea typeface="-apple-system"/>
                <a:cs typeface="-apple-system"/>
              </a:rPr>
              <a:t> um </a:t>
            </a:r>
            <a:r>
              <a:rPr lang="en-US" sz="1400" dirty="0" err="1">
                <a:latin typeface="-apple-system"/>
                <a:ea typeface="-apple-system"/>
                <a:cs typeface="-apple-system"/>
              </a:rPr>
              <a:t>projeto</a:t>
            </a:r>
            <a:r>
              <a:rPr lang="en-US" sz="1400" dirty="0">
                <a:latin typeface="-apple-system"/>
                <a:ea typeface="-apple-system"/>
                <a:cs typeface="-apple-system"/>
              </a:rPr>
              <a:t> Django para quem </a:t>
            </a:r>
            <a:r>
              <a:rPr lang="en-US" sz="1400" dirty="0" err="1">
                <a:latin typeface="-apple-system"/>
                <a:ea typeface="-apple-system"/>
                <a:cs typeface="-apple-system"/>
              </a:rPr>
              <a:t>deseja</a:t>
            </a:r>
            <a:r>
              <a:rPr lang="en-US" sz="1400" dirty="0">
                <a:latin typeface="-apple-system"/>
                <a:ea typeface="-apple-system"/>
                <a:cs typeface="-apple-system"/>
              </a:rPr>
              <a:t> </a:t>
            </a:r>
            <a:r>
              <a:rPr lang="en-US" sz="1400" dirty="0" err="1">
                <a:latin typeface="-apple-system"/>
                <a:ea typeface="-apple-system"/>
                <a:cs typeface="-apple-system"/>
              </a:rPr>
              <a:t>integrar</a:t>
            </a:r>
            <a:r>
              <a:rPr lang="en-US" sz="1400" dirty="0">
                <a:latin typeface="-apple-system"/>
                <a:ea typeface="-apple-system"/>
                <a:cs typeface="-apple-system"/>
              </a:rPr>
              <a:t> </a:t>
            </a:r>
            <a:r>
              <a:rPr lang="en-US" sz="1400" dirty="0" err="1">
                <a:latin typeface="-apple-system"/>
                <a:ea typeface="-apple-system"/>
                <a:cs typeface="-apple-system"/>
              </a:rPr>
              <a:t>componentes</a:t>
            </a:r>
            <a:r>
              <a:rPr lang="en-US" sz="1400" dirty="0">
                <a:latin typeface="-apple-system"/>
                <a:ea typeface="-apple-system"/>
                <a:cs typeface="-apple-system"/>
              </a:rPr>
              <a:t> de </a:t>
            </a:r>
            <a:r>
              <a:rPr lang="en-US" sz="1400" dirty="0" err="1">
                <a:latin typeface="-apple-system"/>
                <a:ea typeface="-apple-system"/>
                <a:cs typeface="-apple-system"/>
              </a:rPr>
              <a:t>mapas</a:t>
            </a:r>
            <a:r>
              <a:rPr lang="en-US" sz="1400" dirty="0">
                <a:latin typeface="-apple-system"/>
                <a:ea typeface="-apple-system"/>
                <a:cs typeface="-apple-system"/>
              </a:rPr>
              <a:t> </a:t>
            </a:r>
            <a:r>
              <a:rPr lang="en-US" sz="1400" dirty="0" err="1">
                <a:latin typeface="-apple-system"/>
                <a:ea typeface="-apple-system"/>
                <a:cs typeface="-apple-system"/>
              </a:rPr>
              <a:t>prontos</a:t>
            </a:r>
            <a:r>
              <a:rPr lang="en-US" sz="1400" dirty="0">
                <a:latin typeface="-apple-system"/>
                <a:ea typeface="-apple-system"/>
                <a:cs typeface="-apple-system"/>
              </a:rPr>
              <a:t> para </a:t>
            </a:r>
            <a:r>
              <a:rPr lang="en-US" sz="1400" dirty="0" err="1">
                <a:latin typeface="-apple-system"/>
                <a:ea typeface="-apple-system"/>
                <a:cs typeface="-apple-system"/>
              </a:rPr>
              <a:t>uso</a:t>
            </a:r>
            <a:r>
              <a:rPr lang="en-US" sz="1400" dirty="0">
                <a:latin typeface="-apple-system"/>
                <a:ea typeface="-apple-system"/>
                <a:cs typeface="-apple-system"/>
              </a:rPr>
              <a:t>.</a:t>
            </a:r>
            <a:endParaRPr lang="en-US" sz="1400" dirty="0"/>
          </a:p>
          <a:p>
            <a:pPr algn="ctr"/>
            <a:endParaRPr lang="pt-BR"/>
          </a:p>
        </p:txBody>
      </p:sp>
      <p:pic>
        <p:nvPicPr>
          <p:cNvPr id="6" name="Imagem 5" descr="Não foi fornecido texto alternativo para esta imagem">
            <a:extLst>
              <a:ext uri="{FF2B5EF4-FFF2-40B4-BE49-F238E27FC236}">
                <a16:creationId xmlns:a16="http://schemas.microsoft.com/office/drawing/2014/main" id="{D0F5B450-C6D0-05CC-7EFA-C20DB8389B65}"/>
              </a:ext>
            </a:extLst>
          </p:cNvPr>
          <p:cNvPicPr>
            <a:picLocks noChangeAspect="1"/>
          </p:cNvPicPr>
          <p:nvPr/>
        </p:nvPicPr>
        <p:blipFill>
          <a:blip r:embed="rId2"/>
          <a:stretch>
            <a:fillRect/>
          </a:stretch>
        </p:blipFill>
        <p:spPr>
          <a:xfrm>
            <a:off x="258792" y="450730"/>
            <a:ext cx="4399472" cy="4475672"/>
          </a:xfrm>
          <a:prstGeom prst="rect">
            <a:avLst/>
          </a:prstGeom>
        </p:spPr>
      </p:pic>
      <p:sp>
        <p:nvSpPr>
          <p:cNvPr id="7" name="CaixaDeTexto 6">
            <a:extLst>
              <a:ext uri="{FF2B5EF4-FFF2-40B4-BE49-F238E27FC236}">
                <a16:creationId xmlns:a16="http://schemas.microsoft.com/office/drawing/2014/main" id="{FE08BF41-1E2B-A5AA-EBEF-2B0E4B6903C5}"/>
              </a:ext>
            </a:extLst>
          </p:cNvPr>
          <p:cNvSpPr txBox="1"/>
          <p:nvPr/>
        </p:nvSpPr>
        <p:spPr>
          <a:xfrm>
            <a:off x="258793" y="5254925"/>
            <a:ext cx="3752491"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t>https://www.linkedin.com/feed/update/urn:li:activity:7178115154906144770?utm_source=share&amp;utm_medium=member_desktop&amp;rcm=ACoAAAMQtAUB5UouXqdBJgo_gWpNVZ7Imay_2Tg</a:t>
            </a:r>
          </a:p>
          <a:p>
            <a:pPr algn="ctr"/>
            <a:endParaRPr lang="pt-BR"/>
          </a:p>
        </p:txBody>
      </p:sp>
    </p:spTree>
    <p:extLst>
      <p:ext uri="{BB962C8B-B14F-4D97-AF65-F5344CB8AC3E}">
        <p14:creationId xmlns:p14="http://schemas.microsoft.com/office/powerpoint/2010/main" val="79962866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DDBA7FBC-BD5E-F268-5BF4-94B3C32B905D}"/>
              </a:ext>
            </a:extLst>
          </p:cNvPr>
          <p:cNvSpPr txBox="1"/>
          <p:nvPr/>
        </p:nvSpPr>
        <p:spPr>
          <a:xfrm>
            <a:off x="5765321" y="2408208"/>
            <a:ext cx="609600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0" i="0">
                <a:latin typeface="-apple-system"/>
                <a:ea typeface="-apple-system"/>
                <a:cs typeface="-apple-system"/>
              </a:rPr>
              <a:t>Ready to enable web-based utility network editing? This blog walks you through how to configure </a:t>
            </a:r>
            <a:r>
              <a:rPr lang="en-US" b="1" i="0">
                <a:solidFill>
                  <a:srgbClr val="0A66C2"/>
                </a:solidFill>
                <a:latin typeface="-apple-system"/>
                <a:ea typeface="-apple-system"/>
                <a:cs typeface="-apple-system"/>
                <a:hlinkClick r:id="rId2"/>
              </a:rPr>
              <a:t>hashtag#ArcGISWebEditor</a:t>
            </a:r>
            <a:r>
              <a:rPr lang="en-US" b="0" i="0">
                <a:latin typeface="-apple-system"/>
                <a:ea typeface="-apple-system"/>
                <a:cs typeface="-apple-system"/>
              </a:rPr>
              <a:t> to edit your utility network.</a:t>
            </a:r>
            <a:br>
              <a:rPr lang="en-US" b="0" i="0">
                <a:latin typeface="-apple-system"/>
                <a:ea typeface="-apple-system"/>
                <a:cs typeface="-apple-system"/>
              </a:rPr>
            </a:br>
            <a:br>
              <a:rPr lang="en-US" b="0" i="0">
                <a:latin typeface="-apple-system"/>
                <a:ea typeface="-apple-system"/>
                <a:cs typeface="-apple-system"/>
              </a:rPr>
            </a:br>
            <a:r>
              <a:rPr lang="en-US" b="0" i="0">
                <a:latin typeface="-apple-system"/>
                <a:ea typeface="-apple-system"/>
                <a:cs typeface="-apple-system"/>
              </a:rPr>
              <a:t>Read the blog ➡️ </a:t>
            </a:r>
            <a:r>
              <a:rPr lang="en-US" b="1" i="0">
                <a:solidFill>
                  <a:srgbClr val="0A66C2"/>
                </a:solidFill>
                <a:latin typeface="-apple-system"/>
                <a:ea typeface="-apple-system"/>
                <a:cs typeface="-apple-system"/>
                <a:hlinkClick r:id="rId3"/>
              </a:rPr>
              <a:t>https://lnkd.in/gq3YPSmu</a:t>
            </a:r>
          </a:p>
          <a:p>
            <a:pPr algn="l"/>
            <a:endParaRPr lang="en-US" b="0" i="0">
              <a:latin typeface="-apple-system"/>
              <a:ea typeface="-apple-system"/>
              <a:cs typeface="-apple-system"/>
            </a:endParaRPr>
          </a:p>
          <a:p>
            <a:pPr algn="ctr"/>
            <a:endParaRPr lang="pt-BR"/>
          </a:p>
        </p:txBody>
      </p:sp>
      <p:pic>
        <p:nvPicPr>
          <p:cNvPr id="5" name="Imagem 4" descr="Não foi fornecido texto alternativo para esta imagem">
            <a:extLst>
              <a:ext uri="{FF2B5EF4-FFF2-40B4-BE49-F238E27FC236}">
                <a16:creationId xmlns:a16="http://schemas.microsoft.com/office/drawing/2014/main" id="{2D39EE4F-01A0-E3F2-87B1-56FAC15F9A46}"/>
              </a:ext>
            </a:extLst>
          </p:cNvPr>
          <p:cNvPicPr>
            <a:picLocks noChangeAspect="1"/>
          </p:cNvPicPr>
          <p:nvPr/>
        </p:nvPicPr>
        <p:blipFill>
          <a:blip r:embed="rId4"/>
          <a:stretch>
            <a:fillRect/>
          </a:stretch>
        </p:blipFill>
        <p:spPr>
          <a:xfrm>
            <a:off x="414338" y="1483564"/>
            <a:ext cx="5267325" cy="3143250"/>
          </a:xfrm>
          <a:prstGeom prst="rect">
            <a:avLst/>
          </a:prstGeom>
        </p:spPr>
      </p:pic>
      <p:sp>
        <p:nvSpPr>
          <p:cNvPr id="6" name="CaixaDeTexto 5">
            <a:extLst>
              <a:ext uri="{FF2B5EF4-FFF2-40B4-BE49-F238E27FC236}">
                <a16:creationId xmlns:a16="http://schemas.microsoft.com/office/drawing/2014/main" id="{8E0F1E1D-8CE1-634A-BC08-90ECF5CDBB5D}"/>
              </a:ext>
            </a:extLst>
          </p:cNvPr>
          <p:cNvSpPr txBox="1"/>
          <p:nvPr/>
        </p:nvSpPr>
        <p:spPr>
          <a:xfrm>
            <a:off x="416943" y="4967377"/>
            <a:ext cx="60960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https://www.linkedin.com/posts/arcgis-enterprise_arcgiswebeditor-activity-7452023278539411456-RrOc?utm_source=share&amp;utm_medium=member_desktop&amp;rcm=ACoAAAMQtAUB5UouXqdBJgo_gWpNVZ7Imay_2Tg</a:t>
            </a:r>
          </a:p>
          <a:p>
            <a:pPr algn="ctr"/>
            <a:endParaRPr lang="pt-BR"/>
          </a:p>
        </p:txBody>
      </p:sp>
    </p:spTree>
    <p:extLst>
      <p:ext uri="{BB962C8B-B14F-4D97-AF65-F5344CB8AC3E}">
        <p14:creationId xmlns:p14="http://schemas.microsoft.com/office/powerpoint/2010/main" val="411412712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E9DCA508-49E7-FAA5-443A-1B6F1AB13EC5}"/>
              </a:ext>
            </a:extLst>
          </p:cNvPr>
          <p:cNvSpPr txBox="1"/>
          <p:nvPr/>
        </p:nvSpPr>
        <p:spPr>
          <a:xfrm>
            <a:off x="4212567" y="150962"/>
            <a:ext cx="7979433" cy="777034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0" i="0" dirty="0" err="1">
                <a:latin typeface="-apple-system"/>
                <a:ea typeface="-apple-system"/>
                <a:cs typeface="-apple-system"/>
              </a:rPr>
              <a:t>Alguns</a:t>
            </a:r>
            <a:r>
              <a:rPr lang="en-US" sz="1600" b="0" i="0" dirty="0">
                <a:latin typeface="-apple-system"/>
                <a:ea typeface="-apple-system"/>
                <a:cs typeface="-apple-system"/>
              </a:rPr>
              <a:t> </a:t>
            </a:r>
            <a:r>
              <a:rPr lang="en-US" sz="1600" b="0" i="0" dirty="0" err="1">
                <a:latin typeface="-apple-system"/>
                <a:ea typeface="-apple-system"/>
                <a:cs typeface="-apple-system"/>
              </a:rPr>
              <a:t>profissionais</a:t>
            </a:r>
            <a:r>
              <a:rPr lang="en-US" sz="1600" b="0" i="0" dirty="0">
                <a:latin typeface="-apple-system"/>
                <a:ea typeface="-apple-system"/>
                <a:cs typeface="-apple-system"/>
              </a:rPr>
              <a:t> </a:t>
            </a:r>
            <a:r>
              <a:rPr lang="en-US" sz="1600" b="0" i="0" dirty="0" err="1">
                <a:latin typeface="-apple-system"/>
                <a:ea typeface="-apple-system"/>
                <a:cs typeface="-apple-system"/>
              </a:rPr>
              <a:t>têm</a:t>
            </a:r>
            <a:r>
              <a:rPr lang="en-US" sz="1600" b="0" i="0" dirty="0">
                <a:latin typeface="-apple-system"/>
                <a:ea typeface="-apple-system"/>
                <a:cs typeface="-apple-system"/>
              </a:rPr>
              <a:t> </a:t>
            </a:r>
            <a:r>
              <a:rPr lang="en-US" sz="1600" b="0" i="0" dirty="0" err="1">
                <a:latin typeface="-apple-system"/>
                <a:ea typeface="-apple-system"/>
                <a:cs typeface="-apple-system"/>
              </a:rPr>
              <a:t>entrado</a:t>
            </a:r>
            <a:r>
              <a:rPr lang="en-US" sz="1600" b="0" i="0" dirty="0">
                <a:latin typeface="-apple-system"/>
                <a:ea typeface="-apple-system"/>
                <a:cs typeface="-apple-system"/>
              </a:rPr>
              <a:t> </a:t>
            </a:r>
            <a:r>
              <a:rPr lang="en-US" sz="1600" b="0" i="0" dirty="0" err="1">
                <a:latin typeface="-apple-system"/>
                <a:ea typeface="-apple-system"/>
                <a:cs typeface="-apple-system"/>
              </a:rPr>
              <a:t>em</a:t>
            </a:r>
            <a:r>
              <a:rPr lang="en-US" sz="1600" b="0" i="0" dirty="0">
                <a:latin typeface="-apple-system"/>
                <a:ea typeface="-apple-system"/>
                <a:cs typeface="-apple-system"/>
              </a:rPr>
              <a:t> </a:t>
            </a:r>
            <a:r>
              <a:rPr lang="en-US" sz="1600" b="0" i="0" dirty="0" err="1">
                <a:latin typeface="-apple-system"/>
                <a:ea typeface="-apple-system"/>
                <a:cs typeface="-apple-system"/>
              </a:rPr>
              <a:t>contato</a:t>
            </a:r>
            <a:r>
              <a:rPr lang="en-US" sz="1600" b="0" i="0" dirty="0">
                <a:latin typeface="-apple-system"/>
                <a:ea typeface="-apple-system"/>
                <a:cs typeface="-apple-system"/>
              </a:rPr>
              <a:t> </a:t>
            </a:r>
            <a:r>
              <a:rPr lang="en-US" sz="1600" b="0" i="0" dirty="0" err="1">
                <a:latin typeface="-apple-system"/>
                <a:ea typeface="-apple-system"/>
                <a:cs typeface="-apple-system"/>
              </a:rPr>
              <a:t>comigo</a:t>
            </a:r>
            <a:r>
              <a:rPr lang="en-US" sz="1600" b="0" i="0" dirty="0">
                <a:latin typeface="-apple-system"/>
                <a:ea typeface="-apple-system"/>
                <a:cs typeface="-apple-system"/>
              </a:rPr>
              <a:t> </a:t>
            </a:r>
            <a:r>
              <a:rPr lang="en-US" sz="1600" b="0" i="0" dirty="0" err="1">
                <a:latin typeface="-apple-system"/>
                <a:ea typeface="-apple-system"/>
                <a:cs typeface="-apple-system"/>
              </a:rPr>
              <a:t>porque</a:t>
            </a:r>
            <a:r>
              <a:rPr lang="en-US" sz="1600" b="0" i="0" dirty="0">
                <a:latin typeface="-apple-system"/>
                <a:ea typeface="-apple-system"/>
                <a:cs typeface="-apple-system"/>
              </a:rPr>
              <a:t> </a:t>
            </a:r>
            <a:r>
              <a:rPr lang="en-US" sz="1600" b="0" i="0" dirty="0" err="1">
                <a:latin typeface="-apple-system"/>
                <a:ea typeface="-apple-system"/>
                <a:cs typeface="-apple-system"/>
              </a:rPr>
              <a:t>não</a:t>
            </a:r>
            <a:r>
              <a:rPr lang="en-US" sz="1600" b="0" i="0" dirty="0">
                <a:latin typeface="-apple-system"/>
                <a:ea typeface="-apple-system"/>
                <a:cs typeface="-apple-system"/>
              </a:rPr>
              <a:t> </a:t>
            </a:r>
            <a:r>
              <a:rPr lang="en-US" sz="1600" b="0" i="0" dirty="0" err="1">
                <a:latin typeface="-apple-system"/>
                <a:ea typeface="-apple-system"/>
                <a:cs typeface="-apple-system"/>
              </a:rPr>
              <a:t>acreditam</a:t>
            </a:r>
            <a:r>
              <a:rPr lang="en-US" sz="1600" b="0" i="0" dirty="0">
                <a:latin typeface="-apple-system"/>
                <a:ea typeface="-apple-system"/>
                <a:cs typeface="-apple-system"/>
              </a:rPr>
              <a:t> </a:t>
            </a:r>
            <a:r>
              <a:rPr lang="en-US" sz="1600" b="0" i="0" dirty="0" err="1">
                <a:latin typeface="-apple-system"/>
                <a:ea typeface="-apple-system"/>
                <a:cs typeface="-apple-system"/>
              </a:rPr>
              <a:t>que</a:t>
            </a:r>
            <a:r>
              <a:rPr lang="en-US" sz="1600" b="0" i="0" dirty="0">
                <a:latin typeface="-apple-system"/>
                <a:ea typeface="-apple-system"/>
                <a:cs typeface="-apple-system"/>
              </a:rPr>
              <a:t> o Gabriella GIS:</a:t>
            </a:r>
            <a:br>
              <a:rPr lang="en-US" sz="1600" b="0" i="0" dirty="0">
                <a:latin typeface="-apple-system"/>
                <a:ea typeface="-apple-system"/>
                <a:cs typeface="-apple-system"/>
              </a:rPr>
            </a:br>
            <a:r>
              <a:rPr lang="en-US" sz="1600" b="0" i="0" dirty="0" err="1">
                <a:latin typeface="-apple-system"/>
                <a:ea typeface="-apple-system"/>
                <a:cs typeface="-apple-system"/>
              </a:rPr>
              <a:t>seja</a:t>
            </a:r>
            <a:r>
              <a:rPr lang="en-US" sz="1600" b="0" i="0" dirty="0">
                <a:latin typeface="-apple-system"/>
                <a:ea typeface="-apple-system"/>
                <a:cs typeface="-apple-system"/>
              </a:rPr>
              <a:t> </a:t>
            </a:r>
            <a:r>
              <a:rPr lang="en-US" sz="1600" b="0" i="0" dirty="0" err="1">
                <a:latin typeface="-apple-system"/>
                <a:ea typeface="-apple-system"/>
                <a:cs typeface="-apple-system"/>
              </a:rPr>
              <a:t>completamente</a:t>
            </a:r>
            <a:r>
              <a:rPr lang="en-US" sz="1600" b="0" i="0" dirty="0">
                <a:latin typeface="-apple-system"/>
                <a:ea typeface="-apple-system"/>
                <a:cs typeface="-apple-system"/>
              </a:rPr>
              <a:t> </a:t>
            </a:r>
            <a:r>
              <a:rPr lang="en-US" sz="1600" b="0" i="0" dirty="0" err="1">
                <a:latin typeface="-apple-system"/>
                <a:ea typeface="-apple-system"/>
                <a:cs typeface="-apple-system"/>
              </a:rPr>
              <a:t>gratuito</a:t>
            </a:r>
            <a:r>
              <a:rPr lang="en-US" sz="1600" b="0" i="0" dirty="0">
                <a:latin typeface="-apple-system"/>
                <a:ea typeface="-apple-system"/>
                <a:cs typeface="-apple-system"/>
              </a:rPr>
              <a:t>;</a:t>
            </a:r>
            <a:br>
              <a:rPr lang="en-US" sz="1600" b="0" i="0" dirty="0">
                <a:latin typeface="-apple-system"/>
                <a:ea typeface="-apple-system"/>
                <a:cs typeface="-apple-system"/>
              </a:rPr>
            </a:br>
            <a:r>
              <a:rPr lang="en-US" sz="1600" b="0" i="0" dirty="0" err="1">
                <a:latin typeface="-apple-system"/>
                <a:ea typeface="-apple-system"/>
                <a:cs typeface="-apple-system"/>
              </a:rPr>
              <a:t>não</a:t>
            </a:r>
            <a:r>
              <a:rPr lang="en-US" sz="1600" b="0" i="0" dirty="0">
                <a:latin typeface="-apple-system"/>
                <a:ea typeface="-apple-system"/>
                <a:cs typeface="-apple-system"/>
              </a:rPr>
              <a:t> </a:t>
            </a:r>
            <a:r>
              <a:rPr lang="en-US" sz="1600" b="0" i="0" dirty="0" err="1">
                <a:latin typeface="-apple-system"/>
                <a:ea typeface="-apple-system"/>
                <a:cs typeface="-apple-system"/>
              </a:rPr>
              <a:t>exija</a:t>
            </a:r>
            <a:r>
              <a:rPr lang="en-US" sz="1600" b="0" i="0" dirty="0">
                <a:latin typeface="-apple-system"/>
                <a:ea typeface="-apple-system"/>
                <a:cs typeface="-apple-system"/>
              </a:rPr>
              <a:t> </a:t>
            </a:r>
            <a:r>
              <a:rPr lang="en-US" sz="1600" b="0" i="0" dirty="0" err="1">
                <a:latin typeface="-apple-system"/>
                <a:ea typeface="-apple-system"/>
                <a:cs typeface="-apple-system"/>
              </a:rPr>
              <a:t>instalação</a:t>
            </a:r>
            <a:r>
              <a:rPr lang="en-US" sz="1600" b="0" i="0" dirty="0">
                <a:latin typeface="-apple-system"/>
                <a:ea typeface="-apple-system"/>
                <a:cs typeface="-apple-system"/>
              </a:rPr>
              <a:t>;</a:t>
            </a:r>
            <a:br>
              <a:rPr lang="en-US" sz="1600" b="0" i="0" dirty="0">
                <a:latin typeface="-apple-system"/>
                <a:ea typeface="-apple-system"/>
                <a:cs typeface="-apple-system"/>
              </a:rPr>
            </a:br>
            <a:r>
              <a:rPr lang="en-US" sz="1600" b="0" i="0" dirty="0" err="1">
                <a:latin typeface="-apple-system"/>
                <a:ea typeface="-apple-system"/>
                <a:cs typeface="-apple-system"/>
              </a:rPr>
              <a:t>possa</a:t>
            </a:r>
            <a:r>
              <a:rPr lang="en-US" sz="1600" b="0" i="0" dirty="0">
                <a:latin typeface="-apple-system"/>
                <a:ea typeface="-apple-system"/>
                <a:cs typeface="-apple-system"/>
              </a:rPr>
              <a:t> ser </a:t>
            </a:r>
            <a:r>
              <a:rPr lang="en-US" sz="1600" b="0" i="0" dirty="0" err="1">
                <a:latin typeface="-apple-system"/>
                <a:ea typeface="-apple-system"/>
                <a:cs typeface="-apple-system"/>
              </a:rPr>
              <a:t>utilizado</a:t>
            </a:r>
            <a:r>
              <a:rPr lang="en-US" sz="1600" b="0" i="0" dirty="0">
                <a:latin typeface="-apple-system"/>
                <a:ea typeface="-apple-system"/>
                <a:cs typeface="-apple-system"/>
              </a:rPr>
              <a:t> </a:t>
            </a:r>
            <a:r>
              <a:rPr lang="en-US" sz="1600" b="0" i="0" dirty="0" err="1">
                <a:latin typeface="-apple-system"/>
                <a:ea typeface="-apple-system"/>
                <a:cs typeface="-apple-system"/>
              </a:rPr>
              <a:t>diretamente</a:t>
            </a:r>
            <a:r>
              <a:rPr lang="en-US" sz="1600" b="0" i="0" dirty="0">
                <a:latin typeface="-apple-system"/>
                <a:ea typeface="-apple-system"/>
                <a:cs typeface="-apple-system"/>
              </a:rPr>
              <a:t> </a:t>
            </a:r>
            <a:r>
              <a:rPr lang="en-US" sz="1600" b="0" i="0" dirty="0" err="1">
                <a:latin typeface="-apple-system"/>
                <a:ea typeface="-apple-system"/>
                <a:cs typeface="-apple-system"/>
              </a:rPr>
              <a:t>em</a:t>
            </a:r>
            <a:r>
              <a:rPr lang="en-US" sz="1600" b="0" i="0" dirty="0">
                <a:latin typeface="-apple-system"/>
                <a:ea typeface="-apple-system"/>
                <a:cs typeface="-apple-system"/>
              </a:rPr>
              <a:t> um smartphone</a:t>
            </a:r>
            <a:r>
              <a:rPr lang="en-US" sz="1600" dirty="0">
                <a:latin typeface="-apple-system"/>
                <a:ea typeface="-apple-system"/>
                <a:cs typeface="-apple-system"/>
              </a:rPr>
              <a:t>;</a:t>
            </a:r>
            <a:br>
              <a:rPr lang="en-US" sz="1600" b="0" i="0" dirty="0">
                <a:latin typeface="-apple-system"/>
                <a:ea typeface="-apple-system"/>
                <a:cs typeface="-apple-system"/>
              </a:rPr>
            </a:br>
            <a:r>
              <a:rPr lang="en-US" sz="1600" b="0" i="0" dirty="0" err="1">
                <a:latin typeface="-apple-system"/>
                <a:ea typeface="-apple-system"/>
                <a:cs typeface="-apple-system"/>
              </a:rPr>
              <a:t>permita</a:t>
            </a:r>
            <a:r>
              <a:rPr lang="en-US" sz="1600" b="0" i="0" dirty="0">
                <a:latin typeface="-apple-system"/>
                <a:ea typeface="-apple-system"/>
                <a:cs typeface="-apple-system"/>
              </a:rPr>
              <a:t> </a:t>
            </a:r>
            <a:r>
              <a:rPr lang="en-US" sz="1600" b="0" i="0" dirty="0" err="1">
                <a:latin typeface="-apple-system"/>
                <a:ea typeface="-apple-system"/>
                <a:cs typeface="-apple-system"/>
              </a:rPr>
              <a:t>editar</a:t>
            </a:r>
            <a:r>
              <a:rPr lang="en-US" sz="1600" b="0" i="0" dirty="0">
                <a:latin typeface="-apple-system"/>
                <a:ea typeface="-apple-system"/>
                <a:cs typeface="-apple-system"/>
              </a:rPr>
              <a:t> </a:t>
            </a:r>
            <a:r>
              <a:rPr lang="en-US" sz="1600" b="0" i="0" dirty="0" err="1">
                <a:latin typeface="-apple-system"/>
                <a:ea typeface="-apple-system"/>
                <a:cs typeface="-apple-system"/>
              </a:rPr>
              <a:t>camadas</a:t>
            </a:r>
            <a:r>
              <a:rPr lang="en-US" sz="1600" b="0" i="0" dirty="0">
                <a:latin typeface="-apple-system"/>
                <a:ea typeface="-apple-system"/>
                <a:cs typeface="-apple-system"/>
              </a:rPr>
              <a:t> </a:t>
            </a:r>
            <a:r>
              <a:rPr lang="en-US" sz="1600" b="0" i="0" dirty="0" err="1">
                <a:latin typeface="-apple-system"/>
                <a:ea typeface="-apple-system"/>
                <a:cs typeface="-apple-system"/>
              </a:rPr>
              <a:t>georreferenciadas</a:t>
            </a:r>
            <a:r>
              <a:rPr lang="en-US" sz="1600" b="0" i="0" dirty="0">
                <a:latin typeface="-apple-system"/>
                <a:ea typeface="-apple-system"/>
                <a:cs typeface="-apple-system"/>
              </a:rPr>
              <a:t> (SHP, KML, </a:t>
            </a:r>
            <a:r>
              <a:rPr lang="en-US" sz="1600" b="0" i="0" dirty="0" err="1">
                <a:latin typeface="-apple-system"/>
                <a:ea typeface="-apple-system"/>
                <a:cs typeface="-apple-system"/>
              </a:rPr>
              <a:t>GeoJSON</a:t>
            </a:r>
            <a:r>
              <a:rPr lang="en-US" sz="1600" b="0" i="0" dirty="0">
                <a:latin typeface="-apple-system"/>
                <a:ea typeface="-apple-system"/>
                <a:cs typeface="-apple-system"/>
              </a:rPr>
              <a:t>, CSV);</a:t>
            </a:r>
            <a:br>
              <a:rPr lang="en-US" sz="1600" b="0" i="0" dirty="0">
                <a:latin typeface="-apple-system"/>
                <a:ea typeface="-apple-system"/>
                <a:cs typeface="-apple-system"/>
              </a:rPr>
            </a:br>
            <a:r>
              <a:rPr lang="en-US" sz="1600" b="0" i="0" dirty="0" err="1">
                <a:latin typeface="-apple-system"/>
                <a:ea typeface="-apple-system"/>
                <a:cs typeface="-apple-system"/>
              </a:rPr>
              <a:t>possibilite</a:t>
            </a:r>
            <a:r>
              <a:rPr lang="en-US" sz="1600" b="0" i="0" dirty="0">
                <a:latin typeface="-apple-system"/>
                <a:ea typeface="-apple-system"/>
                <a:cs typeface="-apple-system"/>
              </a:rPr>
              <a:t> </a:t>
            </a:r>
            <a:r>
              <a:rPr lang="en-US" sz="1600" b="0" i="0" dirty="0" err="1">
                <a:latin typeface="-apple-system"/>
                <a:ea typeface="-apple-system"/>
                <a:cs typeface="-apple-system"/>
              </a:rPr>
              <a:t>a</a:t>
            </a:r>
            <a:r>
              <a:rPr lang="en-US" sz="1600" b="0" i="0" dirty="0">
                <a:latin typeface="-apple-system"/>
                <a:ea typeface="-apple-system"/>
                <a:cs typeface="-apple-system"/>
              </a:rPr>
              <a:t> </a:t>
            </a:r>
            <a:r>
              <a:rPr lang="en-US" sz="1600" b="0" i="0" dirty="0" err="1">
                <a:latin typeface="-apple-system"/>
                <a:ea typeface="-apple-system"/>
                <a:cs typeface="-apple-system"/>
              </a:rPr>
              <a:t>edição</a:t>
            </a:r>
            <a:r>
              <a:rPr lang="en-US" sz="1600" b="0" i="0" dirty="0">
                <a:latin typeface="-apple-system"/>
                <a:ea typeface="-apple-system"/>
                <a:cs typeface="-apple-system"/>
              </a:rPr>
              <a:t> de </a:t>
            </a:r>
            <a:r>
              <a:rPr lang="en-US" sz="1600" b="0" i="0" dirty="0" err="1">
                <a:latin typeface="-apple-system"/>
                <a:ea typeface="-apple-system"/>
                <a:cs typeface="-apple-system"/>
              </a:rPr>
              <a:t>tabelas</a:t>
            </a:r>
            <a:r>
              <a:rPr lang="en-US" sz="1600" b="0" i="0" dirty="0">
                <a:latin typeface="-apple-system"/>
                <a:ea typeface="-apple-system"/>
                <a:cs typeface="-apple-system"/>
              </a:rPr>
              <a:t> de </a:t>
            </a:r>
            <a:r>
              <a:rPr lang="en-US" sz="1600" b="0" i="0" dirty="0" err="1">
                <a:latin typeface="-apple-system"/>
                <a:ea typeface="-apple-system"/>
                <a:cs typeface="-apple-system"/>
              </a:rPr>
              <a:t>atributos</a:t>
            </a:r>
            <a:r>
              <a:rPr lang="en-US" sz="1600" b="0" i="0" dirty="0">
                <a:latin typeface="-apple-system"/>
                <a:ea typeface="-apple-system"/>
                <a:cs typeface="-apple-system"/>
              </a:rPr>
              <a:t>;</a:t>
            </a:r>
            <a:br>
              <a:rPr lang="en-US" sz="1600" b="0" i="0" dirty="0">
                <a:latin typeface="-apple-system"/>
                <a:ea typeface="-apple-system"/>
                <a:cs typeface="-apple-system"/>
              </a:rPr>
            </a:br>
            <a:r>
              <a:rPr lang="en-US" sz="1600" b="0" i="0" dirty="0" err="1">
                <a:latin typeface="-apple-system"/>
                <a:ea typeface="-apple-system"/>
                <a:cs typeface="-apple-system"/>
              </a:rPr>
              <a:t>trabalhe</a:t>
            </a:r>
            <a:r>
              <a:rPr lang="en-US" sz="1600" b="0" i="0" dirty="0">
                <a:latin typeface="-apple-system"/>
                <a:ea typeface="-apple-system"/>
                <a:cs typeface="-apple-system"/>
              </a:rPr>
              <a:t> com </a:t>
            </a:r>
            <a:r>
              <a:rPr lang="en-US" sz="1600" b="0" i="0" dirty="0" err="1">
                <a:latin typeface="-apple-system"/>
                <a:ea typeface="-apple-system"/>
                <a:cs typeface="-apple-system"/>
              </a:rPr>
              <a:t>arquivos</a:t>
            </a:r>
            <a:r>
              <a:rPr lang="en-US" sz="1600" b="0" i="0" dirty="0">
                <a:latin typeface="-apple-system"/>
                <a:ea typeface="-apple-system"/>
                <a:cs typeface="-apple-system"/>
              </a:rPr>
              <a:t> raster</a:t>
            </a:r>
            <a:r>
              <a:rPr lang="en-US" sz="1600" dirty="0">
                <a:latin typeface="-apple-system"/>
                <a:ea typeface="-apple-system"/>
                <a:cs typeface="-apple-system"/>
              </a:rPr>
              <a:t>;</a:t>
            </a:r>
            <a:br>
              <a:rPr lang="en-US" sz="1600" dirty="0">
                <a:latin typeface="-apple-system"/>
                <a:ea typeface="-apple-system"/>
                <a:cs typeface="-apple-system"/>
              </a:rPr>
            </a:br>
            <a:r>
              <a:rPr lang="en-US" sz="1600" b="0" i="0" dirty="0">
                <a:latin typeface="-apple-system"/>
                <a:ea typeface="-apple-system"/>
                <a:cs typeface="-apple-system"/>
              </a:rPr>
              <a:t>realize </a:t>
            </a:r>
            <a:r>
              <a:rPr lang="en-US" sz="1600" b="0" i="0" dirty="0" err="1">
                <a:latin typeface="-apple-system"/>
                <a:ea typeface="-apple-system"/>
                <a:cs typeface="-apple-system"/>
              </a:rPr>
              <a:t>análises</a:t>
            </a:r>
            <a:r>
              <a:rPr lang="en-US" sz="1600" b="0" i="0" dirty="0">
                <a:latin typeface="-apple-system"/>
                <a:ea typeface="-apple-system"/>
                <a:cs typeface="-apple-system"/>
              </a:rPr>
              <a:t> de dados DEM </a:t>
            </a:r>
            <a:r>
              <a:rPr lang="en-US" sz="1600" b="0" i="0" dirty="0" err="1">
                <a:latin typeface="-apple-system"/>
                <a:ea typeface="-apple-system"/>
                <a:cs typeface="-apple-system"/>
              </a:rPr>
              <a:t>em</a:t>
            </a:r>
            <a:r>
              <a:rPr lang="en-US" sz="1600" b="0" i="0" dirty="0">
                <a:latin typeface="-apple-system"/>
                <a:ea typeface="-apple-system"/>
                <a:cs typeface="-apple-system"/>
              </a:rPr>
              <a:t> 3D;</a:t>
            </a:r>
            <a:br>
              <a:rPr lang="en-US" sz="1600" b="0" i="0" dirty="0">
                <a:latin typeface="-apple-system"/>
                <a:ea typeface="-apple-system"/>
                <a:cs typeface="-apple-system"/>
              </a:rPr>
            </a:br>
            <a:r>
              <a:rPr lang="en-US" sz="1600" b="0" i="0" dirty="0">
                <a:latin typeface="-apple-system"/>
                <a:ea typeface="-apple-system"/>
                <a:cs typeface="-apple-system"/>
              </a:rPr>
              <a:t>execute </a:t>
            </a:r>
            <a:r>
              <a:rPr lang="en-US" sz="1600" b="0" i="0" dirty="0" err="1">
                <a:latin typeface="-apple-system"/>
                <a:ea typeface="-apple-system"/>
                <a:cs typeface="-apple-system"/>
              </a:rPr>
              <a:t>análises</a:t>
            </a:r>
            <a:r>
              <a:rPr lang="en-US" sz="1600" b="0" i="0" dirty="0">
                <a:latin typeface="-apple-system"/>
                <a:ea typeface="-apple-system"/>
                <a:cs typeface="-apple-system"/>
              </a:rPr>
              <a:t> </a:t>
            </a:r>
            <a:r>
              <a:rPr lang="en-US" sz="1600" b="0" i="0" dirty="0" err="1">
                <a:latin typeface="-apple-system"/>
                <a:ea typeface="-apple-system"/>
                <a:cs typeface="-apple-system"/>
              </a:rPr>
              <a:t>geoespaciais</a:t>
            </a:r>
            <a:r>
              <a:rPr lang="en-US" sz="1600" b="0" i="0" dirty="0">
                <a:latin typeface="-apple-system"/>
                <a:ea typeface="-apple-system"/>
                <a:cs typeface="-apple-system"/>
              </a:rPr>
              <a:t> (buffer, dissolve, difference, entre </a:t>
            </a:r>
            <a:r>
              <a:rPr lang="en-US" sz="1600" b="0" i="0" dirty="0" err="1">
                <a:latin typeface="-apple-system"/>
                <a:ea typeface="-apple-system"/>
                <a:cs typeface="-apple-system"/>
              </a:rPr>
              <a:t>outras</a:t>
            </a:r>
            <a:r>
              <a:rPr lang="en-US" sz="1600" b="0" i="0" dirty="0">
                <a:latin typeface="-apple-system"/>
                <a:ea typeface="-apple-system"/>
                <a:cs typeface="-apple-system"/>
              </a:rPr>
              <a:t>);</a:t>
            </a:r>
            <a:br>
              <a:rPr lang="en-US" sz="1600" b="0" i="0" dirty="0">
                <a:latin typeface="-apple-system"/>
                <a:ea typeface="-apple-system"/>
                <a:cs typeface="-apple-system"/>
              </a:rPr>
            </a:br>
            <a:r>
              <a:rPr lang="en-US" sz="1600" b="0" i="0" dirty="0" err="1">
                <a:latin typeface="-apple-system"/>
                <a:ea typeface="-apple-system"/>
                <a:cs typeface="-apple-system"/>
              </a:rPr>
              <a:t>exporte</a:t>
            </a:r>
            <a:r>
              <a:rPr lang="en-US" sz="1600" b="0" i="0" dirty="0">
                <a:latin typeface="-apple-system"/>
                <a:ea typeface="-apple-system"/>
                <a:cs typeface="-apple-system"/>
              </a:rPr>
              <a:t> </a:t>
            </a:r>
            <a:r>
              <a:rPr lang="en-US" sz="1600" b="0" i="0" dirty="0" err="1">
                <a:latin typeface="-apple-system"/>
                <a:ea typeface="-apple-system"/>
                <a:cs typeface="-apple-system"/>
              </a:rPr>
              <a:t>mapas</a:t>
            </a:r>
            <a:r>
              <a:rPr lang="en-US" sz="1600" b="0" i="0" dirty="0">
                <a:latin typeface="-apple-system"/>
                <a:ea typeface="-apple-system"/>
                <a:cs typeface="-apple-system"/>
              </a:rPr>
              <a:t> </a:t>
            </a:r>
            <a:r>
              <a:rPr lang="en-US" sz="1600" b="0" i="0" dirty="0" err="1">
                <a:latin typeface="-apple-system"/>
                <a:ea typeface="-apple-system"/>
                <a:cs typeface="-apple-system"/>
              </a:rPr>
              <a:t>em</a:t>
            </a:r>
            <a:r>
              <a:rPr lang="en-US" sz="1600" b="0" i="0" dirty="0">
                <a:latin typeface="-apple-system"/>
                <a:ea typeface="-apple-system"/>
                <a:cs typeface="-apple-system"/>
              </a:rPr>
              <a:t> PDF;</a:t>
            </a:r>
            <a:br>
              <a:rPr lang="en-US" sz="1600" b="0" i="0" dirty="0">
                <a:latin typeface="-apple-system"/>
                <a:ea typeface="-apple-system"/>
                <a:cs typeface="-apple-system"/>
              </a:rPr>
            </a:br>
            <a:r>
              <a:rPr lang="en-US" sz="1600" b="0" i="0" dirty="0">
                <a:latin typeface="-apple-system"/>
                <a:ea typeface="-apple-system"/>
                <a:cs typeface="-apple-system"/>
              </a:rPr>
              <a:t>preserve o </a:t>
            </a:r>
            <a:r>
              <a:rPr lang="en-US" sz="1600" b="0" i="0" dirty="0" err="1">
                <a:latin typeface="-apple-system"/>
                <a:ea typeface="-apple-system"/>
                <a:cs typeface="-apple-system"/>
              </a:rPr>
              <a:t>sigilo</a:t>
            </a:r>
            <a:r>
              <a:rPr lang="en-US" sz="1600" b="0" i="0" dirty="0">
                <a:latin typeface="-apple-system"/>
                <a:ea typeface="-apple-system"/>
                <a:cs typeface="-apple-system"/>
              </a:rPr>
              <a:t> dos dados (</a:t>
            </a:r>
            <a:r>
              <a:rPr lang="en-US" sz="1600" b="0" i="0" dirty="0" err="1">
                <a:latin typeface="-apple-system"/>
                <a:ea typeface="-apple-system"/>
                <a:cs typeface="-apple-system"/>
              </a:rPr>
              <a:t>por</a:t>
            </a:r>
            <a:r>
              <a:rPr lang="en-US" sz="1600" b="0" i="0" dirty="0">
                <a:latin typeface="-apple-system"/>
                <a:ea typeface="-apple-system"/>
                <a:cs typeface="-apple-system"/>
              </a:rPr>
              <a:t> ser </a:t>
            </a:r>
            <a:r>
              <a:rPr lang="en-US" sz="1600" b="0" i="0" dirty="0" err="1">
                <a:latin typeface="-apple-system"/>
                <a:ea typeface="-apple-system"/>
                <a:cs typeface="-apple-system"/>
              </a:rPr>
              <a:t>totalmente</a:t>
            </a:r>
            <a:r>
              <a:rPr lang="en-US" sz="1600" b="0" i="0" dirty="0">
                <a:latin typeface="-apple-system"/>
                <a:ea typeface="-apple-system"/>
                <a:cs typeface="-apple-system"/>
              </a:rPr>
              <a:t> client-side).</a:t>
            </a:r>
            <a:br>
              <a:rPr lang="en-US" sz="1600" b="0" i="0" dirty="0">
                <a:latin typeface="-apple-system"/>
                <a:ea typeface="-apple-system"/>
                <a:cs typeface="-apple-system"/>
              </a:rPr>
            </a:br>
            <a:r>
              <a:rPr lang="en-US" sz="1600" b="0" i="0" dirty="0">
                <a:latin typeface="-apple-system"/>
                <a:ea typeface="-apple-system"/>
                <a:cs typeface="-apple-system"/>
              </a:rPr>
              <a:t>E </a:t>
            </a:r>
            <a:r>
              <a:rPr lang="en-US" sz="1600" b="0" i="0" dirty="0" err="1">
                <a:latin typeface="-apple-system"/>
                <a:ea typeface="-apple-system"/>
                <a:cs typeface="-apple-system"/>
              </a:rPr>
              <a:t>eu</a:t>
            </a:r>
            <a:r>
              <a:rPr lang="en-US" sz="1600" b="0" i="0" dirty="0">
                <a:latin typeface="-apple-system"/>
                <a:ea typeface="-apple-system"/>
                <a:cs typeface="-apple-system"/>
              </a:rPr>
              <a:t> </a:t>
            </a:r>
            <a:r>
              <a:rPr lang="en-US" sz="1600" b="0" i="0" dirty="0" err="1">
                <a:latin typeface="-apple-system"/>
                <a:ea typeface="-apple-system"/>
                <a:cs typeface="-apple-system"/>
              </a:rPr>
              <a:t>entendo</a:t>
            </a:r>
            <a:r>
              <a:rPr lang="en-US" sz="1600" b="0" i="0" dirty="0">
                <a:latin typeface="-apple-system"/>
                <a:ea typeface="-apple-system"/>
                <a:cs typeface="-apple-system"/>
              </a:rPr>
              <a:t> </a:t>
            </a:r>
            <a:r>
              <a:rPr lang="en-US" sz="1600" b="0" i="0" dirty="0" err="1">
                <a:latin typeface="-apple-system"/>
                <a:ea typeface="-apple-system"/>
                <a:cs typeface="-apple-system"/>
              </a:rPr>
              <a:t>perfeitamente</a:t>
            </a:r>
            <a:r>
              <a:rPr lang="en-US" sz="1600" b="0" i="0" dirty="0">
                <a:latin typeface="-apple-system"/>
                <a:ea typeface="-apple-system"/>
                <a:cs typeface="-apple-system"/>
              </a:rPr>
              <a:t> esse </a:t>
            </a:r>
            <a:r>
              <a:rPr lang="en-US" sz="1600" b="0" i="0" dirty="0" err="1">
                <a:latin typeface="-apple-system"/>
                <a:ea typeface="-apple-system"/>
                <a:cs typeface="-apple-system"/>
              </a:rPr>
              <a:t>ceticismo</a:t>
            </a:r>
            <a:r>
              <a:rPr lang="en-US" sz="1600" b="0" i="0" dirty="0">
                <a:latin typeface="-apple-system"/>
                <a:ea typeface="-apple-system"/>
                <a:cs typeface="-apple-system"/>
              </a:rPr>
              <a:t> — </a:t>
            </a:r>
            <a:r>
              <a:rPr lang="en-US" sz="1600" b="0" i="0" dirty="0" err="1">
                <a:latin typeface="-apple-system"/>
                <a:ea typeface="-apple-system"/>
                <a:cs typeface="-apple-system"/>
              </a:rPr>
              <a:t>eu</a:t>
            </a:r>
            <a:r>
              <a:rPr lang="en-US" sz="1600" b="0" i="0" dirty="0">
                <a:latin typeface="-apple-system"/>
                <a:ea typeface="-apple-system"/>
                <a:cs typeface="-apple-system"/>
              </a:rPr>
              <a:t> </a:t>
            </a:r>
            <a:r>
              <a:rPr lang="en-US" sz="1600" b="0" i="0" dirty="0" err="1">
                <a:latin typeface="-apple-system"/>
                <a:ea typeface="-apple-system"/>
                <a:cs typeface="-apple-system"/>
              </a:rPr>
              <a:t>mesmo</a:t>
            </a:r>
            <a:r>
              <a:rPr lang="en-US" sz="1600" b="0" i="0" dirty="0">
                <a:latin typeface="-apple-system"/>
                <a:ea typeface="-apple-system"/>
                <a:cs typeface="-apple-system"/>
              </a:rPr>
              <a:t> </a:t>
            </a:r>
            <a:r>
              <a:rPr lang="en-US" sz="1600" b="0" i="0" dirty="0" err="1">
                <a:latin typeface="-apple-system"/>
                <a:ea typeface="-apple-system"/>
                <a:cs typeface="-apple-system"/>
              </a:rPr>
              <a:t>não</a:t>
            </a:r>
            <a:r>
              <a:rPr lang="en-US" sz="1600" b="0" i="0" dirty="0">
                <a:latin typeface="-apple-system"/>
                <a:ea typeface="-apple-system"/>
                <a:cs typeface="-apple-system"/>
              </a:rPr>
              <a:t> </a:t>
            </a:r>
            <a:r>
              <a:rPr lang="en-US" sz="1600" b="0" i="0" dirty="0" err="1">
                <a:latin typeface="-apple-system"/>
                <a:ea typeface="-apple-system"/>
                <a:cs typeface="-apple-system"/>
              </a:rPr>
              <a:t>acreditava</a:t>
            </a:r>
            <a:r>
              <a:rPr lang="en-US" sz="1600" b="0" i="0" dirty="0">
                <a:latin typeface="-apple-system"/>
                <a:ea typeface="-apple-system"/>
                <a:cs typeface="-apple-system"/>
              </a:rPr>
              <a:t> </a:t>
            </a:r>
            <a:r>
              <a:rPr lang="en-US" sz="1600" b="0" i="0" dirty="0" err="1">
                <a:latin typeface="-apple-system"/>
                <a:ea typeface="-apple-system"/>
                <a:cs typeface="-apple-system"/>
              </a:rPr>
              <a:t>que</a:t>
            </a:r>
            <a:r>
              <a:rPr lang="en-US" sz="1600" b="0" i="0" dirty="0">
                <a:latin typeface="-apple-system"/>
                <a:ea typeface="-apple-system"/>
                <a:cs typeface="-apple-system"/>
              </a:rPr>
              <a:t> </a:t>
            </a:r>
            <a:r>
              <a:rPr lang="en-US" sz="1600" b="0" i="0" dirty="0" err="1">
                <a:latin typeface="-apple-system"/>
                <a:ea typeface="-apple-system"/>
                <a:cs typeface="-apple-system"/>
              </a:rPr>
              <a:t>isso</a:t>
            </a:r>
            <a:r>
              <a:rPr lang="en-US" sz="1600" b="0" i="0" dirty="0">
                <a:latin typeface="-apple-system"/>
                <a:ea typeface="-apple-system"/>
                <a:cs typeface="-apple-system"/>
              </a:rPr>
              <a:t> seria </a:t>
            </a:r>
            <a:r>
              <a:rPr lang="en-US" sz="1600" b="0" i="0" dirty="0" err="1">
                <a:latin typeface="-apple-system"/>
                <a:ea typeface="-apple-system"/>
                <a:cs typeface="-apple-system"/>
              </a:rPr>
              <a:t>possível</a:t>
            </a:r>
            <a:r>
              <a:rPr lang="en-US" sz="1600" b="0" i="0" dirty="0">
                <a:latin typeface="-apple-system"/>
                <a:ea typeface="-apple-system"/>
                <a:cs typeface="-apple-system"/>
              </a:rPr>
              <a:t>.</a:t>
            </a:r>
            <a:br>
              <a:rPr lang="en-US" sz="1600" b="0" i="0" dirty="0">
                <a:latin typeface="-apple-system"/>
                <a:ea typeface="-apple-system"/>
                <a:cs typeface="-apple-system"/>
              </a:rPr>
            </a:br>
            <a:r>
              <a:rPr lang="en-US" sz="1600" b="0" i="0" dirty="0">
                <a:latin typeface="-apple-system"/>
                <a:ea typeface="-apple-system"/>
                <a:cs typeface="-apple-system"/>
              </a:rPr>
              <a:t>Durante o </a:t>
            </a:r>
            <a:r>
              <a:rPr lang="en-US" sz="1600" b="0" i="0" dirty="0" err="1">
                <a:latin typeface="-apple-system"/>
                <a:ea typeface="-apple-system"/>
                <a:cs typeface="-apple-system"/>
              </a:rPr>
              <a:t>desenvolvimento</a:t>
            </a:r>
            <a:r>
              <a:rPr lang="en-US" sz="1600" b="0" i="0" dirty="0">
                <a:latin typeface="-apple-system"/>
                <a:ea typeface="-apple-system"/>
                <a:cs typeface="-apple-system"/>
              </a:rPr>
              <a:t>, </a:t>
            </a:r>
            <a:r>
              <a:rPr lang="en-US" sz="1600" b="0" i="0" dirty="0" err="1">
                <a:latin typeface="-apple-system"/>
                <a:ea typeface="-apple-system"/>
                <a:cs typeface="-apple-system"/>
              </a:rPr>
              <a:t>pensei</a:t>
            </a:r>
            <a:r>
              <a:rPr lang="en-US" sz="1600" b="0" i="0" dirty="0">
                <a:latin typeface="-apple-system"/>
                <a:ea typeface="-apple-system"/>
                <a:cs typeface="-apple-system"/>
              </a:rPr>
              <a:t> </a:t>
            </a:r>
            <a:r>
              <a:rPr lang="en-US" sz="1600" b="0" i="0" dirty="0" err="1">
                <a:latin typeface="-apple-system"/>
                <a:ea typeface="-apple-system"/>
                <a:cs typeface="-apple-system"/>
              </a:rPr>
              <a:t>várias</a:t>
            </a:r>
            <a:r>
              <a:rPr lang="en-US" sz="1600" b="0" i="0" dirty="0">
                <a:latin typeface="-apple-system"/>
                <a:ea typeface="-apple-system"/>
                <a:cs typeface="-apple-system"/>
              </a:rPr>
              <a:t> </a:t>
            </a:r>
            <a:r>
              <a:rPr lang="en-US" sz="1600" b="0" i="0" dirty="0" err="1">
                <a:latin typeface="-apple-system"/>
                <a:ea typeface="-apple-system"/>
                <a:cs typeface="-apple-system"/>
              </a:rPr>
              <a:t>vezes</a:t>
            </a:r>
            <a:r>
              <a:rPr lang="en-US" sz="1600" b="0" i="0" dirty="0">
                <a:latin typeface="-apple-system"/>
                <a:ea typeface="-apple-system"/>
                <a:cs typeface="-apple-system"/>
              </a:rPr>
              <a:t> </a:t>
            </a:r>
            <a:r>
              <a:rPr lang="en-US" sz="1600" b="0" i="0" dirty="0" err="1">
                <a:latin typeface="-apple-system"/>
                <a:ea typeface="-apple-system"/>
                <a:cs typeface="-apple-system"/>
              </a:rPr>
              <a:t>que</a:t>
            </a:r>
            <a:r>
              <a:rPr lang="en-US" sz="1600" b="0" i="0" dirty="0">
                <a:latin typeface="-apple-system"/>
                <a:ea typeface="-apple-system"/>
                <a:cs typeface="-apple-system"/>
              </a:rPr>
              <a:t> </a:t>
            </a:r>
            <a:r>
              <a:rPr lang="en-US" sz="1600" b="0" i="0" dirty="0" err="1">
                <a:latin typeface="-apple-system"/>
                <a:ea typeface="-apple-system"/>
                <a:cs typeface="-apple-system"/>
              </a:rPr>
              <a:t>uma</a:t>
            </a:r>
            <a:r>
              <a:rPr lang="en-US" sz="1600" b="0" i="0" dirty="0">
                <a:latin typeface="-apple-system"/>
                <a:ea typeface="-apple-system"/>
                <a:cs typeface="-apple-system"/>
              </a:rPr>
              <a:t> </a:t>
            </a:r>
            <a:r>
              <a:rPr lang="en-US" sz="1600" b="0" i="0" dirty="0" err="1">
                <a:latin typeface="-apple-system"/>
                <a:ea typeface="-apple-system"/>
                <a:cs typeface="-apple-system"/>
              </a:rPr>
              <a:t>aplicação</a:t>
            </a:r>
            <a:r>
              <a:rPr lang="en-US" sz="1600" b="0" i="0" dirty="0">
                <a:latin typeface="-apple-system"/>
                <a:ea typeface="-apple-system"/>
                <a:cs typeface="-apple-system"/>
              </a:rPr>
              <a:t> </a:t>
            </a:r>
            <a:r>
              <a:rPr lang="en-US" sz="1600" b="0" i="0" dirty="0" err="1">
                <a:latin typeface="-apple-system"/>
                <a:ea typeface="-apple-system"/>
                <a:cs typeface="-apple-system"/>
              </a:rPr>
              <a:t>rodando</a:t>
            </a:r>
            <a:r>
              <a:rPr lang="en-US" sz="1600" b="0" i="0" dirty="0">
                <a:latin typeface="-apple-system"/>
                <a:ea typeface="-apple-system"/>
                <a:cs typeface="-apple-system"/>
              </a:rPr>
              <a:t> no </a:t>
            </a:r>
            <a:r>
              <a:rPr lang="en-US" sz="1600" b="0" i="0" dirty="0" err="1">
                <a:latin typeface="-apple-system"/>
                <a:ea typeface="-apple-system"/>
                <a:cs typeface="-apple-system"/>
              </a:rPr>
              <a:t>navegador</a:t>
            </a:r>
            <a:r>
              <a:rPr lang="en-US" sz="1600" b="0" i="0" dirty="0">
                <a:latin typeface="-apple-system"/>
                <a:ea typeface="-apple-system"/>
                <a:cs typeface="-apple-system"/>
              </a:rPr>
              <a:t> </a:t>
            </a:r>
            <a:r>
              <a:rPr lang="en-US" sz="1600" b="0" i="0" dirty="0" err="1">
                <a:latin typeface="-apple-system"/>
                <a:ea typeface="-apple-system"/>
                <a:cs typeface="-apple-system"/>
              </a:rPr>
              <a:t>não</a:t>
            </a:r>
            <a:r>
              <a:rPr lang="en-US" sz="1600" b="0" i="0" dirty="0">
                <a:latin typeface="-apple-system"/>
                <a:ea typeface="-apple-system"/>
                <a:cs typeface="-apple-system"/>
              </a:rPr>
              <a:t> </a:t>
            </a:r>
            <a:r>
              <a:rPr lang="en-US" sz="1600" b="0" i="0" dirty="0" err="1">
                <a:latin typeface="-apple-system"/>
                <a:ea typeface="-apple-system"/>
                <a:cs typeface="-apple-system"/>
              </a:rPr>
              <a:t>daria</a:t>
            </a:r>
            <a:r>
              <a:rPr lang="en-US" sz="1600" b="0" i="0" dirty="0">
                <a:latin typeface="-apple-system"/>
                <a:ea typeface="-apple-system"/>
                <a:cs typeface="-apple-system"/>
              </a:rPr>
              <a:t> </a:t>
            </a:r>
            <a:r>
              <a:rPr lang="en-US" sz="1600" b="0" i="0" dirty="0" err="1">
                <a:latin typeface="-apple-system"/>
                <a:ea typeface="-apple-system"/>
                <a:cs typeface="-apple-system"/>
              </a:rPr>
              <a:t>conta</a:t>
            </a:r>
            <a:r>
              <a:rPr lang="en-US" sz="1600" b="0" i="0" dirty="0">
                <a:latin typeface="-apple-system"/>
                <a:ea typeface="-apple-system"/>
                <a:cs typeface="-apple-system"/>
              </a:rPr>
              <a:t>: </a:t>
            </a:r>
            <a:r>
              <a:rPr lang="en-US" sz="1600" b="0" i="0" dirty="0" err="1">
                <a:latin typeface="-apple-system"/>
                <a:ea typeface="-apple-system"/>
                <a:cs typeface="-apple-system"/>
              </a:rPr>
              <a:t>que</a:t>
            </a:r>
            <a:r>
              <a:rPr lang="en-US" sz="1600" b="0" i="0" dirty="0">
                <a:latin typeface="-apple-system"/>
                <a:ea typeface="-apple-system"/>
                <a:cs typeface="-apple-system"/>
              </a:rPr>
              <a:t> </a:t>
            </a:r>
            <a:r>
              <a:rPr lang="en-US" sz="1600" b="0" i="0" dirty="0" err="1">
                <a:latin typeface="-apple-system"/>
                <a:ea typeface="-apple-system"/>
                <a:cs typeface="-apple-system"/>
              </a:rPr>
              <a:t>iria</a:t>
            </a:r>
            <a:r>
              <a:rPr lang="en-US" sz="1600" b="0" i="0" dirty="0">
                <a:latin typeface="-apple-system"/>
                <a:ea typeface="-apple-system"/>
                <a:cs typeface="-apple-system"/>
              </a:rPr>
              <a:t> </a:t>
            </a:r>
            <a:r>
              <a:rPr lang="en-US" sz="1600" b="0" i="0" dirty="0" err="1">
                <a:latin typeface="-apple-system"/>
                <a:ea typeface="-apple-system"/>
                <a:cs typeface="-apple-system"/>
              </a:rPr>
              <a:t>travar</a:t>
            </a:r>
            <a:r>
              <a:rPr lang="en-US" sz="1600" b="0" i="0" dirty="0">
                <a:latin typeface="-apple-system"/>
                <a:ea typeface="-apple-system"/>
                <a:cs typeface="-apple-system"/>
              </a:rPr>
              <a:t>, </a:t>
            </a:r>
            <a:r>
              <a:rPr lang="en-US" sz="1600" b="0" i="0" dirty="0" err="1">
                <a:latin typeface="-apple-system"/>
                <a:ea typeface="-apple-system"/>
                <a:cs typeface="-apple-system"/>
              </a:rPr>
              <a:t>não</a:t>
            </a:r>
            <a:r>
              <a:rPr lang="en-US" sz="1600" b="0" i="0" dirty="0">
                <a:latin typeface="-apple-system"/>
                <a:ea typeface="-apple-system"/>
                <a:cs typeface="-apple-system"/>
              </a:rPr>
              <a:t> </a:t>
            </a:r>
            <a:r>
              <a:rPr lang="en-US" sz="1600" b="0" i="0" dirty="0" err="1">
                <a:latin typeface="-apple-system"/>
                <a:ea typeface="-apple-system"/>
                <a:cs typeface="-apple-system"/>
              </a:rPr>
              <a:t>renderizar</a:t>
            </a:r>
            <a:r>
              <a:rPr lang="en-US" sz="1600" b="0" i="0" dirty="0">
                <a:latin typeface="-apple-system"/>
                <a:ea typeface="-apple-system"/>
                <a:cs typeface="-apple-system"/>
              </a:rPr>
              <a:t> </a:t>
            </a:r>
            <a:r>
              <a:rPr lang="en-US" sz="1600" b="0" i="0" dirty="0" err="1">
                <a:latin typeface="-apple-system"/>
                <a:ea typeface="-apple-system"/>
                <a:cs typeface="-apple-system"/>
              </a:rPr>
              <a:t>corretamente</a:t>
            </a:r>
            <a:r>
              <a:rPr lang="en-US" sz="1600" b="0" i="0" dirty="0">
                <a:latin typeface="-apple-system"/>
                <a:ea typeface="-apple-system"/>
                <a:cs typeface="-apple-system"/>
              </a:rPr>
              <a:t> </a:t>
            </a:r>
            <a:r>
              <a:rPr lang="en-US" sz="1600" b="0" i="0" dirty="0" err="1">
                <a:latin typeface="-apple-system"/>
                <a:ea typeface="-apple-system"/>
                <a:cs typeface="-apple-system"/>
              </a:rPr>
              <a:t>ou</a:t>
            </a:r>
            <a:r>
              <a:rPr lang="en-US" sz="1600" b="0" i="0" dirty="0">
                <a:latin typeface="-apple-system"/>
                <a:ea typeface="-apple-system"/>
                <a:cs typeface="-apple-system"/>
              </a:rPr>
              <a:t> </a:t>
            </a:r>
            <a:r>
              <a:rPr lang="en-US" sz="1600" b="0" i="0" dirty="0" err="1">
                <a:latin typeface="-apple-system"/>
                <a:ea typeface="-apple-system"/>
                <a:cs typeface="-apple-system"/>
              </a:rPr>
              <a:t>não</a:t>
            </a:r>
            <a:r>
              <a:rPr lang="en-US" sz="1600" b="0" i="0" dirty="0">
                <a:latin typeface="-apple-system"/>
                <a:ea typeface="-apple-system"/>
                <a:cs typeface="-apple-system"/>
              </a:rPr>
              <a:t> </a:t>
            </a:r>
            <a:r>
              <a:rPr lang="en-US" sz="1600" b="0" i="0" dirty="0" err="1">
                <a:latin typeface="-apple-system"/>
                <a:ea typeface="-apple-system"/>
                <a:cs typeface="-apple-system"/>
              </a:rPr>
              <a:t>suportar</a:t>
            </a:r>
            <a:r>
              <a:rPr lang="en-US" sz="1600" b="0" i="0" dirty="0">
                <a:latin typeface="-apple-system"/>
                <a:ea typeface="-apple-system"/>
                <a:cs typeface="-apple-system"/>
              </a:rPr>
              <a:t> </a:t>
            </a:r>
            <a:r>
              <a:rPr lang="en-US" sz="1600" b="0" i="0" dirty="0" err="1">
                <a:latin typeface="-apple-system"/>
                <a:ea typeface="-apple-system"/>
                <a:cs typeface="-apple-system"/>
              </a:rPr>
              <a:t>operações</a:t>
            </a:r>
            <a:r>
              <a:rPr lang="en-US" sz="1600" b="0" i="0" dirty="0">
                <a:latin typeface="-apple-system"/>
                <a:ea typeface="-apple-system"/>
                <a:cs typeface="-apple-system"/>
              </a:rPr>
              <a:t> </a:t>
            </a:r>
            <a:r>
              <a:rPr lang="en-US" sz="1600" b="0" i="0" dirty="0" err="1">
                <a:latin typeface="-apple-system"/>
                <a:ea typeface="-apple-system"/>
                <a:cs typeface="-apple-system"/>
              </a:rPr>
              <a:t>mais</a:t>
            </a:r>
            <a:r>
              <a:rPr lang="en-US" sz="1600" b="0" i="0" dirty="0">
                <a:latin typeface="-apple-system"/>
                <a:ea typeface="-apple-system"/>
                <a:cs typeface="-apple-system"/>
              </a:rPr>
              <a:t> </a:t>
            </a:r>
            <a:r>
              <a:rPr lang="en-US" sz="1600" b="0" i="0" dirty="0" err="1">
                <a:latin typeface="-apple-system"/>
                <a:ea typeface="-apple-system"/>
                <a:cs typeface="-apple-system"/>
              </a:rPr>
              <a:t>pesadas</a:t>
            </a:r>
            <a:r>
              <a:rPr lang="en-US" sz="1600" b="0" i="0" dirty="0">
                <a:latin typeface="-apple-system"/>
                <a:ea typeface="-apple-system"/>
                <a:cs typeface="-apple-system"/>
              </a:rPr>
              <a:t>.</a:t>
            </a:r>
            <a:br>
              <a:rPr lang="en-US" sz="1600" b="0" i="0" dirty="0">
                <a:latin typeface="-apple-system"/>
                <a:ea typeface="-apple-system"/>
                <a:cs typeface="-apple-system"/>
              </a:rPr>
            </a:br>
            <a:r>
              <a:rPr lang="en-US" sz="1600" b="0" i="0" dirty="0">
                <a:latin typeface="-apple-system"/>
                <a:ea typeface="-apple-system"/>
                <a:cs typeface="-apple-system"/>
              </a:rPr>
              <a:t>Mas </a:t>
            </a:r>
            <a:r>
              <a:rPr lang="en-US" sz="1600" b="0" i="0" dirty="0" err="1">
                <a:latin typeface="-apple-system"/>
                <a:ea typeface="-apple-system"/>
                <a:cs typeface="-apple-system"/>
              </a:rPr>
              <a:t>aqui</a:t>
            </a:r>
            <a:r>
              <a:rPr lang="en-US" sz="1600" b="0" i="0" dirty="0">
                <a:latin typeface="-apple-system"/>
                <a:ea typeface="-apple-system"/>
                <a:cs typeface="-apple-system"/>
              </a:rPr>
              <a:t> </a:t>
            </a:r>
            <a:r>
              <a:rPr lang="en-US" sz="1600" b="0" i="0" dirty="0" err="1">
                <a:latin typeface="-apple-system"/>
                <a:ea typeface="-apple-system"/>
                <a:cs typeface="-apple-system"/>
              </a:rPr>
              <a:t>estamos</a:t>
            </a:r>
            <a:r>
              <a:rPr lang="en-US" sz="1600" b="0" i="0" dirty="0">
                <a:latin typeface="-apple-system"/>
                <a:ea typeface="-apple-system"/>
                <a:cs typeface="-apple-system"/>
              </a:rPr>
              <a:t> — e </a:t>
            </a:r>
            <a:r>
              <a:rPr lang="en-US" sz="1600" b="0" i="0" dirty="0" err="1">
                <a:latin typeface="-apple-system"/>
                <a:ea typeface="-apple-system"/>
                <a:cs typeface="-apple-system"/>
              </a:rPr>
              <a:t>hoje</a:t>
            </a:r>
            <a:r>
              <a:rPr lang="en-US" sz="1600" b="0" i="0" dirty="0">
                <a:latin typeface="-apple-system"/>
                <a:ea typeface="-apple-system"/>
                <a:cs typeface="-apple-system"/>
              </a:rPr>
              <a:t> </a:t>
            </a:r>
            <a:r>
              <a:rPr lang="en-US" sz="1600" b="0" i="0" dirty="0" err="1">
                <a:latin typeface="-apple-system"/>
                <a:ea typeface="-apple-system"/>
                <a:cs typeface="-apple-system"/>
              </a:rPr>
              <a:t>já</a:t>
            </a:r>
            <a:r>
              <a:rPr lang="en-US" sz="1600" b="0" i="0" dirty="0">
                <a:latin typeface="-apple-system"/>
                <a:ea typeface="-apple-system"/>
                <a:cs typeface="-apple-system"/>
              </a:rPr>
              <a:t> </a:t>
            </a:r>
            <a:r>
              <a:rPr lang="en-US" sz="1600" b="0" i="0" dirty="0" err="1">
                <a:latin typeface="-apple-system"/>
                <a:ea typeface="-apple-system"/>
                <a:cs typeface="-apple-system"/>
              </a:rPr>
              <a:t>utilizo</a:t>
            </a:r>
            <a:r>
              <a:rPr lang="en-US" sz="1600" b="0" i="0" dirty="0">
                <a:latin typeface="-apple-system"/>
                <a:ea typeface="-apple-system"/>
                <a:cs typeface="-apple-system"/>
              </a:rPr>
              <a:t> o Gabriella GIS </a:t>
            </a:r>
            <a:r>
              <a:rPr lang="en-US" sz="1600" b="0" i="0" dirty="0" err="1">
                <a:latin typeface="-apple-system"/>
                <a:ea typeface="-apple-system"/>
                <a:cs typeface="-apple-system"/>
              </a:rPr>
              <a:t>em</a:t>
            </a:r>
            <a:r>
              <a:rPr lang="en-US" sz="1600" b="0" i="0" dirty="0">
                <a:latin typeface="-apple-system"/>
                <a:ea typeface="-apple-system"/>
                <a:cs typeface="-apple-system"/>
              </a:rPr>
              <a:t> </a:t>
            </a:r>
            <a:r>
              <a:rPr lang="en-US" sz="1600" b="0" i="0" dirty="0" err="1">
                <a:latin typeface="-apple-system"/>
                <a:ea typeface="-apple-system"/>
                <a:cs typeface="-apple-system"/>
              </a:rPr>
              <a:t>projetos</a:t>
            </a:r>
            <a:r>
              <a:rPr lang="en-US" sz="1600" b="0" i="0" dirty="0">
                <a:latin typeface="-apple-system"/>
                <a:ea typeface="-apple-system"/>
                <a:cs typeface="-apple-system"/>
              </a:rPr>
              <a:t> reais, com </a:t>
            </a:r>
            <a:r>
              <a:rPr lang="en-US" sz="1600" b="0" i="0" dirty="0" err="1">
                <a:latin typeface="-apple-system"/>
                <a:ea typeface="-apple-system"/>
                <a:cs typeface="-apple-system"/>
              </a:rPr>
              <a:t>resultados</a:t>
            </a:r>
            <a:r>
              <a:rPr lang="en-US" sz="1600" b="0" i="0" dirty="0">
                <a:latin typeface="-apple-system"/>
                <a:ea typeface="-apple-system"/>
                <a:cs typeface="-apple-system"/>
              </a:rPr>
              <a:t> </a:t>
            </a:r>
            <a:r>
              <a:rPr lang="en-US" sz="1600" b="0" i="0" dirty="0" err="1">
                <a:latin typeface="-apple-system"/>
                <a:ea typeface="-apple-system"/>
                <a:cs typeface="-apple-system"/>
              </a:rPr>
              <a:t>consistentes</a:t>
            </a:r>
            <a:r>
              <a:rPr lang="en-US" sz="1600" b="0" i="0" dirty="0">
                <a:latin typeface="-apple-system"/>
                <a:ea typeface="-apple-system"/>
                <a:cs typeface="-apple-system"/>
              </a:rPr>
              <a:t>.</a:t>
            </a:r>
            <a:br>
              <a:rPr lang="en-US" sz="1600" b="0" i="0" dirty="0">
                <a:latin typeface="-apple-system"/>
                <a:ea typeface="-apple-system"/>
                <a:cs typeface="-apple-system"/>
              </a:rPr>
            </a:br>
            <a:r>
              <a:rPr lang="en-US" sz="1600" b="0" i="0" dirty="0">
                <a:latin typeface="-apple-system"/>
                <a:ea typeface="-apple-system"/>
                <a:cs typeface="-apple-system"/>
              </a:rPr>
              <a:t>O </a:t>
            </a:r>
            <a:r>
              <a:rPr lang="en-US" sz="1600" b="0" i="0" dirty="0" err="1">
                <a:latin typeface="-apple-system"/>
                <a:ea typeface="-apple-system"/>
                <a:cs typeface="-apple-system"/>
              </a:rPr>
              <a:t>projeto</a:t>
            </a:r>
            <a:r>
              <a:rPr lang="en-US" sz="1600" b="0" i="0" dirty="0">
                <a:latin typeface="-apple-system"/>
                <a:ea typeface="-apple-system"/>
                <a:cs typeface="-apple-system"/>
              </a:rPr>
              <a:t> </a:t>
            </a:r>
            <a:r>
              <a:rPr lang="en-US" sz="1600" b="0" i="0" dirty="0" err="1">
                <a:latin typeface="-apple-system"/>
                <a:ea typeface="-apple-system"/>
                <a:cs typeface="-apple-system"/>
              </a:rPr>
              <a:t>evolui</a:t>
            </a:r>
            <a:r>
              <a:rPr lang="en-US" sz="1600" b="0" i="0" dirty="0">
                <a:latin typeface="-apple-system"/>
                <a:ea typeface="-apple-system"/>
                <a:cs typeface="-apple-system"/>
              </a:rPr>
              <a:t> um </a:t>
            </a:r>
            <a:r>
              <a:rPr lang="en-US" sz="1600" b="0" i="0" dirty="0" err="1">
                <a:latin typeface="-apple-system"/>
                <a:ea typeface="-apple-system"/>
                <a:cs typeface="-apple-system"/>
              </a:rPr>
              <a:t>pouco</a:t>
            </a:r>
            <a:r>
              <a:rPr lang="en-US" sz="1600" b="0" i="0" dirty="0">
                <a:latin typeface="-apple-system"/>
                <a:ea typeface="-apple-system"/>
                <a:cs typeface="-apple-system"/>
              </a:rPr>
              <a:t> </a:t>
            </a:r>
            <a:r>
              <a:rPr lang="en-US" sz="1600" b="0" i="0" dirty="0" err="1">
                <a:latin typeface="-apple-system"/>
                <a:ea typeface="-apple-system"/>
                <a:cs typeface="-apple-system"/>
              </a:rPr>
              <a:t>todos</a:t>
            </a:r>
            <a:r>
              <a:rPr lang="en-US" sz="1600" b="0" i="0" dirty="0">
                <a:latin typeface="-apple-system"/>
                <a:ea typeface="-apple-system"/>
                <a:cs typeface="-apple-system"/>
              </a:rPr>
              <a:t> </a:t>
            </a:r>
            <a:r>
              <a:rPr lang="en-US" sz="1600" b="0" i="0" dirty="0" err="1">
                <a:latin typeface="-apple-system"/>
                <a:ea typeface="-apple-system"/>
                <a:cs typeface="-apple-system"/>
              </a:rPr>
              <a:t>os</a:t>
            </a:r>
            <a:r>
              <a:rPr lang="en-US" sz="1600" b="0" i="0" dirty="0">
                <a:latin typeface="-apple-system"/>
                <a:ea typeface="-apple-system"/>
                <a:cs typeface="-apple-system"/>
              </a:rPr>
              <a:t> </a:t>
            </a:r>
            <a:r>
              <a:rPr lang="en-US" sz="1600" b="0" i="0" dirty="0" err="1">
                <a:latin typeface="-apple-system"/>
                <a:ea typeface="-apple-system"/>
                <a:cs typeface="-apple-system"/>
              </a:rPr>
              <a:t>dias</a:t>
            </a:r>
            <a:r>
              <a:rPr lang="en-US" sz="1600" b="0" i="0" dirty="0">
                <a:latin typeface="-apple-system"/>
                <a:ea typeface="-apple-system"/>
                <a:cs typeface="-apple-system"/>
              </a:rPr>
              <a:t>. </a:t>
            </a:r>
            <a:r>
              <a:rPr lang="en-US" sz="1600" b="0" i="0" dirty="0" err="1">
                <a:latin typeface="-apple-system"/>
                <a:ea typeface="-apple-system"/>
                <a:cs typeface="-apple-system"/>
              </a:rPr>
              <a:t>Ainda</a:t>
            </a:r>
            <a:r>
              <a:rPr lang="en-US" sz="1600" b="0" i="0" dirty="0">
                <a:latin typeface="-apple-system"/>
                <a:ea typeface="-apple-system"/>
                <a:cs typeface="-apple-system"/>
              </a:rPr>
              <a:t> </a:t>
            </a:r>
            <a:r>
              <a:rPr lang="en-US" sz="1600" b="0" i="0" dirty="0" err="1">
                <a:latin typeface="-apple-system"/>
                <a:ea typeface="-apple-system"/>
                <a:cs typeface="-apple-system"/>
              </a:rPr>
              <a:t>há</a:t>
            </a:r>
            <a:r>
              <a:rPr lang="en-US" sz="1600" b="0" i="0" dirty="0">
                <a:latin typeface="-apple-system"/>
                <a:ea typeface="-apple-system"/>
                <a:cs typeface="-apple-system"/>
              </a:rPr>
              <a:t> </a:t>
            </a:r>
            <a:r>
              <a:rPr lang="en-US" sz="1600" b="0" i="0" dirty="0" err="1">
                <a:latin typeface="-apple-system"/>
                <a:ea typeface="-apple-system"/>
                <a:cs typeface="-apple-system"/>
              </a:rPr>
              <a:t>muito</a:t>
            </a:r>
            <a:r>
              <a:rPr lang="en-US" sz="1600" b="0" i="0" dirty="0">
                <a:latin typeface="-apple-system"/>
                <a:ea typeface="-apple-system"/>
                <a:cs typeface="-apple-system"/>
              </a:rPr>
              <a:t> a </a:t>
            </a:r>
            <a:r>
              <a:rPr lang="en-US" sz="1600" b="0" i="0" dirty="0" err="1">
                <a:latin typeface="-apple-system"/>
                <a:ea typeface="-apple-system"/>
                <a:cs typeface="-apple-system"/>
              </a:rPr>
              <a:t>desenvolver</a:t>
            </a:r>
            <a:r>
              <a:rPr lang="en-US" sz="1600" b="0" i="0" dirty="0">
                <a:latin typeface="-apple-system"/>
                <a:ea typeface="-apple-system"/>
                <a:cs typeface="-apple-system"/>
              </a:rPr>
              <a:t>, </a:t>
            </a:r>
            <a:r>
              <a:rPr lang="en-US" sz="1600" b="0" i="0" dirty="0" err="1">
                <a:latin typeface="-apple-system"/>
                <a:ea typeface="-apple-system"/>
                <a:cs typeface="-apple-system"/>
              </a:rPr>
              <a:t>muitas</a:t>
            </a:r>
            <a:r>
              <a:rPr lang="en-US" sz="1600" b="0" i="0" dirty="0">
                <a:latin typeface="-apple-system"/>
                <a:ea typeface="-apple-system"/>
                <a:cs typeface="-apple-system"/>
              </a:rPr>
              <a:t> </a:t>
            </a:r>
            <a:r>
              <a:rPr lang="en-US" sz="1600" b="0" i="0" dirty="0" err="1">
                <a:latin typeface="-apple-system"/>
                <a:ea typeface="-apple-system"/>
                <a:cs typeface="-apple-system"/>
              </a:rPr>
              <a:t>funcionalidades</a:t>
            </a:r>
            <a:r>
              <a:rPr lang="en-US" sz="1600" b="0" i="0" dirty="0">
                <a:latin typeface="-apple-system"/>
                <a:ea typeface="-apple-system"/>
                <a:cs typeface="-apple-system"/>
              </a:rPr>
              <a:t> a </a:t>
            </a:r>
            <a:r>
              <a:rPr lang="en-US" sz="1600" b="0" i="0" dirty="0" err="1">
                <a:latin typeface="-apple-system"/>
                <a:ea typeface="-apple-system"/>
                <a:cs typeface="-apple-system"/>
              </a:rPr>
              <a:t>construir</a:t>
            </a:r>
            <a:r>
              <a:rPr lang="en-US" sz="1600" b="0" i="0" dirty="0">
                <a:latin typeface="-apple-system"/>
                <a:ea typeface="-apple-system"/>
                <a:cs typeface="-apple-system"/>
              </a:rPr>
              <a:t> e </a:t>
            </a:r>
            <a:r>
              <a:rPr lang="en-US" sz="1600" b="0" i="0" dirty="0" err="1">
                <a:latin typeface="-apple-system"/>
                <a:ea typeface="-apple-system"/>
                <a:cs typeface="-apple-system"/>
              </a:rPr>
              <a:t>melhorias</a:t>
            </a:r>
            <a:r>
              <a:rPr lang="en-US" sz="1600" b="0" i="0" dirty="0">
                <a:latin typeface="-apple-system"/>
                <a:ea typeface="-apple-system"/>
                <a:cs typeface="-apple-system"/>
              </a:rPr>
              <a:t> </a:t>
            </a:r>
            <a:r>
              <a:rPr lang="en-US" sz="1600" b="0" i="0" dirty="0" err="1">
                <a:latin typeface="-apple-system"/>
                <a:ea typeface="-apple-system"/>
                <a:cs typeface="-apple-system"/>
              </a:rPr>
              <a:t>a</a:t>
            </a:r>
            <a:r>
              <a:rPr lang="en-US" sz="1600" b="0" i="0" dirty="0">
                <a:latin typeface="-apple-system"/>
                <a:ea typeface="-apple-system"/>
                <a:cs typeface="-apple-system"/>
              </a:rPr>
              <a:t> </a:t>
            </a:r>
            <a:r>
              <a:rPr lang="en-US" sz="1600" b="0" i="0" dirty="0" err="1">
                <a:latin typeface="-apple-system"/>
                <a:ea typeface="-apple-system"/>
                <a:cs typeface="-apple-system"/>
              </a:rPr>
              <a:t>implementar</a:t>
            </a:r>
            <a:r>
              <a:rPr lang="en-US" sz="1600" b="0" i="0" dirty="0">
                <a:latin typeface="-apple-system"/>
                <a:ea typeface="-apple-system"/>
                <a:cs typeface="-apple-system"/>
              </a:rPr>
              <a:t> para </a:t>
            </a:r>
            <a:r>
              <a:rPr lang="en-US" sz="1600" b="0" i="0" dirty="0" err="1">
                <a:latin typeface="-apple-system"/>
                <a:ea typeface="-apple-system"/>
                <a:cs typeface="-apple-system"/>
              </a:rPr>
              <a:t>apoiar</a:t>
            </a:r>
            <a:r>
              <a:rPr lang="en-US" sz="1600" b="0" i="0" dirty="0">
                <a:latin typeface="-apple-system"/>
                <a:ea typeface="-apple-system"/>
                <a:cs typeface="-apple-system"/>
              </a:rPr>
              <a:t> a </a:t>
            </a:r>
            <a:r>
              <a:rPr lang="en-US" sz="1600" b="0" i="0" dirty="0" err="1">
                <a:latin typeface="-apple-system"/>
                <a:ea typeface="-apple-system"/>
                <a:cs typeface="-apple-system"/>
              </a:rPr>
              <a:t>comunidade</a:t>
            </a:r>
            <a:r>
              <a:rPr lang="en-US" sz="1600" b="0" i="0" dirty="0">
                <a:latin typeface="-apple-system"/>
                <a:ea typeface="-apple-system"/>
                <a:cs typeface="-apple-system"/>
              </a:rPr>
              <a:t> GIS.</a:t>
            </a:r>
            <a:br>
              <a:rPr lang="en-US" sz="1600" b="0" i="0" dirty="0">
                <a:latin typeface="-apple-system"/>
                <a:ea typeface="-apple-system"/>
                <a:cs typeface="-apple-system"/>
              </a:rPr>
            </a:br>
            <a:r>
              <a:rPr lang="en-US" sz="1600" b="0" i="0" dirty="0">
                <a:latin typeface="-apple-system"/>
                <a:ea typeface="-apple-system"/>
                <a:cs typeface="-apple-system"/>
              </a:rPr>
              <a:t>Meu </a:t>
            </a:r>
            <a:r>
              <a:rPr lang="en-US" sz="1600" b="0" i="0" dirty="0" err="1">
                <a:latin typeface="-apple-system"/>
                <a:ea typeface="-apple-system"/>
                <a:cs typeface="-apple-system"/>
              </a:rPr>
              <a:t>objetivo</a:t>
            </a:r>
            <a:r>
              <a:rPr lang="en-US" sz="1600" b="0" i="0" dirty="0">
                <a:latin typeface="-apple-system"/>
                <a:ea typeface="-apple-system"/>
                <a:cs typeface="-apple-system"/>
              </a:rPr>
              <a:t> é simples: </a:t>
            </a:r>
            <a:r>
              <a:rPr lang="en-US" sz="1600" b="0" i="0" dirty="0" err="1">
                <a:latin typeface="-apple-system"/>
                <a:ea typeface="-apple-system"/>
                <a:cs typeface="-apple-system"/>
              </a:rPr>
              <a:t>que</a:t>
            </a:r>
            <a:r>
              <a:rPr lang="en-US" sz="1600" b="0" i="0" dirty="0">
                <a:latin typeface="-apple-system"/>
                <a:ea typeface="-apple-system"/>
                <a:cs typeface="-apple-system"/>
              </a:rPr>
              <a:t> </a:t>
            </a:r>
            <a:r>
              <a:rPr lang="en-US" sz="1600" b="0" i="0" dirty="0" err="1">
                <a:latin typeface="-apple-system"/>
                <a:ea typeface="-apple-system"/>
                <a:cs typeface="-apple-system"/>
              </a:rPr>
              <a:t>ele</a:t>
            </a:r>
            <a:r>
              <a:rPr lang="en-US" sz="1600" b="0" i="0" dirty="0">
                <a:latin typeface="-apple-system"/>
                <a:ea typeface="-apple-system"/>
                <a:cs typeface="-apple-system"/>
              </a:rPr>
              <a:t> </a:t>
            </a:r>
            <a:r>
              <a:rPr lang="en-US" sz="1600" b="0" i="0" dirty="0" err="1">
                <a:latin typeface="-apple-system"/>
                <a:ea typeface="-apple-system"/>
                <a:cs typeface="-apple-system"/>
              </a:rPr>
              <a:t>seja</a:t>
            </a:r>
            <a:r>
              <a:rPr lang="en-US" sz="1600" b="0" i="0" dirty="0">
                <a:latin typeface="-apple-system"/>
                <a:ea typeface="-apple-system"/>
                <a:cs typeface="-apple-system"/>
              </a:rPr>
              <a:t> </a:t>
            </a:r>
            <a:r>
              <a:rPr lang="en-US" sz="1600" b="0" i="0" dirty="0" err="1">
                <a:latin typeface="-apple-system"/>
                <a:ea typeface="-apple-system"/>
                <a:cs typeface="-apple-system"/>
              </a:rPr>
              <a:t>útil</a:t>
            </a:r>
            <a:r>
              <a:rPr lang="en-US" sz="1600" b="0" i="0" dirty="0">
                <a:latin typeface="-apple-system"/>
                <a:ea typeface="-apple-system"/>
                <a:cs typeface="-apple-system"/>
              </a:rPr>
              <a:t>.</a:t>
            </a:r>
            <a:br>
              <a:rPr lang="en-US" sz="1600" b="0" i="0" dirty="0">
                <a:latin typeface="-apple-system"/>
                <a:ea typeface="-apple-system"/>
                <a:cs typeface="-apple-system"/>
              </a:rPr>
            </a:br>
            <a:r>
              <a:rPr lang="en-US" sz="1600" b="0" i="0" dirty="0">
                <a:latin typeface="-apple-system"/>
                <a:ea typeface="-apple-system"/>
                <a:cs typeface="-apple-system"/>
              </a:rPr>
              <a:t>Se o Gabriella GIS </a:t>
            </a:r>
            <a:r>
              <a:rPr lang="en-US" sz="1600" b="0" i="0" dirty="0" err="1">
                <a:latin typeface="-apple-system"/>
                <a:ea typeface="-apple-system"/>
                <a:cs typeface="-apple-system"/>
              </a:rPr>
              <a:t>conseguir</a:t>
            </a:r>
            <a:r>
              <a:rPr lang="en-US" sz="1600" b="0" i="0" dirty="0">
                <a:latin typeface="-apple-system"/>
                <a:ea typeface="-apple-system"/>
                <a:cs typeface="-apple-system"/>
              </a:rPr>
              <a:t> </a:t>
            </a:r>
            <a:r>
              <a:rPr lang="en-US" sz="1600" b="0" i="0" dirty="0" err="1">
                <a:latin typeface="-apple-system"/>
                <a:ea typeface="-apple-system"/>
                <a:cs typeface="-apple-system"/>
              </a:rPr>
              <a:t>ajudar</a:t>
            </a:r>
            <a:r>
              <a:rPr lang="en-US" sz="1600" b="0" i="0" dirty="0">
                <a:latin typeface="-apple-system"/>
                <a:ea typeface="-apple-system"/>
                <a:cs typeface="-apple-system"/>
              </a:rPr>
              <a:t> </a:t>
            </a:r>
            <a:r>
              <a:rPr lang="en-US" sz="1600" b="0" i="0" dirty="0" err="1">
                <a:latin typeface="-apple-system"/>
                <a:ea typeface="-apple-system"/>
                <a:cs typeface="-apple-system"/>
              </a:rPr>
              <a:t>ao</a:t>
            </a:r>
            <a:r>
              <a:rPr lang="en-US" sz="1600" b="0" i="0" dirty="0">
                <a:latin typeface="-apple-system"/>
                <a:ea typeface="-apple-system"/>
                <a:cs typeface="-apple-system"/>
              </a:rPr>
              <a:t> </a:t>
            </a:r>
            <a:r>
              <a:rPr lang="en-US" sz="1600" b="0" i="0" dirty="0" err="1">
                <a:latin typeface="-apple-system"/>
                <a:ea typeface="-apple-system"/>
                <a:cs typeface="-apple-system"/>
              </a:rPr>
              <a:t>menos</a:t>
            </a:r>
            <a:r>
              <a:rPr lang="en-US" sz="1600" b="0" i="0" dirty="0">
                <a:latin typeface="-apple-system"/>
                <a:ea typeface="-apple-system"/>
                <a:cs typeface="-apple-system"/>
              </a:rPr>
              <a:t> um </a:t>
            </a:r>
            <a:r>
              <a:rPr lang="en-US" sz="1600" b="0" i="0" dirty="0" err="1">
                <a:latin typeface="-apple-system"/>
                <a:ea typeface="-apple-system"/>
                <a:cs typeface="-apple-system"/>
              </a:rPr>
              <a:t>colega</a:t>
            </a:r>
            <a:r>
              <a:rPr lang="en-US" sz="1600" b="0" i="0" dirty="0">
                <a:latin typeface="-apple-system"/>
                <a:ea typeface="-apple-system"/>
                <a:cs typeface="-apple-system"/>
              </a:rPr>
              <a:t> — </a:t>
            </a:r>
            <a:r>
              <a:rPr lang="en-US" sz="1600" b="0" i="0" dirty="0" err="1">
                <a:latin typeface="-apple-system"/>
                <a:ea typeface="-apple-system"/>
                <a:cs typeface="-apple-system"/>
              </a:rPr>
              <a:t>ou</a:t>
            </a:r>
            <a:r>
              <a:rPr lang="en-US" sz="1600" b="0" i="0" dirty="0">
                <a:latin typeface="-apple-system"/>
                <a:ea typeface="-apple-system"/>
                <a:cs typeface="-apple-system"/>
              </a:rPr>
              <a:t> um </a:t>
            </a:r>
            <a:r>
              <a:rPr lang="en-US" sz="1600" b="0" i="0" dirty="0" err="1">
                <a:latin typeface="-apple-system"/>
                <a:ea typeface="-apple-system"/>
                <a:cs typeface="-apple-system"/>
              </a:rPr>
              <a:t>estudante</a:t>
            </a:r>
            <a:r>
              <a:rPr lang="en-US" sz="1600" b="0" i="0" dirty="0">
                <a:latin typeface="-apple-system"/>
                <a:ea typeface="-apple-system"/>
                <a:cs typeface="-apple-system"/>
              </a:rPr>
              <a:t> </a:t>
            </a:r>
            <a:r>
              <a:rPr lang="en-US" sz="1600" b="0" i="0" dirty="0" err="1">
                <a:latin typeface="-apple-system"/>
                <a:ea typeface="-apple-system"/>
                <a:cs typeface="-apple-system"/>
              </a:rPr>
              <a:t>que</a:t>
            </a:r>
            <a:r>
              <a:rPr lang="en-US" sz="1600" b="0" i="0" dirty="0">
                <a:latin typeface="-apple-system"/>
                <a:ea typeface="-apple-system"/>
                <a:cs typeface="-apple-system"/>
              </a:rPr>
              <a:t> </a:t>
            </a:r>
            <a:r>
              <a:rPr lang="en-US" sz="1600" b="0" i="0" dirty="0" err="1">
                <a:latin typeface="-apple-system"/>
                <a:ea typeface="-apple-system"/>
                <a:cs typeface="-apple-system"/>
              </a:rPr>
              <a:t>não</a:t>
            </a:r>
            <a:r>
              <a:rPr lang="en-US" sz="1600" b="0" i="0" dirty="0">
                <a:latin typeface="-apple-system"/>
                <a:ea typeface="-apple-system"/>
                <a:cs typeface="-apple-system"/>
              </a:rPr>
              <a:t> </a:t>
            </a:r>
            <a:r>
              <a:rPr lang="en-US" sz="1600" b="0" i="0" dirty="0" err="1">
                <a:latin typeface="-apple-system"/>
                <a:ea typeface="-apple-system"/>
                <a:cs typeface="-apple-system"/>
              </a:rPr>
              <a:t>tenha</a:t>
            </a:r>
            <a:r>
              <a:rPr lang="en-US" sz="1600" b="0" i="0" dirty="0">
                <a:latin typeface="-apple-system"/>
                <a:ea typeface="-apple-system"/>
                <a:cs typeface="-apple-system"/>
              </a:rPr>
              <a:t> </a:t>
            </a:r>
            <a:r>
              <a:rPr lang="en-US" sz="1600" b="0" i="0" dirty="0" err="1">
                <a:latin typeface="-apple-system"/>
                <a:ea typeface="-apple-system"/>
                <a:cs typeface="-apple-system"/>
              </a:rPr>
              <a:t>acesso</a:t>
            </a:r>
            <a:r>
              <a:rPr lang="en-US" sz="1600" b="0" i="0" dirty="0">
                <a:latin typeface="-apple-system"/>
                <a:ea typeface="-apple-system"/>
                <a:cs typeface="-apple-system"/>
              </a:rPr>
              <a:t> </a:t>
            </a:r>
            <a:r>
              <a:rPr lang="en-US" sz="1600" b="0" i="0" dirty="0" err="1">
                <a:latin typeface="-apple-system"/>
                <a:ea typeface="-apple-system"/>
                <a:cs typeface="-apple-system"/>
              </a:rPr>
              <a:t>a</a:t>
            </a:r>
            <a:r>
              <a:rPr lang="en-US" sz="1600" b="0" i="0" dirty="0">
                <a:latin typeface="-apple-system"/>
                <a:ea typeface="-apple-system"/>
                <a:cs typeface="-apple-system"/>
              </a:rPr>
              <a:t> um </a:t>
            </a:r>
            <a:r>
              <a:rPr lang="en-US" sz="1600" b="0" i="0" dirty="0" err="1">
                <a:latin typeface="-apple-system"/>
                <a:ea typeface="-apple-system"/>
                <a:cs typeface="-apple-system"/>
              </a:rPr>
              <a:t>computador</a:t>
            </a:r>
            <a:r>
              <a:rPr lang="en-US" sz="1600" b="0" i="0" dirty="0">
                <a:latin typeface="-apple-system"/>
                <a:ea typeface="-apple-system"/>
                <a:cs typeface="-apple-system"/>
              </a:rPr>
              <a:t> </a:t>
            </a:r>
            <a:r>
              <a:rPr lang="en-US" sz="1600" b="0" i="0" dirty="0" err="1">
                <a:latin typeface="-apple-system"/>
                <a:ea typeface="-apple-system"/>
                <a:cs typeface="-apple-system"/>
              </a:rPr>
              <a:t>potente</a:t>
            </a:r>
            <a:r>
              <a:rPr lang="en-US" sz="1600" b="0" i="0" dirty="0">
                <a:latin typeface="-apple-system"/>
                <a:ea typeface="-apple-system"/>
                <a:cs typeface="-apple-system"/>
              </a:rPr>
              <a:t>, mas </a:t>
            </a:r>
            <a:r>
              <a:rPr lang="en-US" sz="1600" b="0" i="0" dirty="0" err="1">
                <a:latin typeface="-apple-system"/>
                <a:ea typeface="-apple-system"/>
                <a:cs typeface="-apple-system"/>
              </a:rPr>
              <a:t>que</a:t>
            </a:r>
            <a:r>
              <a:rPr lang="en-US" sz="1600" b="0" i="0" dirty="0">
                <a:latin typeface="-apple-system"/>
                <a:ea typeface="-apple-system"/>
                <a:cs typeface="-apple-system"/>
              </a:rPr>
              <a:t> agora </a:t>
            </a:r>
            <a:r>
              <a:rPr lang="en-US" sz="1600" b="0" i="0" dirty="0" err="1">
                <a:latin typeface="-apple-system"/>
                <a:ea typeface="-apple-system"/>
                <a:cs typeface="-apple-system"/>
              </a:rPr>
              <a:t>pode</a:t>
            </a:r>
            <a:r>
              <a:rPr lang="en-US" sz="1600" b="0" i="0" dirty="0">
                <a:latin typeface="-apple-system"/>
                <a:ea typeface="-apple-system"/>
                <a:cs typeface="-apple-system"/>
              </a:rPr>
              <a:t> </a:t>
            </a:r>
            <a:r>
              <a:rPr lang="en-US" sz="1600" b="0" i="0" dirty="0" err="1">
                <a:latin typeface="-apple-system"/>
                <a:ea typeface="-apple-system"/>
                <a:cs typeface="-apple-system"/>
              </a:rPr>
              <a:t>produzir</a:t>
            </a:r>
            <a:r>
              <a:rPr lang="en-US" sz="1600" b="0" i="0" dirty="0">
                <a:latin typeface="-apple-system"/>
                <a:ea typeface="-apple-system"/>
                <a:cs typeface="-apple-system"/>
              </a:rPr>
              <a:t> </a:t>
            </a:r>
            <a:r>
              <a:rPr lang="en-US" sz="1600" b="0" i="0" dirty="0" err="1">
                <a:latin typeface="-apple-system"/>
                <a:ea typeface="-apple-system"/>
                <a:cs typeface="-apple-system"/>
              </a:rPr>
              <a:t>seus</a:t>
            </a:r>
            <a:r>
              <a:rPr lang="en-US" sz="1600" b="0" i="0" dirty="0">
                <a:latin typeface="-apple-system"/>
                <a:ea typeface="-apple-system"/>
                <a:cs typeface="-apple-system"/>
              </a:rPr>
              <a:t> </a:t>
            </a:r>
            <a:r>
              <a:rPr lang="en-US" sz="1600" b="0" i="0" dirty="0" err="1">
                <a:latin typeface="-apple-system"/>
                <a:ea typeface="-apple-system"/>
                <a:cs typeface="-apple-system"/>
              </a:rPr>
              <a:t>mapas</a:t>
            </a:r>
            <a:r>
              <a:rPr lang="en-US" sz="1600" b="0" i="0" dirty="0">
                <a:latin typeface="-apple-system"/>
                <a:ea typeface="-apple-system"/>
                <a:cs typeface="-apple-system"/>
              </a:rPr>
              <a:t> </a:t>
            </a:r>
            <a:r>
              <a:rPr lang="en-US" sz="1600" b="0" i="0" dirty="0" err="1">
                <a:latin typeface="-apple-system"/>
                <a:ea typeface="-apple-system"/>
                <a:cs typeface="-apple-system"/>
              </a:rPr>
              <a:t>diretamente</a:t>
            </a:r>
            <a:r>
              <a:rPr lang="en-US" sz="1600" b="0" i="0" dirty="0">
                <a:latin typeface="-apple-system"/>
                <a:ea typeface="-apple-system"/>
                <a:cs typeface="-apple-system"/>
              </a:rPr>
              <a:t> do smartphone — </a:t>
            </a:r>
            <a:r>
              <a:rPr lang="en-US" sz="1600" b="0" i="0" dirty="0" err="1">
                <a:latin typeface="-apple-system"/>
                <a:ea typeface="-apple-system"/>
                <a:cs typeface="-apple-system"/>
              </a:rPr>
              <a:t>então</a:t>
            </a:r>
            <a:r>
              <a:rPr lang="en-US" sz="1600" b="0" i="0" dirty="0">
                <a:latin typeface="-apple-system"/>
                <a:ea typeface="-apple-system"/>
                <a:cs typeface="-apple-system"/>
              </a:rPr>
              <a:t> </a:t>
            </a:r>
            <a:r>
              <a:rPr lang="en-US" sz="1600" b="0" i="0" dirty="0" err="1">
                <a:latin typeface="-apple-system"/>
                <a:ea typeface="-apple-system"/>
                <a:cs typeface="-apple-system"/>
              </a:rPr>
              <a:t>já</a:t>
            </a:r>
            <a:r>
              <a:rPr lang="en-US" sz="1600" b="0" i="0" dirty="0">
                <a:latin typeface="-apple-system"/>
                <a:ea typeface="-apple-system"/>
                <a:cs typeface="-apple-system"/>
              </a:rPr>
              <a:t> </a:t>
            </a:r>
            <a:r>
              <a:rPr lang="en-US" sz="1600" b="0" i="0" dirty="0" err="1">
                <a:latin typeface="-apple-system"/>
                <a:ea typeface="-apple-system"/>
                <a:cs typeface="-apple-system"/>
              </a:rPr>
              <a:t>terá</a:t>
            </a:r>
            <a:r>
              <a:rPr lang="en-US" sz="1600" b="0" i="0" dirty="0">
                <a:latin typeface="-apple-system"/>
                <a:ea typeface="-apple-system"/>
                <a:cs typeface="-apple-system"/>
              </a:rPr>
              <a:t> </a:t>
            </a:r>
            <a:r>
              <a:rPr lang="en-US" sz="1600" b="0" i="0" dirty="0" err="1">
                <a:latin typeface="-apple-system"/>
                <a:ea typeface="-apple-system"/>
                <a:cs typeface="-apple-system"/>
              </a:rPr>
              <a:t>valido</a:t>
            </a:r>
            <a:r>
              <a:rPr lang="en-US" sz="1600" b="0" i="0" dirty="0">
                <a:latin typeface="-apple-system"/>
                <a:ea typeface="-apple-system"/>
                <a:cs typeface="-apple-system"/>
              </a:rPr>
              <a:t> a </a:t>
            </a:r>
            <a:r>
              <a:rPr lang="en-US" sz="1600" b="0" i="0" dirty="0" err="1">
                <a:latin typeface="-apple-system"/>
                <a:ea typeface="-apple-system"/>
                <a:cs typeface="-apple-system"/>
              </a:rPr>
              <a:t>pena</a:t>
            </a:r>
            <a:r>
              <a:rPr lang="en-US" sz="1600" b="0" i="0" dirty="0">
                <a:latin typeface="-apple-system"/>
                <a:ea typeface="-apple-system"/>
                <a:cs typeface="-apple-system"/>
              </a:rPr>
              <a:t>.</a:t>
            </a:r>
            <a:br>
              <a:rPr lang="en-US" sz="1600" b="0" i="0" dirty="0">
                <a:latin typeface="-apple-system"/>
                <a:ea typeface="-apple-system"/>
                <a:cs typeface="-apple-system"/>
              </a:rPr>
            </a:br>
            <a:r>
              <a:rPr lang="en-US" sz="1600" b="0" i="0" dirty="0">
                <a:latin typeface="-apple-system"/>
                <a:ea typeface="-apple-system"/>
                <a:cs typeface="-apple-system"/>
              </a:rPr>
              <a:t>Se </a:t>
            </a:r>
            <a:r>
              <a:rPr lang="en-US" sz="1600" b="0" i="0" dirty="0" err="1">
                <a:latin typeface="-apple-system"/>
                <a:ea typeface="-apple-system"/>
                <a:cs typeface="-apple-system"/>
              </a:rPr>
              <a:t>quiser</a:t>
            </a:r>
            <a:r>
              <a:rPr lang="en-US" sz="1600" b="0" i="0" dirty="0">
                <a:latin typeface="-apple-system"/>
                <a:ea typeface="-apple-system"/>
                <a:cs typeface="-apple-system"/>
              </a:rPr>
              <a:t> </a:t>
            </a:r>
            <a:r>
              <a:rPr lang="en-US" sz="1600" b="0" i="0" dirty="0" err="1">
                <a:latin typeface="-apple-system"/>
                <a:ea typeface="-apple-system"/>
                <a:cs typeface="-apple-system"/>
              </a:rPr>
              <a:t>experimentar</a:t>
            </a:r>
            <a:r>
              <a:rPr lang="en-US" sz="1600" b="0" i="0" dirty="0">
                <a:latin typeface="-apple-system"/>
                <a:ea typeface="-apple-system"/>
                <a:cs typeface="-apple-system"/>
              </a:rPr>
              <a:t> a </a:t>
            </a:r>
            <a:r>
              <a:rPr lang="en-US" sz="1600" b="0" i="0" dirty="0" err="1">
                <a:latin typeface="-apple-system"/>
                <a:ea typeface="-apple-system"/>
                <a:cs typeface="-apple-system"/>
              </a:rPr>
              <a:t>solução</a:t>
            </a:r>
            <a:r>
              <a:rPr lang="en-US" sz="1600" b="0" i="0" dirty="0">
                <a:latin typeface="-apple-system"/>
                <a:ea typeface="-apple-system"/>
                <a:cs typeface="-apple-system"/>
              </a:rPr>
              <a:t> e </a:t>
            </a:r>
            <a:r>
              <a:rPr lang="en-US" sz="1600" b="0" i="0" dirty="0" err="1">
                <a:latin typeface="-apple-system"/>
                <a:ea typeface="-apple-system"/>
                <a:cs typeface="-apple-system"/>
              </a:rPr>
              <a:t>até</a:t>
            </a:r>
            <a:r>
              <a:rPr lang="en-US" sz="1600" b="0" i="0" dirty="0">
                <a:latin typeface="-apple-system"/>
                <a:ea typeface="-apple-system"/>
                <a:cs typeface="-apple-system"/>
              </a:rPr>
              <a:t> </a:t>
            </a:r>
            <a:r>
              <a:rPr lang="en-US" sz="1600" b="0" i="0" dirty="0" err="1">
                <a:latin typeface="-apple-system"/>
                <a:ea typeface="-apple-system"/>
                <a:cs typeface="-apple-system"/>
              </a:rPr>
              <a:t>migrar</a:t>
            </a:r>
            <a:r>
              <a:rPr lang="en-US" sz="1600" b="0" i="0" dirty="0">
                <a:latin typeface="-apple-system"/>
                <a:ea typeface="-apple-system"/>
                <a:cs typeface="-apple-system"/>
              </a:rPr>
              <a:t> </a:t>
            </a:r>
            <a:r>
              <a:rPr lang="en-US" sz="1600" b="0" i="0" dirty="0" err="1">
                <a:latin typeface="-apple-system"/>
                <a:ea typeface="-apple-system"/>
                <a:cs typeface="-apple-system"/>
              </a:rPr>
              <a:t>seus</a:t>
            </a:r>
            <a:r>
              <a:rPr lang="en-US" sz="1600" b="0" i="0" dirty="0">
                <a:latin typeface="-apple-system"/>
                <a:ea typeface="-apple-system"/>
                <a:cs typeface="-apple-system"/>
              </a:rPr>
              <a:t> </a:t>
            </a:r>
            <a:r>
              <a:rPr lang="en-US" sz="1600" b="0" i="0" dirty="0" err="1">
                <a:latin typeface="-apple-system"/>
                <a:ea typeface="-apple-system"/>
                <a:cs typeface="-apple-system"/>
              </a:rPr>
              <a:t>projetos</a:t>
            </a:r>
            <a:r>
              <a:rPr lang="en-US" sz="1600" b="0" i="0" dirty="0">
                <a:latin typeface="-apple-system"/>
                <a:ea typeface="-apple-system"/>
                <a:cs typeface="-apple-system"/>
              </a:rPr>
              <a:t> para o Gabriella GIS (</a:t>
            </a:r>
            <a:r>
              <a:rPr lang="en-US" sz="1600" b="1" i="0" dirty="0">
                <a:solidFill>
                  <a:srgbClr val="0A66C2"/>
                </a:solidFill>
                <a:latin typeface="-apple-system"/>
                <a:ea typeface="-apple-system"/>
                <a:cs typeface="-apple-system"/>
                <a:hlinkClick r:id="rId2"/>
              </a:rPr>
              <a:t>gabriellagis.com</a:t>
            </a:r>
            <a:r>
              <a:rPr lang="en-US" sz="1600" b="0" i="0" dirty="0">
                <a:latin typeface="-apple-system"/>
                <a:ea typeface="-apple-system"/>
                <a:cs typeface="-apple-system"/>
              </a:rPr>
              <a:t>), </a:t>
            </a:r>
            <a:r>
              <a:rPr lang="en-US" sz="1600" b="0" i="0" dirty="0" err="1">
                <a:latin typeface="-apple-system"/>
                <a:ea typeface="-apple-system"/>
                <a:cs typeface="-apple-system"/>
              </a:rPr>
              <a:t>será</a:t>
            </a:r>
            <a:r>
              <a:rPr lang="en-US" sz="1600" b="0" i="0" dirty="0">
                <a:latin typeface="-apple-system"/>
                <a:ea typeface="-apple-system"/>
                <a:cs typeface="-apple-system"/>
              </a:rPr>
              <a:t> um </a:t>
            </a:r>
            <a:r>
              <a:rPr lang="en-US" sz="1600" b="0" i="0" dirty="0" err="1">
                <a:latin typeface="-apple-system"/>
                <a:ea typeface="-apple-system"/>
                <a:cs typeface="-apple-system"/>
              </a:rPr>
              <a:t>prazer</a:t>
            </a:r>
            <a:r>
              <a:rPr lang="en-US" sz="1600" b="0" i="0" dirty="0">
                <a:latin typeface="-apple-system"/>
                <a:ea typeface="-apple-system"/>
                <a:cs typeface="-apple-system"/>
              </a:rPr>
              <a:t> </a:t>
            </a:r>
            <a:r>
              <a:rPr lang="en-US" sz="1600" b="0" i="0" dirty="0" err="1">
                <a:latin typeface="-apple-system"/>
                <a:ea typeface="-apple-system"/>
                <a:cs typeface="-apple-system"/>
              </a:rPr>
              <a:t>enorme</a:t>
            </a:r>
            <a:r>
              <a:rPr lang="en-US" sz="1600" b="0" i="0" dirty="0">
                <a:latin typeface="-apple-system"/>
                <a:ea typeface="-apple-system"/>
                <a:cs typeface="-apple-system"/>
              </a:rPr>
              <a:t> </a:t>
            </a:r>
            <a:r>
              <a:rPr lang="en-US" sz="1600" b="0" i="0" dirty="0" err="1">
                <a:latin typeface="-apple-system"/>
                <a:ea typeface="-apple-system"/>
                <a:cs typeface="-apple-system"/>
              </a:rPr>
              <a:t>ouvir</a:t>
            </a:r>
            <a:r>
              <a:rPr lang="en-US" sz="1600" b="0" i="0" dirty="0">
                <a:latin typeface="-apple-system"/>
                <a:ea typeface="-apple-system"/>
                <a:cs typeface="-apple-system"/>
              </a:rPr>
              <a:t> </a:t>
            </a:r>
            <a:r>
              <a:rPr lang="en-US" sz="1600" b="0" i="0" dirty="0" err="1">
                <a:latin typeface="-apple-system"/>
                <a:ea typeface="-apple-system"/>
                <a:cs typeface="-apple-system"/>
              </a:rPr>
              <a:t>sua</a:t>
            </a:r>
            <a:r>
              <a:rPr lang="en-US" sz="1600" b="0" i="0" dirty="0">
                <a:latin typeface="-apple-system"/>
                <a:ea typeface="-apple-system"/>
                <a:cs typeface="-apple-system"/>
              </a:rPr>
              <a:t> </a:t>
            </a:r>
            <a:r>
              <a:rPr lang="en-US" sz="1600" b="0" i="0" dirty="0" err="1">
                <a:latin typeface="-apple-system"/>
                <a:ea typeface="-apple-system"/>
                <a:cs typeface="-apple-system"/>
              </a:rPr>
              <a:t>experiência</a:t>
            </a:r>
            <a:r>
              <a:rPr lang="en-US" sz="1600" b="0" i="0" dirty="0">
                <a:latin typeface="-apple-system"/>
                <a:ea typeface="-apple-system"/>
                <a:cs typeface="-apple-system"/>
              </a:rPr>
              <a:t>.</a:t>
            </a:r>
            <a:br>
              <a:rPr lang="en-US" sz="1600" b="0" i="0" dirty="0">
                <a:latin typeface="-apple-system"/>
                <a:ea typeface="-apple-system"/>
                <a:cs typeface="-apple-system"/>
              </a:rPr>
            </a:br>
            <a:br>
              <a:rPr lang="en-US" sz="1600" b="0" i="0" dirty="0">
                <a:latin typeface="-apple-system"/>
                <a:ea typeface="-apple-system"/>
                <a:cs typeface="-apple-system"/>
              </a:rPr>
            </a:br>
            <a:endParaRPr lang="en-US" sz="1600" dirty="0">
              <a:latin typeface="-apple-system"/>
            </a:endParaRPr>
          </a:p>
          <a:p>
            <a:pPr algn="ctr"/>
            <a:endParaRPr lang="pt-BR"/>
          </a:p>
        </p:txBody>
      </p:sp>
      <p:pic>
        <p:nvPicPr>
          <p:cNvPr id="5" name="Imagem 4" descr="Não foi fornecido texto alternativo para esta imagem">
            <a:extLst>
              <a:ext uri="{FF2B5EF4-FFF2-40B4-BE49-F238E27FC236}">
                <a16:creationId xmlns:a16="http://schemas.microsoft.com/office/drawing/2014/main" id="{30DFAC45-9EFE-FF42-23BE-89DFF44B2D77}"/>
              </a:ext>
            </a:extLst>
          </p:cNvPr>
          <p:cNvPicPr>
            <a:picLocks noChangeAspect="1"/>
          </p:cNvPicPr>
          <p:nvPr/>
        </p:nvPicPr>
        <p:blipFill>
          <a:blip r:embed="rId3"/>
          <a:stretch>
            <a:fillRect/>
          </a:stretch>
        </p:blipFill>
        <p:spPr>
          <a:xfrm>
            <a:off x="113755" y="273170"/>
            <a:ext cx="4100076" cy="5247738"/>
          </a:xfrm>
          <a:prstGeom prst="rect">
            <a:avLst/>
          </a:prstGeom>
        </p:spPr>
      </p:pic>
      <p:sp>
        <p:nvSpPr>
          <p:cNvPr id="6" name="CaixaDeTexto 5">
            <a:extLst>
              <a:ext uri="{FF2B5EF4-FFF2-40B4-BE49-F238E27FC236}">
                <a16:creationId xmlns:a16="http://schemas.microsoft.com/office/drawing/2014/main" id="{9D2C3B9A-D460-FABE-FDA2-4BE83F3FD9B5}"/>
              </a:ext>
            </a:extLst>
          </p:cNvPr>
          <p:cNvSpPr txBox="1"/>
          <p:nvPr/>
        </p:nvSpPr>
        <p:spPr>
          <a:xfrm>
            <a:off x="115019" y="5643113"/>
            <a:ext cx="3450567" cy="14465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t>https://www.linkedin.com/posts/activity-7451068559482425344-Pqps?utm_source=share&amp;utm_medium=member_desktop&amp;rcm=ACoAAAMQtAUB5UouXqdBJgo_gWpNVZ7Imay_2Tg</a:t>
            </a:r>
          </a:p>
          <a:p>
            <a:pPr algn="ctr"/>
            <a:endParaRPr lang="pt-BR"/>
          </a:p>
        </p:txBody>
      </p:sp>
    </p:spTree>
    <p:extLst>
      <p:ext uri="{BB962C8B-B14F-4D97-AF65-F5344CB8AC3E}">
        <p14:creationId xmlns:p14="http://schemas.microsoft.com/office/powerpoint/2010/main" val="227958605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8D137BA1-4516-0386-3E53-3FE9A4CB33F6}"/>
              </a:ext>
            </a:extLst>
          </p:cNvPr>
          <p:cNvSpPr txBox="1"/>
          <p:nvPr/>
        </p:nvSpPr>
        <p:spPr>
          <a:xfrm>
            <a:off x="4960190" y="122208"/>
            <a:ext cx="7231810" cy="70316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apple-system"/>
                <a:ea typeface="-apple-system"/>
                <a:cs typeface="-apple-system"/>
              </a:rPr>
              <a:t>🌎 Top FREE GIS (Geographic Information System) books - Part 2</a:t>
            </a:r>
            <a:br>
              <a:rPr lang="en-US" sz="1600" dirty="0">
                <a:latin typeface="-apple-system"/>
                <a:ea typeface="-apple-system"/>
                <a:cs typeface="-apple-system"/>
              </a:rPr>
            </a:br>
            <a:br>
              <a:rPr lang="en-US" sz="1600" dirty="0">
                <a:latin typeface="-apple-system"/>
                <a:ea typeface="-apple-system"/>
                <a:cs typeface="-apple-system"/>
              </a:rPr>
            </a:br>
            <a:r>
              <a:rPr lang="en-US" sz="1600">
                <a:latin typeface="-apple-system"/>
                <a:ea typeface="-apple-system"/>
                <a:cs typeface="-apple-system"/>
              </a:rPr>
              <a:t>5️⃣ Google Earth Engine Applications - A special issues journal published as a free PDF covers applications of the platform - </a:t>
            </a:r>
            <a:r>
              <a:rPr lang="en-US" sz="1600" b="1" dirty="0">
                <a:solidFill>
                  <a:srgbClr val="0A66C2"/>
                </a:solidFill>
                <a:latin typeface="-apple-system"/>
                <a:ea typeface="-apple-system"/>
                <a:cs typeface="-apple-system"/>
                <a:hlinkClick r:id="rId2"/>
              </a:rPr>
              <a:t>https://lnkd.in/d_XsY5QB</a:t>
            </a:r>
            <a:br>
              <a:rPr lang="en-US" sz="1600" dirty="0">
                <a:latin typeface="-apple-system"/>
                <a:ea typeface="-apple-system"/>
                <a:cs typeface="-apple-system"/>
              </a:rPr>
            </a:br>
            <a:br>
              <a:rPr lang="en-US" sz="1600" dirty="0">
                <a:latin typeface="-apple-system"/>
                <a:ea typeface="-apple-system"/>
                <a:cs typeface="-apple-system"/>
              </a:rPr>
            </a:br>
            <a:r>
              <a:rPr lang="en-US" sz="1600">
                <a:latin typeface="-apple-system"/>
                <a:ea typeface="-apple-system"/>
                <a:cs typeface="-apple-system"/>
              </a:rPr>
              <a:t>6️⃣ GIS for Public Safety - Rutgers offers a guide covering ArcGIS tools and procedures for public safety GIS - </a:t>
            </a:r>
            <a:r>
              <a:rPr lang="en-US" sz="1600" b="1" dirty="0">
                <a:solidFill>
                  <a:srgbClr val="0A66C2"/>
                </a:solidFill>
                <a:latin typeface="-apple-system"/>
                <a:ea typeface="-apple-system"/>
                <a:cs typeface="-apple-system"/>
                <a:hlinkClick r:id="rId3"/>
              </a:rPr>
              <a:t>https://lnkd.in/dQ-mYWmJ</a:t>
            </a:r>
            <a:br>
              <a:rPr lang="en-US" sz="1600" dirty="0">
                <a:latin typeface="-apple-system"/>
                <a:ea typeface="-apple-system"/>
                <a:cs typeface="-apple-system"/>
              </a:rPr>
            </a:br>
            <a:br>
              <a:rPr lang="en-US" sz="1600" dirty="0">
                <a:latin typeface="-apple-system"/>
                <a:ea typeface="-apple-system"/>
                <a:cs typeface="-apple-system"/>
              </a:rPr>
            </a:br>
            <a:r>
              <a:rPr lang="en-US" sz="1600">
                <a:latin typeface="-apple-system"/>
                <a:ea typeface="-apple-system"/>
                <a:cs typeface="-apple-system"/>
              </a:rPr>
              <a:t>7️⃣ Essays on Geography And GIS Volume 2 - This two-volume of essays by industry leaders and academics has been published by Esri - </a:t>
            </a:r>
            <a:r>
              <a:rPr lang="en-US" sz="1600" b="1" dirty="0">
                <a:solidFill>
                  <a:srgbClr val="0A66C2"/>
                </a:solidFill>
                <a:latin typeface="-apple-system"/>
                <a:ea typeface="-apple-system"/>
                <a:cs typeface="-apple-system"/>
                <a:hlinkClick r:id="rId4"/>
              </a:rPr>
              <a:t>https://lnkd.in/dgsRRQab</a:t>
            </a:r>
            <a:br>
              <a:rPr lang="en-US" sz="1600" dirty="0">
                <a:latin typeface="-apple-system"/>
                <a:ea typeface="-apple-system"/>
                <a:cs typeface="-apple-system"/>
              </a:rPr>
            </a:br>
            <a:br>
              <a:rPr lang="en-US" sz="1600" dirty="0">
                <a:latin typeface="-apple-system"/>
                <a:ea typeface="-apple-system"/>
                <a:cs typeface="-apple-system"/>
              </a:rPr>
            </a:br>
            <a:r>
              <a:rPr lang="en-US" sz="1600" b="1" dirty="0">
                <a:solidFill>
                  <a:srgbClr val="0A66C2"/>
                </a:solidFill>
                <a:latin typeface="-apple-system"/>
                <a:ea typeface="-apple-system"/>
                <a:cs typeface="-apple-system"/>
                <a:hlinkClick r:id="rId5"/>
              </a:rPr>
              <a:t>https://lnkd.in/duAUAMjG</a:t>
            </a:r>
            <a:br>
              <a:rPr lang="en-US" sz="1600" dirty="0">
                <a:latin typeface="-apple-system"/>
                <a:ea typeface="-apple-system"/>
                <a:cs typeface="-apple-system"/>
              </a:rPr>
            </a:br>
            <a:br>
              <a:rPr lang="en-US" sz="1600" dirty="0">
                <a:latin typeface="-apple-system"/>
                <a:ea typeface="-apple-system"/>
                <a:cs typeface="-apple-system"/>
              </a:rPr>
            </a:br>
            <a:r>
              <a:rPr lang="en-US" sz="1600">
                <a:latin typeface="-apple-system"/>
                <a:ea typeface="-apple-system"/>
                <a:cs typeface="-apple-system"/>
              </a:rPr>
              <a:t>8️⃣ Beyond Mapping Articles - This resource isn’t technically a free GIS book resource but, the resource is a collection of eight articles written by Joseph K. Berry on the subject of GIS. These articles cover topics such as spatial analysis, the direction of GIS, geospatial technology, and applications of GIS techniques - </a:t>
            </a:r>
            <a:r>
              <a:rPr lang="en-US" sz="1600" b="1" dirty="0">
                <a:solidFill>
                  <a:srgbClr val="0A66C2"/>
                </a:solidFill>
                <a:latin typeface="-apple-system"/>
                <a:ea typeface="-apple-system"/>
                <a:cs typeface="-apple-system"/>
                <a:hlinkClick r:id="rId6"/>
              </a:rPr>
              <a:t>https://lnkd.in/d6evYf2U</a:t>
            </a:r>
            <a:br>
              <a:rPr lang="en-US" sz="1600" dirty="0">
                <a:latin typeface="-apple-system"/>
                <a:ea typeface="-apple-system"/>
                <a:cs typeface="-apple-system"/>
              </a:rPr>
            </a:br>
            <a:br>
              <a:rPr lang="en-US" sz="1600" dirty="0">
                <a:latin typeface="-apple-system"/>
                <a:ea typeface="-apple-system"/>
                <a:cs typeface="-apple-system"/>
              </a:rPr>
            </a:br>
            <a:r>
              <a:rPr lang="en-US" sz="1600">
                <a:latin typeface="-apple-system"/>
                <a:ea typeface="-apple-system"/>
                <a:cs typeface="-apple-system"/>
              </a:rPr>
              <a:t>🔻 Follow me at </a:t>
            </a:r>
            <a:r>
              <a:rPr lang="en-US" sz="1600" b="1" dirty="0">
                <a:solidFill>
                  <a:srgbClr val="0A66C2"/>
                </a:solidFill>
                <a:latin typeface="-apple-system"/>
                <a:ea typeface="-apple-system"/>
                <a:cs typeface="-apple-system"/>
                <a:hlinkClick r:id="rId7"/>
              </a:rPr>
              <a:t>Ankur S.</a:t>
            </a:r>
            <a:r>
              <a:rPr lang="en-US" sz="1600">
                <a:latin typeface="-apple-system"/>
                <a:ea typeface="-apple-system"/>
                <a:cs typeface="-apple-system"/>
              </a:rPr>
              <a:t> for similar resources ↗️</a:t>
            </a:r>
            <a:br>
              <a:rPr lang="en-US" sz="1600" dirty="0">
                <a:latin typeface="-apple-system"/>
                <a:ea typeface="-apple-system"/>
                <a:cs typeface="-apple-system"/>
              </a:rPr>
            </a:br>
            <a:br>
              <a:rPr lang="en-US" sz="1600" dirty="0">
                <a:latin typeface="-apple-system"/>
                <a:ea typeface="-apple-system"/>
                <a:cs typeface="-apple-system"/>
              </a:rPr>
            </a:br>
            <a:r>
              <a:rPr lang="en-US" sz="1600">
                <a:latin typeface="-apple-system"/>
                <a:ea typeface="-apple-system"/>
                <a:cs typeface="-apple-system"/>
              </a:rPr>
              <a:t>♻️ Share to help others learn and gain access to these courses</a:t>
            </a:r>
            <a:br>
              <a:rPr lang="en-US" sz="1600" dirty="0">
                <a:latin typeface="-apple-system"/>
                <a:ea typeface="-apple-system"/>
                <a:cs typeface="-apple-system"/>
              </a:rPr>
            </a:br>
            <a:br>
              <a:rPr lang="en-US" sz="1600" dirty="0">
                <a:latin typeface="-apple-system"/>
                <a:ea typeface="-apple-system"/>
                <a:cs typeface="-apple-system"/>
              </a:rPr>
            </a:br>
            <a:r>
              <a:rPr lang="en-US" sz="1600">
                <a:latin typeface="-apple-system"/>
                <a:ea typeface="-apple-system"/>
                <a:cs typeface="-apple-system"/>
              </a:rPr>
              <a:t>⬇️ Comment below if you have any questions or more resources</a:t>
            </a:r>
            <a:br>
              <a:rPr lang="en-US" sz="1600" dirty="0">
                <a:latin typeface="-apple-system"/>
                <a:ea typeface="-apple-system"/>
                <a:cs typeface="-apple-system"/>
              </a:rPr>
            </a:br>
            <a:br>
              <a:rPr lang="en-US" sz="1600" dirty="0">
                <a:latin typeface="-apple-system"/>
                <a:ea typeface="-apple-system"/>
                <a:cs typeface="-apple-system"/>
              </a:rPr>
            </a:br>
            <a:r>
              <a:rPr lang="en-US" sz="1600">
                <a:latin typeface="-apple-system"/>
                <a:ea typeface="-apple-system"/>
                <a:cs typeface="-apple-system"/>
              </a:rPr>
              <a:t>📌 Part 1 - </a:t>
            </a:r>
            <a:r>
              <a:rPr lang="en-US" sz="1600" b="1" dirty="0">
                <a:solidFill>
                  <a:srgbClr val="0A66C2"/>
                </a:solidFill>
                <a:latin typeface="-apple-system"/>
                <a:ea typeface="-apple-system"/>
                <a:cs typeface="-apple-system"/>
                <a:hlinkClick r:id="rId8"/>
              </a:rPr>
              <a:t>https://lnkd.in/d23VEYRY</a:t>
            </a:r>
            <a:endParaRPr lang="en-US" sz="1600" dirty="0"/>
          </a:p>
          <a:p>
            <a:pPr algn="ctr"/>
            <a:endParaRPr lang="pt-BR"/>
          </a:p>
        </p:txBody>
      </p:sp>
      <p:pic>
        <p:nvPicPr>
          <p:cNvPr id="5" name="Imagem 4" descr="Não foi fornecido texto alternativo para esta imagem">
            <a:extLst>
              <a:ext uri="{FF2B5EF4-FFF2-40B4-BE49-F238E27FC236}">
                <a16:creationId xmlns:a16="http://schemas.microsoft.com/office/drawing/2014/main" id="{1D499FF2-9861-7EB7-7592-0DADB1318891}"/>
              </a:ext>
            </a:extLst>
          </p:cNvPr>
          <p:cNvPicPr>
            <a:picLocks noChangeAspect="1"/>
          </p:cNvPicPr>
          <p:nvPr/>
        </p:nvPicPr>
        <p:blipFill>
          <a:blip r:embed="rId9"/>
          <a:stretch>
            <a:fillRect/>
          </a:stretch>
        </p:blipFill>
        <p:spPr>
          <a:xfrm>
            <a:off x="208022" y="520910"/>
            <a:ext cx="4558522" cy="4277804"/>
          </a:xfrm>
          <a:prstGeom prst="rect">
            <a:avLst/>
          </a:prstGeom>
        </p:spPr>
      </p:pic>
      <p:sp>
        <p:nvSpPr>
          <p:cNvPr id="6" name="CaixaDeTexto 5">
            <a:extLst>
              <a:ext uri="{FF2B5EF4-FFF2-40B4-BE49-F238E27FC236}">
                <a16:creationId xmlns:a16="http://schemas.microsoft.com/office/drawing/2014/main" id="{76AB918D-B933-9A7D-38EB-A5EAFE53AFCC}"/>
              </a:ext>
            </a:extLst>
          </p:cNvPr>
          <p:cNvSpPr txBox="1"/>
          <p:nvPr/>
        </p:nvSpPr>
        <p:spPr>
          <a:xfrm>
            <a:off x="201283" y="4938623"/>
            <a:ext cx="4025661" cy="20928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t>https://www.linkedin.com/posts/ankur-s-803497126_climatecareers-geospatial-climatetech-activity-7163545587416526850-8b-z?utm_source=share&amp;utm_medium=member_desktop&amp;rcm=ACoAAAMQtAUB5UouXqdBJgo_gWpNVZ7Imay_2Tg</a:t>
            </a:r>
          </a:p>
          <a:p>
            <a:pPr algn="ctr"/>
            <a:endParaRPr lang="pt-BR"/>
          </a:p>
        </p:txBody>
      </p:sp>
    </p:spTree>
    <p:extLst>
      <p:ext uri="{BB962C8B-B14F-4D97-AF65-F5344CB8AC3E}">
        <p14:creationId xmlns:p14="http://schemas.microsoft.com/office/powerpoint/2010/main" val="361912019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A8A9E9D3-2CB9-7214-17B0-536488E59DCC}"/>
              </a:ext>
            </a:extLst>
          </p:cNvPr>
          <p:cNvSpPr txBox="1"/>
          <p:nvPr/>
        </p:nvSpPr>
        <p:spPr>
          <a:xfrm>
            <a:off x="5017698" y="150961"/>
            <a:ext cx="6742981" cy="66171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latin typeface="-apple-system"/>
                <a:ea typeface="-apple-system"/>
                <a:cs typeface="-apple-system"/>
              </a:rPr>
              <a:t>Top GIS courses covering basics around data analysis, </a:t>
            </a:r>
            <a:r>
              <a:rPr lang="en-US" sz="1400" dirty="0" err="1">
                <a:latin typeface="-apple-system"/>
                <a:ea typeface="-apple-system"/>
                <a:cs typeface="-apple-system"/>
              </a:rPr>
              <a:t>visualisation</a:t>
            </a:r>
            <a:r>
              <a:rPr lang="en-US" sz="1400" dirty="0">
                <a:latin typeface="-apple-system"/>
                <a:ea typeface="-apple-system"/>
                <a:cs typeface="-apple-system"/>
              </a:rPr>
              <a:t> and mapping - Part 1 🔻</a:t>
            </a:r>
            <a:br>
              <a:rPr lang="en-US" sz="1400" dirty="0">
                <a:latin typeface="-apple-system"/>
                <a:ea typeface="-apple-system"/>
                <a:cs typeface="-apple-system"/>
              </a:rPr>
            </a:br>
            <a:br>
              <a:rPr lang="en-US" sz="1400" dirty="0">
                <a:latin typeface="-apple-system"/>
                <a:ea typeface="-apple-system"/>
                <a:cs typeface="-apple-system"/>
              </a:rPr>
            </a:br>
            <a:r>
              <a:rPr lang="en-US" sz="1400" dirty="0">
                <a:latin typeface="-apple-system"/>
                <a:ea typeface="-apple-system"/>
                <a:cs typeface="-apple-system"/>
              </a:rPr>
              <a:t>1️⃣ GIS, Mapping, and Spatial Analysis Capstone (University of Toronto) - Apply the skills learned throughout the specialization by designing and completing your own GIS project - </a:t>
            </a:r>
            <a:r>
              <a:rPr lang="en-US" sz="1400" b="1" dirty="0">
                <a:solidFill>
                  <a:srgbClr val="0A66C2"/>
                </a:solidFill>
                <a:latin typeface="-apple-system"/>
                <a:ea typeface="-apple-system"/>
                <a:cs typeface="-apple-system"/>
                <a:hlinkClick r:id="rId2"/>
              </a:rPr>
              <a:t>https://lnkd.in/dus4UnhD</a:t>
            </a:r>
            <a:br>
              <a:rPr lang="en-US" sz="1400" dirty="0">
                <a:latin typeface="-apple-system"/>
                <a:ea typeface="-apple-system"/>
                <a:cs typeface="-apple-system"/>
              </a:rPr>
            </a:br>
            <a:br>
              <a:rPr lang="en-US" sz="1400" dirty="0">
                <a:latin typeface="-apple-system"/>
                <a:ea typeface="-apple-system"/>
                <a:cs typeface="-apple-system"/>
              </a:rPr>
            </a:br>
            <a:r>
              <a:rPr lang="en-US" sz="1400" dirty="0">
                <a:latin typeface="-apple-system"/>
                <a:ea typeface="-apple-system"/>
                <a:cs typeface="-apple-system"/>
              </a:rPr>
              <a:t>2️⃣ GIS Data Formats, Design and Quality (UC Davis) - This course covers data models and formats, including vector data concepts - </a:t>
            </a:r>
            <a:r>
              <a:rPr lang="en-US" sz="1400" b="1" dirty="0">
                <a:solidFill>
                  <a:srgbClr val="0A66C2"/>
                </a:solidFill>
                <a:latin typeface="-apple-system"/>
                <a:ea typeface="-apple-system"/>
                <a:cs typeface="-apple-system"/>
                <a:hlinkClick r:id="rId3"/>
              </a:rPr>
              <a:t>https://lnkd.in/dCtyrdcn</a:t>
            </a:r>
            <a:br>
              <a:rPr lang="en-US" sz="1400" dirty="0">
                <a:latin typeface="-apple-system"/>
                <a:ea typeface="-apple-system"/>
                <a:cs typeface="-apple-system"/>
              </a:rPr>
            </a:br>
            <a:br>
              <a:rPr lang="en-US" sz="1400" dirty="0">
                <a:latin typeface="-apple-system"/>
                <a:ea typeface="-apple-system"/>
                <a:cs typeface="-apple-system"/>
              </a:rPr>
            </a:br>
            <a:r>
              <a:rPr lang="en-US" sz="1400" dirty="0">
                <a:latin typeface="-apple-system"/>
                <a:ea typeface="-apple-system"/>
                <a:cs typeface="-apple-system"/>
              </a:rPr>
              <a:t>3️⃣ GIS Data Acquisition and Map Design (University of Toronto) - Learn how to find, prepare, and evaluate GIS data, as well as cartographic principles for effective map design - </a:t>
            </a:r>
            <a:r>
              <a:rPr lang="en-US" sz="1400" b="1" dirty="0">
                <a:solidFill>
                  <a:srgbClr val="0A66C2"/>
                </a:solidFill>
                <a:latin typeface="-apple-system"/>
                <a:ea typeface="-apple-system"/>
                <a:cs typeface="-apple-system"/>
                <a:hlinkClick r:id="rId4"/>
              </a:rPr>
              <a:t>https://lnkd.in/dhcKr78g</a:t>
            </a:r>
            <a:br>
              <a:rPr lang="en-US" sz="1400" dirty="0">
                <a:latin typeface="-apple-system"/>
                <a:ea typeface="-apple-system"/>
                <a:cs typeface="-apple-system"/>
              </a:rPr>
            </a:br>
            <a:br>
              <a:rPr lang="en-US" sz="1400" dirty="0">
                <a:latin typeface="-apple-system"/>
                <a:ea typeface="-apple-system"/>
                <a:cs typeface="-apple-system"/>
              </a:rPr>
            </a:br>
            <a:r>
              <a:rPr lang="en-US" sz="1400" dirty="0">
                <a:latin typeface="-apple-system"/>
                <a:ea typeface="-apple-system"/>
                <a:cs typeface="-apple-system"/>
              </a:rPr>
              <a:t>4️⃣ GIS Applications Across Industries (UC Davis) - Explore real-world GIS applications and workflows in environmental, public health, emergency response, and business domains - </a:t>
            </a:r>
            <a:r>
              <a:rPr lang="en-US" sz="1400" b="1" dirty="0">
                <a:solidFill>
                  <a:srgbClr val="0A66C2"/>
                </a:solidFill>
                <a:latin typeface="-apple-system"/>
                <a:ea typeface="-apple-system"/>
                <a:cs typeface="-apple-system"/>
                <a:hlinkClick r:id="rId5"/>
              </a:rPr>
              <a:t>https://lnkd.in/dvk6mgdQ</a:t>
            </a:r>
            <a:br>
              <a:rPr lang="en-US" sz="1400" dirty="0">
                <a:latin typeface="-apple-system"/>
                <a:ea typeface="-apple-system"/>
                <a:cs typeface="-apple-system"/>
              </a:rPr>
            </a:br>
            <a:br>
              <a:rPr lang="en-US" sz="1400" dirty="0">
                <a:latin typeface="-apple-system"/>
                <a:ea typeface="-apple-system"/>
                <a:cs typeface="-apple-system"/>
              </a:rPr>
            </a:br>
            <a:r>
              <a:rPr lang="en-US" sz="1400" dirty="0">
                <a:latin typeface="-apple-system"/>
                <a:ea typeface="-apple-system"/>
                <a:cs typeface="-apple-system"/>
              </a:rPr>
              <a:t>5️⃣ Getting Started with </a:t>
            </a:r>
            <a:r>
              <a:rPr lang="en-US" sz="1400" dirty="0" err="1">
                <a:latin typeface="-apple-system"/>
                <a:ea typeface="-apple-system"/>
                <a:cs typeface="-apple-system"/>
              </a:rPr>
              <a:t>BigQuery</a:t>
            </a:r>
            <a:r>
              <a:rPr lang="en-US" sz="1400" dirty="0">
                <a:latin typeface="-apple-system"/>
                <a:ea typeface="-apple-system"/>
                <a:cs typeface="-apple-system"/>
              </a:rPr>
              <a:t> GIS for Data Analysts (Google Cloud) - Learn to analyze and visualize location data in </a:t>
            </a:r>
            <a:r>
              <a:rPr lang="en-US" sz="1400" dirty="0" err="1">
                <a:latin typeface="-apple-system"/>
                <a:ea typeface="-apple-system"/>
                <a:cs typeface="-apple-system"/>
              </a:rPr>
              <a:t>BigQuery</a:t>
            </a:r>
            <a:r>
              <a:rPr lang="en-US" sz="1400" dirty="0">
                <a:latin typeface="-apple-system"/>
                <a:ea typeface="-apple-system"/>
                <a:cs typeface="-apple-system"/>
              </a:rPr>
              <a:t> and Geo Viz through hands-on exercises in a cloud environment - </a:t>
            </a:r>
            <a:r>
              <a:rPr lang="en-US" sz="1400" b="1" dirty="0">
                <a:solidFill>
                  <a:srgbClr val="0A66C2"/>
                </a:solidFill>
                <a:latin typeface="-apple-system"/>
                <a:ea typeface="-apple-system"/>
                <a:cs typeface="-apple-system"/>
                <a:hlinkClick r:id="rId6"/>
              </a:rPr>
              <a:t>https://lnkd.in/dakSU4b6</a:t>
            </a:r>
            <a:br>
              <a:rPr lang="en-US" sz="1400" dirty="0">
                <a:latin typeface="-apple-system"/>
                <a:ea typeface="-apple-system"/>
                <a:cs typeface="-apple-system"/>
              </a:rPr>
            </a:br>
            <a:br>
              <a:rPr lang="en-US" sz="1400" dirty="0">
                <a:latin typeface="-apple-system"/>
                <a:ea typeface="-apple-system"/>
                <a:cs typeface="-apple-system"/>
              </a:rPr>
            </a:br>
            <a:r>
              <a:rPr lang="en-US" sz="1400" dirty="0">
                <a:latin typeface="-apple-system"/>
                <a:ea typeface="-apple-system"/>
                <a:cs typeface="-apple-system"/>
              </a:rPr>
              <a:t>6️⃣ Geospatial Big Data Visualization with </a:t>
            </a:r>
            <a:r>
              <a:rPr lang="en-US" sz="1400" dirty="0" err="1">
                <a:latin typeface="-apple-system"/>
                <a:ea typeface="-apple-system"/>
                <a:cs typeface="-apple-system"/>
              </a:rPr>
              <a:t>KeplerGL</a:t>
            </a:r>
            <a:r>
              <a:rPr lang="en-US" sz="1400" dirty="0">
                <a:latin typeface="-apple-system"/>
                <a:ea typeface="-apple-system"/>
                <a:cs typeface="-apple-system"/>
              </a:rPr>
              <a:t> (Coursera) - Experiment with </a:t>
            </a:r>
            <a:r>
              <a:rPr lang="en-US" sz="1400" dirty="0" err="1">
                <a:latin typeface="-apple-system"/>
                <a:ea typeface="-apple-system"/>
                <a:cs typeface="-apple-system"/>
              </a:rPr>
              <a:t>KeplerGL</a:t>
            </a:r>
            <a:r>
              <a:rPr lang="en-US" sz="1400" dirty="0">
                <a:latin typeface="-apple-system"/>
                <a:ea typeface="-apple-system"/>
                <a:cs typeface="-apple-system"/>
              </a:rPr>
              <a:t>, an open-source tool for rendering massive location datasets - </a:t>
            </a:r>
            <a:r>
              <a:rPr lang="en-US" sz="1400" b="1" dirty="0">
                <a:solidFill>
                  <a:srgbClr val="0A66C2"/>
                </a:solidFill>
                <a:latin typeface="-apple-system"/>
                <a:ea typeface="-apple-system"/>
                <a:cs typeface="-apple-system"/>
                <a:hlinkClick r:id="rId7"/>
              </a:rPr>
              <a:t>https://lnkd.in/dmRmmmgU</a:t>
            </a:r>
            <a:br>
              <a:rPr lang="en-US" sz="1400" dirty="0">
                <a:latin typeface="-apple-system"/>
                <a:ea typeface="-apple-system"/>
                <a:cs typeface="-apple-system"/>
              </a:rPr>
            </a:br>
            <a:br>
              <a:rPr lang="en-US" sz="1400" dirty="0">
                <a:latin typeface="-apple-system"/>
                <a:ea typeface="-apple-system"/>
                <a:cs typeface="-apple-system"/>
              </a:rPr>
            </a:br>
            <a:r>
              <a:rPr lang="en-US" sz="1400" dirty="0">
                <a:latin typeface="-apple-system"/>
                <a:ea typeface="-apple-system"/>
                <a:cs typeface="-apple-system"/>
              </a:rPr>
              <a:t>🚨 Follow me at </a:t>
            </a:r>
            <a:r>
              <a:rPr lang="en-US" sz="1400" b="1" dirty="0">
                <a:solidFill>
                  <a:srgbClr val="0A66C2"/>
                </a:solidFill>
                <a:latin typeface="-apple-system"/>
                <a:ea typeface="-apple-system"/>
                <a:cs typeface="-apple-system"/>
                <a:hlinkClick r:id="rId8"/>
              </a:rPr>
              <a:t>Ankur S.</a:t>
            </a:r>
            <a:r>
              <a:rPr lang="en-US" sz="1400" dirty="0">
                <a:latin typeface="-apple-system"/>
                <a:ea typeface="-apple-system"/>
                <a:cs typeface="-apple-system"/>
              </a:rPr>
              <a:t> for more such GIS stories, updates and resources ↗️</a:t>
            </a:r>
            <a:br>
              <a:rPr lang="en-US" sz="1400" dirty="0">
                <a:latin typeface="-apple-system"/>
                <a:ea typeface="-apple-system"/>
                <a:cs typeface="-apple-system"/>
              </a:rPr>
            </a:br>
            <a:br>
              <a:rPr lang="en-US" sz="1400" dirty="0">
                <a:latin typeface="-apple-system"/>
                <a:ea typeface="-apple-system"/>
                <a:cs typeface="-apple-system"/>
              </a:rPr>
            </a:br>
            <a:r>
              <a:rPr lang="en-US" sz="1400" dirty="0">
                <a:latin typeface="-apple-system"/>
                <a:ea typeface="-apple-system"/>
                <a:cs typeface="-apple-system"/>
              </a:rPr>
              <a:t>♻️ Share to help others learn and gain access to these courses</a:t>
            </a:r>
            <a:endParaRPr lang="en-US" sz="1400" dirty="0"/>
          </a:p>
          <a:p>
            <a:pPr algn="ctr"/>
            <a:endParaRPr lang="pt-BR"/>
          </a:p>
        </p:txBody>
      </p:sp>
      <p:pic>
        <p:nvPicPr>
          <p:cNvPr id="5" name="Imagem 4" descr="Não foi fornecido texto alternativo para esta imagem">
            <a:extLst>
              <a:ext uri="{FF2B5EF4-FFF2-40B4-BE49-F238E27FC236}">
                <a16:creationId xmlns:a16="http://schemas.microsoft.com/office/drawing/2014/main" id="{9DFE0519-8873-5AA5-36F2-79B68147C4C6}"/>
              </a:ext>
            </a:extLst>
          </p:cNvPr>
          <p:cNvPicPr>
            <a:picLocks noChangeAspect="1"/>
          </p:cNvPicPr>
          <p:nvPr/>
        </p:nvPicPr>
        <p:blipFill>
          <a:blip r:embed="rId9"/>
          <a:stretch>
            <a:fillRect/>
          </a:stretch>
        </p:blipFill>
        <p:spPr>
          <a:xfrm>
            <a:off x="832449" y="1135363"/>
            <a:ext cx="3884762" cy="3322068"/>
          </a:xfrm>
          <a:prstGeom prst="rect">
            <a:avLst/>
          </a:prstGeom>
        </p:spPr>
      </p:pic>
      <p:sp>
        <p:nvSpPr>
          <p:cNvPr id="6" name="CaixaDeTexto 5">
            <a:extLst>
              <a:ext uri="{FF2B5EF4-FFF2-40B4-BE49-F238E27FC236}">
                <a16:creationId xmlns:a16="http://schemas.microsoft.com/office/drawing/2014/main" id="{A744426A-59A1-1F27-8551-674F8E25FF71}"/>
              </a:ext>
            </a:extLst>
          </p:cNvPr>
          <p:cNvSpPr txBox="1"/>
          <p:nvPr/>
        </p:nvSpPr>
        <p:spPr>
          <a:xfrm>
            <a:off x="833887" y="4679830"/>
            <a:ext cx="3881887" cy="20928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t>https://www.linkedin.com/posts/ankur-s-803497126_climatecareers-geospatial-climatetech-activity-7188539655204589568-ANAO?utm_source=share&amp;utm_medium=member_desktop&amp;rcm=ACoAAAMQtAUB5UouXqdBJgo_gWpNVZ7Imay_2Tg</a:t>
            </a:r>
          </a:p>
          <a:p>
            <a:pPr algn="ctr"/>
            <a:endParaRPr lang="pt-BR"/>
          </a:p>
        </p:txBody>
      </p:sp>
    </p:spTree>
    <p:extLst>
      <p:ext uri="{BB962C8B-B14F-4D97-AF65-F5344CB8AC3E}">
        <p14:creationId xmlns:p14="http://schemas.microsoft.com/office/powerpoint/2010/main" val="102776896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4E140704-F146-A1E2-E866-F3B446D85776}"/>
              </a:ext>
            </a:extLst>
          </p:cNvPr>
          <p:cNvSpPr txBox="1"/>
          <p:nvPr/>
        </p:nvSpPr>
        <p:spPr>
          <a:xfrm>
            <a:off x="5477774" y="2106283"/>
            <a:ext cx="60960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0" i="0">
                <a:latin typeface="-apple-system"/>
                <a:ea typeface="-apple-system"/>
                <a:cs typeface="-apple-system"/>
              </a:rPr>
              <a:t>Our next </a:t>
            </a:r>
            <a:r>
              <a:rPr lang="en-US" b="1" i="0">
                <a:solidFill>
                  <a:srgbClr val="0A66C2"/>
                </a:solidFill>
                <a:latin typeface="-apple-system"/>
                <a:ea typeface="-apple-system"/>
                <a:cs typeface="-apple-system"/>
                <a:hlinkClick r:id="rId2"/>
              </a:rPr>
              <a:t>hashtag#EsriWater</a:t>
            </a:r>
            <a:r>
              <a:rPr lang="en-US" b="0" i="0">
                <a:latin typeface="-apple-system"/>
                <a:ea typeface="-apple-system"/>
                <a:cs typeface="-apple-system"/>
              </a:rPr>
              <a:t> webinar will focus on non-revenue water challenges. Register now to learn how </a:t>
            </a:r>
            <a:r>
              <a:rPr lang="en-US" b="1" i="0">
                <a:solidFill>
                  <a:srgbClr val="0A66C2"/>
                </a:solidFill>
                <a:latin typeface="-apple-system"/>
                <a:ea typeface="-apple-system"/>
                <a:cs typeface="-apple-system"/>
                <a:hlinkClick r:id="rId3"/>
              </a:rPr>
              <a:t>hashtag#ArcGIS</a:t>
            </a:r>
            <a:r>
              <a:rPr lang="en-US" b="0" i="0">
                <a:latin typeface="-apple-system"/>
                <a:ea typeface="-apple-system"/>
                <a:cs typeface="-apple-system"/>
              </a:rPr>
              <a:t> can be used to help you better understand and reduce water loss. </a:t>
            </a:r>
            <a:r>
              <a:rPr lang="en-US" b="1" i="0">
                <a:solidFill>
                  <a:srgbClr val="0A66C2"/>
                </a:solidFill>
                <a:latin typeface="-apple-system"/>
                <a:ea typeface="-apple-system"/>
                <a:cs typeface="-apple-system"/>
                <a:hlinkClick r:id="rId4"/>
              </a:rPr>
              <a:t>https://ow.ly/Smzu50YJ7Z1</a:t>
            </a:r>
            <a:endParaRPr lang="en-US"/>
          </a:p>
          <a:p>
            <a:pPr algn="ctr"/>
            <a:endParaRPr lang="pt-BR"/>
          </a:p>
        </p:txBody>
      </p:sp>
      <p:pic>
        <p:nvPicPr>
          <p:cNvPr id="5" name="Imagem 4" descr="Não foi fornecido texto alternativo para esta imagem">
            <a:extLst>
              <a:ext uri="{FF2B5EF4-FFF2-40B4-BE49-F238E27FC236}">
                <a16:creationId xmlns:a16="http://schemas.microsoft.com/office/drawing/2014/main" id="{ABBE3AFF-8CD0-CC2C-7F1F-C589EAF0DBD5}"/>
              </a:ext>
            </a:extLst>
          </p:cNvPr>
          <p:cNvPicPr>
            <a:picLocks noChangeAspect="1"/>
          </p:cNvPicPr>
          <p:nvPr/>
        </p:nvPicPr>
        <p:blipFill>
          <a:blip r:embed="rId5"/>
          <a:stretch>
            <a:fillRect/>
          </a:stretch>
        </p:blipFill>
        <p:spPr>
          <a:xfrm>
            <a:off x="625284" y="546339"/>
            <a:ext cx="4845432" cy="4845170"/>
          </a:xfrm>
          <a:prstGeom prst="rect">
            <a:avLst/>
          </a:prstGeom>
        </p:spPr>
      </p:pic>
      <p:sp>
        <p:nvSpPr>
          <p:cNvPr id="6" name="CaixaDeTexto 5">
            <a:extLst>
              <a:ext uri="{FF2B5EF4-FFF2-40B4-BE49-F238E27FC236}">
                <a16:creationId xmlns:a16="http://schemas.microsoft.com/office/drawing/2014/main" id="{E00EEC10-CE2D-2422-66BC-B88D024C22AF}"/>
              </a:ext>
            </a:extLst>
          </p:cNvPr>
          <p:cNvSpPr txBox="1"/>
          <p:nvPr/>
        </p:nvSpPr>
        <p:spPr>
          <a:xfrm>
            <a:off x="618226" y="5628736"/>
            <a:ext cx="6096000" cy="13542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t>https://www.linkedin.com/posts/crstacampbell_esriwater-arcgis-activity-7450151455627558912-ECQq?utm_source=share&amp;utm_medium=member_desktop&amp;rcm=ACoAAAMQtAUB5UouXqdBJgo_gWpNVZ7Imay_2Tg</a:t>
            </a:r>
            <a:endParaRPr lang="en-US" sz="1600" dirty="0">
              <a:ea typeface="Calibri"/>
              <a:cs typeface="Calibri"/>
            </a:endParaRPr>
          </a:p>
          <a:p>
            <a:pPr algn="ctr"/>
            <a:endParaRPr lang="pt-BR"/>
          </a:p>
        </p:txBody>
      </p:sp>
    </p:spTree>
    <p:extLst>
      <p:ext uri="{BB962C8B-B14F-4D97-AF65-F5344CB8AC3E}">
        <p14:creationId xmlns:p14="http://schemas.microsoft.com/office/powerpoint/2010/main" val="235741079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a:extLst>
              <a:ext uri="{FF2B5EF4-FFF2-40B4-BE49-F238E27FC236}">
                <a16:creationId xmlns:a16="http://schemas.microsoft.com/office/drawing/2014/main" id="{3B8F4E1F-3BEC-51BD-7B42-9CBD05A2ED55}"/>
              </a:ext>
            </a:extLst>
          </p:cNvPr>
          <p:cNvSpPr txBox="1"/>
          <p:nvPr/>
        </p:nvSpPr>
        <p:spPr>
          <a:xfrm>
            <a:off x="5865962" y="222849"/>
            <a:ext cx="6096000" cy="67403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Are you trying to get your GIS cleaned up? Do you have a bunch of freeform text fields that you need to get under control? Well, I've got good news for you! ArcGIS Pro 3.3 now lets you create a new domain for a field using existing values in the table. Read more about this feature here: </a:t>
            </a:r>
            <a:r>
              <a:rPr lang="en-US" b="1">
                <a:solidFill>
                  <a:srgbClr val="0A66C2"/>
                </a:solidFill>
                <a:latin typeface="-apple-system"/>
                <a:ea typeface="-apple-system"/>
                <a:cs typeface="-apple-system"/>
                <a:hlinkClick r:id="rId2"/>
              </a:rPr>
              <a:t>https://lnkd.in/g5eeRivG</a:t>
            </a:r>
            <a:br>
              <a:rPr lang="en-US">
                <a:latin typeface="-apple-system"/>
                <a:ea typeface="-apple-system"/>
                <a:cs typeface="-apple-system"/>
              </a:rPr>
            </a:br>
            <a:r>
              <a:rPr lang="en-US">
                <a:latin typeface="-apple-system"/>
                <a:ea typeface="-apple-system"/>
                <a:cs typeface="-apple-system"/>
              </a:rPr>
              <a:t>Domains are an important first step on the journey to getting your data cleaned up. A range domain or coded value domain will prevent users from putting unsupported values into a field. When you have a domain on the field you can also run a data reviewer check to validate that all the values in the field match the domain. Domains also make it easier to configure symbology for layers and charts because the GIS knows what values to expect in the field! You can learn more about the important of the domains, and try them out via a tutorial, by checking out the Attribute Domains page on the Geodatabase resource hub (</a:t>
            </a:r>
            <a:r>
              <a:rPr lang="en-US" b="1">
                <a:solidFill>
                  <a:srgbClr val="0A66C2"/>
                </a:solidFill>
                <a:latin typeface="-apple-system"/>
                <a:ea typeface="-apple-system"/>
                <a:cs typeface="-apple-system"/>
                <a:hlinkClick r:id="rId3"/>
              </a:rPr>
              <a:t>https://lnkd.in/ggNr-5VF</a:t>
            </a:r>
            <a:r>
              <a:rPr lang="en-US">
                <a:latin typeface="-apple-system"/>
                <a:ea typeface="-apple-system"/>
                <a:cs typeface="-apple-system"/>
              </a:rPr>
              <a:t>).</a:t>
            </a:r>
            <a:br>
              <a:rPr lang="en-US">
                <a:latin typeface="-apple-system"/>
                <a:ea typeface="-apple-system"/>
                <a:cs typeface="-apple-system"/>
              </a:rPr>
            </a:br>
            <a:r>
              <a:rPr lang="en-US">
                <a:latin typeface="-apple-system"/>
                <a:ea typeface="-apple-system"/>
                <a:cs typeface="-apple-system"/>
              </a:rPr>
              <a:t>Remember that if your data has subtypes you can also have different domains for each subtype. As an example, distribution, transmission, and service features all have different ranges of acceptable pressure/voltage. You can learn more about subtypes on the Subtypes page on the Geodatabase resource hub (</a:t>
            </a:r>
            <a:r>
              <a:rPr lang="en-US" b="1">
                <a:solidFill>
                  <a:srgbClr val="0A66C2"/>
                </a:solidFill>
                <a:latin typeface="-apple-system"/>
                <a:ea typeface="-apple-system"/>
                <a:cs typeface="-apple-system"/>
                <a:hlinkClick r:id="rId4"/>
              </a:rPr>
              <a:t>https://lnkd.in/gpeGNmQ6</a:t>
            </a:r>
            <a:r>
              <a:rPr lang="en-US">
                <a:latin typeface="-apple-system"/>
                <a:ea typeface="-apple-system"/>
                <a:cs typeface="-apple-system"/>
              </a:rPr>
              <a:t>).</a:t>
            </a:r>
            <a:endParaRPr lang="en-US"/>
          </a:p>
          <a:p>
            <a:pPr algn="ctr"/>
            <a:endParaRPr lang="pt-BR"/>
          </a:p>
        </p:txBody>
      </p:sp>
      <p:pic>
        <p:nvPicPr>
          <p:cNvPr id="6" name="Imagem 5" descr="An image showing the Fields data management view in ArcGIS Pro. The table shows the fitting type field on the Stormwater Device table doesn't currently have a domain. The domain dropdown is open and the open &quot;Add New Coded Value Domain From Existing Field Values&quot; is selected. There is then an arrow pointing to a graphic of a new fitting type domain that contains the values from all the rows in the table.">
            <a:extLst>
              <a:ext uri="{FF2B5EF4-FFF2-40B4-BE49-F238E27FC236}">
                <a16:creationId xmlns:a16="http://schemas.microsoft.com/office/drawing/2014/main" id="{96506F08-73B1-C450-6CEA-64943A7968CB}"/>
              </a:ext>
            </a:extLst>
          </p:cNvPr>
          <p:cNvPicPr>
            <a:picLocks noChangeAspect="1"/>
          </p:cNvPicPr>
          <p:nvPr/>
        </p:nvPicPr>
        <p:blipFill>
          <a:blip r:embed="rId5"/>
          <a:stretch>
            <a:fillRect/>
          </a:stretch>
        </p:blipFill>
        <p:spPr>
          <a:xfrm>
            <a:off x="879175" y="354222"/>
            <a:ext cx="4323272" cy="4280500"/>
          </a:xfrm>
          <a:prstGeom prst="rect">
            <a:avLst/>
          </a:prstGeom>
        </p:spPr>
      </p:pic>
      <p:sp>
        <p:nvSpPr>
          <p:cNvPr id="7" name="CaixaDeTexto 6">
            <a:extLst>
              <a:ext uri="{FF2B5EF4-FFF2-40B4-BE49-F238E27FC236}">
                <a16:creationId xmlns:a16="http://schemas.microsoft.com/office/drawing/2014/main" id="{BCBC62BC-DB75-6D71-4AD6-B96AD36F087E}"/>
              </a:ext>
            </a:extLst>
          </p:cNvPr>
          <p:cNvSpPr txBox="1"/>
          <p:nvPr/>
        </p:nvSpPr>
        <p:spPr>
          <a:xfrm>
            <a:off x="230038" y="5082396"/>
            <a:ext cx="5319623"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https://www.linkedin.com/posts/robert-krisher-5a989438_are-you-trying-to-get-your-gis-cleaned-up-activity-7198670991957319680-XlBU?utm_source=share&amp;utm_medium=member_desktop&amp;rcm=ACoAAAMQtAUB5UouXqdBJgo_gWpNVZ7Imay_2Tg</a:t>
            </a:r>
            <a:endParaRPr lang="en-US" sz="1600">
              <a:ea typeface="Calibri"/>
              <a:cs typeface="Calibri"/>
            </a:endParaRPr>
          </a:p>
          <a:p>
            <a:pPr algn="ctr"/>
            <a:endParaRPr lang="pt-BR"/>
          </a:p>
        </p:txBody>
      </p:sp>
    </p:spTree>
    <p:extLst>
      <p:ext uri="{BB962C8B-B14F-4D97-AF65-F5344CB8AC3E}">
        <p14:creationId xmlns:p14="http://schemas.microsoft.com/office/powerpoint/2010/main" val="364135212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AE2DABEA-2276-FE0D-92E2-DE22E117EA9F}"/>
              </a:ext>
            </a:extLst>
          </p:cNvPr>
          <p:cNvSpPr txBox="1"/>
          <p:nvPr/>
        </p:nvSpPr>
        <p:spPr>
          <a:xfrm>
            <a:off x="5808453" y="611038"/>
            <a:ext cx="6096000"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DETECTANDO RACHADURAS NO PAVIMENTO usando </a:t>
            </a:r>
            <a:r>
              <a:rPr lang="en-US" b="1">
                <a:solidFill>
                  <a:srgbClr val="0A66C2"/>
                </a:solidFill>
                <a:latin typeface="-apple-system"/>
                <a:ea typeface="-apple-system"/>
                <a:cs typeface="-apple-system"/>
                <a:hlinkClick r:id="rId2"/>
              </a:rPr>
              <a:t>hashtag#ArcGIS</a:t>
            </a:r>
            <a:r>
              <a:rPr lang="en-US">
                <a:latin typeface="-apple-system"/>
                <a:ea typeface="-apple-system"/>
                <a:cs typeface="-apple-system"/>
              </a:rPr>
              <a:t> e </a:t>
            </a:r>
            <a:r>
              <a:rPr lang="en-US" b="1">
                <a:solidFill>
                  <a:srgbClr val="0A66C2"/>
                </a:solidFill>
                <a:latin typeface="-apple-system"/>
                <a:ea typeface="-apple-system"/>
                <a:cs typeface="-apple-system"/>
                <a:hlinkClick r:id="rId3"/>
              </a:rPr>
              <a:t>hashtag#deeplearning</a:t>
            </a:r>
            <a:r>
              <a:rPr lang="en-US">
                <a:latin typeface="-apple-system"/>
                <a:ea typeface="-apple-system"/>
                <a:cs typeface="-apple-system"/>
              </a:rPr>
              <a:t>.</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Este agora é um caderno de exemplo!</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Veja </a:t>
            </a:r>
            <a:r>
              <a:rPr lang="en-US" b="1">
                <a:solidFill>
                  <a:srgbClr val="0A66C2"/>
                </a:solidFill>
                <a:latin typeface="-apple-system"/>
                <a:ea typeface="-apple-system"/>
                <a:cs typeface="-apple-system"/>
                <a:hlinkClick r:id="rId4"/>
              </a:rPr>
              <a:t>https://lnkd.in/fpuadFG</a:t>
            </a:r>
            <a:r>
              <a:rPr lang="en-US">
                <a:latin typeface="-apple-system"/>
                <a:ea typeface="-apple-system"/>
                <a:cs typeface="-apple-system"/>
              </a:rPr>
              <a:t> para ver a metodologia completa, desde o treinamento do modelo de deep learning até aplicá-lo em um vídeo e mapear as falhas!</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E mais? Como </a:t>
            </a:r>
            <a:r>
              <a:rPr lang="en-US" b="1">
                <a:solidFill>
                  <a:srgbClr val="0A66C2"/>
                </a:solidFill>
                <a:latin typeface="-apple-system"/>
                <a:ea typeface="-apple-system"/>
                <a:cs typeface="-apple-system"/>
                <a:hlinkClick r:id="rId5"/>
              </a:rPr>
              <a:t>hashtag#ArcGISPro</a:t>
            </a:r>
            <a:r>
              <a:rPr lang="en-US">
                <a:latin typeface="-apple-system"/>
                <a:ea typeface="-apple-system"/>
                <a:cs typeface="-apple-system"/>
              </a:rPr>
              <a:t> suporta Full Motion Video, você pode visualizar as rachaduras detectadas em um mapa!</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Junte-se a nós se quiser trabalhar em coisas tão legais, enquanto faz a diferença na sociedade e resolve problemas importantes!</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Confira o centro de P&amp;D </a:t>
            </a:r>
            <a:r>
              <a:rPr lang="en-US" b="1">
                <a:solidFill>
                  <a:srgbClr val="0A66C2"/>
                </a:solidFill>
                <a:latin typeface="-apple-system"/>
                <a:ea typeface="-apple-system"/>
                <a:cs typeface="-apple-system"/>
                <a:hlinkClick r:id="rId6"/>
              </a:rPr>
              <a:t>hashtag#esri</a:t>
            </a:r>
            <a:r>
              <a:rPr lang="en-US">
                <a:latin typeface="-apple-system"/>
                <a:ea typeface="-apple-system"/>
                <a:cs typeface="-apple-system"/>
              </a:rPr>
              <a:t> </a:t>
            </a:r>
            <a:r>
              <a:rPr lang="en-US" b="1">
                <a:solidFill>
                  <a:srgbClr val="0A66C2"/>
                </a:solidFill>
                <a:latin typeface="-apple-system"/>
                <a:ea typeface="-apple-system"/>
                <a:cs typeface="-apple-system"/>
                <a:hlinkClick r:id="rId7"/>
              </a:rPr>
              <a:t>hashtag#newdelhi</a:t>
            </a:r>
            <a:r>
              <a:rPr lang="en-US">
                <a:latin typeface="-apple-system"/>
                <a:ea typeface="-apple-system"/>
                <a:cs typeface="-apple-system"/>
              </a:rPr>
              <a:t> em </a:t>
            </a:r>
            <a:r>
              <a:rPr lang="en-US" b="1">
                <a:solidFill>
                  <a:srgbClr val="0A66C2"/>
                </a:solidFill>
                <a:latin typeface="-apple-system"/>
                <a:ea typeface="-apple-system"/>
                <a:cs typeface="-apple-system"/>
                <a:hlinkClick r:id="rId8"/>
              </a:rPr>
              <a:t>https://lnkd.in/fp_gDan</a:t>
            </a:r>
            <a:r>
              <a:rPr lang="en-US">
                <a:latin typeface="-apple-system"/>
                <a:ea typeface="-apple-system"/>
                <a:cs typeface="-apple-system"/>
              </a:rPr>
              <a:t> e junte-se à equipe incrível que produziu esse trabalho :)</a:t>
            </a:r>
            <a:endParaRPr lang="en-US"/>
          </a:p>
          <a:p>
            <a:pPr algn="ctr"/>
            <a:endParaRPr lang="pt-BR"/>
          </a:p>
        </p:txBody>
      </p:sp>
      <p:pic>
        <p:nvPicPr>
          <p:cNvPr id="5" name="Imagem 4" descr="Tela de computador com texto preto sobre fundo branco&#10;&#10;O conteúdo gerado por IA pode estar incorreto.">
            <a:extLst>
              <a:ext uri="{FF2B5EF4-FFF2-40B4-BE49-F238E27FC236}">
                <a16:creationId xmlns:a16="http://schemas.microsoft.com/office/drawing/2014/main" id="{55279857-FC81-ED56-73E6-92FF59296995}"/>
              </a:ext>
            </a:extLst>
          </p:cNvPr>
          <p:cNvPicPr>
            <a:picLocks noChangeAspect="1"/>
          </p:cNvPicPr>
          <p:nvPr/>
        </p:nvPicPr>
        <p:blipFill>
          <a:blip r:embed="rId9"/>
          <a:stretch>
            <a:fillRect/>
          </a:stretch>
        </p:blipFill>
        <p:spPr>
          <a:xfrm>
            <a:off x="217907" y="1478262"/>
            <a:ext cx="5286375" cy="2981325"/>
          </a:xfrm>
          <a:prstGeom prst="rect">
            <a:avLst/>
          </a:prstGeom>
        </p:spPr>
      </p:pic>
      <p:sp>
        <p:nvSpPr>
          <p:cNvPr id="6" name="CaixaDeTexto 5">
            <a:extLst>
              <a:ext uri="{FF2B5EF4-FFF2-40B4-BE49-F238E27FC236}">
                <a16:creationId xmlns:a16="http://schemas.microsoft.com/office/drawing/2014/main" id="{52886DE7-7094-51C0-B3ED-6EE2D1AF7432}"/>
              </a:ext>
            </a:extLst>
          </p:cNvPr>
          <p:cNvSpPr txBox="1"/>
          <p:nvPr/>
        </p:nvSpPr>
        <p:spPr>
          <a:xfrm>
            <a:off x="215660" y="4751717"/>
            <a:ext cx="4988944"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t>https://www.linkedin.com/posts/rohitgeo_arcgis-deeplearning-arcgispro-activity-6613841233456521217-J3L9?utm_source=share&amp;utm_medium=member_desktop&amp;rcm=ACoAAAMQtAUB5UouXqdBJgo_gWpNVZ7Imay_2Tg</a:t>
            </a:r>
          </a:p>
          <a:p>
            <a:pPr algn="ctr"/>
            <a:endParaRPr lang="pt-BR"/>
          </a:p>
        </p:txBody>
      </p:sp>
    </p:spTree>
    <p:extLst>
      <p:ext uri="{BB962C8B-B14F-4D97-AF65-F5344CB8AC3E}">
        <p14:creationId xmlns:p14="http://schemas.microsoft.com/office/powerpoint/2010/main" val="41359031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E81F40BD-B1FA-917A-6E13-427A3EBF633C}"/>
              </a:ext>
            </a:extLst>
          </p:cNvPr>
          <p:cNvSpPr txBox="1"/>
          <p:nvPr/>
        </p:nvSpPr>
        <p:spPr>
          <a:xfrm>
            <a:off x="5779698" y="2551981"/>
            <a:ext cx="60960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Commenting and collaborating via a map is not typically taught in most </a:t>
            </a:r>
            <a:r>
              <a:rPr lang="en-US" b="1">
                <a:solidFill>
                  <a:srgbClr val="0A66C2"/>
                </a:solidFill>
                <a:latin typeface="-apple-system"/>
                <a:ea typeface="-apple-system"/>
                <a:cs typeface="-apple-system"/>
                <a:hlinkClick r:id="rId2"/>
              </a:rPr>
              <a:t>hashtag#GIS</a:t>
            </a:r>
            <a:r>
              <a:rPr lang="en-US">
                <a:latin typeface="-apple-system"/>
                <a:ea typeface="-apple-system"/>
                <a:cs typeface="-apple-system"/>
              </a:rPr>
              <a:t> courses. You can learn how with this quick tutorial from </a:t>
            </a:r>
            <a:r>
              <a:rPr lang="en-US" b="1">
                <a:solidFill>
                  <a:srgbClr val="0A66C2"/>
                </a:solidFill>
                <a:latin typeface="-apple-system"/>
                <a:ea typeface="-apple-system"/>
                <a:cs typeface="-apple-system"/>
                <a:hlinkClick r:id="rId3"/>
              </a:rPr>
              <a:t>Felt</a:t>
            </a:r>
            <a:r>
              <a:rPr lang="en-US">
                <a:latin typeface="-apple-system"/>
                <a:ea typeface="-apple-system"/>
                <a:cs typeface="-apple-system"/>
              </a:rPr>
              <a:t>!</a:t>
            </a:r>
            <a:endParaRPr lang="en-US"/>
          </a:p>
          <a:p>
            <a:pPr algn="ctr"/>
            <a:endParaRPr lang="pt-BR"/>
          </a:p>
        </p:txBody>
      </p:sp>
      <p:pic>
        <p:nvPicPr>
          <p:cNvPr id="5" name="Imagem 4" descr="Não foi fornecido texto alternativo para esta imagem">
            <a:extLst>
              <a:ext uri="{FF2B5EF4-FFF2-40B4-BE49-F238E27FC236}">
                <a16:creationId xmlns:a16="http://schemas.microsoft.com/office/drawing/2014/main" id="{31744FFC-8380-6B84-F63A-118057A31BEB}"/>
              </a:ext>
            </a:extLst>
          </p:cNvPr>
          <p:cNvPicPr>
            <a:picLocks noChangeAspect="1"/>
          </p:cNvPicPr>
          <p:nvPr/>
        </p:nvPicPr>
        <p:blipFill>
          <a:blip r:embed="rId4"/>
          <a:stretch>
            <a:fillRect/>
          </a:stretch>
        </p:blipFill>
        <p:spPr>
          <a:xfrm>
            <a:off x="361681" y="960677"/>
            <a:ext cx="5358261" cy="3829589"/>
          </a:xfrm>
          <a:prstGeom prst="rect">
            <a:avLst/>
          </a:prstGeom>
        </p:spPr>
      </p:pic>
      <p:sp>
        <p:nvSpPr>
          <p:cNvPr id="6" name="CaixaDeTexto 5">
            <a:extLst>
              <a:ext uri="{FF2B5EF4-FFF2-40B4-BE49-F238E27FC236}">
                <a16:creationId xmlns:a16="http://schemas.microsoft.com/office/drawing/2014/main" id="{E27F6AA6-9E98-AA70-316D-012F69706D8B}"/>
              </a:ext>
            </a:extLst>
          </p:cNvPr>
          <p:cNvSpPr txBox="1"/>
          <p:nvPr/>
        </p:nvSpPr>
        <p:spPr>
          <a:xfrm>
            <a:off x="359434" y="5125528"/>
            <a:ext cx="5362755"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https://www.linkedin.com/posts/lindacstevens_gis-data-maps-activity-7181762427380715520-W-4B?utm_source=share&amp;utm_medium=member_desktop&amp;rcm=ACoAAAMQtAUB5UouXqdBJgo_gWpNVZ7Imay_2Tg</a:t>
            </a:r>
          </a:p>
          <a:p>
            <a:pPr algn="ctr"/>
            <a:endParaRPr lang="pt-BR"/>
          </a:p>
        </p:txBody>
      </p:sp>
    </p:spTree>
    <p:extLst>
      <p:ext uri="{BB962C8B-B14F-4D97-AF65-F5344CB8AC3E}">
        <p14:creationId xmlns:p14="http://schemas.microsoft.com/office/powerpoint/2010/main" val="233645894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5072B5EE-2AE7-5979-1187-96BC7182C0A6}"/>
              </a:ext>
            </a:extLst>
          </p:cNvPr>
          <p:cNvSpPr txBox="1"/>
          <p:nvPr/>
        </p:nvSpPr>
        <p:spPr>
          <a:xfrm>
            <a:off x="5822830" y="1171755"/>
            <a:ext cx="6096000"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One of the new features in ArcGIS Pro 3.3 that I benefit from every day is the ability to configure shortcuts for commands on the ribbon. Previously it was a bit of a hassle to navigate all the menus required to set up a keyboard shortcut, but now it's as simple as right-clicking a command and choosing "Configure Shortcut"!</a:t>
            </a:r>
            <a:br>
              <a:rPr lang="en-US">
                <a:latin typeface="-apple-system"/>
                <a:ea typeface="-apple-system"/>
                <a:cs typeface="-apple-system"/>
              </a:rPr>
            </a:br>
            <a:r>
              <a:rPr lang="en-US">
                <a:latin typeface="-apple-system"/>
                <a:ea typeface="-apple-system"/>
                <a:cs typeface="-apple-system"/>
              </a:rPr>
              <a:t>I have now set up keyboard shortcuts for all my favorite editing tools so I can do almost all my editing without needing to change between tabs on the ribbon! You can read more about this new feature on the help page (</a:t>
            </a:r>
            <a:r>
              <a:rPr lang="en-US" b="1">
                <a:solidFill>
                  <a:srgbClr val="0A66C2"/>
                </a:solidFill>
                <a:latin typeface="-apple-system"/>
                <a:ea typeface="-apple-system"/>
                <a:cs typeface="-apple-system"/>
                <a:hlinkClick r:id="rId2"/>
              </a:rPr>
              <a:t>https://lnkd.in/gJRmj-dP</a:t>
            </a:r>
            <a:r>
              <a:rPr lang="en-US">
                <a:latin typeface="-apple-system"/>
                <a:ea typeface="-apple-system"/>
                <a:cs typeface="-apple-system"/>
              </a:rPr>
              <a:t>). If you come by the utility network booth at this year's Esri User Conference I can show you the keyboard shortcuts I've been using to turbo-charge my editing workflows! What keyboard shortcuts do you use most often?</a:t>
            </a:r>
            <a:endParaRPr lang="en-US"/>
          </a:p>
          <a:p>
            <a:pPr algn="ctr"/>
            <a:endParaRPr lang="pt-BR"/>
          </a:p>
        </p:txBody>
      </p:sp>
      <p:pic>
        <p:nvPicPr>
          <p:cNvPr id="5" name="Imagem 4" descr="An image showing a user right-clicking the validate topology button and selecting the configure shortcut command from the context menu to open the keyboard shortcuts window. The new window has the selected command in it with the prompt &quot;Press a key&quot;.">
            <a:extLst>
              <a:ext uri="{FF2B5EF4-FFF2-40B4-BE49-F238E27FC236}">
                <a16:creationId xmlns:a16="http://schemas.microsoft.com/office/drawing/2014/main" id="{6258B12E-9D27-B1D6-1929-4F5647983022}"/>
              </a:ext>
            </a:extLst>
          </p:cNvPr>
          <p:cNvPicPr>
            <a:picLocks noChangeAspect="1"/>
          </p:cNvPicPr>
          <p:nvPr/>
        </p:nvPicPr>
        <p:blipFill>
          <a:blip r:embed="rId3"/>
          <a:stretch>
            <a:fillRect/>
          </a:stretch>
        </p:blipFill>
        <p:spPr>
          <a:xfrm>
            <a:off x="402566" y="1171306"/>
            <a:ext cx="5276491" cy="3063276"/>
          </a:xfrm>
          <a:prstGeom prst="rect">
            <a:avLst/>
          </a:prstGeom>
        </p:spPr>
      </p:pic>
      <p:sp>
        <p:nvSpPr>
          <p:cNvPr id="6" name="CaixaDeTexto 5">
            <a:extLst>
              <a:ext uri="{FF2B5EF4-FFF2-40B4-BE49-F238E27FC236}">
                <a16:creationId xmlns:a16="http://schemas.microsoft.com/office/drawing/2014/main" id="{70B67670-6F31-73B7-9E71-40B26AE68792}"/>
              </a:ext>
            </a:extLst>
          </p:cNvPr>
          <p:cNvSpPr txBox="1"/>
          <p:nvPr/>
        </p:nvSpPr>
        <p:spPr>
          <a:xfrm>
            <a:off x="402566" y="5499340"/>
            <a:ext cx="6096000" cy="13542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https://www.linkedin.com/posts/robert-krisher-5a989438_one-of-the-new-features-in-arcgis-pro-33-activity-7197600342535020544-pqO7?utm_source=share&amp;utm_medium=member_desktop&amp;rcm=ACoAAAMQtAUB5UouXqdBJgo_gWpNVZ7Imay_2Tg</a:t>
            </a:r>
          </a:p>
          <a:p>
            <a:pPr algn="ctr"/>
            <a:endParaRPr lang="pt-BR"/>
          </a:p>
        </p:txBody>
      </p:sp>
    </p:spTree>
    <p:extLst>
      <p:ext uri="{BB962C8B-B14F-4D97-AF65-F5344CB8AC3E}">
        <p14:creationId xmlns:p14="http://schemas.microsoft.com/office/powerpoint/2010/main" val="304210601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7CE7264F-EF88-8B88-A9E8-6ADC8B0AC0EC}"/>
              </a:ext>
            </a:extLst>
          </p:cNvPr>
          <p:cNvSpPr txBox="1"/>
          <p:nvPr/>
        </p:nvSpPr>
        <p:spPr>
          <a:xfrm>
            <a:off x="5463396" y="826698"/>
            <a:ext cx="6096000"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One of the new features added in ArcGIS Pro 3.3 is the ability to share a non-hosted service that contains only a table. At first glance, it seems like a pretty weird workflow to share a map that contains only non-spatial data, but it's becoming increasingly common. Because GIS has become a conduit for integrating data between different systems, many of which are non-spatial, it makes sense that there is an increased need to share non-spatial data via services to facilitate one-way or two-way communication with these non-spatial systems. You can read more about this feature in the online help: </a:t>
            </a:r>
            <a:r>
              <a:rPr lang="en-US" b="1">
                <a:solidFill>
                  <a:srgbClr val="0A66C2"/>
                </a:solidFill>
                <a:latin typeface="-apple-system"/>
                <a:ea typeface="-apple-system"/>
                <a:cs typeface="-apple-system"/>
                <a:hlinkClick r:id="rId2"/>
              </a:rPr>
              <a:t>https://lnkd.in/gTCW5ABk</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How did you work around this limitation in the past? My favorite was to keep an empty point-feature layer in the GIS called "Pointless" that I would add to the map whenever I needed to add a spatial layer to a collection of tables.</a:t>
            </a:r>
            <a:endParaRPr lang="en-US"/>
          </a:p>
          <a:p>
            <a:pPr algn="ctr"/>
            <a:endParaRPr lang="pt-BR"/>
          </a:p>
        </p:txBody>
      </p:sp>
      <p:pic>
        <p:nvPicPr>
          <p:cNvPr id="5" name="Imagem 4" descr="A graphic showing a map containing only tables being shared as a web layer to ArcGIS Enterprise.">
            <a:extLst>
              <a:ext uri="{FF2B5EF4-FFF2-40B4-BE49-F238E27FC236}">
                <a16:creationId xmlns:a16="http://schemas.microsoft.com/office/drawing/2014/main" id="{03AEFAEF-62DE-7B17-6704-809D06213C76}"/>
              </a:ext>
            </a:extLst>
          </p:cNvPr>
          <p:cNvPicPr>
            <a:picLocks noChangeAspect="1"/>
          </p:cNvPicPr>
          <p:nvPr/>
        </p:nvPicPr>
        <p:blipFill>
          <a:blip r:embed="rId3"/>
          <a:stretch>
            <a:fillRect/>
          </a:stretch>
        </p:blipFill>
        <p:spPr>
          <a:xfrm>
            <a:off x="227342" y="830113"/>
            <a:ext cx="4591769" cy="3630643"/>
          </a:xfrm>
          <a:prstGeom prst="rect">
            <a:avLst/>
          </a:prstGeom>
        </p:spPr>
      </p:pic>
      <p:sp>
        <p:nvSpPr>
          <p:cNvPr id="6" name="CaixaDeTexto 5">
            <a:extLst>
              <a:ext uri="{FF2B5EF4-FFF2-40B4-BE49-F238E27FC236}">
                <a16:creationId xmlns:a16="http://schemas.microsoft.com/office/drawing/2014/main" id="{CDA02E2E-16A3-C578-8F12-38044450B547}"/>
              </a:ext>
            </a:extLst>
          </p:cNvPr>
          <p:cNvSpPr txBox="1"/>
          <p:nvPr/>
        </p:nvSpPr>
        <p:spPr>
          <a:xfrm>
            <a:off x="402566" y="4708585"/>
            <a:ext cx="4226944" cy="18466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https://www.linkedin.com/posts/robert-krisher-5a989438_one-of-the-new-features-added-in-arcgis-pro-activity-7199398993586499586-2joC?utm_source=share&amp;utm_medium=member_desktop&amp;rcm=ACoAAAMQtAUB5UouXqdBJgo_gWpNVZ7Imay_2Tg</a:t>
            </a:r>
          </a:p>
          <a:p>
            <a:pPr algn="ctr"/>
            <a:endParaRPr lang="pt-BR"/>
          </a:p>
        </p:txBody>
      </p:sp>
    </p:spTree>
    <p:extLst>
      <p:ext uri="{BB962C8B-B14F-4D97-AF65-F5344CB8AC3E}">
        <p14:creationId xmlns:p14="http://schemas.microsoft.com/office/powerpoint/2010/main" val="40512883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1747C4A5-C72D-16C5-0C78-A74ACC2C87E4}"/>
              </a:ext>
            </a:extLst>
          </p:cNvPr>
          <p:cNvSpPr txBox="1"/>
          <p:nvPr/>
        </p:nvSpPr>
        <p:spPr>
          <a:xfrm>
            <a:off x="5664680" y="2135038"/>
            <a:ext cx="6096000"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With changes in GIS... it obviously brings about changes in the core concepts and topics within the discipline/technology. In terms of mapping &amp; cartography - here are some thoughts on 'what has shifted/changed' - did I miss anything?</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Here is a blog that the </a:t>
            </a:r>
            <a:r>
              <a:rPr lang="en-US" b="1">
                <a:solidFill>
                  <a:srgbClr val="0A66C2"/>
                </a:solidFill>
                <a:latin typeface="-apple-system"/>
                <a:ea typeface="-apple-system"/>
                <a:cs typeface="-apple-system"/>
                <a:hlinkClick r:id="rId2"/>
              </a:rPr>
              <a:t>hashtag#esri</a:t>
            </a:r>
            <a:r>
              <a:rPr lang="en-US">
                <a:latin typeface="-apple-system"/>
                <a:ea typeface="-apple-system"/>
                <a:cs typeface="-apple-system"/>
              </a:rPr>
              <a:t> education team put together - highlights some resources and other content to help educators: </a:t>
            </a:r>
            <a:r>
              <a:rPr lang="en-US" b="1">
                <a:solidFill>
                  <a:srgbClr val="0A66C2"/>
                </a:solidFill>
                <a:latin typeface="-apple-system"/>
                <a:ea typeface="-apple-system"/>
                <a:cs typeface="-apple-system"/>
                <a:hlinkClick r:id="rId3"/>
              </a:rPr>
              <a:t>https://lnkd.in/eVgxUejg</a:t>
            </a:r>
            <a:endParaRPr lang="en-US"/>
          </a:p>
          <a:p>
            <a:pPr algn="ctr"/>
            <a:endParaRPr lang="pt-BR"/>
          </a:p>
        </p:txBody>
      </p:sp>
      <p:pic>
        <p:nvPicPr>
          <p:cNvPr id="5" name="Imagem 4" descr="Não foi fornecido texto alternativo para esta imagem">
            <a:extLst>
              <a:ext uri="{FF2B5EF4-FFF2-40B4-BE49-F238E27FC236}">
                <a16:creationId xmlns:a16="http://schemas.microsoft.com/office/drawing/2014/main" id="{BDF7AE71-ADB6-C78D-2C20-A6E87602CF8C}"/>
              </a:ext>
            </a:extLst>
          </p:cNvPr>
          <p:cNvPicPr>
            <a:picLocks noChangeAspect="1"/>
          </p:cNvPicPr>
          <p:nvPr/>
        </p:nvPicPr>
        <p:blipFill>
          <a:blip r:embed="rId4"/>
          <a:stretch>
            <a:fillRect/>
          </a:stretch>
        </p:blipFill>
        <p:spPr>
          <a:xfrm>
            <a:off x="172528" y="1845783"/>
            <a:ext cx="5334000" cy="2850132"/>
          </a:xfrm>
          <a:prstGeom prst="rect">
            <a:avLst/>
          </a:prstGeom>
        </p:spPr>
      </p:pic>
      <p:sp>
        <p:nvSpPr>
          <p:cNvPr id="6" name="CaixaDeTexto 5">
            <a:extLst>
              <a:ext uri="{FF2B5EF4-FFF2-40B4-BE49-F238E27FC236}">
                <a16:creationId xmlns:a16="http://schemas.microsoft.com/office/drawing/2014/main" id="{C047872A-9AE7-C888-712D-550E6FA47DB5}"/>
              </a:ext>
            </a:extLst>
          </p:cNvPr>
          <p:cNvSpPr txBox="1"/>
          <p:nvPr/>
        </p:nvSpPr>
        <p:spPr>
          <a:xfrm>
            <a:off x="359434" y="5369943"/>
            <a:ext cx="60960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https://www.linkedin.com/posts/baldwinbrian_esri-moderngis-teachgis-activity-7196875787109564419-hObG?utm_source=share&amp;utm_medium=member_desktop&amp;rcm=ACoAAAMQtAUB5UouXqdBJgo_gWpNVZ7Imay_2Tg</a:t>
            </a:r>
          </a:p>
          <a:p>
            <a:pPr algn="ctr"/>
            <a:endParaRPr lang="pt-BR"/>
          </a:p>
        </p:txBody>
      </p:sp>
    </p:spTree>
    <p:extLst>
      <p:ext uri="{BB962C8B-B14F-4D97-AF65-F5344CB8AC3E}">
        <p14:creationId xmlns:p14="http://schemas.microsoft.com/office/powerpoint/2010/main" val="384372084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ixaDeTexto 5">
            <a:extLst>
              <a:ext uri="{FF2B5EF4-FFF2-40B4-BE49-F238E27FC236}">
                <a16:creationId xmlns:a16="http://schemas.microsoft.com/office/drawing/2014/main" id="{6DBDE4B9-9639-A775-ED1E-DD0A3A62F2B9}"/>
              </a:ext>
            </a:extLst>
          </p:cNvPr>
          <p:cNvSpPr txBox="1"/>
          <p:nvPr/>
        </p:nvSpPr>
        <p:spPr>
          <a:xfrm>
            <a:off x="5851585" y="1919377"/>
            <a:ext cx="6096000"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One of the most impressive new features added in ArcGIS Pro 3.3 is the ability to do flood simulations (</a:t>
            </a:r>
            <a:r>
              <a:rPr lang="en-US" b="1">
                <a:solidFill>
                  <a:srgbClr val="0A66C2"/>
                </a:solidFill>
                <a:latin typeface="-apple-system"/>
                <a:ea typeface="-apple-system"/>
                <a:cs typeface="-apple-system"/>
                <a:hlinkClick r:id="rId2"/>
              </a:rPr>
              <a:t>https://lnkd.in/gfvSjmjs</a:t>
            </a:r>
            <a:r>
              <a:rPr lang="en-US">
                <a:latin typeface="-apple-system"/>
                <a:ea typeface="-apple-system"/>
                <a:cs typeface="-apple-system"/>
              </a:rPr>
              <a:t>).</a:t>
            </a:r>
            <a:br>
              <a:rPr lang="en-US">
                <a:latin typeface="-apple-system"/>
                <a:ea typeface="-apple-system"/>
                <a:cs typeface="-apple-system"/>
              </a:rPr>
            </a:br>
            <a:r>
              <a:rPr lang="en-US">
                <a:latin typeface="-apple-system"/>
                <a:ea typeface="-apple-system"/>
                <a:cs typeface="-apple-system"/>
              </a:rPr>
              <a:t>As someone who works primarily with utilities, I was initially skeptical about how useful I would find this feature. But then I remembered over the past few years how I've talked with utilities wanting to simulate flooding impacts on their critical infrastructure.</a:t>
            </a:r>
            <a:br>
              <a:rPr lang="en-US">
                <a:latin typeface="-apple-system"/>
                <a:ea typeface="-apple-system"/>
                <a:cs typeface="-apple-system"/>
              </a:rPr>
            </a:br>
            <a:r>
              <a:rPr lang="en-US">
                <a:latin typeface="-apple-system"/>
                <a:ea typeface="-apple-system"/>
                <a:cs typeface="-apple-system"/>
              </a:rPr>
              <a:t>It's also a common request from sewer/stormwater customers to want to visualize/analyze what happens when a manhole overflows.</a:t>
            </a:r>
            <a:endParaRPr lang="en-US"/>
          </a:p>
          <a:p>
            <a:pPr algn="ctr"/>
            <a:endParaRPr lang="pt-BR"/>
          </a:p>
        </p:txBody>
      </p:sp>
      <p:pic>
        <p:nvPicPr>
          <p:cNvPr id="7" name="Imagem 6">
            <a:extLst>
              <a:ext uri="{FF2B5EF4-FFF2-40B4-BE49-F238E27FC236}">
                <a16:creationId xmlns:a16="http://schemas.microsoft.com/office/drawing/2014/main" id="{E1E68235-00E6-A2FC-1097-ECDD9CB0E0D7}"/>
              </a:ext>
            </a:extLst>
          </p:cNvPr>
          <p:cNvPicPr>
            <a:picLocks noChangeAspect="1"/>
          </p:cNvPicPr>
          <p:nvPr/>
        </p:nvPicPr>
        <p:blipFill>
          <a:blip r:embed="rId3"/>
          <a:stretch>
            <a:fillRect/>
          </a:stretch>
        </p:blipFill>
        <p:spPr>
          <a:xfrm>
            <a:off x="348831" y="1713691"/>
            <a:ext cx="5398339" cy="2970542"/>
          </a:xfrm>
          <a:prstGeom prst="rect">
            <a:avLst/>
          </a:prstGeom>
        </p:spPr>
      </p:pic>
      <p:sp>
        <p:nvSpPr>
          <p:cNvPr id="8" name="CaixaDeTexto 7">
            <a:extLst>
              <a:ext uri="{FF2B5EF4-FFF2-40B4-BE49-F238E27FC236}">
                <a16:creationId xmlns:a16="http://schemas.microsoft.com/office/drawing/2014/main" id="{8314F018-5848-932D-21FD-A48F036A3D0B}"/>
              </a:ext>
            </a:extLst>
          </p:cNvPr>
          <p:cNvSpPr txBox="1"/>
          <p:nvPr/>
        </p:nvSpPr>
        <p:spPr>
          <a:xfrm>
            <a:off x="215660" y="5125528"/>
            <a:ext cx="60960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https://www.linkedin.com/posts/robert-krisher-5a989438_flood-simulation-activity-7197218133420433409-bJm7?utm_source=share&amp;utm_medium=member_desktop&amp;rcm=ACoAAAMQtAUB5UouXqdBJgo_gWpNVZ7Imay_2Tg</a:t>
            </a:r>
          </a:p>
          <a:p>
            <a:pPr algn="ctr"/>
            <a:endParaRPr lang="pt-BR"/>
          </a:p>
        </p:txBody>
      </p:sp>
    </p:spTree>
    <p:extLst>
      <p:ext uri="{BB962C8B-B14F-4D97-AF65-F5344CB8AC3E}">
        <p14:creationId xmlns:p14="http://schemas.microsoft.com/office/powerpoint/2010/main" val="167629405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CF9D756B-D6F8-F908-C530-2F76B6F69DEE}"/>
              </a:ext>
            </a:extLst>
          </p:cNvPr>
          <p:cNvSpPr txBox="1"/>
          <p:nvPr/>
        </p:nvSpPr>
        <p:spPr>
          <a:xfrm>
            <a:off x="5506528" y="927340"/>
            <a:ext cx="6096000" cy="53553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I had another discussion with a customer yesterday about vertical assets and the utility network and this presentation (</a:t>
            </a:r>
            <a:r>
              <a:rPr lang="en-US" b="1">
                <a:solidFill>
                  <a:srgbClr val="0A66C2"/>
                </a:solidFill>
                <a:latin typeface="-apple-system"/>
                <a:ea typeface="-apple-system"/>
                <a:cs typeface="-apple-system"/>
                <a:hlinkClick r:id="rId2"/>
              </a:rPr>
              <a:t>https://lnkd.in/expVYkAZ</a:t>
            </a:r>
            <a:r>
              <a:rPr lang="en-US">
                <a:latin typeface="-apple-system"/>
                <a:ea typeface="-apple-system"/>
                <a:cs typeface="-apple-system"/>
              </a:rPr>
              <a:t>) from IMGIS last year is still one of the best customer presentations I have seen on the topic. </a:t>
            </a:r>
            <a:r>
              <a:rPr lang="en-US" b="1">
                <a:solidFill>
                  <a:srgbClr val="0A66C2"/>
                </a:solidFill>
                <a:latin typeface="-apple-system"/>
                <a:ea typeface="-apple-system"/>
                <a:cs typeface="-apple-system"/>
                <a:hlinkClick r:id="rId3"/>
              </a:rPr>
              <a:t>Jose L. Huerta, GISP</a:t>
            </a:r>
            <a:r>
              <a:rPr lang="en-US">
                <a:latin typeface="-apple-system"/>
                <a:ea typeface="-apple-system"/>
                <a:cs typeface="-apple-system"/>
              </a:rPr>
              <a:t> from Santa Clarita Valley Water District, and Ali Diba &amp; Haritha V. from DCSE. The presentation is very detailed, covering a lot of the challenges and possible solutions that you encounter during this project.</a:t>
            </a:r>
            <a:br>
              <a:rPr lang="en-US">
                <a:latin typeface="-apple-system"/>
                <a:ea typeface="-apple-system"/>
                <a:cs typeface="-apple-system"/>
              </a:rPr>
            </a:br>
            <a:r>
              <a:rPr lang="en-US">
                <a:latin typeface="-apple-system"/>
                <a:ea typeface="-apple-system"/>
                <a:cs typeface="-apple-system"/>
              </a:rPr>
              <a:t>If you watch this presentation and wished you could have asked them a question, I've got good news for you! Jose is going to be presenting on a similar topic at this year's user conference (</a:t>
            </a:r>
            <a:r>
              <a:rPr lang="en-US" b="1">
                <a:solidFill>
                  <a:srgbClr val="0A66C2"/>
                </a:solidFill>
                <a:latin typeface="-apple-system"/>
                <a:ea typeface="-apple-system"/>
                <a:cs typeface="-apple-system"/>
                <a:hlinkClick r:id="rId4"/>
              </a:rPr>
              <a:t>https://lnkd.in/efNGEzrV</a:t>
            </a:r>
            <a:r>
              <a:rPr lang="en-US">
                <a:latin typeface="-apple-system"/>
                <a:ea typeface="-apple-system"/>
                <a:cs typeface="-apple-system"/>
              </a:rPr>
              <a:t>) so if you attend the conference make sure to check it out! Even if you're not going to be attending the conference I recommend you sign up for digital access to the conference (</a:t>
            </a:r>
            <a:r>
              <a:rPr lang="en-US" b="1">
                <a:solidFill>
                  <a:srgbClr val="0A66C2"/>
                </a:solidFill>
                <a:latin typeface="-apple-system"/>
                <a:ea typeface="-apple-system"/>
                <a:cs typeface="-apple-system"/>
                <a:hlinkClick r:id="rId5"/>
              </a:rPr>
              <a:t>https://lnkd.in/gY3_sHyF</a:t>
            </a:r>
            <a:r>
              <a:rPr lang="en-US">
                <a:latin typeface="-apple-system"/>
                <a:ea typeface="-apple-system"/>
                <a:cs typeface="-apple-system"/>
              </a:rPr>
              <a:t>). Digital access allows you to live stream certain sessions as well as get access to exclusive recordings during for a period of time after the conference is over.</a:t>
            </a:r>
            <a:endParaRPr lang="en-US"/>
          </a:p>
          <a:p>
            <a:pPr algn="ctr"/>
            <a:endParaRPr lang="pt-BR"/>
          </a:p>
        </p:txBody>
      </p:sp>
      <p:pic>
        <p:nvPicPr>
          <p:cNvPr id="5" name="Imagem 4" descr="Não foi fornecido texto alternativo para esta imagem">
            <a:extLst>
              <a:ext uri="{FF2B5EF4-FFF2-40B4-BE49-F238E27FC236}">
                <a16:creationId xmlns:a16="http://schemas.microsoft.com/office/drawing/2014/main" id="{11DB2852-FEF9-FD67-CE07-617FD1384775}"/>
              </a:ext>
            </a:extLst>
          </p:cNvPr>
          <p:cNvPicPr>
            <a:picLocks noChangeAspect="1"/>
          </p:cNvPicPr>
          <p:nvPr/>
        </p:nvPicPr>
        <p:blipFill>
          <a:blip r:embed="rId6"/>
          <a:stretch>
            <a:fillRect/>
          </a:stretch>
        </p:blipFill>
        <p:spPr>
          <a:xfrm>
            <a:off x="262567" y="1196106"/>
            <a:ext cx="5053282" cy="3301221"/>
          </a:xfrm>
          <a:prstGeom prst="rect">
            <a:avLst/>
          </a:prstGeom>
        </p:spPr>
      </p:pic>
      <p:sp>
        <p:nvSpPr>
          <p:cNvPr id="6" name="CaixaDeTexto 5">
            <a:extLst>
              <a:ext uri="{FF2B5EF4-FFF2-40B4-BE49-F238E27FC236}">
                <a16:creationId xmlns:a16="http://schemas.microsoft.com/office/drawing/2014/main" id="{171B2722-E45B-468D-8FAD-8AF40A8C3ACD}"/>
              </a:ext>
            </a:extLst>
          </p:cNvPr>
          <p:cNvSpPr txBox="1"/>
          <p:nvPr/>
        </p:nvSpPr>
        <p:spPr>
          <a:xfrm>
            <a:off x="258792" y="4809226"/>
            <a:ext cx="4830793"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https://www.linkedin.com/posts/robert-krisher-5a989438_i-had-another-discussion-with-a-customer-activity-7196509430614577152-WiyS?utm_source=share&amp;utm_medium=member_desktop&amp;rcm=ACoAAAMQtAUB5UouXqdBJgo_gWpNVZ7Imay_2Tg</a:t>
            </a:r>
          </a:p>
          <a:p>
            <a:pPr algn="ctr"/>
            <a:endParaRPr lang="pt-BR"/>
          </a:p>
        </p:txBody>
      </p:sp>
    </p:spTree>
    <p:extLst>
      <p:ext uri="{BB962C8B-B14F-4D97-AF65-F5344CB8AC3E}">
        <p14:creationId xmlns:p14="http://schemas.microsoft.com/office/powerpoint/2010/main" val="426447512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044AE221-EE63-7654-956E-957A190ABEAD}"/>
              </a:ext>
            </a:extLst>
          </p:cNvPr>
          <p:cNvSpPr txBox="1"/>
          <p:nvPr/>
        </p:nvSpPr>
        <p:spPr>
          <a:xfrm>
            <a:off x="5765321" y="-7189"/>
            <a:ext cx="6096000" cy="64940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system-ui"/>
                <a:ea typeface="system-ui"/>
                <a:cs typeface="system-ui"/>
              </a:rPr>
              <a:t>Top 5 GIS and Geospatial YouTube channels.</a:t>
            </a:r>
            <a:br>
              <a:rPr lang="en-US" sz="1600"/>
            </a:br>
            <a:br>
              <a:rPr lang="en-US" sz="1600"/>
            </a:br>
            <a:r>
              <a:rPr lang="en-US" sz="1600">
                <a:latin typeface="system-ui"/>
                <a:ea typeface="system-ui"/>
                <a:cs typeface="system-ui"/>
              </a:rPr>
              <a:t>You are welcome to extend the list.</a:t>
            </a:r>
            <a:br>
              <a:rPr lang="en-US" sz="1600"/>
            </a:br>
            <a:br>
              <a:rPr lang="en-US" sz="1600"/>
            </a:br>
            <a:r>
              <a:rPr lang="en-US" sz="1600">
                <a:latin typeface="system-ui"/>
                <a:ea typeface="system-ui"/>
                <a:cs typeface="system-ui"/>
              </a:rPr>
              <a:t>1. John Nelson Maps:</a:t>
            </a:r>
            <a:br>
              <a:rPr lang="en-US" sz="1600"/>
            </a:br>
            <a:r>
              <a:rPr lang="en-US" sz="1600">
                <a:latin typeface="system-ui"/>
                <a:ea typeface="system-ui"/>
                <a:cs typeface="system-ui"/>
              </a:rPr>
              <a:t>Best videos showing how to make beautiful and useful maps.</a:t>
            </a:r>
            <a:br>
              <a:rPr lang="en-US" sz="1600"/>
            </a:br>
            <a:r>
              <a:rPr lang="en-US" sz="1600" b="1" u="none" strike="noStrike">
                <a:solidFill>
                  <a:srgbClr val="0A66C2"/>
                </a:solidFill>
                <a:latin typeface="inherit"/>
                <a:ea typeface="inherit"/>
                <a:cs typeface="inherit"/>
                <a:hlinkClick r:id="rId2"/>
              </a:rPr>
              <a:t>https://lnkd.in/dz5KBKa2</a:t>
            </a:r>
            <a:br>
              <a:rPr lang="en-US" sz="1600"/>
            </a:br>
            <a:br>
              <a:rPr lang="en-US" sz="1600"/>
            </a:br>
            <a:r>
              <a:rPr lang="en-US" sz="1600">
                <a:latin typeface="system-ui"/>
                <a:ea typeface="system-ui"/>
                <a:cs typeface="system-ui"/>
              </a:rPr>
              <a:t>2. GIS Simplified:</a:t>
            </a:r>
            <a:br>
              <a:rPr lang="en-US" sz="1600"/>
            </a:br>
            <a:r>
              <a:rPr lang="en-US" sz="1600">
                <a:latin typeface="system-ui"/>
                <a:ea typeface="system-ui"/>
                <a:cs typeface="system-ui"/>
              </a:rPr>
              <a:t>Tutorials, explanations, and educational content</a:t>
            </a:r>
            <a:br>
              <a:rPr lang="en-US" sz="1600"/>
            </a:br>
            <a:r>
              <a:rPr lang="en-US" sz="1600" b="1" u="none" strike="noStrike">
                <a:solidFill>
                  <a:srgbClr val="0A66C2"/>
                </a:solidFill>
                <a:latin typeface="inherit"/>
                <a:ea typeface="inherit"/>
                <a:cs typeface="inherit"/>
                <a:hlinkClick r:id="rId3"/>
              </a:rPr>
              <a:t>https://lnkd.in/dRgMbGXy</a:t>
            </a:r>
            <a:br>
              <a:rPr lang="en-US" sz="1600"/>
            </a:br>
            <a:br>
              <a:rPr lang="en-US" sz="1600"/>
            </a:br>
            <a:r>
              <a:rPr lang="en-US" sz="1600">
                <a:latin typeface="system-ui"/>
                <a:ea typeface="system-ui"/>
                <a:cs typeface="system-ui"/>
              </a:rPr>
              <a:t>3. Geospatial World</a:t>
            </a:r>
            <a:br>
              <a:rPr lang="en-US" sz="1600"/>
            </a:br>
            <a:r>
              <a:rPr lang="en-US" sz="1600">
                <a:latin typeface="system-ui"/>
                <a:ea typeface="system-ui"/>
                <a:cs typeface="system-ui"/>
              </a:rPr>
              <a:t>Industry news, interviews, and insights on geospatial technologies and trends.</a:t>
            </a:r>
            <a:br>
              <a:rPr lang="en-US" sz="1600"/>
            </a:br>
            <a:r>
              <a:rPr lang="en-US" sz="1600" b="1" u="none" strike="noStrike">
                <a:solidFill>
                  <a:srgbClr val="0A66C2"/>
                </a:solidFill>
                <a:latin typeface="inherit"/>
                <a:ea typeface="inherit"/>
                <a:cs typeface="inherit"/>
                <a:hlinkClick r:id="rId4"/>
              </a:rPr>
              <a:t>https://lnkd.in/drzPYiph</a:t>
            </a:r>
            <a:br>
              <a:rPr lang="en-US" sz="1600"/>
            </a:br>
            <a:br>
              <a:rPr lang="en-US" sz="1600"/>
            </a:br>
            <a:r>
              <a:rPr lang="en-US" sz="1600">
                <a:latin typeface="system-ui"/>
                <a:ea typeface="system-ui"/>
                <a:cs typeface="system-ui"/>
              </a:rPr>
              <a:t>4. </a:t>
            </a:r>
            <a:r>
              <a:rPr lang="en-US" sz="1600" err="1">
                <a:latin typeface="system-ui"/>
                <a:ea typeface="system-ui"/>
                <a:cs typeface="system-ui"/>
              </a:rPr>
              <a:t>SpatialZone</a:t>
            </a:r>
            <a:r>
              <a:rPr lang="en-US" sz="1600">
                <a:latin typeface="system-ui"/>
                <a:ea typeface="system-ui"/>
                <a:cs typeface="system-ui"/>
              </a:rPr>
              <a:t>:</a:t>
            </a:r>
            <a:br>
              <a:rPr lang="en-US" sz="1600"/>
            </a:br>
            <a:r>
              <a:rPr lang="en-US" sz="1600">
                <a:latin typeface="system-ui"/>
                <a:ea typeface="system-ui"/>
                <a:cs typeface="system-ui"/>
              </a:rPr>
              <a:t>Comprehensive GIS tutorials, software reviews, and industry news.</a:t>
            </a:r>
            <a:br>
              <a:rPr lang="en-US" sz="1600"/>
            </a:br>
            <a:r>
              <a:rPr lang="en-US" sz="1600" b="1" u="none" strike="noStrike">
                <a:solidFill>
                  <a:srgbClr val="0A66C2"/>
                </a:solidFill>
                <a:latin typeface="inherit"/>
                <a:ea typeface="inherit"/>
                <a:cs typeface="inherit"/>
                <a:hlinkClick r:id="rId5"/>
              </a:rPr>
              <a:t>https://lnkd.in/dm2f26mc</a:t>
            </a:r>
            <a:br>
              <a:rPr lang="en-US" sz="1600"/>
            </a:br>
            <a:br>
              <a:rPr lang="en-US" sz="1600"/>
            </a:br>
            <a:r>
              <a:rPr lang="en-US" sz="1600">
                <a:latin typeface="system-ui"/>
                <a:ea typeface="system-ui"/>
                <a:cs typeface="system-ui"/>
              </a:rPr>
              <a:t>5. Reality Capture Network</a:t>
            </a:r>
            <a:br>
              <a:rPr lang="en-US" sz="1600"/>
            </a:br>
            <a:r>
              <a:rPr lang="en-US" sz="1600">
                <a:latin typeface="system-ui"/>
                <a:ea typeface="system-ui"/>
                <a:cs typeface="system-ui"/>
              </a:rPr>
              <a:t>Series of podcasts and interviews focused on technology innovation and education.</a:t>
            </a:r>
            <a:br>
              <a:rPr lang="en-US" sz="1600"/>
            </a:br>
            <a:r>
              <a:rPr lang="en-US" sz="1600" b="1" u="none" strike="noStrike">
                <a:solidFill>
                  <a:srgbClr val="0A66C2"/>
                </a:solidFill>
                <a:latin typeface="inherit"/>
                <a:ea typeface="inherit"/>
                <a:cs typeface="inherit"/>
                <a:hlinkClick r:id="rId6"/>
              </a:rPr>
              <a:t>https://lnkd.in/d7WuRk28</a:t>
            </a:r>
            <a:endParaRPr lang="en-US" sz="1600">
              <a:ea typeface="Calibri"/>
              <a:cs typeface="Calibri"/>
            </a:endParaRPr>
          </a:p>
          <a:p>
            <a:pPr algn="ctr"/>
            <a:endParaRPr lang="pt-BR" sz="1600">
              <a:ea typeface="Calibri"/>
              <a:cs typeface="Calibri"/>
            </a:endParaRPr>
          </a:p>
        </p:txBody>
      </p:sp>
      <p:pic>
        <p:nvPicPr>
          <p:cNvPr id="5" name="Imagem 4" descr="GIS specialist watching video tutorials.">
            <a:extLst>
              <a:ext uri="{FF2B5EF4-FFF2-40B4-BE49-F238E27FC236}">
                <a16:creationId xmlns:a16="http://schemas.microsoft.com/office/drawing/2014/main" id="{0C51F088-0F70-062E-C421-E1D43F93CD7C}"/>
              </a:ext>
            </a:extLst>
          </p:cNvPr>
          <p:cNvPicPr>
            <a:picLocks noChangeAspect="1"/>
          </p:cNvPicPr>
          <p:nvPr/>
        </p:nvPicPr>
        <p:blipFill>
          <a:blip r:embed="rId7"/>
          <a:stretch>
            <a:fillRect/>
          </a:stretch>
        </p:blipFill>
        <p:spPr>
          <a:xfrm>
            <a:off x="275057" y="585608"/>
            <a:ext cx="5172075" cy="4105275"/>
          </a:xfrm>
          <a:prstGeom prst="rect">
            <a:avLst/>
          </a:prstGeom>
        </p:spPr>
      </p:pic>
      <p:sp>
        <p:nvSpPr>
          <p:cNvPr id="6" name="CaixaDeTexto 5">
            <a:extLst>
              <a:ext uri="{FF2B5EF4-FFF2-40B4-BE49-F238E27FC236}">
                <a16:creationId xmlns:a16="http://schemas.microsoft.com/office/drawing/2014/main" id="{0804EFD2-F227-EEFD-72BC-9E7DE7F8DE9D}"/>
              </a:ext>
            </a:extLst>
          </p:cNvPr>
          <p:cNvSpPr txBox="1"/>
          <p:nvPr/>
        </p:nvSpPr>
        <p:spPr>
          <a:xfrm>
            <a:off x="273170" y="5125528"/>
            <a:ext cx="5175850" cy="13542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https://www.linkedin.com/posts/arkadiuszszadkowski_realitycapture-geospatial-maps-share-7202213674382422016-uU6e?utm_source=share&amp;utm_medium=member_desktop&amp;rcm=ACoAAAMQtAUB5UouXqdBJgo_gWpNVZ7Imay_2Tg</a:t>
            </a:r>
          </a:p>
          <a:p>
            <a:pPr algn="ctr"/>
            <a:endParaRPr lang="pt-BR"/>
          </a:p>
        </p:txBody>
      </p:sp>
    </p:spTree>
    <p:extLst>
      <p:ext uri="{BB962C8B-B14F-4D97-AF65-F5344CB8AC3E}">
        <p14:creationId xmlns:p14="http://schemas.microsoft.com/office/powerpoint/2010/main" val="370542768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EE3358DB-F27E-2869-D052-2BBAFACDA807}"/>
              </a:ext>
            </a:extLst>
          </p:cNvPr>
          <p:cNvSpPr txBox="1"/>
          <p:nvPr/>
        </p:nvSpPr>
        <p:spPr>
          <a:xfrm>
            <a:off x="6383547" y="2120660"/>
            <a:ext cx="5161472" cy="19082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latin typeface="-apple-system"/>
                <a:ea typeface="-apple-system"/>
                <a:cs typeface="-apple-system"/>
              </a:rPr>
              <a:t>GIS professionals won’t like to hear this, but while I am shocked and saddened to see the many recent GIS program closures in Canada, I must confess that upon reflection I cannot say I am surprised. And I believe it is our own fault.</a:t>
            </a:r>
            <a:endParaRPr lang="en-US" sz="2000"/>
          </a:p>
          <a:p>
            <a:pPr algn="ctr"/>
            <a:endParaRPr lang="pt-BR"/>
          </a:p>
        </p:txBody>
      </p:sp>
      <p:pic>
        <p:nvPicPr>
          <p:cNvPr id="5" name="Imagem 4" descr="Uma imagem contendo Site&#10;&#10;O conteúdo gerado por IA pode estar incorreto.">
            <a:extLst>
              <a:ext uri="{FF2B5EF4-FFF2-40B4-BE49-F238E27FC236}">
                <a16:creationId xmlns:a16="http://schemas.microsoft.com/office/drawing/2014/main" id="{FC6B76C3-0B61-75B2-730F-8731A816018E}"/>
              </a:ext>
            </a:extLst>
          </p:cNvPr>
          <p:cNvPicPr>
            <a:picLocks noChangeAspect="1"/>
          </p:cNvPicPr>
          <p:nvPr/>
        </p:nvPicPr>
        <p:blipFill>
          <a:blip r:embed="rId2"/>
          <a:stretch>
            <a:fillRect/>
          </a:stretch>
        </p:blipFill>
        <p:spPr>
          <a:xfrm>
            <a:off x="644376" y="1326491"/>
            <a:ext cx="5267325" cy="3486150"/>
          </a:xfrm>
          <a:prstGeom prst="rect">
            <a:avLst/>
          </a:prstGeom>
        </p:spPr>
      </p:pic>
      <p:sp>
        <p:nvSpPr>
          <p:cNvPr id="6" name="CaixaDeTexto 5">
            <a:extLst>
              <a:ext uri="{FF2B5EF4-FFF2-40B4-BE49-F238E27FC236}">
                <a16:creationId xmlns:a16="http://schemas.microsoft.com/office/drawing/2014/main" id="{EC302566-7692-9B76-F623-83AE92951D0B}"/>
              </a:ext>
            </a:extLst>
          </p:cNvPr>
          <p:cNvSpPr txBox="1"/>
          <p:nvPr/>
        </p:nvSpPr>
        <p:spPr>
          <a:xfrm>
            <a:off x="431321" y="5197415"/>
            <a:ext cx="60960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https://www.linkedin.com/posts/gisgeek_gis-professionals-wont-like-to-hear-this-activity-7191188447338897408-vNFl?utm_source=share&amp;utm_medium=member_desktop&amp;rcm=ACoAAAMQtAUB5UouXqdBJgo_gWpNVZ7Imay_2Tg</a:t>
            </a:r>
          </a:p>
          <a:p>
            <a:pPr algn="ctr"/>
            <a:endParaRPr lang="pt-BR"/>
          </a:p>
        </p:txBody>
      </p:sp>
    </p:spTree>
    <p:extLst>
      <p:ext uri="{BB962C8B-B14F-4D97-AF65-F5344CB8AC3E}">
        <p14:creationId xmlns:p14="http://schemas.microsoft.com/office/powerpoint/2010/main" val="212130226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E8B56231-7E27-22CF-2B9E-FED046B65783}"/>
              </a:ext>
            </a:extLst>
          </p:cNvPr>
          <p:cNvSpPr txBox="1"/>
          <p:nvPr/>
        </p:nvSpPr>
        <p:spPr>
          <a:xfrm>
            <a:off x="5722189" y="1962509"/>
            <a:ext cx="6096000"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𝐒𝐨𝐥𝐯𝐢𝐧𝐠 𝐭𝐡𝐞 𝐆𝐈𝐒 𝐈𝐝𝐞𝐧𝐭𝐢𝐭𝐲 𝐂𝐫𝐢𝐬𝐢𝐬</a:t>
            </a:r>
            <a:br>
              <a:rPr lang="en-US">
                <a:latin typeface="-apple-system"/>
                <a:ea typeface="-apple-system"/>
                <a:cs typeface="-apple-system"/>
              </a:rPr>
            </a:br>
            <a:br>
              <a:rPr lang="en-US">
                <a:latin typeface="-apple-system"/>
                <a:ea typeface="-apple-system"/>
                <a:cs typeface="-apple-system"/>
              </a:rPr>
            </a:br>
            <a:r>
              <a:rPr lang="en-US" b="1">
                <a:solidFill>
                  <a:srgbClr val="0A66C2"/>
                </a:solidFill>
                <a:latin typeface="-apple-system"/>
                <a:ea typeface="-apple-system"/>
                <a:cs typeface="-apple-system"/>
                <a:hlinkClick r:id="rId2"/>
              </a:rPr>
              <a:t>Chris North</a:t>
            </a:r>
            <a:r>
              <a:rPr lang="en-US">
                <a:latin typeface="-apple-system"/>
                <a:ea typeface="-apple-system"/>
                <a:cs typeface="-apple-system"/>
              </a:rPr>
              <a:t> raises again the age old conversation around GIS. His article is excellent. In this short Spatial Talk (the first one for some time) I provide my thoughts on this niche to mainstream discussion. </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And there is a simple success formula. </a:t>
            </a:r>
            <a:endParaRPr lang="en-US"/>
          </a:p>
          <a:p>
            <a:pPr algn="ctr"/>
            <a:endParaRPr lang="pt-BR"/>
          </a:p>
        </p:txBody>
      </p:sp>
      <p:pic>
        <p:nvPicPr>
          <p:cNvPr id="5" name="Imagem 4" descr="Homem de camisa branca&#10;&#10;O conteúdo gerado por IA pode estar incorreto.">
            <a:extLst>
              <a:ext uri="{FF2B5EF4-FFF2-40B4-BE49-F238E27FC236}">
                <a16:creationId xmlns:a16="http://schemas.microsoft.com/office/drawing/2014/main" id="{CCB70CD0-9715-6943-B323-76112E1B1DA6}"/>
              </a:ext>
            </a:extLst>
          </p:cNvPr>
          <p:cNvPicPr>
            <a:picLocks noChangeAspect="1"/>
          </p:cNvPicPr>
          <p:nvPr/>
        </p:nvPicPr>
        <p:blipFill>
          <a:blip r:embed="rId3"/>
          <a:stretch>
            <a:fillRect/>
          </a:stretch>
        </p:blipFill>
        <p:spPr>
          <a:xfrm>
            <a:off x="303901" y="1453821"/>
            <a:ext cx="5200650" cy="2828925"/>
          </a:xfrm>
          <a:prstGeom prst="rect">
            <a:avLst/>
          </a:prstGeom>
        </p:spPr>
      </p:pic>
      <p:sp>
        <p:nvSpPr>
          <p:cNvPr id="6" name="CaixaDeTexto 5">
            <a:extLst>
              <a:ext uri="{FF2B5EF4-FFF2-40B4-BE49-F238E27FC236}">
                <a16:creationId xmlns:a16="http://schemas.microsoft.com/office/drawing/2014/main" id="{89624F4C-B0A4-7ACF-3DE7-8003D3F8AC24}"/>
              </a:ext>
            </a:extLst>
          </p:cNvPr>
          <p:cNvSpPr txBox="1"/>
          <p:nvPr/>
        </p:nvSpPr>
        <p:spPr>
          <a:xfrm>
            <a:off x="301924" y="4967377"/>
            <a:ext cx="6096000" cy="13542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https://www.linkedin.com/posts/matt-sheehan-a8455b44_gis-geospatial-remotesensing-activity-7191512610075217920-j1hb?utm_source=share&amp;utm_medium=member_desktop&amp;rcm=ACoAAAMQtAUB5UouXqdBJgo_gWpNVZ7Imay_2Tg</a:t>
            </a:r>
          </a:p>
          <a:p>
            <a:pPr algn="ctr"/>
            <a:endParaRPr lang="pt-BR"/>
          </a:p>
        </p:txBody>
      </p:sp>
    </p:spTree>
    <p:extLst>
      <p:ext uri="{BB962C8B-B14F-4D97-AF65-F5344CB8AC3E}">
        <p14:creationId xmlns:p14="http://schemas.microsoft.com/office/powerpoint/2010/main" val="214511151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630118C7-0EF6-7B0F-774D-2F11E117F76E}"/>
              </a:ext>
            </a:extLst>
          </p:cNvPr>
          <p:cNvSpPr txBox="1"/>
          <p:nvPr/>
        </p:nvSpPr>
        <p:spPr>
          <a:xfrm>
            <a:off x="5520906" y="740434"/>
            <a:ext cx="6096000"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3ª postagem sobre água - e se houver um VAZAMENTO!!</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Executar uma trilha de isolamento em SIG é essencial para resolver rapidamente vazamentos de água. Ao identificar as áreas afetadas e minimizar interrupções no serviço, o GIS ajuda as concessionárias a economizar água, priorizar reparos e aumentar a segurança pública. Uma resposta eficiente, impulsionada por GIS, garante ação rápida, reduzindo a perda de água e protegendo as comunidades. </a:t>
            </a:r>
            <a:r>
              <a:rPr lang="en-US" b="1">
                <a:solidFill>
                  <a:srgbClr val="0A66C2"/>
                </a:solidFill>
                <a:latin typeface="-apple-system"/>
                <a:ea typeface="-apple-system"/>
                <a:cs typeface="-apple-system"/>
                <a:hlinkClick r:id="rId2"/>
              </a:rPr>
              <a:t>hashtag#GIS</a:t>
            </a:r>
            <a:r>
              <a:rPr lang="en-US">
                <a:latin typeface="-apple-system"/>
                <a:ea typeface="-apple-system"/>
                <a:cs typeface="-apple-system"/>
              </a:rPr>
              <a:t> </a:t>
            </a:r>
            <a:r>
              <a:rPr lang="en-US" b="1">
                <a:solidFill>
                  <a:srgbClr val="0A66C2"/>
                </a:solidFill>
                <a:latin typeface="-apple-system"/>
                <a:ea typeface="-apple-system"/>
                <a:cs typeface="-apple-system"/>
                <a:hlinkClick r:id="rId3"/>
              </a:rPr>
              <a:t>hashtag#WaterManagement</a:t>
            </a:r>
            <a:r>
              <a:rPr lang="en-US">
                <a:latin typeface="-apple-system"/>
                <a:ea typeface="-apple-system"/>
                <a:cs typeface="-apple-system"/>
              </a:rPr>
              <a:t> </a:t>
            </a:r>
            <a:r>
              <a:rPr lang="en-US" b="1">
                <a:solidFill>
                  <a:srgbClr val="0A66C2"/>
                </a:solidFill>
                <a:latin typeface="-apple-system"/>
                <a:ea typeface="-apple-system"/>
                <a:cs typeface="-apple-system"/>
                <a:hlinkClick r:id="rId4"/>
              </a:rPr>
              <a:t>hashtag#Utilities</a:t>
            </a:r>
            <a:r>
              <a:rPr lang="en-US">
                <a:latin typeface="-apple-system"/>
                <a:ea typeface="-apple-system"/>
                <a:cs typeface="-apple-system"/>
              </a:rPr>
              <a:t> </a:t>
            </a:r>
            <a:r>
              <a:rPr lang="en-US" b="1">
                <a:solidFill>
                  <a:srgbClr val="0A66C2"/>
                </a:solidFill>
                <a:latin typeface="-apple-system"/>
                <a:ea typeface="-apple-system"/>
                <a:cs typeface="-apple-system"/>
                <a:hlinkClick r:id="rId5"/>
              </a:rPr>
              <a:t>hashtag#EmergencyResponse</a:t>
            </a:r>
            <a:r>
              <a:rPr lang="en-US">
                <a:latin typeface="-apple-system"/>
                <a:ea typeface="-apple-system"/>
                <a:cs typeface="-apple-system"/>
              </a:rPr>
              <a:t> </a:t>
            </a:r>
            <a:r>
              <a:rPr lang="en-US" b="1">
                <a:solidFill>
                  <a:srgbClr val="0A66C2"/>
                </a:solidFill>
                <a:latin typeface="-apple-system"/>
                <a:ea typeface="-apple-system"/>
                <a:cs typeface="-apple-system"/>
                <a:hlinkClick r:id="rId6"/>
              </a:rPr>
              <a:t>hashtag#Arcgis</a:t>
            </a:r>
            <a:r>
              <a:rPr lang="en-US">
                <a:latin typeface="-apple-system"/>
                <a:ea typeface="-apple-system"/>
                <a:cs typeface="-apple-system"/>
              </a:rPr>
              <a:t> </a:t>
            </a:r>
            <a:r>
              <a:rPr lang="en-US" b="1">
                <a:solidFill>
                  <a:srgbClr val="0A66C2"/>
                </a:solidFill>
                <a:latin typeface="-apple-system"/>
                <a:ea typeface="-apple-system"/>
                <a:cs typeface="-apple-system"/>
                <a:hlinkClick r:id="rId7"/>
              </a:rPr>
              <a:t>hashtag#Smartcampus</a:t>
            </a:r>
            <a:r>
              <a:rPr lang="en-US">
                <a:latin typeface="-apple-system"/>
                <a:ea typeface="-apple-system"/>
                <a:cs typeface="-apple-system"/>
              </a:rPr>
              <a:t> </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Dê uma olhada neste storymap para mais detalhes: </a:t>
            </a:r>
            <a:br>
              <a:rPr lang="en-US">
                <a:latin typeface="-apple-system"/>
                <a:ea typeface="-apple-system"/>
                <a:cs typeface="-apple-system"/>
              </a:rPr>
            </a:br>
            <a:r>
              <a:rPr lang="en-US" b="1">
                <a:solidFill>
                  <a:srgbClr val="0A66C2"/>
                </a:solidFill>
                <a:latin typeface="-apple-system"/>
                <a:ea typeface="-apple-system"/>
                <a:cs typeface="-apple-system"/>
                <a:hlinkClick r:id="rId8"/>
              </a:rPr>
              <a:t>https://arcg.is/08Cur01</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Mais detalhes sobre a solução aqui: </a:t>
            </a:r>
            <a:r>
              <a:rPr lang="en-US" b="1">
                <a:solidFill>
                  <a:srgbClr val="0A66C2"/>
                </a:solidFill>
                <a:latin typeface="-apple-system"/>
                <a:ea typeface="-apple-system"/>
                <a:cs typeface="-apple-system"/>
                <a:hlinkClick r:id="rId9"/>
              </a:rPr>
              <a:t>https://lnkd.in/gX-nexmB</a:t>
            </a:r>
            <a:endParaRPr lang="en-US"/>
          </a:p>
          <a:p>
            <a:pPr algn="ctr"/>
            <a:endParaRPr lang="pt-BR"/>
          </a:p>
        </p:txBody>
      </p:sp>
      <p:pic>
        <p:nvPicPr>
          <p:cNvPr id="5" name="Imagem 4" descr="Mapa&#10;&#10;O conteúdo gerado por IA pode estar incorreto.">
            <a:extLst>
              <a:ext uri="{FF2B5EF4-FFF2-40B4-BE49-F238E27FC236}">
                <a16:creationId xmlns:a16="http://schemas.microsoft.com/office/drawing/2014/main" id="{F0118C57-5117-1034-0FC3-4F735313766B}"/>
              </a:ext>
            </a:extLst>
          </p:cNvPr>
          <p:cNvPicPr>
            <a:picLocks noChangeAspect="1"/>
          </p:cNvPicPr>
          <p:nvPr/>
        </p:nvPicPr>
        <p:blipFill>
          <a:blip r:embed="rId10"/>
          <a:stretch>
            <a:fillRect/>
          </a:stretch>
        </p:blipFill>
        <p:spPr>
          <a:xfrm>
            <a:off x="126790" y="878097"/>
            <a:ext cx="5267325" cy="4109767"/>
          </a:xfrm>
          <a:prstGeom prst="rect">
            <a:avLst/>
          </a:prstGeom>
        </p:spPr>
      </p:pic>
      <p:sp>
        <p:nvSpPr>
          <p:cNvPr id="6" name="CaixaDeTexto 5">
            <a:extLst>
              <a:ext uri="{FF2B5EF4-FFF2-40B4-BE49-F238E27FC236}">
                <a16:creationId xmlns:a16="http://schemas.microsoft.com/office/drawing/2014/main" id="{16931C0F-EF7B-1D21-051D-A93360D86357}"/>
              </a:ext>
            </a:extLst>
          </p:cNvPr>
          <p:cNvSpPr txBox="1"/>
          <p:nvPr/>
        </p:nvSpPr>
        <p:spPr>
          <a:xfrm>
            <a:off x="129396" y="5139906"/>
            <a:ext cx="4830793" cy="18466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https://www.linkedin.com/posts/alicejin_gis-watermanagement-utilities-activity-7191791076083392513-J2FN?utm_source=share&amp;utm_medium=member_desktop&amp;rcm=ACoAAAMQtAUB5UouXqdBJgo_gWpNVZ7Imay_2Tg</a:t>
            </a:r>
          </a:p>
          <a:p>
            <a:pPr algn="ctr"/>
            <a:endParaRPr lang="pt-BR"/>
          </a:p>
        </p:txBody>
      </p:sp>
    </p:spTree>
    <p:extLst>
      <p:ext uri="{BB962C8B-B14F-4D97-AF65-F5344CB8AC3E}">
        <p14:creationId xmlns:p14="http://schemas.microsoft.com/office/powerpoint/2010/main" val="198136278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E4921A7E-7D75-C7B2-9026-7F72FD40E25F}"/>
              </a:ext>
            </a:extLst>
          </p:cNvPr>
          <p:cNvSpPr txBox="1"/>
          <p:nvPr/>
        </p:nvSpPr>
        <p:spPr>
          <a:xfrm>
            <a:off x="6096000" y="1962510"/>
            <a:ext cx="609600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The editing snap chip in ArcGIS Pro is now aware of terminals! This means that when you connect a utility network line to a device with terminals, you can use the snap chip to pick the terminal it is connected to without switching to the Terminal Connections tool. You can learn more about this feature here: </a:t>
            </a:r>
            <a:r>
              <a:rPr lang="en-US" b="1">
                <a:solidFill>
                  <a:srgbClr val="0A66C2"/>
                </a:solidFill>
                <a:latin typeface="-apple-system"/>
                <a:ea typeface="-apple-system"/>
                <a:cs typeface="-apple-system"/>
                <a:hlinkClick r:id="rId2"/>
              </a:rPr>
              <a:t>https://lnkd.in/gVNJNBjA</a:t>
            </a:r>
            <a:endParaRPr lang="en-US"/>
          </a:p>
          <a:p>
            <a:pPr algn="ctr"/>
            <a:endParaRPr lang="pt-BR"/>
          </a:p>
        </p:txBody>
      </p:sp>
      <p:pic>
        <p:nvPicPr>
          <p:cNvPr id="5" name="Imagem 4" descr="Não foi fornecido texto alternativo para esta imagem">
            <a:extLst>
              <a:ext uri="{FF2B5EF4-FFF2-40B4-BE49-F238E27FC236}">
                <a16:creationId xmlns:a16="http://schemas.microsoft.com/office/drawing/2014/main" id="{1B70A2B9-FC87-A165-B84B-EA618B1C7AD9}"/>
              </a:ext>
            </a:extLst>
          </p:cNvPr>
          <p:cNvPicPr>
            <a:picLocks noChangeAspect="1"/>
          </p:cNvPicPr>
          <p:nvPr/>
        </p:nvPicPr>
        <p:blipFill>
          <a:blip r:embed="rId3"/>
          <a:stretch>
            <a:fillRect/>
          </a:stretch>
        </p:blipFill>
        <p:spPr>
          <a:xfrm>
            <a:off x="316301" y="1011897"/>
            <a:ext cx="5463397" cy="3928434"/>
          </a:xfrm>
          <a:prstGeom prst="rect">
            <a:avLst/>
          </a:prstGeom>
        </p:spPr>
      </p:pic>
      <p:sp>
        <p:nvSpPr>
          <p:cNvPr id="6" name="CaixaDeTexto 5">
            <a:extLst>
              <a:ext uri="{FF2B5EF4-FFF2-40B4-BE49-F238E27FC236}">
                <a16:creationId xmlns:a16="http://schemas.microsoft.com/office/drawing/2014/main" id="{8E463EDB-0201-A503-E872-6B6D5ED00B10}"/>
              </a:ext>
            </a:extLst>
          </p:cNvPr>
          <p:cNvSpPr txBox="1"/>
          <p:nvPr/>
        </p:nvSpPr>
        <p:spPr>
          <a:xfrm>
            <a:off x="316302" y="5183038"/>
            <a:ext cx="6096000" cy="13542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https://www.linkedin.com/posts/robert-krisher-5a989438_the-editing-snap-chip-in-arcgis-pro-is-now-activity-7202314564913274884-h8pk?utm_source=share&amp;utm_medium=member_desktop&amp;rcm=ACoAAAMQtAUB5UouXqdBJgo_gWpNVZ7Imay_2Tg</a:t>
            </a:r>
          </a:p>
          <a:p>
            <a:pPr algn="ctr"/>
            <a:endParaRPr lang="pt-BR"/>
          </a:p>
        </p:txBody>
      </p:sp>
    </p:spTree>
    <p:extLst>
      <p:ext uri="{BB962C8B-B14F-4D97-AF65-F5344CB8AC3E}">
        <p14:creationId xmlns:p14="http://schemas.microsoft.com/office/powerpoint/2010/main" val="276597370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53391F8B-C1EF-64C9-CC93-6507622BB8E2}"/>
              </a:ext>
            </a:extLst>
          </p:cNvPr>
          <p:cNvSpPr txBox="1"/>
          <p:nvPr/>
        </p:nvSpPr>
        <p:spPr>
          <a:xfrm>
            <a:off x="5693434" y="1962509"/>
            <a:ext cx="6096000"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Did you know you can create presentations in ArcGIS Pro?</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Presentations are a new project item that allow you to organize maps, scenes, text, images, and videos and display them in full-screen mode. You can use presentations to tell the story of a project from within ArcGIS Pro.</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 presentation </a:t>
            </a:r>
            <a:r>
              <a:rPr lang="en-US" b="1">
                <a:solidFill>
                  <a:srgbClr val="0A66C2"/>
                </a:solidFill>
                <a:latin typeface="-apple-system"/>
                <a:ea typeface="-apple-system"/>
                <a:cs typeface="-apple-system"/>
                <a:hlinkClick r:id="rId2"/>
              </a:rPr>
              <a:t>hashtag#ARCGISPro</a:t>
            </a:r>
            <a:r>
              <a:rPr lang="en-US">
                <a:latin typeface="-apple-system"/>
                <a:ea typeface="-apple-system"/>
                <a:cs typeface="-apple-system"/>
              </a:rPr>
              <a:t> </a:t>
            </a:r>
            <a:r>
              <a:rPr lang="en-US" b="1">
                <a:solidFill>
                  <a:srgbClr val="0A66C2"/>
                </a:solidFill>
                <a:latin typeface="-apple-system"/>
                <a:ea typeface="-apple-system"/>
                <a:cs typeface="-apple-system"/>
                <a:hlinkClick r:id="rId3"/>
              </a:rPr>
              <a:t>hashtag#GIS</a:t>
            </a:r>
            <a:endParaRPr lang="en-US"/>
          </a:p>
          <a:p>
            <a:pPr algn="ctr"/>
            <a:endParaRPr lang="pt-BR"/>
          </a:p>
        </p:txBody>
      </p:sp>
      <p:pic>
        <p:nvPicPr>
          <p:cNvPr id="5" name="Imagem 4" descr="Não foi fornecido texto alternativo para esta imagem">
            <a:extLst>
              <a:ext uri="{FF2B5EF4-FFF2-40B4-BE49-F238E27FC236}">
                <a16:creationId xmlns:a16="http://schemas.microsoft.com/office/drawing/2014/main" id="{57CA1208-B02A-7844-8B49-6B9F98599A1F}"/>
              </a:ext>
            </a:extLst>
          </p:cNvPr>
          <p:cNvPicPr>
            <a:picLocks noChangeAspect="1"/>
          </p:cNvPicPr>
          <p:nvPr/>
        </p:nvPicPr>
        <p:blipFill>
          <a:blip r:embed="rId4"/>
          <a:stretch>
            <a:fillRect/>
          </a:stretch>
        </p:blipFill>
        <p:spPr>
          <a:xfrm>
            <a:off x="388189" y="1121973"/>
            <a:ext cx="5003322" cy="4254620"/>
          </a:xfrm>
          <a:prstGeom prst="rect">
            <a:avLst/>
          </a:prstGeom>
        </p:spPr>
      </p:pic>
      <p:sp>
        <p:nvSpPr>
          <p:cNvPr id="6" name="CaixaDeTexto 5">
            <a:extLst>
              <a:ext uri="{FF2B5EF4-FFF2-40B4-BE49-F238E27FC236}">
                <a16:creationId xmlns:a16="http://schemas.microsoft.com/office/drawing/2014/main" id="{92089795-C75C-EE7C-0256-F20D848608F4}"/>
              </a:ext>
            </a:extLst>
          </p:cNvPr>
          <p:cNvSpPr txBox="1"/>
          <p:nvPr/>
        </p:nvSpPr>
        <p:spPr>
          <a:xfrm>
            <a:off x="388189" y="5599981"/>
            <a:ext cx="6096000" cy="13542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https://www.linkedin.com/posts/mohamed-rabie-122a9a1b5_arcgispro-gis-activity-7224742597771112448-P5Tb?utm_source=share&amp;utm_medium=member_desktop&amp;rcm=ACoAAAMQtAUB5UouXqdBJgo_gWpNVZ7Imay_2Tg</a:t>
            </a:r>
          </a:p>
          <a:p>
            <a:pPr algn="ctr"/>
            <a:endParaRPr lang="pt-BR"/>
          </a:p>
        </p:txBody>
      </p:sp>
    </p:spTree>
    <p:extLst>
      <p:ext uri="{BB962C8B-B14F-4D97-AF65-F5344CB8AC3E}">
        <p14:creationId xmlns:p14="http://schemas.microsoft.com/office/powerpoint/2010/main" val="112532437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D7558360-33CC-5DFC-8FF1-03AD0409FA35}"/>
              </a:ext>
            </a:extLst>
          </p:cNvPr>
          <p:cNvSpPr txBox="1"/>
          <p:nvPr/>
        </p:nvSpPr>
        <p:spPr>
          <a:xfrm>
            <a:off x="5449019" y="-7189"/>
            <a:ext cx="6096000" cy="67403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apple-system"/>
                <a:ea typeface="-apple-system"/>
                <a:cs typeface="-apple-system"/>
              </a:rPr>
              <a:t>Licensing is usually a dull topic, to be avoided, but the ArcGIS Advanced Editing user-type extension changes at 11.2 are something worth being excited about! I'll summarize the changes as succinctly as I can here.</a:t>
            </a:r>
            <a:br>
              <a:rPr lang="en-US" sz="1600">
                <a:latin typeface="-apple-system"/>
                <a:ea typeface="-apple-system"/>
                <a:cs typeface="-apple-system"/>
              </a:rPr>
            </a:br>
            <a:br>
              <a:rPr lang="en-US" sz="1600">
                <a:latin typeface="-apple-system"/>
                <a:ea typeface="-apple-system"/>
                <a:cs typeface="-apple-system"/>
              </a:rPr>
            </a:br>
            <a:r>
              <a:rPr lang="en-US" sz="1600">
                <a:latin typeface="-apple-system"/>
                <a:ea typeface="-apple-system"/>
                <a:cs typeface="-apple-system"/>
              </a:rPr>
              <a:t>The first benefit of this new user-type extension is that starting with the ArcGIS Enterprise 11.2 release, tracing no longer requires an additional user-type extension license. So, suppose you want to publish an application that allows field and office workers to trace the network (outage analysis, isolation traces, </a:t>
            </a:r>
            <a:r>
              <a:rPr lang="en-US" sz="1600" err="1">
                <a:latin typeface="-apple-system"/>
                <a:ea typeface="-apple-system"/>
                <a:cs typeface="-apple-system"/>
              </a:rPr>
              <a:t>etc</a:t>
            </a:r>
            <a:r>
              <a:rPr lang="en-US" sz="1600">
                <a:latin typeface="-apple-system"/>
                <a:ea typeface="-apple-system"/>
                <a:cs typeface="-apple-system"/>
              </a:rPr>
              <a:t>). In that case, the user needs a license to view or edit the </a:t>
            </a:r>
            <a:r>
              <a:rPr lang="en-US" sz="1600" err="1">
                <a:latin typeface="-apple-system"/>
                <a:ea typeface="-apple-system"/>
                <a:cs typeface="-apple-system"/>
              </a:rPr>
              <a:t>data</a:t>
            </a:r>
            <a:r>
              <a:rPr lang="en-US" sz="1600">
                <a:latin typeface="-apple-system"/>
                <a:ea typeface="-apple-system"/>
                <a:cs typeface="-apple-system"/>
              </a:rPr>
              <a:t> and you no longer need a separate user-type extension to trace!</a:t>
            </a:r>
            <a:br>
              <a:rPr lang="en-US" sz="1600">
                <a:latin typeface="-apple-system"/>
                <a:ea typeface="-apple-system"/>
                <a:cs typeface="-apple-system"/>
              </a:rPr>
            </a:br>
            <a:br>
              <a:rPr lang="en-US" sz="1600">
                <a:latin typeface="-apple-system"/>
                <a:ea typeface="-apple-system"/>
                <a:cs typeface="-apple-system"/>
              </a:rPr>
            </a:br>
            <a:r>
              <a:rPr lang="en-US" sz="1600">
                <a:latin typeface="-apple-system"/>
                <a:ea typeface="-apple-system"/>
                <a:cs typeface="-apple-system"/>
              </a:rPr>
              <a:t>The second benefit of this new user-type extension is that it bundles the capabilities of the utility network, trace network, and parcel fabric user-type extensions into a single license. This is a big win for smaller organizations with users wearing many hats since the same user who performs multiple functions can use the same license to move back and forth between these different datasets.</a:t>
            </a:r>
            <a:br>
              <a:rPr lang="en-US" sz="1600">
                <a:latin typeface="-apple-system"/>
                <a:ea typeface="-apple-system"/>
                <a:cs typeface="-apple-system"/>
              </a:rPr>
            </a:br>
            <a:br>
              <a:rPr lang="en-US" sz="1600">
                <a:latin typeface="-apple-system"/>
                <a:ea typeface="-apple-system"/>
                <a:cs typeface="-apple-system"/>
              </a:rPr>
            </a:br>
            <a:r>
              <a:rPr lang="en-US" sz="1600">
                <a:latin typeface="-apple-system"/>
                <a:ea typeface="-apple-system"/>
                <a:cs typeface="-apple-system"/>
              </a:rPr>
              <a:t>If you want a full breakdown of all the capabilities this license unlocks, read the article announcing the Advanced Editing user-type extension: </a:t>
            </a:r>
            <a:r>
              <a:rPr lang="en-US" sz="1600" b="1">
                <a:solidFill>
                  <a:srgbClr val="0A66C2"/>
                </a:solidFill>
                <a:latin typeface="-apple-system"/>
                <a:ea typeface="-apple-system"/>
                <a:cs typeface="-apple-system"/>
                <a:hlinkClick r:id="rId2"/>
              </a:rPr>
              <a:t>https://lnkd.in/gab5ZQWb</a:t>
            </a:r>
            <a:br>
              <a:rPr lang="en-US" sz="1600">
                <a:latin typeface="-apple-system"/>
                <a:ea typeface="-apple-system"/>
                <a:cs typeface="-apple-system"/>
              </a:rPr>
            </a:br>
            <a:br>
              <a:rPr lang="en-US" sz="1600">
                <a:latin typeface="-apple-system"/>
                <a:ea typeface="-apple-system"/>
                <a:cs typeface="-apple-system"/>
              </a:rPr>
            </a:br>
            <a:r>
              <a:rPr lang="en-US" sz="1600">
                <a:latin typeface="-apple-system"/>
                <a:ea typeface="-apple-system"/>
                <a:cs typeface="-apple-system"/>
              </a:rPr>
              <a:t>You can also catch a glimpse of this and other important changes in the 'What's New for the ArcGIS Utility Network' article that was released earlier this year: </a:t>
            </a:r>
            <a:r>
              <a:rPr lang="en-US" sz="1600" b="1">
                <a:solidFill>
                  <a:srgbClr val="0A66C2"/>
                </a:solidFill>
                <a:latin typeface="-apple-system"/>
                <a:ea typeface="-apple-system"/>
                <a:cs typeface="-apple-system"/>
                <a:hlinkClick r:id="rId3"/>
              </a:rPr>
              <a:t>https://lnkd.in/gZinka7P</a:t>
            </a:r>
            <a:endParaRPr lang="en-US" sz="1600">
              <a:ea typeface="Calibri"/>
              <a:cs typeface="Calibri"/>
            </a:endParaRPr>
          </a:p>
          <a:p>
            <a:pPr algn="ctr"/>
            <a:endParaRPr lang="pt-BR" sz="1600">
              <a:ea typeface="Calibri"/>
              <a:cs typeface="Calibri"/>
            </a:endParaRPr>
          </a:p>
        </p:txBody>
      </p:sp>
      <p:pic>
        <p:nvPicPr>
          <p:cNvPr id="5" name="Imagem 4" descr="Não foi fornecido texto alternativo para esta imagem">
            <a:extLst>
              <a:ext uri="{FF2B5EF4-FFF2-40B4-BE49-F238E27FC236}">
                <a16:creationId xmlns:a16="http://schemas.microsoft.com/office/drawing/2014/main" id="{5C6E05BA-9FF5-8928-20D0-58CC9D56C02B}"/>
              </a:ext>
            </a:extLst>
          </p:cNvPr>
          <p:cNvPicPr>
            <a:picLocks noChangeAspect="1"/>
          </p:cNvPicPr>
          <p:nvPr/>
        </p:nvPicPr>
        <p:blipFill>
          <a:blip r:embed="rId4"/>
          <a:stretch>
            <a:fillRect/>
          </a:stretch>
        </p:blipFill>
        <p:spPr>
          <a:xfrm>
            <a:off x="158151" y="724080"/>
            <a:ext cx="5103964" cy="3483276"/>
          </a:xfrm>
          <a:prstGeom prst="rect">
            <a:avLst/>
          </a:prstGeom>
        </p:spPr>
      </p:pic>
      <p:sp>
        <p:nvSpPr>
          <p:cNvPr id="6" name="CaixaDeTexto 5">
            <a:extLst>
              <a:ext uri="{FF2B5EF4-FFF2-40B4-BE49-F238E27FC236}">
                <a16:creationId xmlns:a16="http://schemas.microsoft.com/office/drawing/2014/main" id="{27784C80-57CE-EFD7-ED5A-4562D9369EFF}"/>
              </a:ext>
            </a:extLst>
          </p:cNvPr>
          <p:cNvSpPr txBox="1"/>
          <p:nvPr/>
        </p:nvSpPr>
        <p:spPr>
          <a:xfrm>
            <a:off x="330679" y="4536057"/>
            <a:ext cx="4758906" cy="18466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https://www.linkedin.com/posts/robert-krisher-5a989438_licensing-is-usually-a-dull-topic-to-be-activity-7202667071900442624-rw3z?utm_source=share&amp;utm_medium=member_desktop&amp;rcm=ACoAAAMQtAUB5UouXqdBJgo_gWpNVZ7Imay_2Tg</a:t>
            </a:r>
          </a:p>
          <a:p>
            <a:pPr algn="ctr"/>
            <a:endParaRPr lang="pt-BR"/>
          </a:p>
        </p:txBody>
      </p:sp>
    </p:spTree>
    <p:extLst>
      <p:ext uri="{BB962C8B-B14F-4D97-AF65-F5344CB8AC3E}">
        <p14:creationId xmlns:p14="http://schemas.microsoft.com/office/powerpoint/2010/main" val="414967924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3F02DF55-2379-2C3B-1549-D2FABC9DF5AA}"/>
              </a:ext>
            </a:extLst>
          </p:cNvPr>
          <p:cNvSpPr txBox="1"/>
          <p:nvPr/>
        </p:nvSpPr>
        <p:spPr>
          <a:xfrm>
            <a:off x="4687020" y="7188"/>
            <a:ext cx="7274943" cy="70173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apple-system"/>
                <a:ea typeface="-apple-system"/>
                <a:cs typeface="-apple-system"/>
              </a:rPr>
              <a:t>🛑 Basemap NÃO é dado de </a:t>
            </a:r>
            <a:r>
              <a:rPr lang="en-US" sz="1600" err="1">
                <a:latin typeface="-apple-system"/>
                <a:ea typeface="-apple-system"/>
                <a:cs typeface="-apple-system"/>
              </a:rPr>
              <a:t>satélite</a:t>
            </a:r>
            <a:r>
              <a:rPr lang="en-US" sz="1600">
                <a:latin typeface="-apple-system"/>
                <a:ea typeface="-apple-system"/>
                <a:cs typeface="-apple-system"/>
              </a:rPr>
              <a:t> para </a:t>
            </a:r>
            <a:r>
              <a:rPr lang="en-US" sz="1600" err="1">
                <a:latin typeface="-apple-system"/>
                <a:ea typeface="-apple-system"/>
                <a:cs typeface="-apple-system"/>
              </a:rPr>
              <a:t>processamento</a:t>
            </a:r>
            <a:r>
              <a:rPr lang="en-US" sz="1600">
                <a:latin typeface="-apple-system"/>
                <a:ea typeface="-apple-system"/>
                <a:cs typeface="-apple-system"/>
              </a:rPr>
              <a:t>!</a:t>
            </a:r>
            <a:br>
              <a:rPr lang="en-US" sz="1600">
                <a:latin typeface="-apple-system"/>
                <a:ea typeface="-apple-system"/>
                <a:cs typeface="-apple-system"/>
              </a:rPr>
            </a:br>
            <a:r>
              <a:rPr lang="en-US" sz="1600" err="1">
                <a:latin typeface="-apple-system"/>
                <a:ea typeface="-apple-system"/>
                <a:cs typeface="-apple-system"/>
              </a:rPr>
              <a:t>Muitos</a:t>
            </a:r>
            <a:r>
              <a:rPr lang="en-US" sz="1600">
                <a:latin typeface="-apple-system"/>
                <a:ea typeface="-apple-system"/>
                <a:cs typeface="-apple-system"/>
              </a:rPr>
              <a:t> </a:t>
            </a:r>
            <a:r>
              <a:rPr lang="en-US" sz="1600" err="1">
                <a:latin typeface="-apple-system"/>
                <a:ea typeface="-apple-system"/>
                <a:cs typeface="-apple-system"/>
              </a:rPr>
              <a:t>profissionais</a:t>
            </a:r>
            <a:r>
              <a:rPr lang="en-US" sz="1600">
                <a:latin typeface="-apple-system"/>
                <a:ea typeface="-apple-system"/>
                <a:cs typeface="-apple-system"/>
              </a:rPr>
              <a:t> de </a:t>
            </a:r>
            <a:r>
              <a:rPr lang="en-US" sz="1600" err="1">
                <a:latin typeface="-apple-system"/>
                <a:ea typeface="-apple-system"/>
                <a:cs typeface="-apple-system"/>
              </a:rPr>
              <a:t>Geoprocessamento</a:t>
            </a:r>
            <a:r>
              <a:rPr lang="en-US" sz="1600">
                <a:latin typeface="-apple-system"/>
                <a:ea typeface="-apple-system"/>
                <a:cs typeface="-apple-system"/>
              </a:rPr>
              <a:t> </a:t>
            </a:r>
            <a:r>
              <a:rPr lang="en-US" sz="1600" err="1">
                <a:latin typeface="-apple-system"/>
                <a:ea typeface="-apple-system"/>
                <a:cs typeface="-apple-system"/>
              </a:rPr>
              <a:t>ainda</a:t>
            </a:r>
            <a:r>
              <a:rPr lang="en-US" sz="1600">
                <a:latin typeface="-apple-system"/>
                <a:ea typeface="-apple-system"/>
                <a:cs typeface="-apple-system"/>
              </a:rPr>
              <a:t> </a:t>
            </a:r>
            <a:r>
              <a:rPr lang="en-US" sz="1600" err="1">
                <a:latin typeface="-apple-system"/>
                <a:ea typeface="-apple-system"/>
                <a:cs typeface="-apple-system"/>
              </a:rPr>
              <a:t>confundem</a:t>
            </a:r>
            <a:r>
              <a:rPr lang="en-US" sz="1600">
                <a:latin typeface="-apple-system"/>
                <a:ea typeface="-apple-system"/>
                <a:cs typeface="-apple-system"/>
              </a:rPr>
              <a:t> Basemaps (</a:t>
            </a:r>
            <a:r>
              <a:rPr lang="en-US" sz="1600" err="1">
                <a:latin typeface="-apple-system"/>
                <a:ea typeface="-apple-system"/>
                <a:cs typeface="-apple-system"/>
              </a:rPr>
              <a:t>como</a:t>
            </a:r>
            <a:r>
              <a:rPr lang="en-US" sz="1600">
                <a:latin typeface="-apple-system"/>
                <a:ea typeface="-apple-system"/>
                <a:cs typeface="-apple-system"/>
              </a:rPr>
              <a:t> </a:t>
            </a:r>
            <a:r>
              <a:rPr lang="en-US" sz="1600" err="1">
                <a:latin typeface="-apple-system"/>
                <a:ea typeface="-apple-system"/>
                <a:cs typeface="-apple-system"/>
              </a:rPr>
              <a:t>os</a:t>
            </a:r>
            <a:r>
              <a:rPr lang="en-US" sz="1600">
                <a:latin typeface="-apple-system"/>
                <a:ea typeface="-apple-system"/>
                <a:cs typeface="-apple-system"/>
              </a:rPr>
              <a:t> do plugin </a:t>
            </a:r>
            <a:r>
              <a:rPr lang="en-US" sz="1600" err="1">
                <a:latin typeface="-apple-system"/>
                <a:ea typeface="-apple-system"/>
                <a:cs typeface="-apple-system"/>
              </a:rPr>
              <a:t>QuickMapServices</a:t>
            </a:r>
            <a:r>
              <a:rPr lang="en-US" sz="1600">
                <a:latin typeface="-apple-system"/>
                <a:ea typeface="-apple-system"/>
                <a:cs typeface="-apple-system"/>
              </a:rPr>
              <a:t> no QGIS) com Imagens de </a:t>
            </a:r>
            <a:r>
              <a:rPr lang="en-US" sz="1600" err="1">
                <a:latin typeface="-apple-system"/>
                <a:ea typeface="-apple-system"/>
                <a:cs typeface="-apple-system"/>
              </a:rPr>
              <a:t>Satélite</a:t>
            </a:r>
            <a:r>
              <a:rPr lang="en-US" sz="1600">
                <a:latin typeface="-apple-system"/>
                <a:ea typeface="-apple-system"/>
                <a:cs typeface="-apple-system"/>
              </a:rPr>
              <a:t> </a:t>
            </a:r>
            <a:r>
              <a:rPr lang="en-US" sz="1600" err="1">
                <a:latin typeface="-apple-system"/>
                <a:ea typeface="-apple-system"/>
                <a:cs typeface="-apple-system"/>
              </a:rPr>
              <a:t>Científicas</a:t>
            </a:r>
            <a:r>
              <a:rPr lang="en-US" sz="1600">
                <a:latin typeface="-apple-system"/>
                <a:ea typeface="-apple-system"/>
                <a:cs typeface="-apple-system"/>
              </a:rPr>
              <a:t>. </a:t>
            </a:r>
            <a:r>
              <a:rPr lang="en-US" sz="1600" err="1">
                <a:latin typeface="-apple-system"/>
                <a:ea typeface="-apple-system"/>
                <a:cs typeface="-apple-system"/>
              </a:rPr>
              <a:t>Entender</a:t>
            </a:r>
            <a:r>
              <a:rPr lang="en-US" sz="1600">
                <a:latin typeface="-apple-system"/>
                <a:ea typeface="-apple-system"/>
                <a:cs typeface="-apple-system"/>
              </a:rPr>
              <a:t> </a:t>
            </a:r>
            <a:r>
              <a:rPr lang="en-US" sz="1600" err="1">
                <a:latin typeface="-apple-system"/>
                <a:ea typeface="-apple-system"/>
                <a:cs typeface="-apple-system"/>
              </a:rPr>
              <a:t>essa</a:t>
            </a:r>
            <a:r>
              <a:rPr lang="en-US" sz="1600">
                <a:latin typeface="-apple-system"/>
                <a:ea typeface="-apple-system"/>
                <a:cs typeface="-apple-system"/>
              </a:rPr>
              <a:t> </a:t>
            </a:r>
            <a:r>
              <a:rPr lang="en-US" sz="1600" err="1">
                <a:latin typeface="-apple-system"/>
                <a:ea typeface="-apple-system"/>
                <a:cs typeface="-apple-system"/>
              </a:rPr>
              <a:t>diferença</a:t>
            </a:r>
            <a:r>
              <a:rPr lang="en-US" sz="1600">
                <a:latin typeface="-apple-system"/>
                <a:ea typeface="-apple-system"/>
                <a:cs typeface="-apple-system"/>
              </a:rPr>
              <a:t> é crucial para </a:t>
            </a:r>
            <a:r>
              <a:rPr lang="en-US" sz="1600" err="1">
                <a:latin typeface="-apple-system"/>
                <a:ea typeface="-apple-system"/>
                <a:cs typeface="-apple-system"/>
              </a:rPr>
              <a:t>a</a:t>
            </a:r>
            <a:r>
              <a:rPr lang="en-US" sz="1600">
                <a:latin typeface="-apple-system"/>
                <a:ea typeface="-apple-system"/>
                <a:cs typeface="-apple-system"/>
              </a:rPr>
              <a:t> </a:t>
            </a:r>
            <a:r>
              <a:rPr lang="en-US" sz="1600" err="1">
                <a:latin typeface="-apple-system"/>
                <a:ea typeface="-apple-system"/>
                <a:cs typeface="-apple-system"/>
              </a:rPr>
              <a:t>integridade</a:t>
            </a:r>
            <a:r>
              <a:rPr lang="en-US" sz="1600">
                <a:latin typeface="-apple-system"/>
                <a:ea typeface="-apple-system"/>
                <a:cs typeface="-apple-system"/>
              </a:rPr>
              <a:t> do </a:t>
            </a:r>
            <a:r>
              <a:rPr lang="en-US" sz="1600" err="1">
                <a:latin typeface="-apple-system"/>
                <a:ea typeface="-apple-system"/>
                <a:cs typeface="-apple-system"/>
              </a:rPr>
              <a:t>seu</a:t>
            </a:r>
            <a:r>
              <a:rPr lang="en-US" sz="1600">
                <a:latin typeface="-apple-system"/>
                <a:ea typeface="-apple-system"/>
                <a:cs typeface="-apple-system"/>
              </a:rPr>
              <a:t> </a:t>
            </a:r>
            <a:r>
              <a:rPr lang="en-US" sz="1600" err="1">
                <a:latin typeface="-apple-system"/>
                <a:ea typeface="-apple-system"/>
                <a:cs typeface="-apple-system"/>
              </a:rPr>
              <a:t>trabalho</a:t>
            </a:r>
            <a:r>
              <a:rPr lang="en-US" sz="1600">
                <a:latin typeface="-apple-system"/>
                <a:ea typeface="-apple-system"/>
                <a:cs typeface="-apple-system"/>
              </a:rPr>
              <a:t>:</a:t>
            </a:r>
            <a:br>
              <a:rPr lang="en-US" sz="1600">
                <a:latin typeface="-apple-system"/>
                <a:ea typeface="-apple-system"/>
                <a:cs typeface="-apple-system"/>
              </a:rPr>
            </a:br>
            <a:br>
              <a:rPr lang="en-US" sz="1600">
                <a:latin typeface="-apple-system"/>
                <a:ea typeface="-apple-system"/>
                <a:cs typeface="-apple-system"/>
              </a:rPr>
            </a:br>
            <a:r>
              <a:rPr lang="en-US" sz="1600">
                <a:latin typeface="-apple-system"/>
                <a:ea typeface="-apple-system"/>
                <a:cs typeface="-apple-system"/>
              </a:rPr>
              <a:t>▫️🖼️ Basemaps (</a:t>
            </a:r>
            <a:r>
              <a:rPr lang="en-US" sz="1600" err="1">
                <a:latin typeface="-apple-system"/>
                <a:ea typeface="-apple-system"/>
                <a:cs typeface="-apple-system"/>
              </a:rPr>
              <a:t>Pano</a:t>
            </a:r>
            <a:r>
              <a:rPr lang="en-US" sz="1600">
                <a:latin typeface="-apple-system"/>
                <a:ea typeface="-apple-system"/>
                <a:cs typeface="-apple-system"/>
              </a:rPr>
              <a:t> de Fundo): São </a:t>
            </a:r>
            <a:r>
              <a:rPr lang="en-US" sz="1600" err="1">
                <a:latin typeface="-apple-system"/>
                <a:ea typeface="-apple-system"/>
                <a:cs typeface="-apple-system"/>
              </a:rPr>
              <a:t>apenas</a:t>
            </a:r>
            <a:r>
              <a:rPr lang="en-US" sz="1600">
                <a:latin typeface="-apple-system"/>
                <a:ea typeface="-apple-system"/>
                <a:cs typeface="-apple-system"/>
              </a:rPr>
              <a:t> "</a:t>
            </a:r>
            <a:r>
              <a:rPr lang="en-US" sz="1600" err="1">
                <a:latin typeface="-apple-system"/>
                <a:ea typeface="-apple-system"/>
                <a:cs typeface="-apple-system"/>
              </a:rPr>
              <a:t>retratos</a:t>
            </a:r>
            <a:r>
              <a:rPr lang="en-US" sz="1600">
                <a:latin typeface="-apple-system"/>
                <a:ea typeface="-apple-system"/>
                <a:cs typeface="-apple-system"/>
              </a:rPr>
              <a:t>" </a:t>
            </a:r>
            <a:r>
              <a:rPr lang="en-US" sz="1600" err="1">
                <a:latin typeface="-apple-system"/>
                <a:ea typeface="-apple-system"/>
                <a:cs typeface="-apple-system"/>
              </a:rPr>
              <a:t>estáticos</a:t>
            </a:r>
            <a:r>
              <a:rPr lang="en-US" sz="1600">
                <a:latin typeface="-apple-system"/>
                <a:ea typeface="-apple-system"/>
                <a:cs typeface="-apple-system"/>
              </a:rPr>
              <a:t> (RGB) </a:t>
            </a:r>
            <a:r>
              <a:rPr lang="en-US" sz="1600" err="1">
                <a:latin typeface="-apple-system"/>
                <a:ea typeface="-apple-system"/>
                <a:cs typeface="-apple-system"/>
              </a:rPr>
              <a:t>prontos</a:t>
            </a:r>
            <a:r>
              <a:rPr lang="en-US" sz="1600">
                <a:latin typeface="-apple-system"/>
                <a:ea typeface="-apple-system"/>
                <a:cs typeface="-apple-system"/>
              </a:rPr>
              <a:t> para </a:t>
            </a:r>
            <a:r>
              <a:rPr lang="en-US" sz="1600" err="1">
                <a:latin typeface="-apple-system"/>
                <a:ea typeface="-apple-system"/>
                <a:cs typeface="-apple-system"/>
              </a:rPr>
              <a:t>visualização</a:t>
            </a:r>
            <a:r>
              <a:rPr lang="en-US" sz="1600">
                <a:latin typeface="-apple-system"/>
                <a:ea typeface="-apple-system"/>
                <a:cs typeface="-apple-system"/>
              </a:rPr>
              <a:t>. Eles </a:t>
            </a:r>
            <a:r>
              <a:rPr lang="en-US" sz="1600" err="1">
                <a:latin typeface="-apple-system"/>
                <a:ea typeface="-apple-system"/>
                <a:cs typeface="-apple-system"/>
              </a:rPr>
              <a:t>passam</a:t>
            </a:r>
            <a:r>
              <a:rPr lang="en-US" sz="1600">
                <a:latin typeface="-apple-system"/>
                <a:ea typeface="-apple-system"/>
                <a:cs typeface="-apple-system"/>
              </a:rPr>
              <a:t> </a:t>
            </a:r>
            <a:r>
              <a:rPr lang="en-US" sz="1600" err="1">
                <a:latin typeface="-apple-system"/>
                <a:ea typeface="-apple-system"/>
                <a:cs typeface="-apple-system"/>
              </a:rPr>
              <a:t>por</a:t>
            </a:r>
            <a:r>
              <a:rPr lang="en-US" sz="1600">
                <a:latin typeface="-apple-system"/>
                <a:ea typeface="-apple-system"/>
                <a:cs typeface="-apple-system"/>
              </a:rPr>
              <a:t> </a:t>
            </a:r>
            <a:r>
              <a:rPr lang="en-US" sz="1600" err="1">
                <a:latin typeface="-apple-system"/>
                <a:ea typeface="-apple-system"/>
                <a:cs typeface="-apple-system"/>
              </a:rPr>
              <a:t>compressões</a:t>
            </a:r>
            <a:r>
              <a:rPr lang="en-US" sz="1600">
                <a:latin typeface="-apple-system"/>
                <a:ea typeface="-apple-system"/>
                <a:cs typeface="-apple-system"/>
              </a:rPr>
              <a:t> e </a:t>
            </a:r>
            <a:r>
              <a:rPr lang="en-US" sz="1600" err="1">
                <a:latin typeface="-apple-system"/>
                <a:ea typeface="-apple-system"/>
                <a:cs typeface="-apple-system"/>
              </a:rPr>
              <a:t>tratamentos</a:t>
            </a:r>
            <a:r>
              <a:rPr lang="en-US" sz="1600">
                <a:latin typeface="-apple-system"/>
                <a:ea typeface="-apple-system"/>
                <a:cs typeface="-apple-system"/>
              </a:rPr>
              <a:t> </a:t>
            </a:r>
            <a:r>
              <a:rPr lang="en-US" sz="1600" err="1">
                <a:latin typeface="-apple-system"/>
                <a:ea typeface="-apple-system"/>
                <a:cs typeface="-apple-system"/>
              </a:rPr>
              <a:t>estéticos</a:t>
            </a:r>
            <a:r>
              <a:rPr lang="en-US" sz="1600">
                <a:latin typeface="-apple-system"/>
                <a:ea typeface="-apple-system"/>
                <a:cs typeface="-apple-system"/>
              </a:rPr>
              <a:t> (</a:t>
            </a:r>
            <a:r>
              <a:rPr lang="en-US" sz="1600" err="1">
                <a:latin typeface="-apple-system"/>
                <a:ea typeface="-apple-system"/>
                <a:cs typeface="-apple-system"/>
              </a:rPr>
              <a:t>são</a:t>
            </a:r>
            <a:r>
              <a:rPr lang="en-US" sz="1600">
                <a:latin typeface="-apple-system"/>
                <a:ea typeface="-apple-system"/>
                <a:cs typeface="-apple-system"/>
              </a:rPr>
              <a:t> </a:t>
            </a:r>
            <a:r>
              <a:rPr lang="en-US" sz="1600" err="1">
                <a:latin typeface="-apple-system"/>
                <a:ea typeface="-apple-system"/>
                <a:cs typeface="-apple-system"/>
              </a:rPr>
              <a:t>mosaicos</a:t>
            </a:r>
            <a:r>
              <a:rPr lang="en-US" sz="1600">
                <a:latin typeface="-apple-system"/>
                <a:ea typeface="-apple-system"/>
                <a:cs typeface="-apple-system"/>
              </a:rPr>
              <a:t> de </a:t>
            </a:r>
            <a:r>
              <a:rPr lang="en-US" sz="1600" err="1">
                <a:latin typeface="-apple-system"/>
                <a:ea typeface="-apple-system"/>
                <a:cs typeface="-apple-system"/>
              </a:rPr>
              <a:t>retalhos</a:t>
            </a:r>
            <a:r>
              <a:rPr lang="en-US" sz="1600">
                <a:latin typeface="-apple-system"/>
                <a:ea typeface="-apple-system"/>
                <a:cs typeface="-apple-system"/>
              </a:rPr>
              <a:t> de imagens de </a:t>
            </a:r>
            <a:r>
              <a:rPr lang="en-US" sz="1600" err="1">
                <a:latin typeface="-apple-system"/>
                <a:ea typeface="-apple-system"/>
                <a:cs typeface="-apple-system"/>
              </a:rPr>
              <a:t>diversas</a:t>
            </a:r>
            <a:r>
              <a:rPr lang="en-US" sz="1600">
                <a:latin typeface="-apple-system"/>
                <a:ea typeface="-apple-system"/>
                <a:cs typeface="-apple-system"/>
              </a:rPr>
              <a:t> </a:t>
            </a:r>
            <a:r>
              <a:rPr lang="en-US" sz="1600" err="1">
                <a:latin typeface="-apple-system"/>
                <a:ea typeface="-apple-system"/>
                <a:cs typeface="-apple-system"/>
              </a:rPr>
              <a:t>fontes</a:t>
            </a:r>
            <a:r>
              <a:rPr lang="en-US" sz="1600">
                <a:latin typeface="-apple-system"/>
                <a:ea typeface="-apple-system"/>
                <a:cs typeface="-apple-system"/>
              </a:rPr>
              <a:t>) </a:t>
            </a:r>
            <a:r>
              <a:rPr lang="en-US" sz="1600" err="1">
                <a:latin typeface="-apple-system"/>
                <a:ea typeface="-apple-system"/>
                <a:cs typeface="-apple-system"/>
              </a:rPr>
              <a:t>que</a:t>
            </a:r>
            <a:r>
              <a:rPr lang="en-US" sz="1600">
                <a:latin typeface="-apple-system"/>
                <a:ea typeface="-apple-system"/>
                <a:cs typeface="-apple-system"/>
              </a:rPr>
              <a:t> </a:t>
            </a:r>
            <a:r>
              <a:rPr lang="en-US" sz="1600" err="1">
                <a:latin typeface="-apple-system"/>
                <a:ea typeface="-apple-system"/>
                <a:cs typeface="-apple-system"/>
              </a:rPr>
              <a:t>removem</a:t>
            </a:r>
            <a:r>
              <a:rPr lang="en-US" sz="1600">
                <a:latin typeface="-apple-system"/>
                <a:ea typeface="-apple-system"/>
                <a:cs typeface="-apple-system"/>
              </a:rPr>
              <a:t> as </a:t>
            </a:r>
            <a:r>
              <a:rPr lang="en-US" sz="1600" err="1">
                <a:latin typeface="-apple-system"/>
                <a:ea typeface="-apple-system"/>
                <a:cs typeface="-apple-system"/>
              </a:rPr>
              <a:t>informações</a:t>
            </a:r>
            <a:r>
              <a:rPr lang="en-US" sz="1600">
                <a:latin typeface="-apple-system"/>
                <a:ea typeface="-apple-system"/>
                <a:cs typeface="-apple-system"/>
              </a:rPr>
              <a:t> </a:t>
            </a:r>
            <a:r>
              <a:rPr lang="en-US" sz="1600" err="1">
                <a:latin typeface="-apple-system"/>
                <a:ea typeface="-apple-system"/>
                <a:cs typeface="-apple-system"/>
              </a:rPr>
              <a:t>originais</a:t>
            </a:r>
            <a:r>
              <a:rPr lang="en-US" sz="1600">
                <a:latin typeface="-apple-system"/>
                <a:ea typeface="-apple-system"/>
                <a:cs typeface="-apple-system"/>
              </a:rPr>
              <a:t> do sensor.</a:t>
            </a:r>
            <a:br>
              <a:rPr lang="en-US" sz="1600">
                <a:latin typeface="-apple-system"/>
                <a:ea typeface="-apple-system"/>
                <a:cs typeface="-apple-system"/>
              </a:rPr>
            </a:br>
            <a:r>
              <a:rPr lang="en-US" sz="1600">
                <a:latin typeface="-apple-system"/>
                <a:ea typeface="-apple-system"/>
                <a:cs typeface="-apple-system"/>
              </a:rPr>
              <a:t>▫️📡 Dados de </a:t>
            </a:r>
            <a:r>
              <a:rPr lang="en-US" sz="1600" err="1">
                <a:latin typeface="-apple-system"/>
                <a:ea typeface="-apple-system"/>
                <a:cs typeface="-apple-system"/>
              </a:rPr>
              <a:t>Satélite</a:t>
            </a:r>
            <a:r>
              <a:rPr lang="en-US" sz="1600">
                <a:latin typeface="-apple-system"/>
                <a:ea typeface="-apple-system"/>
                <a:cs typeface="-apple-system"/>
              </a:rPr>
              <a:t> (Imagens </a:t>
            </a:r>
            <a:r>
              <a:rPr lang="en-US" sz="1600" err="1">
                <a:latin typeface="-apple-system"/>
                <a:ea typeface="-apple-system"/>
                <a:cs typeface="-apple-system"/>
              </a:rPr>
              <a:t>Científicas</a:t>
            </a:r>
            <a:r>
              <a:rPr lang="en-US" sz="1600">
                <a:latin typeface="-apple-system"/>
                <a:ea typeface="-apple-system"/>
                <a:cs typeface="-apple-system"/>
              </a:rPr>
              <a:t>): </a:t>
            </a:r>
            <a:r>
              <a:rPr lang="en-US" sz="1600" err="1">
                <a:latin typeface="-apple-system"/>
                <a:ea typeface="-apple-system"/>
                <a:cs typeface="-apple-system"/>
              </a:rPr>
              <a:t>Contêm</a:t>
            </a:r>
            <a:r>
              <a:rPr lang="en-US" sz="1600">
                <a:latin typeface="-apple-system"/>
                <a:ea typeface="-apple-system"/>
                <a:cs typeface="-apple-system"/>
              </a:rPr>
              <a:t> </a:t>
            </a:r>
            <a:r>
              <a:rPr lang="en-US" sz="1600" err="1">
                <a:latin typeface="-apple-system"/>
                <a:ea typeface="-apple-system"/>
                <a:cs typeface="-apple-system"/>
              </a:rPr>
              <a:t>informações</a:t>
            </a:r>
            <a:r>
              <a:rPr lang="en-US" sz="1600">
                <a:latin typeface="-apple-system"/>
                <a:ea typeface="-apple-system"/>
                <a:cs typeface="-apple-system"/>
              </a:rPr>
              <a:t> </a:t>
            </a:r>
            <a:r>
              <a:rPr lang="en-US" sz="1600" err="1">
                <a:latin typeface="-apple-system"/>
                <a:ea typeface="-apple-system"/>
                <a:cs typeface="-apple-system"/>
              </a:rPr>
              <a:t>espectrais</a:t>
            </a:r>
            <a:r>
              <a:rPr lang="en-US" sz="1600">
                <a:latin typeface="-apple-system"/>
                <a:ea typeface="-apple-system"/>
                <a:cs typeface="-apple-system"/>
              </a:rPr>
              <a:t> (</a:t>
            </a:r>
            <a:r>
              <a:rPr lang="en-US" sz="1600" err="1">
                <a:latin typeface="-apple-system"/>
                <a:ea typeface="-apple-system"/>
                <a:cs typeface="-apple-system"/>
              </a:rPr>
              <a:t>infravermelho</a:t>
            </a:r>
            <a:r>
              <a:rPr lang="en-US" sz="1600">
                <a:latin typeface="-apple-system"/>
                <a:ea typeface="-apple-system"/>
                <a:cs typeface="-apple-system"/>
              </a:rPr>
              <a:t>, </a:t>
            </a:r>
            <a:r>
              <a:rPr lang="en-US" sz="1600" err="1">
                <a:latin typeface="-apple-system"/>
                <a:ea typeface="-apple-system"/>
                <a:cs typeface="-apple-system"/>
              </a:rPr>
              <a:t>borda</a:t>
            </a:r>
            <a:r>
              <a:rPr lang="en-US" sz="1600">
                <a:latin typeface="-apple-system"/>
                <a:ea typeface="-apple-system"/>
                <a:cs typeface="-apple-system"/>
              </a:rPr>
              <a:t> do </a:t>
            </a:r>
            <a:r>
              <a:rPr lang="en-US" sz="1600" err="1">
                <a:latin typeface="-apple-system"/>
                <a:ea typeface="-apple-system"/>
                <a:cs typeface="-apple-system"/>
              </a:rPr>
              <a:t>vermelho</a:t>
            </a:r>
            <a:r>
              <a:rPr lang="en-US" sz="1600">
                <a:latin typeface="-apple-system"/>
                <a:ea typeface="-apple-system"/>
                <a:cs typeface="-apple-system"/>
              </a:rPr>
              <a:t>, etc.), </a:t>
            </a:r>
            <a:r>
              <a:rPr lang="en-US" sz="1600" err="1">
                <a:latin typeface="-apple-system"/>
                <a:ea typeface="-apple-system"/>
                <a:cs typeface="-apple-system"/>
              </a:rPr>
              <a:t>radiométricas</a:t>
            </a:r>
            <a:r>
              <a:rPr lang="en-US" sz="1600">
                <a:latin typeface="-apple-system"/>
                <a:ea typeface="-apple-system"/>
                <a:cs typeface="-apple-system"/>
              </a:rPr>
              <a:t> (</a:t>
            </a:r>
            <a:r>
              <a:rPr lang="en-US" sz="1600" err="1">
                <a:latin typeface="-apple-system"/>
                <a:ea typeface="-apple-system"/>
                <a:cs typeface="-apple-system"/>
              </a:rPr>
              <a:t>valores</a:t>
            </a:r>
            <a:r>
              <a:rPr lang="en-US" sz="1600">
                <a:latin typeface="-apple-system"/>
                <a:ea typeface="-apple-system"/>
                <a:cs typeface="-apple-system"/>
              </a:rPr>
              <a:t> reais de </a:t>
            </a:r>
            <a:r>
              <a:rPr lang="en-US" sz="1600" err="1">
                <a:latin typeface="-apple-system"/>
                <a:ea typeface="-apple-system"/>
                <a:cs typeface="-apple-system"/>
              </a:rPr>
              <a:t>reflectância</a:t>
            </a:r>
            <a:r>
              <a:rPr lang="en-US" sz="1600">
                <a:latin typeface="-apple-system"/>
                <a:ea typeface="-apple-system"/>
                <a:cs typeface="-apple-system"/>
              </a:rPr>
              <a:t>) e </a:t>
            </a:r>
            <a:r>
              <a:rPr lang="en-US" sz="1600" err="1">
                <a:latin typeface="-apple-system"/>
                <a:ea typeface="-apple-system"/>
                <a:cs typeface="-apple-system"/>
              </a:rPr>
              <a:t>temporais</a:t>
            </a:r>
            <a:r>
              <a:rPr lang="en-US" sz="1600">
                <a:latin typeface="-apple-system"/>
                <a:ea typeface="-apple-system"/>
                <a:cs typeface="-apple-system"/>
              </a:rPr>
              <a:t>.</a:t>
            </a:r>
            <a:br>
              <a:rPr lang="en-US" sz="1600">
                <a:latin typeface="-apple-system"/>
                <a:ea typeface="-apple-system"/>
                <a:cs typeface="-apple-system"/>
              </a:rPr>
            </a:br>
            <a:br>
              <a:rPr lang="en-US" sz="1600">
                <a:latin typeface="-apple-system"/>
                <a:ea typeface="-apple-system"/>
                <a:cs typeface="-apple-system"/>
              </a:rPr>
            </a:br>
            <a:r>
              <a:rPr lang="en-US" sz="1600">
                <a:latin typeface="-apple-system"/>
                <a:ea typeface="-apple-system"/>
                <a:cs typeface="-apple-system"/>
              </a:rPr>
              <a:t>Por </a:t>
            </a:r>
            <a:r>
              <a:rPr lang="en-US" sz="1600" err="1">
                <a:latin typeface="-apple-system"/>
                <a:ea typeface="-apple-system"/>
                <a:cs typeface="-apple-system"/>
              </a:rPr>
              <a:t>que</a:t>
            </a:r>
            <a:r>
              <a:rPr lang="en-US" sz="1600">
                <a:latin typeface="-apple-system"/>
                <a:ea typeface="-apple-system"/>
                <a:cs typeface="-apple-system"/>
              </a:rPr>
              <a:t> </a:t>
            </a:r>
            <a:r>
              <a:rPr lang="en-US" sz="1600" err="1">
                <a:latin typeface="-apple-system"/>
                <a:ea typeface="-apple-system"/>
                <a:cs typeface="-apple-system"/>
              </a:rPr>
              <a:t>você</a:t>
            </a:r>
            <a:r>
              <a:rPr lang="en-US" sz="1600">
                <a:latin typeface="-apple-system"/>
                <a:ea typeface="-apple-system"/>
                <a:cs typeface="-apple-system"/>
              </a:rPr>
              <a:t> </a:t>
            </a:r>
            <a:r>
              <a:rPr lang="en-US" sz="1600" err="1">
                <a:latin typeface="-apple-system"/>
                <a:ea typeface="-apple-system"/>
                <a:cs typeface="-apple-system"/>
              </a:rPr>
              <a:t>não</a:t>
            </a:r>
            <a:r>
              <a:rPr lang="en-US" sz="1600">
                <a:latin typeface="-apple-system"/>
                <a:ea typeface="-apple-system"/>
                <a:cs typeface="-apple-system"/>
              </a:rPr>
              <a:t> </a:t>
            </a:r>
            <a:r>
              <a:rPr lang="en-US" sz="1600" err="1">
                <a:latin typeface="-apple-system"/>
                <a:ea typeface="-apple-system"/>
                <a:cs typeface="-apple-system"/>
              </a:rPr>
              <a:t>pode</a:t>
            </a:r>
            <a:r>
              <a:rPr lang="en-US" sz="1600">
                <a:latin typeface="-apple-system"/>
                <a:ea typeface="-apple-system"/>
                <a:cs typeface="-apple-system"/>
              </a:rPr>
              <a:t> usar Basemaps para </a:t>
            </a:r>
            <a:r>
              <a:rPr lang="en-US" sz="1600" err="1">
                <a:latin typeface="-apple-system"/>
                <a:ea typeface="-apple-system"/>
                <a:cs typeface="-apple-system"/>
              </a:rPr>
              <a:t>processamento</a:t>
            </a:r>
            <a:r>
              <a:rPr lang="en-US" sz="1600">
                <a:latin typeface="-apple-system"/>
                <a:ea typeface="-apple-system"/>
                <a:cs typeface="-apple-system"/>
              </a:rPr>
              <a:t>?</a:t>
            </a:r>
            <a:br>
              <a:rPr lang="en-US" sz="1600">
                <a:latin typeface="-apple-system"/>
                <a:ea typeface="-apple-system"/>
                <a:cs typeface="-apple-system"/>
              </a:rPr>
            </a:br>
            <a:br>
              <a:rPr lang="en-US" sz="1600">
                <a:latin typeface="-apple-system"/>
                <a:ea typeface="-apple-system"/>
                <a:cs typeface="-apple-system"/>
              </a:rPr>
            </a:br>
            <a:r>
              <a:rPr lang="en-US" sz="1600">
                <a:latin typeface="-apple-system"/>
                <a:ea typeface="-apple-system"/>
                <a:cs typeface="-apple-system"/>
              </a:rPr>
              <a:t>1. Sem Bandas </a:t>
            </a:r>
            <a:r>
              <a:rPr lang="en-US" sz="1600" err="1">
                <a:latin typeface="-apple-system"/>
                <a:ea typeface="-apple-system"/>
                <a:cs typeface="-apple-system"/>
              </a:rPr>
              <a:t>Espectrais</a:t>
            </a:r>
            <a:r>
              <a:rPr lang="en-US" sz="1600">
                <a:latin typeface="-apple-system"/>
                <a:ea typeface="-apple-system"/>
                <a:cs typeface="-apple-system"/>
              </a:rPr>
              <a:t>: </a:t>
            </a:r>
            <a:r>
              <a:rPr lang="en-US" sz="1600" err="1">
                <a:latin typeface="-apple-system"/>
                <a:ea typeface="-apple-system"/>
                <a:cs typeface="-apple-system"/>
              </a:rPr>
              <a:t>Não</a:t>
            </a:r>
            <a:r>
              <a:rPr lang="en-US" sz="1600">
                <a:latin typeface="-apple-system"/>
                <a:ea typeface="-apple-system"/>
                <a:cs typeface="-apple-system"/>
              </a:rPr>
              <a:t> é </a:t>
            </a:r>
            <a:r>
              <a:rPr lang="en-US" sz="1600" err="1">
                <a:latin typeface="-apple-system"/>
                <a:ea typeface="-apple-system"/>
                <a:cs typeface="-apple-system"/>
              </a:rPr>
              <a:t>possível</a:t>
            </a:r>
            <a:r>
              <a:rPr lang="en-US" sz="1600">
                <a:latin typeface="-apple-system"/>
                <a:ea typeface="-apple-system"/>
                <a:cs typeface="-apple-system"/>
              </a:rPr>
              <a:t> </a:t>
            </a:r>
            <a:r>
              <a:rPr lang="en-US" sz="1600" err="1">
                <a:latin typeface="-apple-system"/>
                <a:ea typeface="-apple-system"/>
                <a:cs typeface="-apple-system"/>
              </a:rPr>
              <a:t>calcular</a:t>
            </a:r>
            <a:r>
              <a:rPr lang="en-US" sz="1600">
                <a:latin typeface="-apple-system"/>
                <a:ea typeface="-apple-system"/>
                <a:cs typeface="-apple-system"/>
              </a:rPr>
              <a:t> </a:t>
            </a:r>
            <a:r>
              <a:rPr lang="en-US" sz="1600" err="1">
                <a:latin typeface="-apple-system"/>
                <a:ea typeface="-apple-system"/>
                <a:cs typeface="-apple-system"/>
              </a:rPr>
              <a:t>índices</a:t>
            </a:r>
            <a:r>
              <a:rPr lang="en-US" sz="1600">
                <a:latin typeface="-apple-system"/>
                <a:ea typeface="-apple-system"/>
                <a:cs typeface="-apple-system"/>
              </a:rPr>
              <a:t> </a:t>
            </a:r>
            <a:r>
              <a:rPr lang="en-US" sz="1600" err="1">
                <a:latin typeface="-apple-system"/>
                <a:ea typeface="-apple-system"/>
                <a:cs typeface="-apple-system"/>
              </a:rPr>
              <a:t>como</a:t>
            </a:r>
            <a:r>
              <a:rPr lang="en-US" sz="1600">
                <a:latin typeface="-apple-system"/>
                <a:ea typeface="-apple-system"/>
                <a:cs typeface="-apple-system"/>
              </a:rPr>
              <a:t> NDVI </a:t>
            </a:r>
            <a:r>
              <a:rPr lang="en-US" sz="1600" err="1">
                <a:latin typeface="-apple-system"/>
                <a:ea typeface="-apple-system"/>
                <a:cs typeface="-apple-system"/>
              </a:rPr>
              <a:t>ou</a:t>
            </a:r>
            <a:r>
              <a:rPr lang="en-US" sz="1600">
                <a:latin typeface="-apple-system"/>
                <a:ea typeface="-apple-system"/>
                <a:cs typeface="-apple-system"/>
              </a:rPr>
              <a:t> EVI, pois </a:t>
            </a:r>
            <a:r>
              <a:rPr lang="en-US" sz="1600" err="1">
                <a:latin typeface="-apple-system"/>
                <a:ea typeface="-apple-system"/>
                <a:cs typeface="-apple-system"/>
              </a:rPr>
              <a:t>não</a:t>
            </a:r>
            <a:r>
              <a:rPr lang="en-US" sz="1600">
                <a:latin typeface="-apple-system"/>
                <a:ea typeface="-apple-system"/>
                <a:cs typeface="-apple-system"/>
              </a:rPr>
              <a:t> </a:t>
            </a:r>
            <a:r>
              <a:rPr lang="en-US" sz="1600" err="1">
                <a:latin typeface="-apple-system"/>
                <a:ea typeface="-apple-system"/>
                <a:cs typeface="-apple-system"/>
              </a:rPr>
              <a:t>há</a:t>
            </a:r>
            <a:r>
              <a:rPr lang="en-US" sz="1600">
                <a:latin typeface="-apple-system"/>
                <a:ea typeface="-apple-system"/>
                <a:cs typeface="-apple-system"/>
              </a:rPr>
              <a:t> a </a:t>
            </a:r>
            <a:r>
              <a:rPr lang="en-US" sz="1600" err="1">
                <a:latin typeface="-apple-system"/>
                <a:ea typeface="-apple-system"/>
                <a:cs typeface="-apple-system"/>
              </a:rPr>
              <a:t>banda</a:t>
            </a:r>
            <a:r>
              <a:rPr lang="en-US" sz="1600">
                <a:latin typeface="-apple-system"/>
                <a:ea typeface="-apple-system"/>
                <a:cs typeface="-apple-system"/>
              </a:rPr>
              <a:t> do </a:t>
            </a:r>
            <a:r>
              <a:rPr lang="en-US" sz="1600" err="1">
                <a:latin typeface="-apple-system"/>
                <a:ea typeface="-apple-system"/>
                <a:cs typeface="-apple-system"/>
              </a:rPr>
              <a:t>infravermelho</a:t>
            </a:r>
            <a:r>
              <a:rPr lang="en-US" sz="1600">
                <a:latin typeface="-apple-system"/>
                <a:ea typeface="-apple-system"/>
                <a:cs typeface="-apple-system"/>
              </a:rPr>
              <a:t> </a:t>
            </a:r>
            <a:r>
              <a:rPr lang="en-US" sz="1600" err="1">
                <a:latin typeface="-apple-system"/>
                <a:ea typeface="-apple-system"/>
                <a:cs typeface="-apple-system"/>
              </a:rPr>
              <a:t>próxima</a:t>
            </a:r>
            <a:r>
              <a:rPr lang="en-US" sz="1600">
                <a:latin typeface="-apple-system"/>
                <a:ea typeface="-apple-system"/>
                <a:cs typeface="-apple-system"/>
              </a:rPr>
              <a:t>.</a:t>
            </a:r>
            <a:br>
              <a:rPr lang="en-US" sz="1600">
                <a:latin typeface="-apple-system"/>
                <a:ea typeface="-apple-system"/>
                <a:cs typeface="-apple-system"/>
              </a:rPr>
            </a:br>
            <a:r>
              <a:rPr lang="en-US" sz="1600">
                <a:latin typeface="-apple-system"/>
                <a:ea typeface="-apple-system"/>
                <a:cs typeface="-apple-system"/>
              </a:rPr>
              <a:t>2. Dados </a:t>
            </a:r>
            <a:r>
              <a:rPr lang="en-US" sz="1600" err="1">
                <a:latin typeface="-apple-system"/>
                <a:ea typeface="-apple-system"/>
                <a:cs typeface="-apple-system"/>
              </a:rPr>
              <a:t>Corrompidos</a:t>
            </a:r>
            <a:r>
              <a:rPr lang="en-US" sz="1600">
                <a:latin typeface="-apple-system"/>
                <a:ea typeface="-apple-system"/>
                <a:cs typeface="-apple-system"/>
              </a:rPr>
              <a:t>: O </a:t>
            </a:r>
            <a:r>
              <a:rPr lang="en-US" sz="1600" err="1">
                <a:latin typeface="-apple-system"/>
                <a:ea typeface="-apple-system"/>
                <a:cs typeface="-apple-system"/>
              </a:rPr>
              <a:t>que</a:t>
            </a:r>
            <a:r>
              <a:rPr lang="en-US" sz="1600">
                <a:latin typeface="-apple-system"/>
                <a:ea typeface="-apple-system"/>
                <a:cs typeface="-apple-system"/>
              </a:rPr>
              <a:t> </a:t>
            </a:r>
            <a:r>
              <a:rPr lang="en-US" sz="1600" err="1">
                <a:latin typeface="-apple-system"/>
                <a:ea typeface="-apple-system"/>
                <a:cs typeface="-apple-system"/>
              </a:rPr>
              <a:t>você</a:t>
            </a:r>
            <a:r>
              <a:rPr lang="en-US" sz="1600">
                <a:latin typeface="-apple-system"/>
                <a:ea typeface="-apple-system"/>
                <a:cs typeface="-apple-system"/>
              </a:rPr>
              <a:t> </a:t>
            </a:r>
            <a:r>
              <a:rPr lang="en-US" sz="1600" err="1">
                <a:latin typeface="-apple-system"/>
                <a:ea typeface="-apple-system"/>
                <a:cs typeface="-apple-system"/>
              </a:rPr>
              <a:t>vê</a:t>
            </a:r>
            <a:r>
              <a:rPr lang="en-US" sz="1600">
                <a:latin typeface="-apple-system"/>
                <a:ea typeface="-apple-system"/>
                <a:cs typeface="-apple-system"/>
              </a:rPr>
              <a:t> no Basemap é um valor de </a:t>
            </a:r>
            <a:r>
              <a:rPr lang="en-US" sz="1600" err="1">
                <a:latin typeface="-apple-system"/>
                <a:ea typeface="-apple-system"/>
                <a:cs typeface="-apple-system"/>
              </a:rPr>
              <a:t>cor</a:t>
            </a:r>
            <a:r>
              <a:rPr lang="en-US" sz="1600">
                <a:latin typeface="-apple-system"/>
                <a:ea typeface="-apple-system"/>
                <a:cs typeface="-apple-system"/>
              </a:rPr>
              <a:t> (0-255) </a:t>
            </a:r>
            <a:r>
              <a:rPr lang="en-US" sz="1600" err="1">
                <a:latin typeface="-apple-system"/>
                <a:ea typeface="-apple-system"/>
                <a:cs typeface="-apple-system"/>
              </a:rPr>
              <a:t>otimizado</a:t>
            </a:r>
            <a:r>
              <a:rPr lang="en-US" sz="1600">
                <a:latin typeface="-apple-system"/>
                <a:ea typeface="-apple-system"/>
                <a:cs typeface="-apple-system"/>
              </a:rPr>
              <a:t> para </a:t>
            </a:r>
            <a:r>
              <a:rPr lang="en-US" sz="1600" err="1">
                <a:latin typeface="-apple-system"/>
                <a:ea typeface="-apple-system"/>
                <a:cs typeface="-apple-system"/>
              </a:rPr>
              <a:t>os</a:t>
            </a:r>
            <a:r>
              <a:rPr lang="en-US" sz="1600">
                <a:latin typeface="-apple-system"/>
                <a:ea typeface="-apple-system"/>
                <a:cs typeface="-apple-system"/>
              </a:rPr>
              <a:t> </a:t>
            </a:r>
            <a:r>
              <a:rPr lang="en-US" sz="1600" err="1">
                <a:latin typeface="-apple-system"/>
                <a:ea typeface="-apple-system"/>
                <a:cs typeface="-apple-system"/>
              </a:rPr>
              <a:t>olhos</a:t>
            </a:r>
            <a:r>
              <a:rPr lang="en-US" sz="1600">
                <a:latin typeface="-apple-system"/>
                <a:ea typeface="-apple-system"/>
                <a:cs typeface="-apple-system"/>
              </a:rPr>
              <a:t> </a:t>
            </a:r>
            <a:r>
              <a:rPr lang="en-US" sz="1600" err="1">
                <a:latin typeface="-apple-system"/>
                <a:ea typeface="-apple-system"/>
                <a:cs typeface="-apple-system"/>
              </a:rPr>
              <a:t>humanos</a:t>
            </a:r>
            <a:r>
              <a:rPr lang="en-US" sz="1600">
                <a:latin typeface="-apple-system"/>
                <a:ea typeface="-apple-system"/>
                <a:cs typeface="-apple-system"/>
              </a:rPr>
              <a:t>, e </a:t>
            </a:r>
            <a:r>
              <a:rPr lang="en-US" sz="1600" err="1">
                <a:latin typeface="-apple-system"/>
                <a:ea typeface="-apple-system"/>
                <a:cs typeface="-apple-system"/>
              </a:rPr>
              <a:t>não</a:t>
            </a:r>
            <a:r>
              <a:rPr lang="en-US" sz="1600">
                <a:latin typeface="-apple-system"/>
                <a:ea typeface="-apple-system"/>
                <a:cs typeface="-apple-system"/>
              </a:rPr>
              <a:t> </a:t>
            </a:r>
            <a:r>
              <a:rPr lang="en-US" sz="1600" err="1">
                <a:latin typeface="-apple-system"/>
                <a:ea typeface="-apple-system"/>
                <a:cs typeface="-apple-system"/>
              </a:rPr>
              <a:t>a</a:t>
            </a:r>
            <a:r>
              <a:rPr lang="en-US" sz="1600">
                <a:latin typeface="-apple-system"/>
                <a:ea typeface="-apple-system"/>
                <a:cs typeface="-apple-system"/>
              </a:rPr>
              <a:t> </a:t>
            </a:r>
            <a:r>
              <a:rPr lang="en-US" sz="1600" err="1">
                <a:latin typeface="-apple-system"/>
                <a:ea typeface="-apple-system"/>
                <a:cs typeface="-apple-system"/>
              </a:rPr>
              <a:t>energia</a:t>
            </a:r>
            <a:r>
              <a:rPr lang="en-US" sz="1600">
                <a:latin typeface="-apple-system"/>
                <a:ea typeface="-apple-system"/>
                <a:cs typeface="-apple-system"/>
              </a:rPr>
              <a:t> </a:t>
            </a:r>
            <a:r>
              <a:rPr lang="en-US" sz="1600" err="1">
                <a:latin typeface="-apple-system"/>
                <a:ea typeface="-apple-system"/>
                <a:cs typeface="-apple-system"/>
              </a:rPr>
              <a:t>refletida</a:t>
            </a:r>
            <a:r>
              <a:rPr lang="en-US" sz="1600">
                <a:latin typeface="-apple-system"/>
                <a:ea typeface="-apple-system"/>
                <a:cs typeface="-apple-system"/>
              </a:rPr>
              <a:t> </a:t>
            </a:r>
            <a:r>
              <a:rPr lang="en-US" sz="1600" err="1">
                <a:latin typeface="-apple-system"/>
                <a:ea typeface="-apple-system"/>
                <a:cs typeface="-apple-system"/>
              </a:rPr>
              <a:t>pelo</a:t>
            </a:r>
            <a:r>
              <a:rPr lang="en-US" sz="1600">
                <a:latin typeface="-apple-system"/>
                <a:ea typeface="-apple-system"/>
                <a:cs typeface="-apple-system"/>
              </a:rPr>
              <a:t> </a:t>
            </a:r>
            <a:r>
              <a:rPr lang="en-US" sz="1600" err="1">
                <a:latin typeface="-apple-system"/>
                <a:ea typeface="-apple-system"/>
                <a:cs typeface="-apple-system"/>
              </a:rPr>
              <a:t>alvo</a:t>
            </a:r>
            <a:r>
              <a:rPr lang="en-US" sz="1600">
                <a:latin typeface="-apple-system"/>
                <a:ea typeface="-apple-system"/>
                <a:cs typeface="-apple-system"/>
              </a:rPr>
              <a:t>.</a:t>
            </a:r>
            <a:br>
              <a:rPr lang="en-US" sz="1600">
                <a:latin typeface="-apple-system"/>
                <a:ea typeface="-apple-system"/>
                <a:cs typeface="-apple-system"/>
              </a:rPr>
            </a:br>
            <a:r>
              <a:rPr lang="en-US" sz="1600">
                <a:latin typeface="-apple-system"/>
                <a:ea typeface="-apple-system"/>
                <a:cs typeface="-apple-system"/>
              </a:rPr>
              <a:t>3. </a:t>
            </a:r>
            <a:r>
              <a:rPr lang="en-US" sz="1600" err="1">
                <a:latin typeface="-apple-system"/>
                <a:ea typeface="-apple-system"/>
                <a:cs typeface="-apple-system"/>
              </a:rPr>
              <a:t>Finalidade</a:t>
            </a:r>
            <a:r>
              <a:rPr lang="en-US" sz="1600">
                <a:latin typeface="-apple-system"/>
                <a:ea typeface="-apple-system"/>
                <a:cs typeface="-apple-system"/>
              </a:rPr>
              <a:t>: Basemaps </a:t>
            </a:r>
            <a:r>
              <a:rPr lang="en-US" sz="1600" err="1">
                <a:latin typeface="-apple-system"/>
                <a:ea typeface="-apple-system"/>
                <a:cs typeface="-apple-system"/>
              </a:rPr>
              <a:t>servem</a:t>
            </a:r>
            <a:r>
              <a:rPr lang="en-US" sz="1600">
                <a:latin typeface="-apple-system"/>
                <a:ea typeface="-apple-system"/>
                <a:cs typeface="-apple-system"/>
              </a:rPr>
              <a:t> para </a:t>
            </a:r>
            <a:r>
              <a:rPr lang="en-US" sz="1600" err="1">
                <a:latin typeface="-apple-system"/>
                <a:ea typeface="-apple-system"/>
                <a:cs typeface="-apple-system"/>
              </a:rPr>
              <a:t>orientação</a:t>
            </a:r>
            <a:r>
              <a:rPr lang="en-US" sz="1600">
                <a:latin typeface="-apple-system"/>
                <a:ea typeface="-apple-system"/>
                <a:cs typeface="-apple-system"/>
              </a:rPr>
              <a:t> </a:t>
            </a:r>
            <a:r>
              <a:rPr lang="en-US" sz="1600" err="1">
                <a:latin typeface="-apple-system"/>
                <a:ea typeface="-apple-system"/>
                <a:cs typeface="-apple-system"/>
              </a:rPr>
              <a:t>espacial</a:t>
            </a:r>
            <a:r>
              <a:rPr lang="en-US" sz="1600">
                <a:latin typeface="-apple-system"/>
                <a:ea typeface="-apple-system"/>
                <a:cs typeface="-apple-system"/>
              </a:rPr>
              <a:t> e </a:t>
            </a:r>
            <a:r>
              <a:rPr lang="en-US" sz="1600" err="1">
                <a:latin typeface="-apple-system"/>
                <a:ea typeface="-apple-system"/>
                <a:cs typeface="-apple-system"/>
              </a:rPr>
              <a:t>composição</a:t>
            </a:r>
            <a:r>
              <a:rPr lang="en-US" sz="1600">
                <a:latin typeface="-apple-system"/>
                <a:ea typeface="-apple-system"/>
                <a:cs typeface="-apple-system"/>
              </a:rPr>
              <a:t> de </a:t>
            </a:r>
            <a:r>
              <a:rPr lang="en-US" sz="1600" err="1">
                <a:latin typeface="-apple-system"/>
                <a:ea typeface="-apple-system"/>
                <a:cs typeface="-apple-system"/>
              </a:rPr>
              <a:t>mapas</a:t>
            </a:r>
            <a:r>
              <a:rPr lang="en-US" sz="1600">
                <a:latin typeface="-apple-system"/>
                <a:ea typeface="-apple-system"/>
                <a:cs typeface="-apple-system"/>
              </a:rPr>
              <a:t>, </a:t>
            </a:r>
            <a:r>
              <a:rPr lang="en-US" sz="1600" err="1">
                <a:latin typeface="-apple-system"/>
                <a:ea typeface="-apple-system"/>
                <a:cs typeface="-apple-system"/>
              </a:rPr>
              <a:t>nunca</a:t>
            </a:r>
            <a:r>
              <a:rPr lang="en-US" sz="1600">
                <a:latin typeface="-apple-system"/>
                <a:ea typeface="-apple-system"/>
                <a:cs typeface="-apple-system"/>
              </a:rPr>
              <a:t> para </a:t>
            </a:r>
            <a:r>
              <a:rPr lang="en-US" sz="1600" err="1">
                <a:latin typeface="-apple-system"/>
                <a:ea typeface="-apple-system"/>
                <a:cs typeface="-apple-system"/>
              </a:rPr>
              <a:t>análises</a:t>
            </a:r>
            <a:r>
              <a:rPr lang="en-US" sz="1600">
                <a:latin typeface="-apple-system"/>
                <a:ea typeface="-apple-system"/>
                <a:cs typeface="-apple-system"/>
              </a:rPr>
              <a:t> </a:t>
            </a:r>
            <a:r>
              <a:rPr lang="en-US" sz="1600" err="1">
                <a:latin typeface="-apple-system"/>
                <a:ea typeface="-apple-system"/>
                <a:cs typeface="-apple-system"/>
              </a:rPr>
              <a:t>biofísicas</a:t>
            </a:r>
            <a:r>
              <a:rPr lang="en-US" sz="1600">
                <a:latin typeface="-apple-system"/>
                <a:ea typeface="-apple-system"/>
                <a:cs typeface="-apple-system"/>
              </a:rPr>
              <a:t> </a:t>
            </a:r>
            <a:r>
              <a:rPr lang="en-US" sz="1600" err="1">
                <a:latin typeface="-apple-system"/>
                <a:ea typeface="-apple-system"/>
                <a:cs typeface="-apple-system"/>
              </a:rPr>
              <a:t>ou</a:t>
            </a:r>
            <a:r>
              <a:rPr lang="en-US" sz="1600">
                <a:latin typeface="-apple-system"/>
                <a:ea typeface="-apple-system"/>
                <a:cs typeface="-apple-system"/>
              </a:rPr>
              <a:t> </a:t>
            </a:r>
            <a:r>
              <a:rPr lang="en-US" sz="1600" err="1">
                <a:latin typeface="-apple-system"/>
                <a:ea typeface="-apple-system"/>
                <a:cs typeface="-apple-system"/>
              </a:rPr>
              <a:t>classificações</a:t>
            </a:r>
            <a:r>
              <a:rPr lang="en-US" sz="1600">
                <a:latin typeface="-apple-system"/>
                <a:ea typeface="-apple-system"/>
                <a:cs typeface="-apple-system"/>
              </a:rPr>
              <a:t> </a:t>
            </a:r>
            <a:r>
              <a:rPr lang="en-US" sz="1600" err="1">
                <a:latin typeface="-apple-system"/>
                <a:ea typeface="-apple-system"/>
                <a:cs typeface="-apple-system"/>
              </a:rPr>
              <a:t>automáticas</a:t>
            </a:r>
            <a:r>
              <a:rPr lang="en-US" sz="1600">
                <a:latin typeface="-apple-system"/>
                <a:ea typeface="-apple-system"/>
                <a:cs typeface="-apple-system"/>
              </a:rPr>
              <a:t>.</a:t>
            </a:r>
            <a:br>
              <a:rPr lang="en-US" sz="1600">
                <a:latin typeface="-apple-system"/>
                <a:ea typeface="-apple-system"/>
                <a:cs typeface="-apple-system"/>
              </a:rPr>
            </a:br>
            <a:br>
              <a:rPr lang="en-US" sz="1600">
                <a:latin typeface="-apple-system"/>
                <a:ea typeface="-apple-system"/>
                <a:cs typeface="-apple-system"/>
              </a:rPr>
            </a:br>
            <a:r>
              <a:rPr lang="en-US" sz="1600">
                <a:latin typeface="-apple-system"/>
                <a:ea typeface="-apple-system"/>
                <a:cs typeface="-apple-system"/>
              </a:rPr>
              <a:t>Se </a:t>
            </a:r>
            <a:r>
              <a:rPr lang="en-US" sz="1600" err="1">
                <a:latin typeface="-apple-system"/>
                <a:ea typeface="-apple-system"/>
                <a:cs typeface="-apple-system"/>
              </a:rPr>
              <a:t>você</a:t>
            </a:r>
            <a:r>
              <a:rPr lang="en-US" sz="1600">
                <a:latin typeface="-apple-system"/>
                <a:ea typeface="-apple-system"/>
                <a:cs typeface="-apple-system"/>
              </a:rPr>
              <a:t> </a:t>
            </a:r>
            <a:r>
              <a:rPr lang="en-US" sz="1600" err="1">
                <a:latin typeface="-apple-system"/>
                <a:ea typeface="-apple-system"/>
                <a:cs typeface="-apple-system"/>
              </a:rPr>
              <a:t>precisa</a:t>
            </a:r>
            <a:r>
              <a:rPr lang="en-US" sz="1600">
                <a:latin typeface="-apple-system"/>
                <a:ea typeface="-apple-system"/>
                <a:cs typeface="-apple-system"/>
              </a:rPr>
              <a:t> </a:t>
            </a:r>
            <a:r>
              <a:rPr lang="en-US" sz="1600" err="1">
                <a:latin typeface="-apple-system"/>
                <a:ea typeface="-apple-system"/>
                <a:cs typeface="-apple-system"/>
              </a:rPr>
              <a:t>analisar</a:t>
            </a:r>
            <a:r>
              <a:rPr lang="en-US" sz="1600">
                <a:latin typeface="-apple-system"/>
                <a:ea typeface="-apple-system"/>
                <a:cs typeface="-apple-system"/>
              </a:rPr>
              <a:t> o vigor da </a:t>
            </a:r>
            <a:r>
              <a:rPr lang="en-US" sz="1600" err="1">
                <a:latin typeface="-apple-system"/>
                <a:ea typeface="-apple-system"/>
                <a:cs typeface="-apple-system"/>
              </a:rPr>
              <a:t>vegetação</a:t>
            </a:r>
            <a:r>
              <a:rPr lang="en-US" sz="1600">
                <a:latin typeface="-apple-system"/>
                <a:ea typeface="-apple-system"/>
                <a:cs typeface="-apple-system"/>
              </a:rPr>
              <a:t> </a:t>
            </a:r>
            <a:r>
              <a:rPr lang="en-US" sz="1600" err="1">
                <a:latin typeface="-apple-system"/>
                <a:ea typeface="-apple-system"/>
                <a:cs typeface="-apple-system"/>
              </a:rPr>
              <a:t>ou</a:t>
            </a:r>
            <a:r>
              <a:rPr lang="en-US" sz="1600">
                <a:latin typeface="-apple-system"/>
                <a:ea typeface="-apple-system"/>
                <a:cs typeface="-apple-system"/>
              </a:rPr>
              <a:t> </a:t>
            </a:r>
            <a:r>
              <a:rPr lang="en-US" sz="1600" err="1">
                <a:latin typeface="-apple-system"/>
                <a:ea typeface="-apple-system"/>
                <a:cs typeface="-apple-system"/>
              </a:rPr>
              <a:t>uso</a:t>
            </a:r>
            <a:r>
              <a:rPr lang="en-US" sz="1600">
                <a:latin typeface="-apple-system"/>
                <a:ea typeface="-apple-system"/>
                <a:cs typeface="-apple-system"/>
              </a:rPr>
              <a:t> do solo com </a:t>
            </a:r>
            <a:r>
              <a:rPr lang="en-US" sz="1600" err="1">
                <a:latin typeface="-apple-system"/>
                <a:ea typeface="-apple-system"/>
                <a:cs typeface="-apple-system"/>
              </a:rPr>
              <a:t>precisão</a:t>
            </a:r>
            <a:r>
              <a:rPr lang="en-US" sz="1600">
                <a:latin typeface="-apple-system"/>
                <a:ea typeface="-apple-system"/>
                <a:cs typeface="-apple-system"/>
              </a:rPr>
              <a:t>, </a:t>
            </a:r>
            <a:r>
              <a:rPr lang="en-US" sz="1600" err="1">
                <a:latin typeface="-apple-system"/>
                <a:ea typeface="-apple-system"/>
                <a:cs typeface="-apple-system"/>
              </a:rPr>
              <a:t>busque</a:t>
            </a:r>
            <a:r>
              <a:rPr lang="en-US" sz="1600">
                <a:latin typeface="-apple-system"/>
                <a:ea typeface="-apple-system"/>
                <a:cs typeface="-apple-system"/>
              </a:rPr>
              <a:t> dados </a:t>
            </a:r>
            <a:r>
              <a:rPr lang="en-US" sz="1600" err="1">
                <a:latin typeface="-apple-system"/>
                <a:ea typeface="-apple-system"/>
                <a:cs typeface="-apple-system"/>
              </a:rPr>
              <a:t>originais</a:t>
            </a:r>
            <a:r>
              <a:rPr lang="en-US" sz="1600">
                <a:latin typeface="-apple-system"/>
                <a:ea typeface="-apple-system"/>
                <a:cs typeface="-apple-system"/>
              </a:rPr>
              <a:t> </a:t>
            </a:r>
            <a:r>
              <a:rPr lang="en-US" sz="1600" err="1">
                <a:latin typeface="-apple-system"/>
                <a:ea typeface="-apple-system"/>
                <a:cs typeface="-apple-system"/>
              </a:rPr>
              <a:t>em</a:t>
            </a:r>
            <a:r>
              <a:rPr lang="en-US" sz="1600">
                <a:latin typeface="-apple-system"/>
                <a:ea typeface="-apple-system"/>
                <a:cs typeface="-apple-system"/>
              </a:rPr>
              <a:t> </a:t>
            </a:r>
            <a:r>
              <a:rPr lang="en-US" sz="1600" err="1">
                <a:latin typeface="-apple-system"/>
                <a:ea typeface="-apple-system"/>
                <a:cs typeface="-apple-system"/>
              </a:rPr>
              <a:t>catálogos</a:t>
            </a:r>
            <a:r>
              <a:rPr lang="en-US" sz="1600">
                <a:latin typeface="-apple-system"/>
                <a:ea typeface="-apple-system"/>
                <a:cs typeface="-apple-system"/>
              </a:rPr>
              <a:t> </a:t>
            </a:r>
            <a:r>
              <a:rPr lang="en-US" sz="1600" err="1">
                <a:latin typeface="-apple-system"/>
                <a:ea typeface="-apple-system"/>
                <a:cs typeface="-apple-system"/>
              </a:rPr>
              <a:t>como</a:t>
            </a:r>
            <a:r>
              <a:rPr lang="en-US" sz="1600">
                <a:latin typeface="-apple-system"/>
                <a:ea typeface="-apple-system"/>
                <a:cs typeface="-apple-system"/>
              </a:rPr>
              <a:t> Copernicus (Sentinel), NASA (Landsat) </a:t>
            </a:r>
            <a:r>
              <a:rPr lang="en-US" sz="1600" err="1">
                <a:latin typeface="-apple-system"/>
                <a:ea typeface="-apple-system"/>
                <a:cs typeface="-apple-system"/>
              </a:rPr>
              <a:t>ou</a:t>
            </a:r>
            <a:r>
              <a:rPr lang="en-US" sz="1600">
                <a:latin typeface="-apple-system"/>
                <a:ea typeface="-apple-system"/>
                <a:cs typeface="-apple-system"/>
              </a:rPr>
              <a:t> INPE (CBERS).</a:t>
            </a:r>
            <a:br>
              <a:rPr lang="en-US" sz="1600">
                <a:latin typeface="-apple-system"/>
                <a:ea typeface="-apple-system"/>
                <a:cs typeface="-apple-system"/>
              </a:rPr>
            </a:br>
            <a:r>
              <a:rPr lang="en-US" sz="1600">
                <a:latin typeface="-apple-system"/>
                <a:ea typeface="-apple-system"/>
                <a:cs typeface="-apple-system"/>
              </a:rPr>
              <a:t>O </a:t>
            </a:r>
            <a:r>
              <a:rPr lang="en-US" sz="1600" err="1">
                <a:latin typeface="-apple-system"/>
                <a:ea typeface="-apple-system"/>
                <a:cs typeface="-apple-system"/>
              </a:rPr>
              <a:t>uso</a:t>
            </a:r>
            <a:r>
              <a:rPr lang="en-US" sz="1600">
                <a:latin typeface="-apple-system"/>
                <a:ea typeface="-apple-system"/>
                <a:cs typeface="-apple-system"/>
              </a:rPr>
              <a:t> da ferramenta </a:t>
            </a:r>
            <a:r>
              <a:rPr lang="en-US" sz="1600" err="1">
                <a:latin typeface="-apple-system"/>
                <a:ea typeface="-apple-system"/>
                <a:cs typeface="-apple-system"/>
              </a:rPr>
              <a:t>certa</a:t>
            </a:r>
            <a:r>
              <a:rPr lang="en-US" sz="1600">
                <a:latin typeface="-apple-system"/>
                <a:ea typeface="-apple-system"/>
                <a:cs typeface="-apple-system"/>
              </a:rPr>
              <a:t> </a:t>
            </a:r>
            <a:r>
              <a:rPr lang="en-US" sz="1600" err="1">
                <a:latin typeface="-apple-system"/>
                <a:ea typeface="-apple-system"/>
                <a:cs typeface="-apple-system"/>
              </a:rPr>
              <a:t>separa</a:t>
            </a:r>
            <a:r>
              <a:rPr lang="en-US" sz="1600">
                <a:latin typeface="-apple-system"/>
                <a:ea typeface="-apple-system"/>
                <a:cs typeface="-apple-system"/>
              </a:rPr>
              <a:t> um "</a:t>
            </a:r>
            <a:r>
              <a:rPr lang="en-US" sz="1600" err="1">
                <a:latin typeface="-apple-system"/>
                <a:ea typeface="-apple-system"/>
                <a:cs typeface="-apple-system"/>
              </a:rPr>
              <a:t>desenhador</a:t>
            </a:r>
            <a:r>
              <a:rPr lang="en-US" sz="1600">
                <a:latin typeface="-apple-system"/>
                <a:ea typeface="-apple-system"/>
                <a:cs typeface="-apple-system"/>
              </a:rPr>
              <a:t> de </a:t>
            </a:r>
            <a:r>
              <a:rPr lang="en-US" sz="1600" err="1">
                <a:latin typeface="-apple-system"/>
                <a:ea typeface="-apple-system"/>
                <a:cs typeface="-apple-system"/>
              </a:rPr>
              <a:t>mapas</a:t>
            </a:r>
            <a:r>
              <a:rPr lang="en-US" sz="1600">
                <a:latin typeface="-apple-system"/>
                <a:ea typeface="-apple-system"/>
                <a:cs typeface="-apple-system"/>
              </a:rPr>
              <a:t>" de um </a:t>
            </a:r>
            <a:r>
              <a:rPr lang="en-US" sz="1600" err="1">
                <a:latin typeface="-apple-system"/>
                <a:ea typeface="-apple-system"/>
                <a:cs typeface="-apple-system"/>
              </a:rPr>
              <a:t>especialista</a:t>
            </a:r>
            <a:r>
              <a:rPr lang="en-US" sz="1600">
                <a:latin typeface="-apple-system"/>
                <a:ea typeface="-apple-system"/>
                <a:cs typeface="-apple-system"/>
              </a:rPr>
              <a:t> </a:t>
            </a:r>
            <a:r>
              <a:rPr lang="en-US" sz="1600" err="1">
                <a:latin typeface="-apple-system"/>
                <a:ea typeface="-apple-system"/>
                <a:cs typeface="-apple-system"/>
              </a:rPr>
              <a:t>em</a:t>
            </a:r>
            <a:r>
              <a:rPr lang="en-US" sz="1600">
                <a:latin typeface="-apple-system"/>
                <a:ea typeface="-apple-system"/>
                <a:cs typeface="-apple-system"/>
              </a:rPr>
              <a:t> </a:t>
            </a:r>
            <a:r>
              <a:rPr lang="en-US" sz="1600" err="1">
                <a:latin typeface="-apple-system"/>
                <a:ea typeface="-apple-system"/>
                <a:cs typeface="-apple-system"/>
              </a:rPr>
              <a:t>Geotecnologias</a:t>
            </a:r>
            <a:r>
              <a:rPr lang="en-US" sz="1600">
                <a:latin typeface="-apple-system"/>
                <a:ea typeface="-apple-system"/>
                <a:cs typeface="-apple-system"/>
              </a:rPr>
              <a:t>. 💡🚀</a:t>
            </a:r>
            <a:endParaRPr lang="en-US" sz="1600"/>
          </a:p>
          <a:p>
            <a:pPr algn="ctr"/>
            <a:endParaRPr lang="pt-BR"/>
          </a:p>
        </p:txBody>
      </p:sp>
      <p:pic>
        <p:nvPicPr>
          <p:cNvPr id="5" name="Imagem 4" descr="Não foi fornecido texto alternativo para esta imagem">
            <a:extLst>
              <a:ext uri="{FF2B5EF4-FFF2-40B4-BE49-F238E27FC236}">
                <a16:creationId xmlns:a16="http://schemas.microsoft.com/office/drawing/2014/main" id="{3E5942E0-10B5-29B6-EFAB-9A34935E6038}"/>
              </a:ext>
            </a:extLst>
          </p:cNvPr>
          <p:cNvPicPr>
            <a:picLocks noChangeAspect="1"/>
          </p:cNvPicPr>
          <p:nvPr/>
        </p:nvPicPr>
        <p:blipFill>
          <a:blip r:embed="rId2"/>
          <a:stretch>
            <a:fillRect/>
          </a:stretch>
        </p:blipFill>
        <p:spPr>
          <a:xfrm>
            <a:off x="129396" y="842244"/>
            <a:ext cx="4557623" cy="3807664"/>
          </a:xfrm>
          <a:prstGeom prst="rect">
            <a:avLst/>
          </a:prstGeom>
        </p:spPr>
      </p:pic>
      <p:sp>
        <p:nvSpPr>
          <p:cNvPr id="6" name="CaixaDeTexto 5">
            <a:extLst>
              <a:ext uri="{FF2B5EF4-FFF2-40B4-BE49-F238E27FC236}">
                <a16:creationId xmlns:a16="http://schemas.microsoft.com/office/drawing/2014/main" id="{CB3BF6D6-EC7B-33B9-2476-0C2C2AD57D3F}"/>
              </a:ext>
            </a:extLst>
          </p:cNvPr>
          <p:cNvSpPr txBox="1"/>
          <p:nvPr/>
        </p:nvSpPr>
        <p:spPr>
          <a:xfrm>
            <a:off x="359434" y="4895491"/>
            <a:ext cx="3709359" cy="16619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https://www.linkedin.com/posts/geosaber_qgis-geoprocessamento-sensoriamentoremoto-activity-7442929011900596224-0brB?utm_source=share&amp;utm_medium=member_desktop&amp;rcm=ACoAAAMQtAUB5UouXqdBJgo_gWpNVZ7Imay_2Tg</a:t>
            </a:r>
          </a:p>
          <a:p>
            <a:pPr algn="ctr"/>
            <a:endParaRPr lang="pt-BR"/>
          </a:p>
        </p:txBody>
      </p:sp>
    </p:spTree>
    <p:extLst>
      <p:ext uri="{BB962C8B-B14F-4D97-AF65-F5344CB8AC3E}">
        <p14:creationId xmlns:p14="http://schemas.microsoft.com/office/powerpoint/2010/main" val="262831649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4144B081-639C-7060-62CB-3A9756DBD36F}"/>
              </a:ext>
            </a:extLst>
          </p:cNvPr>
          <p:cNvSpPr txBox="1"/>
          <p:nvPr/>
        </p:nvSpPr>
        <p:spPr>
          <a:xfrm>
            <a:off x="5894717" y="1905000"/>
            <a:ext cx="6096000"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We're just a few weeks away from </a:t>
            </a:r>
            <a:r>
              <a:rPr lang="en-US" b="1">
                <a:solidFill>
                  <a:srgbClr val="0A66C2"/>
                </a:solidFill>
                <a:latin typeface="-apple-system"/>
                <a:ea typeface="-apple-system"/>
                <a:cs typeface="-apple-system"/>
                <a:hlinkClick r:id="rId2"/>
              </a:rPr>
              <a:t>hashtag#IMGIS</a:t>
            </a:r>
            <a:r>
              <a:rPr lang="en-US">
                <a:latin typeface="-apple-system"/>
                <a:ea typeface="-apple-system"/>
                <a:cs typeface="-apple-system"/>
              </a:rPr>
              <a:t>, and this is the most excited I've been about presenting in a long time! It's a 3-hour hands-on session about performance and best practices for the utility network and how to apply this knowledge during or after a project.</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Come learn the tips and tricks that I use every day for troubleshooting and diagnosing performance issues.</a:t>
            </a:r>
            <a:endParaRPr lang="en-US"/>
          </a:p>
          <a:p>
            <a:pPr algn="ctr"/>
            <a:endParaRPr lang="pt-BR"/>
          </a:p>
        </p:txBody>
      </p:sp>
      <p:pic>
        <p:nvPicPr>
          <p:cNvPr id="5" name="Imagem 4" descr="Não foi fornecido texto alternativo para esta imagem">
            <a:extLst>
              <a:ext uri="{FF2B5EF4-FFF2-40B4-BE49-F238E27FC236}">
                <a16:creationId xmlns:a16="http://schemas.microsoft.com/office/drawing/2014/main" id="{AF9FA8C1-6A38-4205-3E1D-92CF17AAF811}"/>
              </a:ext>
            </a:extLst>
          </p:cNvPr>
          <p:cNvPicPr>
            <a:picLocks noChangeAspect="1"/>
          </p:cNvPicPr>
          <p:nvPr/>
        </p:nvPicPr>
        <p:blipFill>
          <a:blip r:embed="rId3"/>
          <a:stretch>
            <a:fillRect/>
          </a:stretch>
        </p:blipFill>
        <p:spPr>
          <a:xfrm>
            <a:off x="1492471" y="963283"/>
            <a:ext cx="3470492" cy="4040038"/>
          </a:xfrm>
          <a:prstGeom prst="rect">
            <a:avLst/>
          </a:prstGeom>
        </p:spPr>
      </p:pic>
      <p:sp>
        <p:nvSpPr>
          <p:cNvPr id="6" name="CaixaDeTexto 5">
            <a:extLst>
              <a:ext uri="{FF2B5EF4-FFF2-40B4-BE49-F238E27FC236}">
                <a16:creationId xmlns:a16="http://schemas.microsoft.com/office/drawing/2014/main" id="{609EAACD-01C8-1D3B-C068-89D4E51692E3}"/>
              </a:ext>
            </a:extLst>
          </p:cNvPr>
          <p:cNvSpPr txBox="1"/>
          <p:nvPr/>
        </p:nvSpPr>
        <p:spPr>
          <a:xfrm>
            <a:off x="1365849" y="5369943"/>
            <a:ext cx="60960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https://www.linkedin.com/posts/robert-krisher-5a989438_imgis-activity-7444726899873914880-a1Hg?utm_source=share&amp;utm_medium=member_desktop&amp;rcm=ACoAAAMQtAUB5UouXqdBJgo_gWpNVZ7Imay_2Tg</a:t>
            </a:r>
          </a:p>
          <a:p>
            <a:pPr algn="ctr"/>
            <a:endParaRPr lang="pt-BR"/>
          </a:p>
        </p:txBody>
      </p:sp>
    </p:spTree>
    <p:extLst>
      <p:ext uri="{BB962C8B-B14F-4D97-AF65-F5344CB8AC3E}">
        <p14:creationId xmlns:p14="http://schemas.microsoft.com/office/powerpoint/2010/main" val="291747126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a:extLst>
              <a:ext uri="{FF2B5EF4-FFF2-40B4-BE49-F238E27FC236}">
                <a16:creationId xmlns:a16="http://schemas.microsoft.com/office/drawing/2014/main" id="{73897BB2-3C1F-579A-FA59-8A3D8E7F2504}"/>
              </a:ext>
            </a:extLst>
          </p:cNvPr>
          <p:cNvSpPr txBox="1"/>
          <p:nvPr/>
        </p:nvSpPr>
        <p:spPr>
          <a:xfrm>
            <a:off x="5822830" y="467264"/>
            <a:ext cx="6096000" cy="59093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GIS infrastructure rules: 🤔 💻 🗺️ </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1. Place critical business services on different servers (as best possible) </a:t>
            </a:r>
            <a:br>
              <a:rPr lang="en-US">
                <a:latin typeface="-apple-system"/>
                <a:ea typeface="-apple-system"/>
                <a:cs typeface="-apple-system"/>
              </a:rPr>
            </a:br>
            <a:r>
              <a:rPr lang="en-US">
                <a:latin typeface="-apple-system"/>
                <a:ea typeface="-apple-system"/>
                <a:cs typeface="-apple-system"/>
              </a:rPr>
              <a:t>2. Reduce concurrent requests (use tile cache where possible)</a:t>
            </a:r>
            <a:br>
              <a:rPr lang="en-US">
                <a:latin typeface="-apple-system"/>
                <a:ea typeface="-apple-system"/>
                <a:cs typeface="-apple-system"/>
              </a:rPr>
            </a:br>
            <a:r>
              <a:rPr lang="en-US">
                <a:latin typeface="-apple-system"/>
                <a:ea typeface="-apple-system"/>
                <a:cs typeface="-apple-system"/>
              </a:rPr>
              <a:t>3. Keep max ArcSOC instances low (mostly shared pooling)</a:t>
            </a:r>
            <a:br>
              <a:rPr lang="en-US">
                <a:latin typeface="-apple-system"/>
                <a:ea typeface="-apple-system"/>
                <a:cs typeface="-apple-system"/>
              </a:rPr>
            </a:br>
            <a:r>
              <a:rPr lang="en-US">
                <a:latin typeface="-apple-system"/>
                <a:ea typeface="-apple-system"/>
                <a:cs typeface="-apple-system"/>
              </a:rPr>
              <a:t>4. Spatial indexes where appropriate </a:t>
            </a:r>
            <a:br>
              <a:rPr lang="en-US">
                <a:latin typeface="-apple-system"/>
                <a:ea typeface="-apple-system"/>
                <a:cs typeface="-apple-system"/>
              </a:rPr>
            </a:br>
            <a:r>
              <a:rPr lang="en-US">
                <a:latin typeface="-apple-system"/>
                <a:ea typeface="-apple-system"/>
                <a:cs typeface="-apple-system"/>
              </a:rPr>
              <a:t>5. Limit expensive queries (work with 3rd parties to optimize integration) </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What do you think? </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I left scaled symbology and dealing with backups/logs out for simplicity. </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Do I need a top 10? What am I missing?</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Should 🙏 to the ESRI Gods be #10!? 🔭 🛰️ </a:t>
            </a:r>
            <a:br>
              <a:rPr lang="en-US">
                <a:latin typeface="-apple-system"/>
                <a:ea typeface="-apple-system"/>
                <a:cs typeface="-apple-system"/>
              </a:rPr>
            </a:br>
            <a:br>
              <a:rPr lang="en-US">
                <a:latin typeface="-apple-system"/>
                <a:ea typeface="-apple-system"/>
                <a:cs typeface="-apple-system"/>
              </a:rPr>
            </a:br>
            <a:r>
              <a:rPr lang="en-US" b="1">
                <a:solidFill>
                  <a:srgbClr val="0A66C2"/>
                </a:solidFill>
                <a:latin typeface="-apple-system"/>
                <a:ea typeface="-apple-system"/>
                <a:cs typeface="-apple-system"/>
                <a:hlinkClick r:id="rId2"/>
              </a:rPr>
              <a:t>hashtag#ESRI</a:t>
            </a:r>
            <a:r>
              <a:rPr lang="en-US">
                <a:latin typeface="-apple-system"/>
                <a:ea typeface="-apple-system"/>
                <a:cs typeface="-apple-system"/>
              </a:rPr>
              <a:t> </a:t>
            </a:r>
            <a:r>
              <a:rPr lang="en-US" b="1">
                <a:solidFill>
                  <a:srgbClr val="0A66C2"/>
                </a:solidFill>
                <a:latin typeface="-apple-system"/>
                <a:ea typeface="-apple-system"/>
                <a:cs typeface="-apple-system"/>
                <a:hlinkClick r:id="rId3"/>
              </a:rPr>
              <a:t>hashtag#GIS</a:t>
            </a:r>
            <a:r>
              <a:rPr lang="en-US">
                <a:latin typeface="-apple-system"/>
                <a:ea typeface="-apple-system"/>
                <a:cs typeface="-apple-system"/>
              </a:rPr>
              <a:t> </a:t>
            </a:r>
            <a:r>
              <a:rPr lang="en-US" b="1">
                <a:solidFill>
                  <a:srgbClr val="0A66C2"/>
                </a:solidFill>
                <a:latin typeface="-apple-system"/>
                <a:ea typeface="-apple-system"/>
                <a:cs typeface="-apple-system"/>
                <a:hlinkClick r:id="rId4"/>
              </a:rPr>
              <a:t>hashtag#ArcGIS</a:t>
            </a:r>
            <a:endParaRPr lang="en-US"/>
          </a:p>
          <a:p>
            <a:pPr algn="ctr"/>
            <a:endParaRPr lang="pt-BR"/>
          </a:p>
        </p:txBody>
      </p:sp>
      <p:sp>
        <p:nvSpPr>
          <p:cNvPr id="6" name="CaixaDeTexto 5">
            <a:extLst>
              <a:ext uri="{FF2B5EF4-FFF2-40B4-BE49-F238E27FC236}">
                <a16:creationId xmlns:a16="http://schemas.microsoft.com/office/drawing/2014/main" id="{23F3EAE7-C4DB-DE87-A044-EE09EFE4114B}"/>
              </a:ext>
            </a:extLst>
          </p:cNvPr>
          <p:cNvSpPr txBox="1"/>
          <p:nvPr/>
        </p:nvSpPr>
        <p:spPr>
          <a:xfrm>
            <a:off x="1078302" y="4349151"/>
            <a:ext cx="3939397"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https://www.linkedin.com/posts/tim-callahan-356180144_esri-gis-arcgis-activity-7441564350026244096-mDNp?utm_source=share&amp;utm_medium=member_desktop&amp;rcm=ACoAAAMQtAUB5UouXqdBJgo_gWpNVZ7Imay_2Tg</a:t>
            </a:r>
          </a:p>
          <a:p>
            <a:pPr algn="ctr"/>
            <a:endParaRPr lang="pt-BR"/>
          </a:p>
        </p:txBody>
      </p:sp>
    </p:spTree>
    <p:extLst>
      <p:ext uri="{BB962C8B-B14F-4D97-AF65-F5344CB8AC3E}">
        <p14:creationId xmlns:p14="http://schemas.microsoft.com/office/powerpoint/2010/main" val="51981936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10BBCEC7-A4D9-BA29-B747-40D20BCD2665}"/>
              </a:ext>
            </a:extLst>
          </p:cNvPr>
          <p:cNvSpPr txBox="1"/>
          <p:nvPr/>
        </p:nvSpPr>
        <p:spPr>
          <a:xfrm>
            <a:off x="5736566" y="2422585"/>
            <a:ext cx="6096000"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inherit"/>
                <a:ea typeface="inherit"/>
                <a:cs typeface="inherit"/>
              </a:rPr>
              <a:t>With the release of </a:t>
            </a:r>
            <a:r>
              <a:rPr lang="en-US" b="1">
                <a:solidFill>
                  <a:srgbClr val="0A66C2"/>
                </a:solidFill>
                <a:latin typeface="inherit"/>
                <a:ea typeface="inherit"/>
                <a:cs typeface="inherit"/>
                <a:hlinkClick r:id="rId2"/>
              </a:rPr>
              <a:t>#ArcGISEnterprise</a:t>
            </a:r>
            <a:r>
              <a:rPr lang="en-US">
                <a:latin typeface="inherit"/>
                <a:ea typeface="inherit"/>
                <a:cs typeface="inherit"/>
              </a:rPr>
              <a:t> 11.3, users can now trace using digitized direction when performing an Upstream or Downstream trace in ArcGIS Utility Network. </a:t>
            </a:r>
            <a:r>
              <a:rPr lang="en-US" b="1" u="none" strike="noStrike">
                <a:solidFill>
                  <a:srgbClr val="0A66C2"/>
                </a:solidFill>
                <a:latin typeface="inherit"/>
                <a:ea typeface="inherit"/>
                <a:cs typeface="inherit"/>
                <a:hlinkClick r:id="rId3"/>
              </a:rPr>
              <a:t>#UtilityNetwork</a:t>
            </a:r>
            <a:br>
              <a:rPr lang="en-US">
                <a:latin typeface="inherit"/>
                <a:ea typeface="inherit"/>
                <a:cs typeface="inherit"/>
              </a:rPr>
            </a:br>
            <a:br>
              <a:rPr lang="en-US">
                <a:latin typeface="inherit"/>
                <a:ea typeface="inherit"/>
                <a:cs typeface="inherit"/>
              </a:rPr>
            </a:br>
            <a:r>
              <a:rPr lang="en-US">
                <a:latin typeface="inherit"/>
                <a:ea typeface="inherit"/>
                <a:cs typeface="inherit"/>
              </a:rPr>
              <a:t>Learn more ➡️ </a:t>
            </a:r>
            <a:r>
              <a:rPr lang="en-US" b="1" u="none" strike="noStrike">
                <a:solidFill>
                  <a:srgbClr val="0A66C2"/>
                </a:solidFill>
                <a:latin typeface="inherit"/>
                <a:ea typeface="inherit"/>
                <a:cs typeface="inherit"/>
                <a:hlinkClick r:id="rId4"/>
              </a:rPr>
              <a:t>https://ow.ly/w7tR50S7qCP</a:t>
            </a:r>
          </a:p>
          <a:p>
            <a:endParaRPr lang="en-US">
              <a:latin typeface="system-ui"/>
              <a:ea typeface="system-ui"/>
              <a:cs typeface="system-ui"/>
            </a:endParaRPr>
          </a:p>
          <a:p>
            <a:pPr algn="ctr"/>
            <a:endParaRPr lang="pt-BR"/>
          </a:p>
        </p:txBody>
      </p:sp>
      <p:pic>
        <p:nvPicPr>
          <p:cNvPr id="5" name="Imagem 4" descr="Uma imagem contendo Mapa&#10;&#10;O conteúdo gerado por IA pode estar incorreto.">
            <a:extLst>
              <a:ext uri="{FF2B5EF4-FFF2-40B4-BE49-F238E27FC236}">
                <a16:creationId xmlns:a16="http://schemas.microsoft.com/office/drawing/2014/main" id="{78CA600D-2EA8-3EDC-AA02-1353CCCE4EFB}"/>
              </a:ext>
            </a:extLst>
          </p:cNvPr>
          <p:cNvPicPr>
            <a:picLocks noChangeAspect="1"/>
          </p:cNvPicPr>
          <p:nvPr/>
        </p:nvPicPr>
        <p:blipFill>
          <a:blip r:embed="rId5"/>
          <a:stretch>
            <a:fillRect/>
          </a:stretch>
        </p:blipFill>
        <p:spPr>
          <a:xfrm>
            <a:off x="471488" y="816095"/>
            <a:ext cx="5153025" cy="4248150"/>
          </a:xfrm>
          <a:prstGeom prst="rect">
            <a:avLst/>
          </a:prstGeom>
        </p:spPr>
      </p:pic>
      <p:sp>
        <p:nvSpPr>
          <p:cNvPr id="6" name="CaixaDeTexto 5">
            <a:extLst>
              <a:ext uri="{FF2B5EF4-FFF2-40B4-BE49-F238E27FC236}">
                <a16:creationId xmlns:a16="http://schemas.microsoft.com/office/drawing/2014/main" id="{4A640A1F-4BF9-2B24-3CC8-B59789A831AB}"/>
              </a:ext>
            </a:extLst>
          </p:cNvPr>
          <p:cNvSpPr txBox="1"/>
          <p:nvPr/>
        </p:nvSpPr>
        <p:spPr>
          <a:xfrm>
            <a:off x="287547" y="5499340"/>
            <a:ext cx="6096000" cy="13542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https://www.linkedin.com/posts/raed-m-aldbagh_arcgisenterprise-utilitynetwork-share-7203461530019848192-g_qz?utm_source=share&amp;utm_medium=member_desktop&amp;rcm=ACoAAAMQtAUB5UouXqdBJgo_gWpNVZ7Imay_2Tg</a:t>
            </a:r>
          </a:p>
          <a:p>
            <a:pPr algn="ctr"/>
            <a:endParaRPr lang="pt-BR"/>
          </a:p>
        </p:txBody>
      </p:sp>
    </p:spTree>
    <p:extLst>
      <p:ext uri="{BB962C8B-B14F-4D97-AF65-F5344CB8AC3E}">
        <p14:creationId xmlns:p14="http://schemas.microsoft.com/office/powerpoint/2010/main" val="380716024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286AF22F-973B-AE18-3FB7-1EAD2BF02AF2}"/>
              </a:ext>
            </a:extLst>
          </p:cNvPr>
          <p:cNvSpPr txBox="1"/>
          <p:nvPr/>
        </p:nvSpPr>
        <p:spPr>
          <a:xfrm>
            <a:off x="7548113" y="2652623"/>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system-ui"/>
                <a:ea typeface="system-ui"/>
                <a:cs typeface="system-ui"/>
              </a:rPr>
              <a:t>Dilemas sobre a carreira em GIS.</a:t>
            </a:r>
            <a:endParaRPr lang="en-US"/>
          </a:p>
          <a:p>
            <a:pPr algn="ctr"/>
            <a:endParaRPr lang="pt-BR"/>
          </a:p>
        </p:txBody>
      </p:sp>
      <p:pic>
        <p:nvPicPr>
          <p:cNvPr id="5" name="Imagem 4">
            <a:extLst>
              <a:ext uri="{FF2B5EF4-FFF2-40B4-BE49-F238E27FC236}">
                <a16:creationId xmlns:a16="http://schemas.microsoft.com/office/drawing/2014/main" id="{0547F0E6-DE3C-B579-4125-4865AA21BB63}"/>
              </a:ext>
            </a:extLst>
          </p:cNvPr>
          <p:cNvPicPr>
            <a:picLocks noChangeAspect="1"/>
          </p:cNvPicPr>
          <p:nvPr/>
        </p:nvPicPr>
        <p:blipFill>
          <a:blip r:embed="rId2"/>
          <a:stretch>
            <a:fillRect/>
          </a:stretch>
        </p:blipFill>
        <p:spPr>
          <a:xfrm>
            <a:off x="260500" y="659112"/>
            <a:ext cx="6638925" cy="4619625"/>
          </a:xfrm>
          <a:prstGeom prst="rect">
            <a:avLst/>
          </a:prstGeom>
        </p:spPr>
      </p:pic>
      <p:sp>
        <p:nvSpPr>
          <p:cNvPr id="6" name="CaixaDeTexto 5">
            <a:extLst>
              <a:ext uri="{FF2B5EF4-FFF2-40B4-BE49-F238E27FC236}">
                <a16:creationId xmlns:a16="http://schemas.microsoft.com/office/drawing/2014/main" id="{543FE6D8-4FAE-5FB4-F728-7B0964B6B5DA}"/>
              </a:ext>
            </a:extLst>
          </p:cNvPr>
          <p:cNvSpPr txBox="1"/>
          <p:nvPr/>
        </p:nvSpPr>
        <p:spPr>
          <a:xfrm>
            <a:off x="5952226" y="5499340"/>
            <a:ext cx="6096000" cy="13542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https://www.linkedin.com/posts/deborahcancadopeixotopires_gis-inteligenciaartificial-python-ugcPost-7203447618113306625-2N9J?utm_source=share&amp;utm_medium=member_desktop&amp;rcm=ACoAAAMQtAUB5UouXqdBJgo_gWpNVZ7Imay_2Tg</a:t>
            </a:r>
            <a:endParaRPr lang="en-US" sz="1600">
              <a:ea typeface="Calibri"/>
              <a:cs typeface="Calibri"/>
            </a:endParaRPr>
          </a:p>
          <a:p>
            <a:pPr algn="ctr"/>
            <a:endParaRPr lang="pt-BR"/>
          </a:p>
        </p:txBody>
      </p:sp>
    </p:spTree>
    <p:extLst>
      <p:ext uri="{BB962C8B-B14F-4D97-AF65-F5344CB8AC3E}">
        <p14:creationId xmlns:p14="http://schemas.microsoft.com/office/powerpoint/2010/main" val="13780606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B9967945-9663-8845-AEF8-02FDD0FD0E5E}"/>
              </a:ext>
            </a:extLst>
          </p:cNvPr>
          <p:cNvSpPr txBox="1"/>
          <p:nvPr/>
        </p:nvSpPr>
        <p:spPr>
          <a:xfrm>
            <a:off x="5693434" y="611038"/>
            <a:ext cx="6096000"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system-ui"/>
                <a:ea typeface="system-ui"/>
                <a:cs typeface="system-ui"/>
              </a:rPr>
              <a:t>Grande parte das informações geradas nos projetos de infraestrutura se perde antes de chegar à operação.</a:t>
            </a:r>
            <a:br>
              <a:rPr lang="en-US"/>
            </a:br>
            <a:br>
              <a:rPr lang="en-US"/>
            </a:br>
            <a:r>
              <a:rPr lang="en-US">
                <a:latin typeface="system-ui"/>
                <a:ea typeface="system-ui"/>
                <a:cs typeface="system-ui"/>
              </a:rPr>
              <a:t>No saneamento, isso se reflete em ativos que passam décadas em funcionamento sem que todo o conhecimento produzido no projeto esteja disponível para quem precisa tomar decisões no dia a dia.</a:t>
            </a:r>
            <a:br>
              <a:rPr lang="en-US"/>
            </a:br>
            <a:br>
              <a:rPr lang="en-US"/>
            </a:br>
            <a:r>
              <a:rPr lang="en-US">
                <a:latin typeface="system-ui"/>
                <a:ea typeface="system-ui"/>
                <a:cs typeface="system-ui"/>
              </a:rPr>
              <a:t>A integração entre BIM e GIS tem um papel importante nesse processo ao conectar projeto, obra e operação, trazendo contexto espacial e dados mais confiáveis para as decisões de engenharia.</a:t>
            </a:r>
            <a:br>
              <a:rPr lang="en-US"/>
            </a:br>
            <a:br>
              <a:rPr lang="en-US"/>
            </a:br>
            <a:r>
              <a:rPr lang="en-US">
                <a:latin typeface="system-ui"/>
                <a:ea typeface="system-ui"/>
                <a:cs typeface="system-ui"/>
              </a:rPr>
              <a:t>No artigo publicado no blog da </a:t>
            </a:r>
            <a:r>
              <a:rPr lang="en-US" b="1" u="none" strike="noStrike">
                <a:solidFill>
                  <a:srgbClr val="0A66C2"/>
                </a:solidFill>
                <a:latin typeface="inherit"/>
                <a:ea typeface="inherit"/>
                <a:cs typeface="inherit"/>
                <a:hlinkClick r:id="rId2"/>
              </a:rPr>
              <a:t>FF Solutions a Symetri Company</a:t>
            </a:r>
            <a:r>
              <a:rPr lang="en-US">
                <a:latin typeface="system-ui"/>
                <a:ea typeface="system-ui"/>
                <a:cs typeface="system-ui"/>
              </a:rPr>
              <a:t>, compartilho algumas reflexões e exemplos práticos sobre como essa integração pode apoiar a transformação digital do setor de saneamento.</a:t>
            </a:r>
            <a:br>
              <a:rPr lang="en-US"/>
            </a:br>
            <a:br>
              <a:rPr lang="en-US"/>
            </a:br>
            <a:r>
              <a:rPr lang="en-US" b="1" u="none" strike="noStrike">
                <a:solidFill>
                  <a:srgbClr val="0A66C2"/>
                </a:solidFill>
                <a:latin typeface="inherit"/>
                <a:ea typeface="inherit"/>
                <a:cs typeface="inherit"/>
                <a:hlinkClick r:id="rId3"/>
              </a:rPr>
              <a:t>https://lnkd.in/dFF3Z8Pt</a:t>
            </a:r>
            <a:endParaRPr lang="en-US"/>
          </a:p>
          <a:p>
            <a:pPr algn="ctr"/>
            <a:endParaRPr lang="pt-BR"/>
          </a:p>
        </p:txBody>
      </p:sp>
      <p:pic>
        <p:nvPicPr>
          <p:cNvPr id="5" name="Imagem 4" descr="Texto sobre foto de cidade&#10;&#10;O conteúdo gerado por IA pode estar incorreto.">
            <a:extLst>
              <a:ext uri="{FF2B5EF4-FFF2-40B4-BE49-F238E27FC236}">
                <a16:creationId xmlns:a16="http://schemas.microsoft.com/office/drawing/2014/main" id="{DD264453-012A-D11B-65DB-55E1F61EBA9B}"/>
              </a:ext>
            </a:extLst>
          </p:cNvPr>
          <p:cNvPicPr>
            <a:picLocks noChangeAspect="1"/>
          </p:cNvPicPr>
          <p:nvPr/>
        </p:nvPicPr>
        <p:blipFill>
          <a:blip r:embed="rId4"/>
          <a:stretch>
            <a:fillRect/>
          </a:stretch>
        </p:blipFill>
        <p:spPr>
          <a:xfrm>
            <a:off x="273260" y="1176158"/>
            <a:ext cx="5118160" cy="2996062"/>
          </a:xfrm>
          <a:prstGeom prst="rect">
            <a:avLst/>
          </a:prstGeom>
        </p:spPr>
      </p:pic>
      <p:sp>
        <p:nvSpPr>
          <p:cNvPr id="6" name="CaixaDeTexto 5">
            <a:extLst>
              <a:ext uri="{FF2B5EF4-FFF2-40B4-BE49-F238E27FC236}">
                <a16:creationId xmlns:a16="http://schemas.microsoft.com/office/drawing/2014/main" id="{04391B3B-794D-ADB7-E260-B09FEEA64643}"/>
              </a:ext>
            </a:extLst>
          </p:cNvPr>
          <p:cNvSpPr txBox="1"/>
          <p:nvPr/>
        </p:nvSpPr>
        <p:spPr>
          <a:xfrm>
            <a:off x="273170" y="4751717"/>
            <a:ext cx="5103963"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https://www.linkedin.com/posts/diogo-reis-47725329_bim-e-gis-no-saneamento-conectando-projeto-share-7437120102237544449-kA23?utm_source=share&amp;utm_medium=member_desktop&amp;rcm=ACoAAAMQtAUB5UouXqdBJgo_gWpNVZ7Imay_2Tg</a:t>
            </a:r>
          </a:p>
          <a:p>
            <a:pPr algn="ctr"/>
            <a:endParaRPr lang="pt-BR"/>
          </a:p>
        </p:txBody>
      </p:sp>
    </p:spTree>
    <p:extLst>
      <p:ext uri="{BB962C8B-B14F-4D97-AF65-F5344CB8AC3E}">
        <p14:creationId xmlns:p14="http://schemas.microsoft.com/office/powerpoint/2010/main" val="130411418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m 3" descr="Não foi fornecido texto alternativo para esta imagem">
            <a:extLst>
              <a:ext uri="{FF2B5EF4-FFF2-40B4-BE49-F238E27FC236}">
                <a16:creationId xmlns:a16="http://schemas.microsoft.com/office/drawing/2014/main" id="{D4FC47D3-0CE5-C8BE-29A3-9B070DA5A24B}"/>
              </a:ext>
            </a:extLst>
          </p:cNvPr>
          <p:cNvPicPr>
            <a:picLocks noChangeAspect="1"/>
          </p:cNvPicPr>
          <p:nvPr/>
        </p:nvPicPr>
        <p:blipFill>
          <a:blip r:embed="rId2"/>
          <a:stretch>
            <a:fillRect/>
          </a:stretch>
        </p:blipFill>
        <p:spPr>
          <a:xfrm>
            <a:off x="1308035" y="373811"/>
            <a:ext cx="3954384" cy="6124755"/>
          </a:xfrm>
          <a:prstGeom prst="rect">
            <a:avLst/>
          </a:prstGeom>
        </p:spPr>
      </p:pic>
      <p:sp>
        <p:nvSpPr>
          <p:cNvPr id="5" name="CaixaDeTexto 4">
            <a:extLst>
              <a:ext uri="{FF2B5EF4-FFF2-40B4-BE49-F238E27FC236}">
                <a16:creationId xmlns:a16="http://schemas.microsoft.com/office/drawing/2014/main" id="{0C04E639-9D10-AFC3-A496-6118EBBD0C16}"/>
              </a:ext>
            </a:extLst>
          </p:cNvPr>
          <p:cNvSpPr txBox="1"/>
          <p:nvPr/>
        </p:nvSpPr>
        <p:spPr>
          <a:xfrm>
            <a:off x="5880339" y="5269302"/>
            <a:ext cx="60960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Link: https://www.linkedin.com/posts/gowri-srinivas-guthikonda_activity-7432238921398435840-_kB5?utm_source=share&amp;utm_medium=member_desktop&amp;rcm=ACoAAAMQtAUB5UouXqdBJgo_gWpNVZ7Imay_2Tg</a:t>
            </a:r>
          </a:p>
          <a:p>
            <a:pPr algn="ctr"/>
            <a:endParaRPr lang="pt-BR"/>
          </a:p>
        </p:txBody>
      </p:sp>
    </p:spTree>
    <p:extLst>
      <p:ext uri="{BB962C8B-B14F-4D97-AF65-F5344CB8AC3E}">
        <p14:creationId xmlns:p14="http://schemas.microsoft.com/office/powerpoint/2010/main" val="211508057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A075E1F5-509B-7E61-7EF0-434848CB0449}"/>
              </a:ext>
            </a:extLst>
          </p:cNvPr>
          <p:cNvSpPr txBox="1"/>
          <p:nvPr/>
        </p:nvSpPr>
        <p:spPr>
          <a:xfrm>
            <a:off x="5736566" y="294736"/>
            <a:ext cx="6096000" cy="62786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system-ui"/>
                <a:ea typeface="system-ui"/>
                <a:cs typeface="system-ui"/>
              </a:rPr>
              <a:t>O Poder do GIS </a:t>
            </a:r>
            <a:r>
              <a:rPr lang="en-US" sz="1600" err="1">
                <a:latin typeface="system-ui"/>
                <a:ea typeface="system-ui"/>
                <a:cs typeface="system-ui"/>
              </a:rPr>
              <a:t>na</a:t>
            </a:r>
            <a:r>
              <a:rPr lang="en-US" sz="1600">
                <a:latin typeface="system-ui"/>
                <a:ea typeface="system-ui"/>
                <a:cs typeface="system-ui"/>
              </a:rPr>
              <a:t> </a:t>
            </a:r>
            <a:r>
              <a:rPr lang="en-US" sz="1600" err="1">
                <a:latin typeface="system-ui"/>
                <a:ea typeface="system-ui"/>
                <a:cs typeface="system-ui"/>
              </a:rPr>
              <a:t>Modernização</a:t>
            </a:r>
            <a:r>
              <a:rPr lang="en-US" sz="1600">
                <a:latin typeface="system-ui"/>
                <a:ea typeface="system-ui"/>
                <a:cs typeface="system-ui"/>
              </a:rPr>
              <a:t> do Saneamento!</a:t>
            </a:r>
            <a:br>
              <a:rPr lang="en-US" sz="1600"/>
            </a:br>
            <a:br>
              <a:rPr lang="en-US" sz="1600"/>
            </a:br>
            <a:r>
              <a:rPr lang="en-US" sz="1600" err="1">
                <a:latin typeface="system-ui"/>
                <a:ea typeface="system-ui"/>
                <a:cs typeface="system-ui"/>
              </a:rPr>
              <a:t>Você</a:t>
            </a:r>
            <a:r>
              <a:rPr lang="en-US" sz="1600">
                <a:latin typeface="system-ui"/>
                <a:ea typeface="system-ui"/>
                <a:cs typeface="system-ui"/>
              </a:rPr>
              <a:t> sabia </a:t>
            </a:r>
            <a:r>
              <a:rPr lang="en-US" sz="1600" err="1">
                <a:latin typeface="system-ui"/>
                <a:ea typeface="system-ui"/>
                <a:cs typeface="system-ui"/>
              </a:rPr>
              <a:t>que</a:t>
            </a:r>
            <a:r>
              <a:rPr lang="en-US" sz="1600">
                <a:latin typeface="system-ui"/>
                <a:ea typeface="system-ui"/>
                <a:cs typeface="system-ui"/>
              </a:rPr>
              <a:t> </a:t>
            </a:r>
            <a:r>
              <a:rPr lang="en-US" sz="1600" err="1">
                <a:latin typeface="system-ui"/>
                <a:ea typeface="system-ui"/>
                <a:cs typeface="system-ui"/>
              </a:rPr>
              <a:t>os</a:t>
            </a:r>
            <a:r>
              <a:rPr lang="en-US" sz="1600">
                <a:latin typeface="system-ui"/>
                <a:ea typeface="system-ui"/>
                <a:cs typeface="system-ui"/>
              </a:rPr>
              <a:t> Sistemas de </a:t>
            </a:r>
            <a:r>
              <a:rPr lang="en-US" sz="1600" err="1">
                <a:latin typeface="system-ui"/>
                <a:ea typeface="system-ui"/>
                <a:cs typeface="system-ui"/>
              </a:rPr>
              <a:t>Informações</a:t>
            </a:r>
            <a:r>
              <a:rPr lang="en-US" sz="1600">
                <a:latin typeface="system-ui"/>
                <a:ea typeface="system-ui"/>
                <a:cs typeface="system-ui"/>
              </a:rPr>
              <a:t> </a:t>
            </a:r>
            <a:r>
              <a:rPr lang="en-US" sz="1600" err="1">
                <a:latin typeface="system-ui"/>
                <a:ea typeface="system-ui"/>
                <a:cs typeface="system-ui"/>
              </a:rPr>
              <a:t>Geográficas</a:t>
            </a:r>
            <a:r>
              <a:rPr lang="en-US" sz="1600">
                <a:latin typeface="system-ui"/>
                <a:ea typeface="system-ui"/>
                <a:cs typeface="system-ui"/>
              </a:rPr>
              <a:t> (GIS) </a:t>
            </a:r>
            <a:r>
              <a:rPr lang="en-US" sz="1600" err="1">
                <a:latin typeface="system-ui"/>
                <a:ea typeface="system-ui"/>
                <a:cs typeface="system-ui"/>
              </a:rPr>
              <a:t>são</a:t>
            </a:r>
            <a:r>
              <a:rPr lang="en-US" sz="1600">
                <a:latin typeface="system-ui"/>
                <a:ea typeface="system-ui"/>
                <a:cs typeface="system-ui"/>
              </a:rPr>
              <a:t> ferramentas </a:t>
            </a:r>
            <a:r>
              <a:rPr lang="en-US" sz="1600" err="1">
                <a:latin typeface="system-ui"/>
                <a:ea typeface="system-ui"/>
                <a:cs typeface="system-ui"/>
              </a:rPr>
              <a:t>essenciais</a:t>
            </a:r>
            <a:r>
              <a:rPr lang="en-US" sz="1600">
                <a:latin typeface="system-ui"/>
                <a:ea typeface="system-ui"/>
                <a:cs typeface="system-ui"/>
              </a:rPr>
              <a:t> para </a:t>
            </a:r>
            <a:r>
              <a:rPr lang="en-US" sz="1600" err="1">
                <a:latin typeface="system-ui"/>
                <a:ea typeface="system-ui"/>
                <a:cs typeface="system-ui"/>
              </a:rPr>
              <a:t>enfrentar</a:t>
            </a:r>
            <a:r>
              <a:rPr lang="en-US" sz="1600">
                <a:latin typeface="system-ui"/>
                <a:ea typeface="system-ui"/>
                <a:cs typeface="system-ui"/>
              </a:rPr>
              <a:t> </a:t>
            </a:r>
            <a:r>
              <a:rPr lang="en-US" sz="1600" err="1">
                <a:latin typeface="system-ui"/>
                <a:ea typeface="system-ui"/>
                <a:cs typeface="system-ui"/>
              </a:rPr>
              <a:t>os</a:t>
            </a:r>
            <a:r>
              <a:rPr lang="en-US" sz="1600">
                <a:latin typeface="system-ui"/>
                <a:ea typeface="system-ui"/>
                <a:cs typeface="system-ui"/>
              </a:rPr>
              <a:t> </a:t>
            </a:r>
            <a:r>
              <a:rPr lang="en-US" sz="1600" err="1">
                <a:latin typeface="system-ui"/>
                <a:ea typeface="system-ui"/>
                <a:cs typeface="system-ui"/>
              </a:rPr>
              <a:t>desafios</a:t>
            </a:r>
            <a:r>
              <a:rPr lang="en-US" sz="1600">
                <a:latin typeface="system-ui"/>
                <a:ea typeface="system-ui"/>
                <a:cs typeface="system-ui"/>
              </a:rPr>
              <a:t> do </a:t>
            </a:r>
            <a:r>
              <a:rPr lang="en-US" sz="1600" err="1">
                <a:latin typeface="system-ui"/>
                <a:ea typeface="system-ui"/>
                <a:cs typeface="system-ui"/>
              </a:rPr>
              <a:t>setor</a:t>
            </a:r>
            <a:r>
              <a:rPr lang="en-US" sz="1600">
                <a:latin typeface="system-ui"/>
                <a:ea typeface="system-ui"/>
                <a:cs typeface="system-ui"/>
              </a:rPr>
              <a:t> de </a:t>
            </a:r>
            <a:r>
              <a:rPr lang="en-US" sz="1600" err="1">
                <a:latin typeface="system-ui"/>
                <a:ea typeface="system-ui"/>
                <a:cs typeface="system-ui"/>
              </a:rPr>
              <a:t>saneamento</a:t>
            </a:r>
            <a:r>
              <a:rPr lang="en-US" sz="1600">
                <a:latin typeface="system-ui"/>
                <a:ea typeface="system-ui"/>
                <a:cs typeface="system-ui"/>
              </a:rPr>
              <a:t>? </a:t>
            </a:r>
            <a:r>
              <a:rPr lang="en-US" sz="1600" err="1">
                <a:latin typeface="system-ui"/>
                <a:ea typeface="system-ui"/>
                <a:cs typeface="system-ui"/>
              </a:rPr>
              <a:t>Desde</a:t>
            </a:r>
            <a:r>
              <a:rPr lang="en-US" sz="1600">
                <a:latin typeface="system-ui"/>
                <a:ea typeface="system-ui"/>
                <a:cs typeface="system-ui"/>
              </a:rPr>
              <a:t> o </a:t>
            </a:r>
            <a:r>
              <a:rPr lang="en-US" sz="1600" err="1">
                <a:latin typeface="system-ui"/>
                <a:ea typeface="system-ui"/>
                <a:cs typeface="system-ui"/>
              </a:rPr>
              <a:t>cadastro</a:t>
            </a:r>
            <a:r>
              <a:rPr lang="en-US" sz="1600">
                <a:latin typeface="system-ui"/>
                <a:ea typeface="system-ui"/>
                <a:cs typeface="system-ui"/>
              </a:rPr>
              <a:t> </a:t>
            </a:r>
            <a:r>
              <a:rPr lang="en-US" sz="1600" err="1">
                <a:latin typeface="system-ui"/>
                <a:ea typeface="system-ui"/>
                <a:cs typeface="system-ui"/>
              </a:rPr>
              <a:t>técnico</a:t>
            </a:r>
            <a:r>
              <a:rPr lang="en-US" sz="1600">
                <a:latin typeface="system-ui"/>
                <a:ea typeface="system-ui"/>
                <a:cs typeface="system-ui"/>
              </a:rPr>
              <a:t> de redes </a:t>
            </a:r>
            <a:r>
              <a:rPr lang="en-US" sz="1600" err="1">
                <a:latin typeface="system-ui"/>
                <a:ea typeface="system-ui"/>
                <a:cs typeface="system-ui"/>
              </a:rPr>
              <a:t>até</a:t>
            </a:r>
            <a:r>
              <a:rPr lang="en-US" sz="1600">
                <a:latin typeface="system-ui"/>
                <a:ea typeface="system-ui"/>
                <a:cs typeface="system-ui"/>
              </a:rPr>
              <a:t> a </a:t>
            </a:r>
            <a:r>
              <a:rPr lang="en-US" sz="1600" err="1">
                <a:latin typeface="system-ui"/>
                <a:ea typeface="system-ui"/>
                <a:cs typeface="system-ui"/>
              </a:rPr>
              <a:t>gestão</a:t>
            </a:r>
            <a:r>
              <a:rPr lang="en-US" sz="1600">
                <a:latin typeface="system-ui"/>
                <a:ea typeface="system-ui"/>
                <a:cs typeface="system-ui"/>
              </a:rPr>
              <a:t> de </a:t>
            </a:r>
            <a:r>
              <a:rPr lang="en-US" sz="1600" err="1">
                <a:latin typeface="system-ui"/>
                <a:ea typeface="system-ui"/>
                <a:cs typeface="system-ui"/>
              </a:rPr>
              <a:t>perdas</a:t>
            </a:r>
            <a:r>
              <a:rPr lang="en-US" sz="1600">
                <a:latin typeface="system-ui"/>
                <a:ea typeface="system-ui"/>
                <a:cs typeface="system-ui"/>
              </a:rPr>
              <a:t> de </a:t>
            </a:r>
            <a:r>
              <a:rPr lang="en-US" sz="1600" err="1">
                <a:latin typeface="system-ui"/>
                <a:ea typeface="system-ui"/>
                <a:cs typeface="system-ui"/>
              </a:rPr>
              <a:t>água</a:t>
            </a:r>
            <a:r>
              <a:rPr lang="en-US" sz="1600">
                <a:latin typeface="system-ui"/>
                <a:ea typeface="system-ui"/>
                <a:cs typeface="system-ui"/>
              </a:rPr>
              <a:t>, o GIS </a:t>
            </a:r>
            <a:r>
              <a:rPr lang="en-US" sz="1600" err="1">
                <a:latin typeface="system-ui"/>
                <a:ea typeface="system-ui"/>
                <a:cs typeface="system-ui"/>
              </a:rPr>
              <a:t>oferece</a:t>
            </a:r>
            <a:r>
              <a:rPr lang="en-US" sz="1600">
                <a:latin typeface="system-ui"/>
                <a:ea typeface="system-ui"/>
                <a:cs typeface="system-ui"/>
              </a:rPr>
              <a:t> </a:t>
            </a:r>
            <a:r>
              <a:rPr lang="en-US" sz="1600" err="1">
                <a:latin typeface="system-ui"/>
                <a:ea typeface="system-ui"/>
                <a:cs typeface="system-ui"/>
              </a:rPr>
              <a:t>soluções</a:t>
            </a:r>
            <a:r>
              <a:rPr lang="en-US" sz="1600">
                <a:latin typeface="system-ui"/>
                <a:ea typeface="system-ui"/>
                <a:cs typeface="system-ui"/>
              </a:rPr>
              <a:t> </a:t>
            </a:r>
            <a:r>
              <a:rPr lang="en-US" sz="1600" err="1">
                <a:latin typeface="system-ui"/>
                <a:ea typeface="system-ui"/>
                <a:cs typeface="system-ui"/>
              </a:rPr>
              <a:t>que</a:t>
            </a:r>
            <a:r>
              <a:rPr lang="en-US" sz="1600">
                <a:latin typeface="system-ui"/>
                <a:ea typeface="system-ui"/>
                <a:cs typeface="system-ui"/>
              </a:rPr>
              <a:t> </a:t>
            </a:r>
            <a:r>
              <a:rPr lang="en-US" sz="1600" err="1">
                <a:latin typeface="system-ui"/>
                <a:ea typeface="system-ui"/>
                <a:cs typeface="system-ui"/>
              </a:rPr>
              <a:t>otimizam</a:t>
            </a:r>
            <a:r>
              <a:rPr lang="en-US" sz="1600">
                <a:latin typeface="system-ui"/>
                <a:ea typeface="system-ui"/>
                <a:cs typeface="system-ui"/>
              </a:rPr>
              <a:t> </a:t>
            </a:r>
            <a:r>
              <a:rPr lang="en-US" sz="1600" err="1">
                <a:latin typeface="system-ui"/>
                <a:ea typeface="system-ui"/>
                <a:cs typeface="system-ui"/>
              </a:rPr>
              <a:t>a</a:t>
            </a:r>
            <a:r>
              <a:rPr lang="en-US" sz="1600">
                <a:latin typeface="system-ui"/>
                <a:ea typeface="system-ui"/>
                <a:cs typeface="system-ui"/>
              </a:rPr>
              <a:t> </a:t>
            </a:r>
            <a:r>
              <a:rPr lang="en-US" sz="1600" err="1">
                <a:latin typeface="system-ui"/>
                <a:ea typeface="system-ui"/>
                <a:cs typeface="system-ui"/>
              </a:rPr>
              <a:t>operação</a:t>
            </a:r>
            <a:r>
              <a:rPr lang="en-US" sz="1600">
                <a:latin typeface="system-ui"/>
                <a:ea typeface="system-ui"/>
                <a:cs typeface="system-ui"/>
              </a:rPr>
              <a:t> das </a:t>
            </a:r>
            <a:r>
              <a:rPr lang="en-US" sz="1600" err="1">
                <a:latin typeface="system-ui"/>
                <a:ea typeface="system-ui"/>
                <a:cs typeface="system-ui"/>
              </a:rPr>
              <a:t>companhias</a:t>
            </a:r>
            <a:r>
              <a:rPr lang="en-US" sz="1600">
                <a:latin typeface="system-ui"/>
                <a:ea typeface="system-ui"/>
                <a:cs typeface="system-ui"/>
              </a:rPr>
              <a:t> de </a:t>
            </a:r>
            <a:r>
              <a:rPr lang="en-US" sz="1600" err="1">
                <a:latin typeface="system-ui"/>
                <a:ea typeface="system-ui"/>
                <a:cs typeface="system-ui"/>
              </a:rPr>
              <a:t>saneamento</a:t>
            </a:r>
            <a:r>
              <a:rPr lang="en-US" sz="1600">
                <a:latin typeface="system-ui"/>
                <a:ea typeface="system-ui"/>
                <a:cs typeface="system-ui"/>
              </a:rPr>
              <a:t>, </a:t>
            </a:r>
            <a:r>
              <a:rPr lang="en-US" sz="1600" err="1">
                <a:latin typeface="system-ui"/>
                <a:ea typeface="system-ui"/>
                <a:cs typeface="system-ui"/>
              </a:rPr>
              <a:t>melhoram</a:t>
            </a:r>
            <a:r>
              <a:rPr lang="en-US" sz="1600">
                <a:latin typeface="system-ui"/>
                <a:ea typeface="system-ui"/>
                <a:cs typeface="system-ui"/>
              </a:rPr>
              <a:t> </a:t>
            </a:r>
            <a:r>
              <a:rPr lang="en-US" sz="1600" err="1">
                <a:latin typeface="system-ui"/>
                <a:ea typeface="system-ui"/>
                <a:cs typeface="system-ui"/>
              </a:rPr>
              <a:t>a</a:t>
            </a:r>
            <a:r>
              <a:rPr lang="en-US" sz="1600">
                <a:latin typeface="system-ui"/>
                <a:ea typeface="system-ui"/>
                <a:cs typeface="system-ui"/>
              </a:rPr>
              <a:t> </a:t>
            </a:r>
            <a:r>
              <a:rPr lang="en-US" sz="1600" err="1">
                <a:latin typeface="system-ui"/>
                <a:ea typeface="system-ui"/>
                <a:cs typeface="system-ui"/>
              </a:rPr>
              <a:t>eficiência</a:t>
            </a:r>
            <a:r>
              <a:rPr lang="en-US" sz="1600">
                <a:latin typeface="system-ui"/>
                <a:ea typeface="system-ui"/>
                <a:cs typeface="system-ui"/>
              </a:rPr>
              <a:t> e </a:t>
            </a:r>
            <a:r>
              <a:rPr lang="en-US" sz="1600" err="1">
                <a:latin typeface="system-ui"/>
                <a:ea typeface="system-ui"/>
                <a:cs typeface="system-ui"/>
              </a:rPr>
              <a:t>reduzem</a:t>
            </a:r>
            <a:r>
              <a:rPr lang="en-US" sz="1600">
                <a:latin typeface="system-ui"/>
                <a:ea typeface="system-ui"/>
                <a:cs typeface="system-ui"/>
              </a:rPr>
              <a:t> custos.</a:t>
            </a:r>
            <a:br>
              <a:rPr lang="en-US" sz="1600"/>
            </a:br>
            <a:br>
              <a:rPr lang="en-US" sz="1600"/>
            </a:br>
            <a:r>
              <a:rPr lang="en-US" sz="1600">
                <a:latin typeface="system-ui"/>
                <a:ea typeface="system-ui"/>
                <a:cs typeface="system-ui"/>
              </a:rPr>
              <a:t>Com o </a:t>
            </a:r>
            <a:r>
              <a:rPr lang="en-US" sz="1600" err="1">
                <a:latin typeface="system-ui"/>
                <a:ea typeface="system-ui"/>
                <a:cs typeface="system-ui"/>
              </a:rPr>
              <a:t>avanço</a:t>
            </a:r>
            <a:r>
              <a:rPr lang="en-US" sz="1600">
                <a:latin typeface="system-ui"/>
                <a:ea typeface="system-ui"/>
                <a:cs typeface="system-ui"/>
              </a:rPr>
              <a:t> da </a:t>
            </a:r>
            <a:r>
              <a:rPr lang="en-US" sz="1600" err="1">
                <a:latin typeface="system-ui"/>
                <a:ea typeface="system-ui"/>
                <a:cs typeface="system-ui"/>
              </a:rPr>
              <a:t>tecnologia</a:t>
            </a:r>
            <a:r>
              <a:rPr lang="en-US" sz="1600">
                <a:latin typeface="system-ui"/>
                <a:ea typeface="system-ui"/>
                <a:cs typeface="system-ui"/>
              </a:rPr>
              <a:t>, o </a:t>
            </a:r>
            <a:r>
              <a:rPr lang="en-US" sz="1600" err="1">
                <a:latin typeface="system-ui"/>
                <a:ea typeface="system-ui"/>
                <a:cs typeface="system-ui"/>
              </a:rPr>
              <a:t>modelo</a:t>
            </a:r>
            <a:r>
              <a:rPr lang="en-US" sz="1600">
                <a:latin typeface="system-ui"/>
                <a:ea typeface="system-ui"/>
                <a:cs typeface="system-ui"/>
              </a:rPr>
              <a:t> SaaS (Software as a Service) </a:t>
            </a:r>
            <a:r>
              <a:rPr lang="en-US" sz="1600" err="1">
                <a:latin typeface="system-ui"/>
                <a:ea typeface="system-ui"/>
                <a:cs typeface="system-ui"/>
              </a:rPr>
              <a:t>tornou</a:t>
            </a:r>
            <a:r>
              <a:rPr lang="en-US" sz="1600">
                <a:latin typeface="system-ui"/>
                <a:ea typeface="system-ui"/>
                <a:cs typeface="system-ui"/>
              </a:rPr>
              <a:t> o GIS </a:t>
            </a:r>
            <a:r>
              <a:rPr lang="en-US" sz="1600" err="1">
                <a:latin typeface="system-ui"/>
                <a:ea typeface="system-ui"/>
                <a:cs typeface="system-ui"/>
              </a:rPr>
              <a:t>ainda</a:t>
            </a:r>
            <a:r>
              <a:rPr lang="en-US" sz="1600">
                <a:latin typeface="system-ui"/>
                <a:ea typeface="system-ui"/>
                <a:cs typeface="system-ui"/>
              </a:rPr>
              <a:t> </a:t>
            </a:r>
            <a:r>
              <a:rPr lang="en-US" sz="1600" err="1">
                <a:latin typeface="system-ui"/>
                <a:ea typeface="system-ui"/>
                <a:cs typeface="system-ui"/>
              </a:rPr>
              <a:t>mais</a:t>
            </a:r>
            <a:r>
              <a:rPr lang="en-US" sz="1600">
                <a:latin typeface="system-ui"/>
                <a:ea typeface="system-ui"/>
                <a:cs typeface="system-ui"/>
              </a:rPr>
              <a:t> </a:t>
            </a:r>
            <a:r>
              <a:rPr lang="en-US" sz="1600" err="1">
                <a:latin typeface="system-ui"/>
                <a:ea typeface="system-ui"/>
                <a:cs typeface="system-ui"/>
              </a:rPr>
              <a:t>acessível</a:t>
            </a:r>
            <a:r>
              <a:rPr lang="en-US" sz="1600">
                <a:latin typeface="system-ui"/>
                <a:ea typeface="system-ui"/>
                <a:cs typeface="system-ui"/>
              </a:rPr>
              <a:t>, </a:t>
            </a:r>
            <a:r>
              <a:rPr lang="en-US" sz="1600" err="1">
                <a:latin typeface="system-ui"/>
                <a:ea typeface="system-ui"/>
                <a:cs typeface="system-ui"/>
              </a:rPr>
              <a:t>permitindo</a:t>
            </a:r>
            <a:r>
              <a:rPr lang="en-US" sz="1600">
                <a:latin typeface="system-ui"/>
                <a:ea typeface="system-ui"/>
                <a:cs typeface="system-ui"/>
              </a:rPr>
              <a:t> </a:t>
            </a:r>
            <a:r>
              <a:rPr lang="en-US" sz="1600" err="1">
                <a:latin typeface="system-ui"/>
                <a:ea typeface="system-ui"/>
                <a:cs typeface="system-ui"/>
              </a:rPr>
              <a:t>que</a:t>
            </a:r>
            <a:r>
              <a:rPr lang="en-US" sz="1600">
                <a:latin typeface="system-ui"/>
                <a:ea typeface="system-ui"/>
                <a:cs typeface="system-ui"/>
              </a:rPr>
              <a:t> </a:t>
            </a:r>
            <a:r>
              <a:rPr lang="en-US" sz="1600" err="1">
                <a:latin typeface="system-ui"/>
                <a:ea typeface="system-ui"/>
                <a:cs typeface="system-ui"/>
              </a:rPr>
              <a:t>empresas</a:t>
            </a:r>
            <a:r>
              <a:rPr lang="en-US" sz="1600">
                <a:latin typeface="system-ui"/>
                <a:ea typeface="system-ui"/>
                <a:cs typeface="system-ui"/>
              </a:rPr>
              <a:t> de </a:t>
            </a:r>
            <a:r>
              <a:rPr lang="en-US" sz="1600" err="1">
                <a:latin typeface="system-ui"/>
                <a:ea typeface="system-ui"/>
                <a:cs typeface="system-ui"/>
              </a:rPr>
              <a:t>todos</a:t>
            </a:r>
            <a:r>
              <a:rPr lang="en-US" sz="1600">
                <a:latin typeface="system-ui"/>
                <a:ea typeface="system-ui"/>
                <a:cs typeface="system-ui"/>
              </a:rPr>
              <a:t> </a:t>
            </a:r>
            <a:r>
              <a:rPr lang="en-US" sz="1600" err="1">
                <a:latin typeface="system-ui"/>
                <a:ea typeface="system-ui"/>
                <a:cs typeface="system-ui"/>
              </a:rPr>
              <a:t>os</a:t>
            </a:r>
            <a:r>
              <a:rPr lang="en-US" sz="1600">
                <a:latin typeface="system-ui"/>
                <a:ea typeface="system-ui"/>
                <a:cs typeface="system-ui"/>
              </a:rPr>
              <a:t> </a:t>
            </a:r>
            <a:r>
              <a:rPr lang="en-US" sz="1600" err="1">
                <a:latin typeface="system-ui"/>
                <a:ea typeface="system-ui"/>
                <a:cs typeface="system-ui"/>
              </a:rPr>
              <a:t>portes</a:t>
            </a:r>
            <a:r>
              <a:rPr lang="en-US" sz="1600">
                <a:latin typeface="system-ui"/>
                <a:ea typeface="system-ui"/>
                <a:cs typeface="system-ui"/>
              </a:rPr>
              <a:t> </a:t>
            </a:r>
            <a:r>
              <a:rPr lang="en-US" sz="1600" err="1">
                <a:latin typeface="system-ui"/>
                <a:ea typeface="system-ui"/>
                <a:cs typeface="system-ui"/>
              </a:rPr>
              <a:t>usufruam</a:t>
            </a:r>
            <a:r>
              <a:rPr lang="en-US" sz="1600">
                <a:latin typeface="system-ui"/>
                <a:ea typeface="system-ui"/>
                <a:cs typeface="system-ui"/>
              </a:rPr>
              <a:t> de ferramentas </a:t>
            </a:r>
            <a:r>
              <a:rPr lang="en-US" sz="1600" err="1">
                <a:latin typeface="system-ui"/>
                <a:ea typeface="system-ui"/>
                <a:cs typeface="system-ui"/>
              </a:rPr>
              <a:t>sofisticadas</a:t>
            </a:r>
            <a:r>
              <a:rPr lang="en-US" sz="1600">
                <a:latin typeface="system-ui"/>
                <a:ea typeface="system-ui"/>
                <a:cs typeface="system-ui"/>
              </a:rPr>
              <a:t> </a:t>
            </a:r>
            <a:r>
              <a:rPr lang="en-US" sz="1600" err="1">
                <a:latin typeface="system-ui"/>
                <a:ea typeface="system-ui"/>
                <a:cs typeface="system-ui"/>
              </a:rPr>
              <a:t>sem</a:t>
            </a:r>
            <a:r>
              <a:rPr lang="en-US" sz="1600">
                <a:latin typeface="system-ui"/>
                <a:ea typeface="system-ui"/>
                <a:cs typeface="system-ui"/>
              </a:rPr>
              <a:t> a </a:t>
            </a:r>
            <a:r>
              <a:rPr lang="en-US" sz="1600" err="1">
                <a:latin typeface="system-ui"/>
                <a:ea typeface="system-ui"/>
                <a:cs typeface="system-ui"/>
              </a:rPr>
              <a:t>necessidade</a:t>
            </a:r>
            <a:r>
              <a:rPr lang="en-US" sz="1600">
                <a:latin typeface="system-ui"/>
                <a:ea typeface="system-ui"/>
                <a:cs typeface="system-ui"/>
              </a:rPr>
              <a:t> de </a:t>
            </a:r>
            <a:r>
              <a:rPr lang="en-US" sz="1600" err="1">
                <a:latin typeface="system-ui"/>
                <a:ea typeface="system-ui"/>
                <a:cs typeface="system-ui"/>
              </a:rPr>
              <a:t>grandes</a:t>
            </a:r>
            <a:r>
              <a:rPr lang="en-US" sz="1600">
                <a:latin typeface="system-ui"/>
                <a:ea typeface="system-ui"/>
                <a:cs typeface="system-ui"/>
              </a:rPr>
              <a:t> </a:t>
            </a:r>
            <a:r>
              <a:rPr lang="en-US" sz="1600" err="1">
                <a:latin typeface="system-ui"/>
                <a:ea typeface="system-ui"/>
                <a:cs typeface="system-ui"/>
              </a:rPr>
              <a:t>investimentos</a:t>
            </a:r>
            <a:r>
              <a:rPr lang="en-US" sz="1600">
                <a:latin typeface="system-ui"/>
                <a:ea typeface="system-ui"/>
                <a:cs typeface="system-ui"/>
              </a:rPr>
              <a:t> </a:t>
            </a:r>
            <a:r>
              <a:rPr lang="en-US" sz="1600" err="1">
                <a:latin typeface="system-ui"/>
                <a:ea typeface="system-ui"/>
                <a:cs typeface="system-ui"/>
              </a:rPr>
              <a:t>em</a:t>
            </a:r>
            <a:r>
              <a:rPr lang="en-US" sz="1600">
                <a:latin typeface="system-ui"/>
                <a:ea typeface="system-ui"/>
                <a:cs typeface="system-ui"/>
              </a:rPr>
              <a:t> </a:t>
            </a:r>
            <a:r>
              <a:rPr lang="en-US" sz="1600" err="1">
                <a:latin typeface="system-ui"/>
                <a:ea typeface="system-ui"/>
                <a:cs typeface="system-ui"/>
              </a:rPr>
              <a:t>infraestrutura</a:t>
            </a:r>
            <a:r>
              <a:rPr lang="en-US" sz="1600">
                <a:latin typeface="system-ui"/>
                <a:ea typeface="system-ui"/>
                <a:cs typeface="system-ui"/>
              </a:rPr>
              <a:t>. O </a:t>
            </a:r>
            <a:r>
              <a:rPr lang="en-US" sz="1600" err="1">
                <a:latin typeface="system-ui"/>
                <a:ea typeface="system-ui"/>
                <a:cs typeface="system-ui"/>
              </a:rPr>
              <a:t>GeoMonitora</a:t>
            </a:r>
            <a:r>
              <a:rPr lang="en-US" sz="1600">
                <a:latin typeface="system-ui"/>
                <a:ea typeface="system-ui"/>
                <a:cs typeface="system-ui"/>
              </a:rPr>
              <a:t>, </a:t>
            </a:r>
            <a:r>
              <a:rPr lang="en-US" sz="1600" err="1">
                <a:latin typeface="system-ui"/>
                <a:ea typeface="system-ui"/>
                <a:cs typeface="system-ui"/>
              </a:rPr>
              <a:t>solução</a:t>
            </a:r>
            <a:r>
              <a:rPr lang="en-US" sz="1600">
                <a:latin typeface="system-ui"/>
                <a:ea typeface="system-ui"/>
                <a:cs typeface="system-ui"/>
              </a:rPr>
              <a:t> </a:t>
            </a:r>
            <a:r>
              <a:rPr lang="en-US" sz="1600" err="1">
                <a:latin typeface="system-ui"/>
                <a:ea typeface="system-ui"/>
                <a:cs typeface="system-ui"/>
              </a:rPr>
              <a:t>desenvolvida</a:t>
            </a:r>
            <a:r>
              <a:rPr lang="en-US" sz="1600">
                <a:latin typeface="system-ui"/>
                <a:ea typeface="system-ui"/>
                <a:cs typeface="system-ui"/>
              </a:rPr>
              <a:t> pela </a:t>
            </a:r>
            <a:r>
              <a:rPr lang="en-US" sz="1600" err="1">
                <a:latin typeface="system-ui"/>
                <a:ea typeface="system-ui"/>
                <a:cs typeface="system-ui"/>
              </a:rPr>
              <a:t>Monitora</a:t>
            </a:r>
            <a:r>
              <a:rPr lang="en-US" sz="1600">
                <a:latin typeface="system-ui"/>
                <a:ea typeface="system-ui"/>
                <a:cs typeface="system-ui"/>
              </a:rPr>
              <a:t>, é um </a:t>
            </a:r>
            <a:r>
              <a:rPr lang="en-US" sz="1600" err="1">
                <a:latin typeface="system-ui"/>
                <a:ea typeface="system-ui"/>
                <a:cs typeface="system-ui"/>
              </a:rPr>
              <a:t>exemplo</a:t>
            </a:r>
            <a:r>
              <a:rPr lang="en-US" sz="1600">
                <a:latin typeface="system-ui"/>
                <a:ea typeface="system-ui"/>
                <a:cs typeface="system-ui"/>
              </a:rPr>
              <a:t> </a:t>
            </a:r>
            <a:r>
              <a:rPr lang="en-US" sz="1600" err="1">
                <a:latin typeface="system-ui"/>
                <a:ea typeface="system-ui"/>
                <a:cs typeface="system-ui"/>
              </a:rPr>
              <a:t>disso</a:t>
            </a:r>
            <a:r>
              <a:rPr lang="en-US" sz="1600">
                <a:latin typeface="system-ui"/>
                <a:ea typeface="system-ui"/>
                <a:cs typeface="system-ui"/>
              </a:rPr>
              <a:t>: </a:t>
            </a:r>
            <a:r>
              <a:rPr lang="en-US" sz="1600" err="1">
                <a:latin typeface="system-ui"/>
                <a:ea typeface="system-ui"/>
                <a:cs typeface="system-ui"/>
              </a:rPr>
              <a:t>uma</a:t>
            </a:r>
            <a:r>
              <a:rPr lang="en-US" sz="1600">
                <a:latin typeface="system-ui"/>
                <a:ea typeface="system-ui"/>
                <a:cs typeface="system-ui"/>
              </a:rPr>
              <a:t> </a:t>
            </a:r>
            <a:r>
              <a:rPr lang="en-US" sz="1600" err="1">
                <a:latin typeface="system-ui"/>
                <a:ea typeface="system-ui"/>
                <a:cs typeface="system-ui"/>
              </a:rPr>
              <a:t>aplicação</a:t>
            </a:r>
            <a:r>
              <a:rPr lang="en-US" sz="1600">
                <a:latin typeface="system-ui"/>
                <a:ea typeface="system-ui"/>
                <a:cs typeface="system-ui"/>
              </a:rPr>
              <a:t> GIS </a:t>
            </a:r>
            <a:r>
              <a:rPr lang="en-US" sz="1600" err="1">
                <a:latin typeface="system-ui"/>
                <a:ea typeface="system-ui"/>
                <a:cs typeface="system-ui"/>
              </a:rPr>
              <a:t>totalmente</a:t>
            </a:r>
            <a:r>
              <a:rPr lang="en-US" sz="1600">
                <a:latin typeface="system-ui"/>
                <a:ea typeface="system-ui"/>
                <a:cs typeface="system-ui"/>
              </a:rPr>
              <a:t> via web, </a:t>
            </a:r>
            <a:r>
              <a:rPr lang="en-US" sz="1600" err="1">
                <a:latin typeface="system-ui"/>
                <a:ea typeface="system-ui"/>
                <a:cs typeface="system-ui"/>
              </a:rPr>
              <a:t>que</a:t>
            </a:r>
            <a:r>
              <a:rPr lang="en-US" sz="1600">
                <a:latin typeface="system-ui"/>
                <a:ea typeface="system-ui"/>
                <a:cs typeface="system-ui"/>
              </a:rPr>
              <a:t> </a:t>
            </a:r>
            <a:r>
              <a:rPr lang="en-US" sz="1600" err="1">
                <a:latin typeface="system-ui"/>
                <a:ea typeface="system-ui"/>
                <a:cs typeface="system-ui"/>
              </a:rPr>
              <a:t>democratiza</a:t>
            </a:r>
            <a:r>
              <a:rPr lang="en-US" sz="1600">
                <a:latin typeface="system-ui"/>
                <a:ea typeface="system-ui"/>
                <a:cs typeface="system-ui"/>
              </a:rPr>
              <a:t> o </a:t>
            </a:r>
            <a:r>
              <a:rPr lang="en-US" sz="1600" err="1">
                <a:latin typeface="system-ui"/>
                <a:ea typeface="system-ui"/>
                <a:cs typeface="system-ui"/>
              </a:rPr>
              <a:t>acesso</a:t>
            </a:r>
            <a:r>
              <a:rPr lang="en-US" sz="1600">
                <a:latin typeface="system-ui"/>
                <a:ea typeface="system-ui"/>
                <a:cs typeface="system-ui"/>
              </a:rPr>
              <a:t> </a:t>
            </a:r>
            <a:r>
              <a:rPr lang="en-US" sz="1600" err="1">
                <a:latin typeface="system-ui"/>
                <a:ea typeface="system-ui"/>
                <a:cs typeface="system-ui"/>
              </a:rPr>
              <a:t>a</a:t>
            </a:r>
            <a:r>
              <a:rPr lang="en-US" sz="1600">
                <a:latin typeface="system-ui"/>
                <a:ea typeface="system-ui"/>
                <a:cs typeface="system-ui"/>
              </a:rPr>
              <a:t> </a:t>
            </a:r>
            <a:r>
              <a:rPr lang="en-US" sz="1600" err="1">
                <a:latin typeface="system-ui"/>
                <a:ea typeface="system-ui"/>
                <a:cs typeface="system-ui"/>
              </a:rPr>
              <a:t>informações</a:t>
            </a:r>
            <a:r>
              <a:rPr lang="en-US" sz="1600">
                <a:latin typeface="system-ui"/>
                <a:ea typeface="system-ui"/>
                <a:cs typeface="system-ui"/>
              </a:rPr>
              <a:t> </a:t>
            </a:r>
            <a:r>
              <a:rPr lang="en-US" sz="1600" err="1">
                <a:latin typeface="system-ui"/>
                <a:ea typeface="system-ui"/>
                <a:cs typeface="system-ui"/>
              </a:rPr>
              <a:t>críticas</a:t>
            </a:r>
            <a:r>
              <a:rPr lang="en-US" sz="1600">
                <a:latin typeface="system-ui"/>
                <a:ea typeface="system-ui"/>
                <a:cs typeface="system-ui"/>
              </a:rPr>
              <a:t>, </a:t>
            </a:r>
            <a:r>
              <a:rPr lang="en-US" sz="1600" err="1">
                <a:latin typeface="system-ui"/>
                <a:ea typeface="system-ui"/>
                <a:cs typeface="system-ui"/>
              </a:rPr>
              <a:t>garantindo</a:t>
            </a:r>
            <a:r>
              <a:rPr lang="en-US" sz="1600">
                <a:latin typeface="system-ui"/>
                <a:ea typeface="system-ui"/>
                <a:cs typeface="system-ui"/>
              </a:rPr>
              <a:t> </a:t>
            </a:r>
            <a:r>
              <a:rPr lang="en-US" sz="1600" err="1">
                <a:latin typeface="system-ui"/>
                <a:ea typeface="system-ui"/>
                <a:cs typeface="system-ui"/>
              </a:rPr>
              <a:t>flexibilidade</a:t>
            </a:r>
            <a:r>
              <a:rPr lang="en-US" sz="1600">
                <a:latin typeface="system-ui"/>
                <a:ea typeface="system-ui"/>
                <a:cs typeface="system-ui"/>
              </a:rPr>
              <a:t>, </a:t>
            </a:r>
            <a:r>
              <a:rPr lang="en-US" sz="1600" err="1">
                <a:latin typeface="system-ui"/>
                <a:ea typeface="system-ui"/>
                <a:cs typeface="system-ui"/>
              </a:rPr>
              <a:t>segurança</a:t>
            </a:r>
            <a:r>
              <a:rPr lang="en-US" sz="1600">
                <a:latin typeface="system-ui"/>
                <a:ea typeface="system-ui"/>
                <a:cs typeface="system-ui"/>
              </a:rPr>
              <a:t> e </a:t>
            </a:r>
            <a:r>
              <a:rPr lang="en-US" sz="1600" err="1">
                <a:latin typeface="system-ui"/>
                <a:ea typeface="system-ui"/>
                <a:cs typeface="system-ui"/>
              </a:rPr>
              <a:t>inovação</a:t>
            </a:r>
            <a:r>
              <a:rPr lang="en-US" sz="1600">
                <a:latin typeface="system-ui"/>
                <a:ea typeface="system-ui"/>
                <a:cs typeface="system-ui"/>
              </a:rPr>
              <a:t>.</a:t>
            </a:r>
            <a:br>
              <a:rPr lang="en-US" sz="1600"/>
            </a:br>
            <a:br>
              <a:rPr lang="en-US" sz="1600"/>
            </a:br>
            <a:r>
              <a:rPr lang="en-US" sz="1600" err="1">
                <a:latin typeface="system-ui"/>
                <a:ea typeface="system-ui"/>
                <a:cs typeface="system-ui"/>
              </a:rPr>
              <a:t>Quer</a:t>
            </a:r>
            <a:r>
              <a:rPr lang="en-US" sz="1600">
                <a:latin typeface="system-ui"/>
                <a:ea typeface="system-ui"/>
                <a:cs typeface="system-ui"/>
              </a:rPr>
              <a:t> saber </a:t>
            </a:r>
            <a:r>
              <a:rPr lang="en-US" sz="1600" err="1">
                <a:latin typeface="system-ui"/>
                <a:ea typeface="system-ui"/>
                <a:cs typeface="system-ui"/>
              </a:rPr>
              <a:t>mais</a:t>
            </a:r>
            <a:r>
              <a:rPr lang="en-US" sz="1600">
                <a:latin typeface="system-ui"/>
                <a:ea typeface="system-ui"/>
                <a:cs typeface="system-ui"/>
              </a:rPr>
              <a:t> </a:t>
            </a:r>
            <a:r>
              <a:rPr lang="en-US" sz="1600" err="1">
                <a:latin typeface="system-ui"/>
                <a:ea typeface="system-ui"/>
                <a:cs typeface="system-ui"/>
              </a:rPr>
              <a:t>sobre</a:t>
            </a:r>
            <a:r>
              <a:rPr lang="en-US" sz="1600">
                <a:latin typeface="system-ui"/>
                <a:ea typeface="system-ui"/>
                <a:cs typeface="system-ui"/>
              </a:rPr>
              <a:t> </a:t>
            </a:r>
            <a:r>
              <a:rPr lang="en-US" sz="1600" err="1">
                <a:latin typeface="system-ui"/>
                <a:ea typeface="system-ui"/>
                <a:cs typeface="system-ui"/>
              </a:rPr>
              <a:t>como</a:t>
            </a:r>
            <a:r>
              <a:rPr lang="en-US" sz="1600">
                <a:latin typeface="system-ui"/>
                <a:ea typeface="system-ui"/>
                <a:cs typeface="system-ui"/>
              </a:rPr>
              <a:t> o GIS </a:t>
            </a:r>
            <a:r>
              <a:rPr lang="en-US" sz="1600" err="1">
                <a:latin typeface="system-ui"/>
                <a:ea typeface="system-ui"/>
                <a:cs typeface="system-ui"/>
              </a:rPr>
              <a:t>está</a:t>
            </a:r>
            <a:r>
              <a:rPr lang="en-US" sz="1600">
                <a:latin typeface="system-ui"/>
                <a:ea typeface="system-ui"/>
                <a:cs typeface="system-ui"/>
              </a:rPr>
              <a:t> </a:t>
            </a:r>
            <a:r>
              <a:rPr lang="en-US" sz="1600" err="1">
                <a:latin typeface="system-ui"/>
                <a:ea typeface="system-ui"/>
                <a:cs typeface="system-ui"/>
              </a:rPr>
              <a:t>transformando</a:t>
            </a:r>
            <a:r>
              <a:rPr lang="en-US" sz="1600">
                <a:latin typeface="system-ui"/>
                <a:ea typeface="system-ui"/>
                <a:cs typeface="system-ui"/>
              </a:rPr>
              <a:t> o </a:t>
            </a:r>
            <a:r>
              <a:rPr lang="en-US" sz="1600" err="1">
                <a:latin typeface="system-ui"/>
                <a:ea typeface="system-ui"/>
                <a:cs typeface="system-ui"/>
              </a:rPr>
              <a:t>saneamento</a:t>
            </a:r>
            <a:r>
              <a:rPr lang="en-US" sz="1600">
                <a:latin typeface="system-ui"/>
                <a:ea typeface="system-ui"/>
                <a:cs typeface="system-ui"/>
              </a:rPr>
              <a:t>? E </a:t>
            </a:r>
            <a:r>
              <a:rPr lang="en-US" sz="1600" err="1">
                <a:latin typeface="system-ui"/>
                <a:ea typeface="system-ui"/>
                <a:cs typeface="system-ui"/>
              </a:rPr>
              <a:t>como</a:t>
            </a:r>
            <a:r>
              <a:rPr lang="en-US" sz="1600">
                <a:latin typeface="system-ui"/>
                <a:ea typeface="system-ui"/>
                <a:cs typeface="system-ui"/>
              </a:rPr>
              <a:t> o </a:t>
            </a:r>
            <a:r>
              <a:rPr lang="en-US" sz="1600" err="1">
                <a:latin typeface="system-ui"/>
                <a:ea typeface="system-ui"/>
                <a:cs typeface="system-ui"/>
              </a:rPr>
              <a:t>GeoMonitora</a:t>
            </a:r>
            <a:r>
              <a:rPr lang="en-US" sz="1600">
                <a:latin typeface="system-ui"/>
                <a:ea typeface="system-ui"/>
                <a:cs typeface="system-ui"/>
              </a:rPr>
              <a:t> </a:t>
            </a:r>
            <a:r>
              <a:rPr lang="en-US" sz="1600" err="1">
                <a:latin typeface="system-ui"/>
                <a:ea typeface="system-ui"/>
                <a:cs typeface="system-ui"/>
              </a:rPr>
              <a:t>pode</a:t>
            </a:r>
            <a:r>
              <a:rPr lang="en-US" sz="1600">
                <a:latin typeface="system-ui"/>
                <a:ea typeface="system-ui"/>
                <a:cs typeface="system-ui"/>
              </a:rPr>
              <a:t> se </a:t>
            </a:r>
            <a:r>
              <a:rPr lang="en-US" sz="1600" err="1">
                <a:latin typeface="system-ui"/>
                <a:ea typeface="system-ui"/>
                <a:cs typeface="system-ui"/>
              </a:rPr>
              <a:t>adaptar</a:t>
            </a:r>
            <a:r>
              <a:rPr lang="en-US" sz="1600">
                <a:latin typeface="system-ui"/>
                <a:ea typeface="system-ui"/>
                <a:cs typeface="system-ui"/>
              </a:rPr>
              <a:t> as </a:t>
            </a:r>
            <a:r>
              <a:rPr lang="en-US" sz="1600" err="1">
                <a:latin typeface="system-ui"/>
                <a:ea typeface="system-ui"/>
                <a:cs typeface="system-ui"/>
              </a:rPr>
              <a:t>suas</a:t>
            </a:r>
            <a:r>
              <a:rPr lang="en-US" sz="1600">
                <a:latin typeface="system-ui"/>
                <a:ea typeface="system-ui"/>
                <a:cs typeface="system-ui"/>
              </a:rPr>
              <a:t> </a:t>
            </a:r>
            <a:r>
              <a:rPr lang="en-US" sz="1600" err="1">
                <a:latin typeface="system-ui"/>
                <a:ea typeface="system-ui"/>
                <a:cs typeface="system-ui"/>
              </a:rPr>
              <a:t>necessidades</a:t>
            </a:r>
            <a:r>
              <a:rPr lang="en-US" sz="1600">
                <a:latin typeface="system-ui"/>
                <a:ea typeface="system-ui"/>
                <a:cs typeface="system-ui"/>
              </a:rPr>
              <a:t>? Leia o </a:t>
            </a:r>
            <a:r>
              <a:rPr lang="en-US" sz="1600" err="1">
                <a:latin typeface="system-ui"/>
                <a:ea typeface="system-ui"/>
                <a:cs typeface="system-ui"/>
              </a:rPr>
              <a:t>artigo</a:t>
            </a:r>
            <a:r>
              <a:rPr lang="en-US" sz="1600">
                <a:latin typeface="system-ui"/>
                <a:ea typeface="system-ui"/>
                <a:cs typeface="system-ui"/>
              </a:rPr>
              <a:t> </a:t>
            </a:r>
            <a:r>
              <a:rPr lang="en-US" sz="1600" err="1">
                <a:latin typeface="system-ui"/>
                <a:ea typeface="system-ui"/>
                <a:cs typeface="system-ui"/>
              </a:rPr>
              <a:t>completo</a:t>
            </a:r>
            <a:r>
              <a:rPr lang="en-US" sz="1600">
                <a:latin typeface="system-ui"/>
                <a:ea typeface="system-ui"/>
                <a:cs typeface="system-ui"/>
              </a:rPr>
              <a:t> e </a:t>
            </a:r>
            <a:r>
              <a:rPr lang="en-US" sz="1600" err="1">
                <a:latin typeface="system-ui"/>
                <a:ea typeface="system-ui"/>
                <a:cs typeface="system-ui"/>
              </a:rPr>
              <a:t>descubra</a:t>
            </a:r>
            <a:r>
              <a:rPr lang="en-US" sz="1600">
                <a:latin typeface="system-ui"/>
                <a:ea typeface="system-ui"/>
                <a:cs typeface="system-ui"/>
              </a:rPr>
              <a:t> </a:t>
            </a:r>
            <a:r>
              <a:rPr lang="en-US" sz="1600" err="1">
                <a:latin typeface="system-ui"/>
                <a:ea typeface="system-ui"/>
                <a:cs typeface="system-ui"/>
              </a:rPr>
              <a:t>como</a:t>
            </a:r>
            <a:r>
              <a:rPr lang="en-US" sz="1600">
                <a:latin typeface="system-ui"/>
                <a:ea typeface="system-ui"/>
                <a:cs typeface="system-ui"/>
              </a:rPr>
              <a:t> </a:t>
            </a:r>
            <a:r>
              <a:rPr lang="en-US" sz="1600" err="1">
                <a:latin typeface="system-ui"/>
                <a:ea typeface="system-ui"/>
                <a:cs typeface="system-ui"/>
              </a:rPr>
              <a:t>sua</a:t>
            </a:r>
            <a:r>
              <a:rPr lang="en-US" sz="1600">
                <a:latin typeface="system-ui"/>
                <a:ea typeface="system-ui"/>
                <a:cs typeface="system-ui"/>
              </a:rPr>
              <a:t> </a:t>
            </a:r>
            <a:r>
              <a:rPr lang="en-US" sz="1600" err="1">
                <a:latin typeface="system-ui"/>
                <a:ea typeface="system-ui"/>
                <a:cs typeface="system-ui"/>
              </a:rPr>
              <a:t>empresa</a:t>
            </a:r>
            <a:r>
              <a:rPr lang="en-US" sz="1600">
                <a:latin typeface="system-ui"/>
                <a:ea typeface="system-ui"/>
                <a:cs typeface="system-ui"/>
              </a:rPr>
              <a:t> </a:t>
            </a:r>
            <a:r>
              <a:rPr lang="en-US" sz="1600" err="1">
                <a:latin typeface="system-ui"/>
                <a:ea typeface="system-ui"/>
                <a:cs typeface="system-ui"/>
              </a:rPr>
              <a:t>pode</a:t>
            </a:r>
            <a:r>
              <a:rPr lang="en-US" sz="1600">
                <a:latin typeface="system-ui"/>
                <a:ea typeface="system-ui"/>
                <a:cs typeface="system-ui"/>
              </a:rPr>
              <a:t> se </a:t>
            </a:r>
            <a:r>
              <a:rPr lang="en-US" sz="1600" err="1">
                <a:latin typeface="system-ui"/>
                <a:ea typeface="system-ui"/>
                <a:cs typeface="system-ui"/>
              </a:rPr>
              <a:t>beneficiar</a:t>
            </a:r>
            <a:r>
              <a:rPr lang="en-US" sz="1600">
                <a:latin typeface="system-ui"/>
                <a:ea typeface="system-ui"/>
                <a:cs typeface="system-ui"/>
              </a:rPr>
              <a:t> dessa </a:t>
            </a:r>
            <a:r>
              <a:rPr lang="en-US" sz="1600" err="1">
                <a:latin typeface="system-ui"/>
                <a:ea typeface="system-ui"/>
                <a:cs typeface="system-ui"/>
              </a:rPr>
              <a:t>tecnologia</a:t>
            </a:r>
            <a:r>
              <a:rPr lang="en-US" sz="1600">
                <a:latin typeface="system-ui"/>
                <a:ea typeface="system-ui"/>
                <a:cs typeface="system-ui"/>
              </a:rPr>
              <a:t>!</a:t>
            </a:r>
            <a:br>
              <a:rPr lang="en-US" sz="1600"/>
            </a:br>
            <a:r>
              <a:rPr lang="en-US" sz="1600">
                <a:latin typeface="system-ui"/>
                <a:ea typeface="system-ui"/>
                <a:cs typeface="system-ui"/>
              </a:rPr>
              <a:t> </a:t>
            </a:r>
            <a:br>
              <a:rPr lang="en-US" sz="1600"/>
            </a:br>
            <a:r>
              <a:rPr lang="en-US" sz="1600">
                <a:latin typeface="system-ui"/>
                <a:ea typeface="system-ui"/>
                <a:cs typeface="system-ui"/>
              </a:rPr>
              <a:t>Somos </a:t>
            </a:r>
            <a:r>
              <a:rPr lang="en-US" sz="1600" err="1">
                <a:latin typeface="system-ui"/>
                <a:ea typeface="system-ui"/>
                <a:cs typeface="system-ui"/>
              </a:rPr>
              <a:t>Especialistas</a:t>
            </a:r>
            <a:r>
              <a:rPr lang="en-US" sz="1600">
                <a:latin typeface="system-ui"/>
                <a:ea typeface="system-ui"/>
                <a:cs typeface="system-ui"/>
              </a:rPr>
              <a:t> </a:t>
            </a:r>
            <a:r>
              <a:rPr lang="en-US" sz="1600" err="1">
                <a:latin typeface="system-ui"/>
                <a:ea typeface="system-ui"/>
                <a:cs typeface="system-ui"/>
              </a:rPr>
              <a:t>em</a:t>
            </a:r>
            <a:r>
              <a:rPr lang="en-US" sz="1600">
                <a:latin typeface="system-ui"/>
                <a:ea typeface="system-ui"/>
                <a:cs typeface="system-ui"/>
              </a:rPr>
              <a:t> </a:t>
            </a:r>
            <a:r>
              <a:rPr lang="en-US" sz="1600" err="1">
                <a:latin typeface="system-ui"/>
                <a:ea typeface="system-ui"/>
                <a:cs typeface="system-ui"/>
              </a:rPr>
              <a:t>Gestão</a:t>
            </a:r>
            <a:r>
              <a:rPr lang="en-US" sz="1600">
                <a:latin typeface="system-ui"/>
                <a:ea typeface="system-ui"/>
                <a:cs typeface="system-ui"/>
              </a:rPr>
              <a:t> da </a:t>
            </a:r>
            <a:r>
              <a:rPr lang="en-US" sz="1600" err="1">
                <a:latin typeface="system-ui"/>
                <a:ea typeface="system-ui"/>
                <a:cs typeface="system-ui"/>
              </a:rPr>
              <a:t>Água</a:t>
            </a:r>
            <a:r>
              <a:rPr lang="en-US" sz="1600">
                <a:latin typeface="system-ui"/>
                <a:ea typeface="system-ui"/>
                <a:cs typeface="system-ui"/>
              </a:rPr>
              <a:t> | Maior </a:t>
            </a:r>
            <a:r>
              <a:rPr lang="en-US" sz="1600" err="1">
                <a:latin typeface="system-ui"/>
                <a:ea typeface="system-ui"/>
                <a:cs typeface="system-ui"/>
              </a:rPr>
              <a:t>bem</a:t>
            </a:r>
            <a:r>
              <a:rPr lang="en-US" sz="1600">
                <a:latin typeface="system-ui"/>
                <a:ea typeface="system-ui"/>
                <a:cs typeface="system-ui"/>
              </a:rPr>
              <a:t> do Mundo</a:t>
            </a:r>
            <a:br>
              <a:rPr lang="en-US" sz="1600"/>
            </a:br>
            <a:br>
              <a:rPr lang="en-US" sz="1600"/>
            </a:br>
            <a:r>
              <a:rPr lang="en-US" sz="1600" b="1" u="none" strike="noStrike">
                <a:solidFill>
                  <a:srgbClr val="0A66C2"/>
                </a:solidFill>
                <a:latin typeface="inherit"/>
                <a:ea typeface="inherit"/>
                <a:cs typeface="inherit"/>
                <a:hlinkClick r:id="rId2"/>
              </a:rPr>
              <a:t>https://lnkd.in/d9c8VAVe</a:t>
            </a:r>
            <a:endParaRPr lang="en-US" sz="1600"/>
          </a:p>
          <a:p>
            <a:pPr algn="ctr"/>
            <a:endParaRPr lang="pt-BR"/>
          </a:p>
        </p:txBody>
      </p:sp>
      <p:pic>
        <p:nvPicPr>
          <p:cNvPr id="5" name="Imagem 4" descr="Interface gráfica do usuário, Site&#10;&#10;O conteúdo gerado por IA pode estar incorreto.">
            <a:extLst>
              <a:ext uri="{FF2B5EF4-FFF2-40B4-BE49-F238E27FC236}">
                <a16:creationId xmlns:a16="http://schemas.microsoft.com/office/drawing/2014/main" id="{0EA5264C-09AC-5792-2EF0-0A3B2D708AA6}"/>
              </a:ext>
            </a:extLst>
          </p:cNvPr>
          <p:cNvPicPr>
            <a:picLocks noChangeAspect="1"/>
          </p:cNvPicPr>
          <p:nvPr/>
        </p:nvPicPr>
        <p:blipFill>
          <a:blip r:embed="rId3"/>
          <a:stretch>
            <a:fillRect/>
          </a:stretch>
        </p:blipFill>
        <p:spPr>
          <a:xfrm>
            <a:off x="232015" y="957622"/>
            <a:ext cx="5200650" cy="3533775"/>
          </a:xfrm>
          <a:prstGeom prst="rect">
            <a:avLst/>
          </a:prstGeom>
        </p:spPr>
      </p:pic>
      <p:sp>
        <p:nvSpPr>
          <p:cNvPr id="6" name="CaixaDeTexto 5">
            <a:extLst>
              <a:ext uri="{FF2B5EF4-FFF2-40B4-BE49-F238E27FC236}">
                <a16:creationId xmlns:a16="http://schemas.microsoft.com/office/drawing/2014/main" id="{2D67F16B-6AE5-0359-F9A3-347A0B91B11B}"/>
              </a:ext>
            </a:extLst>
          </p:cNvPr>
          <p:cNvSpPr txBox="1"/>
          <p:nvPr/>
        </p:nvSpPr>
        <p:spPr>
          <a:xfrm>
            <a:off x="230038" y="4794849"/>
            <a:ext cx="5204604"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https://www.linkedin.com/posts/aguavalemaisquediamante-paranaejsaguavalemaisquediamante-ugcPost-7232105047197708291-J2eK?utm_source=share&amp;utm_medium=member_desktop&amp;rcm=ACoAAAMQtAUB5UouXqdBJgo_gWpNVZ7Imay_2Tg</a:t>
            </a:r>
          </a:p>
          <a:p>
            <a:pPr algn="ctr"/>
            <a:endParaRPr lang="pt-BR"/>
          </a:p>
        </p:txBody>
      </p:sp>
    </p:spTree>
    <p:extLst>
      <p:ext uri="{BB962C8B-B14F-4D97-AF65-F5344CB8AC3E}">
        <p14:creationId xmlns:p14="http://schemas.microsoft.com/office/powerpoint/2010/main" val="279901364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63FAF7DA-8709-7FFE-7D60-830707C1F162}"/>
              </a:ext>
            </a:extLst>
          </p:cNvPr>
          <p:cNvSpPr txBox="1"/>
          <p:nvPr/>
        </p:nvSpPr>
        <p:spPr>
          <a:xfrm>
            <a:off x="5865963" y="237227"/>
            <a:ext cx="6096000" cy="61247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latin typeface="system-ui"/>
                <a:ea typeface="system-ui"/>
                <a:cs typeface="system-ui"/>
              </a:rPr>
              <a:t>🛑 Basemap NÃO é dado de </a:t>
            </a:r>
            <a:r>
              <a:rPr lang="en-US" sz="1400" err="1">
                <a:latin typeface="system-ui"/>
                <a:ea typeface="system-ui"/>
                <a:cs typeface="system-ui"/>
              </a:rPr>
              <a:t>satélite</a:t>
            </a:r>
            <a:r>
              <a:rPr lang="en-US" sz="1400">
                <a:latin typeface="system-ui"/>
                <a:ea typeface="system-ui"/>
                <a:cs typeface="system-ui"/>
              </a:rPr>
              <a:t> para </a:t>
            </a:r>
            <a:r>
              <a:rPr lang="en-US" sz="1400" err="1">
                <a:latin typeface="system-ui"/>
                <a:ea typeface="system-ui"/>
                <a:cs typeface="system-ui"/>
              </a:rPr>
              <a:t>processamento</a:t>
            </a:r>
            <a:r>
              <a:rPr lang="en-US" sz="1400">
                <a:latin typeface="system-ui"/>
                <a:ea typeface="system-ui"/>
                <a:cs typeface="system-ui"/>
              </a:rPr>
              <a:t>!</a:t>
            </a:r>
            <a:br>
              <a:rPr lang="en-US" sz="1400"/>
            </a:br>
            <a:r>
              <a:rPr lang="en-US" sz="1400" err="1">
                <a:latin typeface="system-ui"/>
                <a:ea typeface="system-ui"/>
                <a:cs typeface="system-ui"/>
              </a:rPr>
              <a:t>Muitos</a:t>
            </a:r>
            <a:r>
              <a:rPr lang="en-US" sz="1400">
                <a:latin typeface="system-ui"/>
                <a:ea typeface="system-ui"/>
                <a:cs typeface="system-ui"/>
              </a:rPr>
              <a:t> </a:t>
            </a:r>
            <a:r>
              <a:rPr lang="en-US" sz="1400" err="1">
                <a:latin typeface="system-ui"/>
                <a:ea typeface="system-ui"/>
                <a:cs typeface="system-ui"/>
              </a:rPr>
              <a:t>profissionais</a:t>
            </a:r>
            <a:r>
              <a:rPr lang="en-US" sz="1400">
                <a:latin typeface="system-ui"/>
                <a:ea typeface="system-ui"/>
                <a:cs typeface="system-ui"/>
              </a:rPr>
              <a:t> de </a:t>
            </a:r>
            <a:r>
              <a:rPr lang="en-US" sz="1400" err="1">
                <a:latin typeface="system-ui"/>
                <a:ea typeface="system-ui"/>
                <a:cs typeface="system-ui"/>
              </a:rPr>
              <a:t>Geoprocessamento</a:t>
            </a:r>
            <a:r>
              <a:rPr lang="en-US" sz="1400">
                <a:latin typeface="system-ui"/>
                <a:ea typeface="system-ui"/>
                <a:cs typeface="system-ui"/>
              </a:rPr>
              <a:t> </a:t>
            </a:r>
            <a:r>
              <a:rPr lang="en-US" sz="1400" err="1">
                <a:latin typeface="system-ui"/>
                <a:ea typeface="system-ui"/>
                <a:cs typeface="system-ui"/>
              </a:rPr>
              <a:t>ainda</a:t>
            </a:r>
            <a:r>
              <a:rPr lang="en-US" sz="1400">
                <a:latin typeface="system-ui"/>
                <a:ea typeface="system-ui"/>
                <a:cs typeface="system-ui"/>
              </a:rPr>
              <a:t> </a:t>
            </a:r>
            <a:r>
              <a:rPr lang="en-US" sz="1400" err="1">
                <a:latin typeface="system-ui"/>
                <a:ea typeface="system-ui"/>
                <a:cs typeface="system-ui"/>
              </a:rPr>
              <a:t>confundem</a:t>
            </a:r>
            <a:r>
              <a:rPr lang="en-US" sz="1400">
                <a:latin typeface="system-ui"/>
                <a:ea typeface="system-ui"/>
                <a:cs typeface="system-ui"/>
              </a:rPr>
              <a:t> Basemaps (</a:t>
            </a:r>
            <a:r>
              <a:rPr lang="en-US" sz="1400" err="1">
                <a:latin typeface="system-ui"/>
                <a:ea typeface="system-ui"/>
                <a:cs typeface="system-ui"/>
              </a:rPr>
              <a:t>como</a:t>
            </a:r>
            <a:r>
              <a:rPr lang="en-US" sz="1400">
                <a:latin typeface="system-ui"/>
                <a:ea typeface="system-ui"/>
                <a:cs typeface="system-ui"/>
              </a:rPr>
              <a:t> </a:t>
            </a:r>
            <a:r>
              <a:rPr lang="en-US" sz="1400" err="1">
                <a:latin typeface="system-ui"/>
                <a:ea typeface="system-ui"/>
                <a:cs typeface="system-ui"/>
              </a:rPr>
              <a:t>os</a:t>
            </a:r>
            <a:r>
              <a:rPr lang="en-US" sz="1400">
                <a:latin typeface="system-ui"/>
                <a:ea typeface="system-ui"/>
                <a:cs typeface="system-ui"/>
              </a:rPr>
              <a:t> do plugin </a:t>
            </a:r>
            <a:r>
              <a:rPr lang="en-US" sz="1400" err="1">
                <a:latin typeface="system-ui"/>
                <a:ea typeface="system-ui"/>
                <a:cs typeface="system-ui"/>
              </a:rPr>
              <a:t>QuickMapServices</a:t>
            </a:r>
            <a:r>
              <a:rPr lang="en-US" sz="1400">
                <a:latin typeface="system-ui"/>
                <a:ea typeface="system-ui"/>
                <a:cs typeface="system-ui"/>
              </a:rPr>
              <a:t> no QGIS) com Imagens de </a:t>
            </a:r>
            <a:r>
              <a:rPr lang="en-US" sz="1400" err="1">
                <a:latin typeface="system-ui"/>
                <a:ea typeface="system-ui"/>
                <a:cs typeface="system-ui"/>
              </a:rPr>
              <a:t>Satélite</a:t>
            </a:r>
            <a:r>
              <a:rPr lang="en-US" sz="1400">
                <a:latin typeface="system-ui"/>
                <a:ea typeface="system-ui"/>
                <a:cs typeface="system-ui"/>
              </a:rPr>
              <a:t> </a:t>
            </a:r>
            <a:r>
              <a:rPr lang="en-US" sz="1400" err="1">
                <a:latin typeface="system-ui"/>
                <a:ea typeface="system-ui"/>
                <a:cs typeface="system-ui"/>
              </a:rPr>
              <a:t>Científicas</a:t>
            </a:r>
            <a:r>
              <a:rPr lang="en-US" sz="1400">
                <a:latin typeface="system-ui"/>
                <a:ea typeface="system-ui"/>
                <a:cs typeface="system-ui"/>
              </a:rPr>
              <a:t>. </a:t>
            </a:r>
            <a:r>
              <a:rPr lang="en-US" sz="1400" err="1">
                <a:latin typeface="system-ui"/>
                <a:ea typeface="system-ui"/>
                <a:cs typeface="system-ui"/>
              </a:rPr>
              <a:t>Entender</a:t>
            </a:r>
            <a:r>
              <a:rPr lang="en-US" sz="1400">
                <a:latin typeface="system-ui"/>
                <a:ea typeface="system-ui"/>
                <a:cs typeface="system-ui"/>
              </a:rPr>
              <a:t> </a:t>
            </a:r>
            <a:r>
              <a:rPr lang="en-US" sz="1400" err="1">
                <a:latin typeface="system-ui"/>
                <a:ea typeface="system-ui"/>
                <a:cs typeface="system-ui"/>
              </a:rPr>
              <a:t>essa</a:t>
            </a:r>
            <a:r>
              <a:rPr lang="en-US" sz="1400">
                <a:latin typeface="system-ui"/>
                <a:ea typeface="system-ui"/>
                <a:cs typeface="system-ui"/>
              </a:rPr>
              <a:t> </a:t>
            </a:r>
            <a:r>
              <a:rPr lang="en-US" sz="1400" err="1">
                <a:latin typeface="system-ui"/>
                <a:ea typeface="system-ui"/>
                <a:cs typeface="system-ui"/>
              </a:rPr>
              <a:t>diferença</a:t>
            </a:r>
            <a:r>
              <a:rPr lang="en-US" sz="1400">
                <a:latin typeface="system-ui"/>
                <a:ea typeface="system-ui"/>
                <a:cs typeface="system-ui"/>
              </a:rPr>
              <a:t> é crucial para </a:t>
            </a:r>
            <a:r>
              <a:rPr lang="en-US" sz="1400" err="1">
                <a:latin typeface="system-ui"/>
                <a:ea typeface="system-ui"/>
                <a:cs typeface="system-ui"/>
              </a:rPr>
              <a:t>a</a:t>
            </a:r>
            <a:r>
              <a:rPr lang="en-US" sz="1400">
                <a:latin typeface="system-ui"/>
                <a:ea typeface="system-ui"/>
                <a:cs typeface="system-ui"/>
              </a:rPr>
              <a:t> </a:t>
            </a:r>
            <a:r>
              <a:rPr lang="en-US" sz="1400" err="1">
                <a:latin typeface="system-ui"/>
                <a:ea typeface="system-ui"/>
                <a:cs typeface="system-ui"/>
              </a:rPr>
              <a:t>integridade</a:t>
            </a:r>
            <a:r>
              <a:rPr lang="en-US" sz="1400">
                <a:latin typeface="system-ui"/>
                <a:ea typeface="system-ui"/>
                <a:cs typeface="system-ui"/>
              </a:rPr>
              <a:t> do </a:t>
            </a:r>
            <a:r>
              <a:rPr lang="en-US" sz="1400" err="1">
                <a:latin typeface="system-ui"/>
                <a:ea typeface="system-ui"/>
                <a:cs typeface="system-ui"/>
              </a:rPr>
              <a:t>seu</a:t>
            </a:r>
            <a:r>
              <a:rPr lang="en-US" sz="1400">
                <a:latin typeface="system-ui"/>
                <a:ea typeface="system-ui"/>
                <a:cs typeface="system-ui"/>
              </a:rPr>
              <a:t> </a:t>
            </a:r>
            <a:r>
              <a:rPr lang="en-US" sz="1400" err="1">
                <a:latin typeface="system-ui"/>
                <a:ea typeface="system-ui"/>
                <a:cs typeface="system-ui"/>
              </a:rPr>
              <a:t>trabalho</a:t>
            </a:r>
            <a:r>
              <a:rPr lang="en-US" sz="1400">
                <a:latin typeface="system-ui"/>
                <a:ea typeface="system-ui"/>
                <a:cs typeface="system-ui"/>
              </a:rPr>
              <a:t>:</a:t>
            </a:r>
            <a:br>
              <a:rPr lang="en-US" sz="1400"/>
            </a:br>
            <a:br>
              <a:rPr lang="en-US" sz="1400"/>
            </a:br>
            <a:r>
              <a:rPr lang="en-US" sz="1400">
                <a:latin typeface="system-ui"/>
                <a:ea typeface="system-ui"/>
                <a:cs typeface="system-ui"/>
              </a:rPr>
              <a:t>▫️🖼️ Basemaps (</a:t>
            </a:r>
            <a:r>
              <a:rPr lang="en-US" sz="1400" err="1">
                <a:latin typeface="system-ui"/>
                <a:ea typeface="system-ui"/>
                <a:cs typeface="system-ui"/>
              </a:rPr>
              <a:t>Pano</a:t>
            </a:r>
            <a:r>
              <a:rPr lang="en-US" sz="1400">
                <a:latin typeface="system-ui"/>
                <a:ea typeface="system-ui"/>
                <a:cs typeface="system-ui"/>
              </a:rPr>
              <a:t> de Fundo): São </a:t>
            </a:r>
            <a:r>
              <a:rPr lang="en-US" sz="1400" err="1">
                <a:latin typeface="system-ui"/>
                <a:ea typeface="system-ui"/>
                <a:cs typeface="system-ui"/>
              </a:rPr>
              <a:t>apenas</a:t>
            </a:r>
            <a:r>
              <a:rPr lang="en-US" sz="1400">
                <a:latin typeface="system-ui"/>
                <a:ea typeface="system-ui"/>
                <a:cs typeface="system-ui"/>
              </a:rPr>
              <a:t> "</a:t>
            </a:r>
            <a:r>
              <a:rPr lang="en-US" sz="1400" err="1">
                <a:latin typeface="system-ui"/>
                <a:ea typeface="system-ui"/>
                <a:cs typeface="system-ui"/>
              </a:rPr>
              <a:t>retratos</a:t>
            </a:r>
            <a:r>
              <a:rPr lang="en-US" sz="1400">
                <a:latin typeface="system-ui"/>
                <a:ea typeface="system-ui"/>
                <a:cs typeface="system-ui"/>
              </a:rPr>
              <a:t>" </a:t>
            </a:r>
            <a:r>
              <a:rPr lang="en-US" sz="1400" err="1">
                <a:latin typeface="system-ui"/>
                <a:ea typeface="system-ui"/>
                <a:cs typeface="system-ui"/>
              </a:rPr>
              <a:t>estáticos</a:t>
            </a:r>
            <a:r>
              <a:rPr lang="en-US" sz="1400">
                <a:latin typeface="system-ui"/>
                <a:ea typeface="system-ui"/>
                <a:cs typeface="system-ui"/>
              </a:rPr>
              <a:t> (RGB) </a:t>
            </a:r>
            <a:r>
              <a:rPr lang="en-US" sz="1400" err="1">
                <a:latin typeface="system-ui"/>
                <a:ea typeface="system-ui"/>
                <a:cs typeface="system-ui"/>
              </a:rPr>
              <a:t>prontos</a:t>
            </a:r>
            <a:r>
              <a:rPr lang="en-US" sz="1400">
                <a:latin typeface="system-ui"/>
                <a:ea typeface="system-ui"/>
                <a:cs typeface="system-ui"/>
              </a:rPr>
              <a:t> para </a:t>
            </a:r>
            <a:r>
              <a:rPr lang="en-US" sz="1400" err="1">
                <a:latin typeface="system-ui"/>
                <a:ea typeface="system-ui"/>
                <a:cs typeface="system-ui"/>
              </a:rPr>
              <a:t>visualização</a:t>
            </a:r>
            <a:r>
              <a:rPr lang="en-US" sz="1400">
                <a:latin typeface="system-ui"/>
                <a:ea typeface="system-ui"/>
                <a:cs typeface="system-ui"/>
              </a:rPr>
              <a:t>. Eles </a:t>
            </a:r>
            <a:r>
              <a:rPr lang="en-US" sz="1400" err="1">
                <a:latin typeface="system-ui"/>
                <a:ea typeface="system-ui"/>
                <a:cs typeface="system-ui"/>
              </a:rPr>
              <a:t>passam</a:t>
            </a:r>
            <a:r>
              <a:rPr lang="en-US" sz="1400">
                <a:latin typeface="system-ui"/>
                <a:ea typeface="system-ui"/>
                <a:cs typeface="system-ui"/>
              </a:rPr>
              <a:t> </a:t>
            </a:r>
            <a:r>
              <a:rPr lang="en-US" sz="1400" err="1">
                <a:latin typeface="system-ui"/>
                <a:ea typeface="system-ui"/>
                <a:cs typeface="system-ui"/>
              </a:rPr>
              <a:t>por</a:t>
            </a:r>
            <a:r>
              <a:rPr lang="en-US" sz="1400">
                <a:latin typeface="system-ui"/>
                <a:ea typeface="system-ui"/>
                <a:cs typeface="system-ui"/>
              </a:rPr>
              <a:t> </a:t>
            </a:r>
            <a:r>
              <a:rPr lang="en-US" sz="1400" err="1">
                <a:latin typeface="system-ui"/>
                <a:ea typeface="system-ui"/>
                <a:cs typeface="system-ui"/>
              </a:rPr>
              <a:t>compressões</a:t>
            </a:r>
            <a:r>
              <a:rPr lang="en-US" sz="1400">
                <a:latin typeface="system-ui"/>
                <a:ea typeface="system-ui"/>
                <a:cs typeface="system-ui"/>
              </a:rPr>
              <a:t> e </a:t>
            </a:r>
            <a:r>
              <a:rPr lang="en-US" sz="1400" err="1">
                <a:latin typeface="system-ui"/>
                <a:ea typeface="system-ui"/>
                <a:cs typeface="system-ui"/>
              </a:rPr>
              <a:t>tratamentos</a:t>
            </a:r>
            <a:r>
              <a:rPr lang="en-US" sz="1400">
                <a:latin typeface="system-ui"/>
                <a:ea typeface="system-ui"/>
                <a:cs typeface="system-ui"/>
              </a:rPr>
              <a:t> </a:t>
            </a:r>
            <a:r>
              <a:rPr lang="en-US" sz="1400" err="1">
                <a:latin typeface="system-ui"/>
                <a:ea typeface="system-ui"/>
                <a:cs typeface="system-ui"/>
              </a:rPr>
              <a:t>estéticos</a:t>
            </a:r>
            <a:r>
              <a:rPr lang="en-US" sz="1400">
                <a:latin typeface="system-ui"/>
                <a:ea typeface="system-ui"/>
                <a:cs typeface="system-ui"/>
              </a:rPr>
              <a:t> (</a:t>
            </a:r>
            <a:r>
              <a:rPr lang="en-US" sz="1400" err="1">
                <a:latin typeface="system-ui"/>
                <a:ea typeface="system-ui"/>
                <a:cs typeface="system-ui"/>
              </a:rPr>
              <a:t>são</a:t>
            </a:r>
            <a:r>
              <a:rPr lang="en-US" sz="1400">
                <a:latin typeface="system-ui"/>
                <a:ea typeface="system-ui"/>
                <a:cs typeface="system-ui"/>
              </a:rPr>
              <a:t> </a:t>
            </a:r>
            <a:r>
              <a:rPr lang="en-US" sz="1400" err="1">
                <a:latin typeface="system-ui"/>
                <a:ea typeface="system-ui"/>
                <a:cs typeface="system-ui"/>
              </a:rPr>
              <a:t>mosaicos</a:t>
            </a:r>
            <a:r>
              <a:rPr lang="en-US" sz="1400">
                <a:latin typeface="system-ui"/>
                <a:ea typeface="system-ui"/>
                <a:cs typeface="system-ui"/>
              </a:rPr>
              <a:t> de </a:t>
            </a:r>
            <a:r>
              <a:rPr lang="en-US" sz="1400" err="1">
                <a:latin typeface="system-ui"/>
                <a:ea typeface="system-ui"/>
                <a:cs typeface="system-ui"/>
              </a:rPr>
              <a:t>retalhos</a:t>
            </a:r>
            <a:r>
              <a:rPr lang="en-US" sz="1400">
                <a:latin typeface="system-ui"/>
                <a:ea typeface="system-ui"/>
                <a:cs typeface="system-ui"/>
              </a:rPr>
              <a:t> de imagens de </a:t>
            </a:r>
            <a:r>
              <a:rPr lang="en-US" sz="1400" err="1">
                <a:latin typeface="system-ui"/>
                <a:ea typeface="system-ui"/>
                <a:cs typeface="system-ui"/>
              </a:rPr>
              <a:t>diversas</a:t>
            </a:r>
            <a:r>
              <a:rPr lang="en-US" sz="1400">
                <a:latin typeface="system-ui"/>
                <a:ea typeface="system-ui"/>
                <a:cs typeface="system-ui"/>
              </a:rPr>
              <a:t> </a:t>
            </a:r>
            <a:r>
              <a:rPr lang="en-US" sz="1400" err="1">
                <a:latin typeface="system-ui"/>
                <a:ea typeface="system-ui"/>
                <a:cs typeface="system-ui"/>
              </a:rPr>
              <a:t>fontes</a:t>
            </a:r>
            <a:r>
              <a:rPr lang="en-US" sz="1400">
                <a:latin typeface="system-ui"/>
                <a:ea typeface="system-ui"/>
                <a:cs typeface="system-ui"/>
              </a:rPr>
              <a:t>) </a:t>
            </a:r>
            <a:r>
              <a:rPr lang="en-US" sz="1400" err="1">
                <a:latin typeface="system-ui"/>
                <a:ea typeface="system-ui"/>
                <a:cs typeface="system-ui"/>
              </a:rPr>
              <a:t>que</a:t>
            </a:r>
            <a:r>
              <a:rPr lang="en-US" sz="1400">
                <a:latin typeface="system-ui"/>
                <a:ea typeface="system-ui"/>
                <a:cs typeface="system-ui"/>
              </a:rPr>
              <a:t> </a:t>
            </a:r>
            <a:r>
              <a:rPr lang="en-US" sz="1400" err="1">
                <a:latin typeface="system-ui"/>
                <a:ea typeface="system-ui"/>
                <a:cs typeface="system-ui"/>
              </a:rPr>
              <a:t>removem</a:t>
            </a:r>
            <a:r>
              <a:rPr lang="en-US" sz="1400">
                <a:latin typeface="system-ui"/>
                <a:ea typeface="system-ui"/>
                <a:cs typeface="system-ui"/>
              </a:rPr>
              <a:t> as </a:t>
            </a:r>
            <a:r>
              <a:rPr lang="en-US" sz="1400" err="1">
                <a:latin typeface="system-ui"/>
                <a:ea typeface="system-ui"/>
                <a:cs typeface="system-ui"/>
              </a:rPr>
              <a:t>informações</a:t>
            </a:r>
            <a:r>
              <a:rPr lang="en-US" sz="1400">
                <a:latin typeface="system-ui"/>
                <a:ea typeface="system-ui"/>
                <a:cs typeface="system-ui"/>
              </a:rPr>
              <a:t> </a:t>
            </a:r>
            <a:r>
              <a:rPr lang="en-US" sz="1400" err="1">
                <a:latin typeface="system-ui"/>
                <a:ea typeface="system-ui"/>
                <a:cs typeface="system-ui"/>
              </a:rPr>
              <a:t>originais</a:t>
            </a:r>
            <a:r>
              <a:rPr lang="en-US" sz="1400">
                <a:latin typeface="system-ui"/>
                <a:ea typeface="system-ui"/>
                <a:cs typeface="system-ui"/>
              </a:rPr>
              <a:t> do sensor.</a:t>
            </a:r>
            <a:br>
              <a:rPr lang="en-US" sz="1400"/>
            </a:br>
            <a:r>
              <a:rPr lang="en-US" sz="1400">
                <a:latin typeface="system-ui"/>
                <a:ea typeface="system-ui"/>
                <a:cs typeface="system-ui"/>
              </a:rPr>
              <a:t>▫️📡 Dados de </a:t>
            </a:r>
            <a:r>
              <a:rPr lang="en-US" sz="1400" err="1">
                <a:latin typeface="system-ui"/>
                <a:ea typeface="system-ui"/>
                <a:cs typeface="system-ui"/>
              </a:rPr>
              <a:t>Satélite</a:t>
            </a:r>
            <a:r>
              <a:rPr lang="en-US" sz="1400">
                <a:latin typeface="system-ui"/>
                <a:ea typeface="system-ui"/>
                <a:cs typeface="system-ui"/>
              </a:rPr>
              <a:t> (Imagens </a:t>
            </a:r>
            <a:r>
              <a:rPr lang="en-US" sz="1400" err="1">
                <a:latin typeface="system-ui"/>
                <a:ea typeface="system-ui"/>
                <a:cs typeface="system-ui"/>
              </a:rPr>
              <a:t>Científicas</a:t>
            </a:r>
            <a:r>
              <a:rPr lang="en-US" sz="1400">
                <a:latin typeface="system-ui"/>
                <a:ea typeface="system-ui"/>
                <a:cs typeface="system-ui"/>
              </a:rPr>
              <a:t>): </a:t>
            </a:r>
            <a:r>
              <a:rPr lang="en-US" sz="1400" err="1">
                <a:latin typeface="system-ui"/>
                <a:ea typeface="system-ui"/>
                <a:cs typeface="system-ui"/>
              </a:rPr>
              <a:t>Contêm</a:t>
            </a:r>
            <a:r>
              <a:rPr lang="en-US" sz="1400">
                <a:latin typeface="system-ui"/>
                <a:ea typeface="system-ui"/>
                <a:cs typeface="system-ui"/>
              </a:rPr>
              <a:t> </a:t>
            </a:r>
            <a:r>
              <a:rPr lang="en-US" sz="1400" err="1">
                <a:latin typeface="system-ui"/>
                <a:ea typeface="system-ui"/>
                <a:cs typeface="system-ui"/>
              </a:rPr>
              <a:t>informações</a:t>
            </a:r>
            <a:r>
              <a:rPr lang="en-US" sz="1400">
                <a:latin typeface="system-ui"/>
                <a:ea typeface="system-ui"/>
                <a:cs typeface="system-ui"/>
              </a:rPr>
              <a:t> </a:t>
            </a:r>
            <a:r>
              <a:rPr lang="en-US" sz="1400" err="1">
                <a:latin typeface="system-ui"/>
                <a:ea typeface="system-ui"/>
                <a:cs typeface="system-ui"/>
              </a:rPr>
              <a:t>espectrais</a:t>
            </a:r>
            <a:r>
              <a:rPr lang="en-US" sz="1400">
                <a:latin typeface="system-ui"/>
                <a:ea typeface="system-ui"/>
                <a:cs typeface="system-ui"/>
              </a:rPr>
              <a:t> (</a:t>
            </a:r>
            <a:r>
              <a:rPr lang="en-US" sz="1400" err="1">
                <a:latin typeface="system-ui"/>
                <a:ea typeface="system-ui"/>
                <a:cs typeface="system-ui"/>
              </a:rPr>
              <a:t>infravermelho</a:t>
            </a:r>
            <a:r>
              <a:rPr lang="en-US" sz="1400">
                <a:latin typeface="system-ui"/>
                <a:ea typeface="system-ui"/>
                <a:cs typeface="system-ui"/>
              </a:rPr>
              <a:t>, </a:t>
            </a:r>
            <a:r>
              <a:rPr lang="en-US" sz="1400" err="1">
                <a:latin typeface="system-ui"/>
                <a:ea typeface="system-ui"/>
                <a:cs typeface="system-ui"/>
              </a:rPr>
              <a:t>borda</a:t>
            </a:r>
            <a:r>
              <a:rPr lang="en-US" sz="1400">
                <a:latin typeface="system-ui"/>
                <a:ea typeface="system-ui"/>
                <a:cs typeface="system-ui"/>
              </a:rPr>
              <a:t> do </a:t>
            </a:r>
            <a:r>
              <a:rPr lang="en-US" sz="1400" err="1">
                <a:latin typeface="system-ui"/>
                <a:ea typeface="system-ui"/>
                <a:cs typeface="system-ui"/>
              </a:rPr>
              <a:t>vermelho</a:t>
            </a:r>
            <a:r>
              <a:rPr lang="en-US" sz="1400">
                <a:latin typeface="system-ui"/>
                <a:ea typeface="system-ui"/>
                <a:cs typeface="system-ui"/>
              </a:rPr>
              <a:t>, etc.), </a:t>
            </a:r>
            <a:r>
              <a:rPr lang="en-US" sz="1400" err="1">
                <a:latin typeface="system-ui"/>
                <a:ea typeface="system-ui"/>
                <a:cs typeface="system-ui"/>
              </a:rPr>
              <a:t>radiométricas</a:t>
            </a:r>
            <a:r>
              <a:rPr lang="en-US" sz="1400">
                <a:latin typeface="system-ui"/>
                <a:ea typeface="system-ui"/>
                <a:cs typeface="system-ui"/>
              </a:rPr>
              <a:t> (</a:t>
            </a:r>
            <a:r>
              <a:rPr lang="en-US" sz="1400" err="1">
                <a:latin typeface="system-ui"/>
                <a:ea typeface="system-ui"/>
                <a:cs typeface="system-ui"/>
              </a:rPr>
              <a:t>valores</a:t>
            </a:r>
            <a:r>
              <a:rPr lang="en-US" sz="1400">
                <a:latin typeface="system-ui"/>
                <a:ea typeface="system-ui"/>
                <a:cs typeface="system-ui"/>
              </a:rPr>
              <a:t> reais de </a:t>
            </a:r>
            <a:r>
              <a:rPr lang="en-US" sz="1400" err="1">
                <a:latin typeface="system-ui"/>
                <a:ea typeface="system-ui"/>
                <a:cs typeface="system-ui"/>
              </a:rPr>
              <a:t>reflectância</a:t>
            </a:r>
            <a:r>
              <a:rPr lang="en-US" sz="1400">
                <a:latin typeface="system-ui"/>
                <a:ea typeface="system-ui"/>
                <a:cs typeface="system-ui"/>
              </a:rPr>
              <a:t>) e </a:t>
            </a:r>
            <a:r>
              <a:rPr lang="en-US" sz="1400" err="1">
                <a:latin typeface="system-ui"/>
                <a:ea typeface="system-ui"/>
                <a:cs typeface="system-ui"/>
              </a:rPr>
              <a:t>temporais</a:t>
            </a:r>
            <a:r>
              <a:rPr lang="en-US" sz="1400">
                <a:latin typeface="system-ui"/>
                <a:ea typeface="system-ui"/>
                <a:cs typeface="system-ui"/>
              </a:rPr>
              <a:t>.</a:t>
            </a:r>
            <a:br>
              <a:rPr lang="en-US" sz="1400"/>
            </a:br>
            <a:br>
              <a:rPr lang="en-US" sz="1400"/>
            </a:br>
            <a:r>
              <a:rPr lang="en-US" sz="1400">
                <a:latin typeface="system-ui"/>
                <a:ea typeface="system-ui"/>
                <a:cs typeface="system-ui"/>
              </a:rPr>
              <a:t>Por </a:t>
            </a:r>
            <a:r>
              <a:rPr lang="en-US" sz="1400" err="1">
                <a:latin typeface="system-ui"/>
                <a:ea typeface="system-ui"/>
                <a:cs typeface="system-ui"/>
              </a:rPr>
              <a:t>que</a:t>
            </a:r>
            <a:r>
              <a:rPr lang="en-US" sz="1400">
                <a:latin typeface="system-ui"/>
                <a:ea typeface="system-ui"/>
                <a:cs typeface="system-ui"/>
              </a:rPr>
              <a:t> </a:t>
            </a:r>
            <a:r>
              <a:rPr lang="en-US" sz="1400" err="1">
                <a:latin typeface="system-ui"/>
                <a:ea typeface="system-ui"/>
                <a:cs typeface="system-ui"/>
              </a:rPr>
              <a:t>você</a:t>
            </a:r>
            <a:r>
              <a:rPr lang="en-US" sz="1400">
                <a:latin typeface="system-ui"/>
                <a:ea typeface="system-ui"/>
                <a:cs typeface="system-ui"/>
              </a:rPr>
              <a:t> </a:t>
            </a:r>
            <a:r>
              <a:rPr lang="en-US" sz="1400" err="1">
                <a:latin typeface="system-ui"/>
                <a:ea typeface="system-ui"/>
                <a:cs typeface="system-ui"/>
              </a:rPr>
              <a:t>não</a:t>
            </a:r>
            <a:r>
              <a:rPr lang="en-US" sz="1400">
                <a:latin typeface="system-ui"/>
                <a:ea typeface="system-ui"/>
                <a:cs typeface="system-ui"/>
              </a:rPr>
              <a:t> </a:t>
            </a:r>
            <a:r>
              <a:rPr lang="en-US" sz="1400" err="1">
                <a:latin typeface="system-ui"/>
                <a:ea typeface="system-ui"/>
                <a:cs typeface="system-ui"/>
              </a:rPr>
              <a:t>pode</a:t>
            </a:r>
            <a:r>
              <a:rPr lang="en-US" sz="1400">
                <a:latin typeface="system-ui"/>
                <a:ea typeface="system-ui"/>
                <a:cs typeface="system-ui"/>
              </a:rPr>
              <a:t> usar Basemaps para </a:t>
            </a:r>
            <a:r>
              <a:rPr lang="en-US" sz="1400" err="1">
                <a:latin typeface="system-ui"/>
                <a:ea typeface="system-ui"/>
                <a:cs typeface="system-ui"/>
              </a:rPr>
              <a:t>processamento</a:t>
            </a:r>
            <a:r>
              <a:rPr lang="en-US" sz="1400">
                <a:latin typeface="system-ui"/>
                <a:ea typeface="system-ui"/>
                <a:cs typeface="system-ui"/>
              </a:rPr>
              <a:t>?</a:t>
            </a:r>
            <a:br>
              <a:rPr lang="en-US" sz="1400"/>
            </a:br>
            <a:br>
              <a:rPr lang="en-US" sz="1400"/>
            </a:br>
            <a:r>
              <a:rPr lang="en-US" sz="1400">
                <a:latin typeface="system-ui"/>
                <a:ea typeface="system-ui"/>
                <a:cs typeface="system-ui"/>
              </a:rPr>
              <a:t>1. Sem Bandas </a:t>
            </a:r>
            <a:r>
              <a:rPr lang="en-US" sz="1400" err="1">
                <a:latin typeface="system-ui"/>
                <a:ea typeface="system-ui"/>
                <a:cs typeface="system-ui"/>
              </a:rPr>
              <a:t>Espectrais</a:t>
            </a:r>
            <a:r>
              <a:rPr lang="en-US" sz="1400">
                <a:latin typeface="system-ui"/>
                <a:ea typeface="system-ui"/>
                <a:cs typeface="system-ui"/>
              </a:rPr>
              <a:t>: </a:t>
            </a:r>
            <a:r>
              <a:rPr lang="en-US" sz="1400" err="1">
                <a:latin typeface="system-ui"/>
                <a:ea typeface="system-ui"/>
                <a:cs typeface="system-ui"/>
              </a:rPr>
              <a:t>Não</a:t>
            </a:r>
            <a:r>
              <a:rPr lang="en-US" sz="1400">
                <a:latin typeface="system-ui"/>
                <a:ea typeface="system-ui"/>
                <a:cs typeface="system-ui"/>
              </a:rPr>
              <a:t> é </a:t>
            </a:r>
            <a:r>
              <a:rPr lang="en-US" sz="1400" err="1">
                <a:latin typeface="system-ui"/>
                <a:ea typeface="system-ui"/>
                <a:cs typeface="system-ui"/>
              </a:rPr>
              <a:t>possível</a:t>
            </a:r>
            <a:r>
              <a:rPr lang="en-US" sz="1400">
                <a:latin typeface="system-ui"/>
                <a:ea typeface="system-ui"/>
                <a:cs typeface="system-ui"/>
              </a:rPr>
              <a:t> </a:t>
            </a:r>
            <a:r>
              <a:rPr lang="en-US" sz="1400" err="1">
                <a:latin typeface="system-ui"/>
                <a:ea typeface="system-ui"/>
                <a:cs typeface="system-ui"/>
              </a:rPr>
              <a:t>calcular</a:t>
            </a:r>
            <a:r>
              <a:rPr lang="en-US" sz="1400">
                <a:latin typeface="system-ui"/>
                <a:ea typeface="system-ui"/>
                <a:cs typeface="system-ui"/>
              </a:rPr>
              <a:t> </a:t>
            </a:r>
            <a:r>
              <a:rPr lang="en-US" sz="1400" err="1">
                <a:latin typeface="system-ui"/>
                <a:ea typeface="system-ui"/>
                <a:cs typeface="system-ui"/>
              </a:rPr>
              <a:t>índices</a:t>
            </a:r>
            <a:r>
              <a:rPr lang="en-US" sz="1400">
                <a:latin typeface="system-ui"/>
                <a:ea typeface="system-ui"/>
                <a:cs typeface="system-ui"/>
              </a:rPr>
              <a:t> </a:t>
            </a:r>
            <a:r>
              <a:rPr lang="en-US" sz="1400" err="1">
                <a:latin typeface="system-ui"/>
                <a:ea typeface="system-ui"/>
                <a:cs typeface="system-ui"/>
              </a:rPr>
              <a:t>como</a:t>
            </a:r>
            <a:r>
              <a:rPr lang="en-US" sz="1400">
                <a:latin typeface="system-ui"/>
                <a:ea typeface="system-ui"/>
                <a:cs typeface="system-ui"/>
              </a:rPr>
              <a:t> NDVI </a:t>
            </a:r>
            <a:r>
              <a:rPr lang="en-US" sz="1400" err="1">
                <a:latin typeface="system-ui"/>
                <a:ea typeface="system-ui"/>
                <a:cs typeface="system-ui"/>
              </a:rPr>
              <a:t>ou</a:t>
            </a:r>
            <a:r>
              <a:rPr lang="en-US" sz="1400">
                <a:latin typeface="system-ui"/>
                <a:ea typeface="system-ui"/>
                <a:cs typeface="system-ui"/>
              </a:rPr>
              <a:t> EVI, pois </a:t>
            </a:r>
            <a:r>
              <a:rPr lang="en-US" sz="1400" err="1">
                <a:latin typeface="system-ui"/>
                <a:ea typeface="system-ui"/>
                <a:cs typeface="system-ui"/>
              </a:rPr>
              <a:t>não</a:t>
            </a:r>
            <a:r>
              <a:rPr lang="en-US" sz="1400">
                <a:latin typeface="system-ui"/>
                <a:ea typeface="system-ui"/>
                <a:cs typeface="system-ui"/>
              </a:rPr>
              <a:t> </a:t>
            </a:r>
            <a:r>
              <a:rPr lang="en-US" sz="1400" err="1">
                <a:latin typeface="system-ui"/>
                <a:ea typeface="system-ui"/>
                <a:cs typeface="system-ui"/>
              </a:rPr>
              <a:t>há</a:t>
            </a:r>
            <a:r>
              <a:rPr lang="en-US" sz="1400">
                <a:latin typeface="system-ui"/>
                <a:ea typeface="system-ui"/>
                <a:cs typeface="system-ui"/>
              </a:rPr>
              <a:t> a </a:t>
            </a:r>
            <a:r>
              <a:rPr lang="en-US" sz="1400" err="1">
                <a:latin typeface="system-ui"/>
                <a:ea typeface="system-ui"/>
                <a:cs typeface="system-ui"/>
              </a:rPr>
              <a:t>banda</a:t>
            </a:r>
            <a:r>
              <a:rPr lang="en-US" sz="1400">
                <a:latin typeface="system-ui"/>
                <a:ea typeface="system-ui"/>
                <a:cs typeface="system-ui"/>
              </a:rPr>
              <a:t> do </a:t>
            </a:r>
            <a:r>
              <a:rPr lang="en-US" sz="1400" err="1">
                <a:latin typeface="system-ui"/>
                <a:ea typeface="system-ui"/>
                <a:cs typeface="system-ui"/>
              </a:rPr>
              <a:t>infravermelho</a:t>
            </a:r>
            <a:r>
              <a:rPr lang="en-US" sz="1400">
                <a:latin typeface="system-ui"/>
                <a:ea typeface="system-ui"/>
                <a:cs typeface="system-ui"/>
              </a:rPr>
              <a:t> </a:t>
            </a:r>
            <a:r>
              <a:rPr lang="en-US" sz="1400" err="1">
                <a:latin typeface="system-ui"/>
                <a:ea typeface="system-ui"/>
                <a:cs typeface="system-ui"/>
              </a:rPr>
              <a:t>próxima</a:t>
            </a:r>
            <a:r>
              <a:rPr lang="en-US" sz="1400">
                <a:latin typeface="system-ui"/>
                <a:ea typeface="system-ui"/>
                <a:cs typeface="system-ui"/>
              </a:rPr>
              <a:t>.</a:t>
            </a:r>
            <a:br>
              <a:rPr lang="en-US" sz="1400"/>
            </a:br>
            <a:r>
              <a:rPr lang="en-US" sz="1400">
                <a:latin typeface="system-ui"/>
                <a:ea typeface="system-ui"/>
                <a:cs typeface="system-ui"/>
              </a:rPr>
              <a:t>2. Dados </a:t>
            </a:r>
            <a:r>
              <a:rPr lang="en-US" sz="1400" err="1">
                <a:latin typeface="system-ui"/>
                <a:ea typeface="system-ui"/>
                <a:cs typeface="system-ui"/>
              </a:rPr>
              <a:t>Corrompidos</a:t>
            </a:r>
            <a:r>
              <a:rPr lang="en-US" sz="1400">
                <a:latin typeface="system-ui"/>
                <a:ea typeface="system-ui"/>
                <a:cs typeface="system-ui"/>
              </a:rPr>
              <a:t>: O </a:t>
            </a:r>
            <a:r>
              <a:rPr lang="en-US" sz="1400" err="1">
                <a:latin typeface="system-ui"/>
                <a:ea typeface="system-ui"/>
                <a:cs typeface="system-ui"/>
              </a:rPr>
              <a:t>que</a:t>
            </a:r>
            <a:r>
              <a:rPr lang="en-US" sz="1400">
                <a:latin typeface="system-ui"/>
                <a:ea typeface="system-ui"/>
                <a:cs typeface="system-ui"/>
              </a:rPr>
              <a:t> </a:t>
            </a:r>
            <a:r>
              <a:rPr lang="en-US" sz="1400" err="1">
                <a:latin typeface="system-ui"/>
                <a:ea typeface="system-ui"/>
                <a:cs typeface="system-ui"/>
              </a:rPr>
              <a:t>você</a:t>
            </a:r>
            <a:r>
              <a:rPr lang="en-US" sz="1400">
                <a:latin typeface="system-ui"/>
                <a:ea typeface="system-ui"/>
                <a:cs typeface="system-ui"/>
              </a:rPr>
              <a:t> </a:t>
            </a:r>
            <a:r>
              <a:rPr lang="en-US" sz="1400" err="1">
                <a:latin typeface="system-ui"/>
                <a:ea typeface="system-ui"/>
                <a:cs typeface="system-ui"/>
              </a:rPr>
              <a:t>vê</a:t>
            </a:r>
            <a:r>
              <a:rPr lang="en-US" sz="1400">
                <a:latin typeface="system-ui"/>
                <a:ea typeface="system-ui"/>
                <a:cs typeface="system-ui"/>
              </a:rPr>
              <a:t> no Basemap é um valor de </a:t>
            </a:r>
            <a:r>
              <a:rPr lang="en-US" sz="1400" err="1">
                <a:latin typeface="system-ui"/>
                <a:ea typeface="system-ui"/>
                <a:cs typeface="system-ui"/>
              </a:rPr>
              <a:t>cor</a:t>
            </a:r>
            <a:r>
              <a:rPr lang="en-US" sz="1400">
                <a:latin typeface="system-ui"/>
                <a:ea typeface="system-ui"/>
                <a:cs typeface="system-ui"/>
              </a:rPr>
              <a:t> (0-255) </a:t>
            </a:r>
            <a:r>
              <a:rPr lang="en-US" sz="1400" err="1">
                <a:latin typeface="system-ui"/>
                <a:ea typeface="system-ui"/>
                <a:cs typeface="system-ui"/>
              </a:rPr>
              <a:t>otimizado</a:t>
            </a:r>
            <a:r>
              <a:rPr lang="en-US" sz="1400">
                <a:latin typeface="system-ui"/>
                <a:ea typeface="system-ui"/>
                <a:cs typeface="system-ui"/>
              </a:rPr>
              <a:t> para </a:t>
            </a:r>
            <a:r>
              <a:rPr lang="en-US" sz="1400" err="1">
                <a:latin typeface="system-ui"/>
                <a:ea typeface="system-ui"/>
                <a:cs typeface="system-ui"/>
              </a:rPr>
              <a:t>os</a:t>
            </a:r>
            <a:r>
              <a:rPr lang="en-US" sz="1400">
                <a:latin typeface="system-ui"/>
                <a:ea typeface="system-ui"/>
                <a:cs typeface="system-ui"/>
              </a:rPr>
              <a:t> </a:t>
            </a:r>
            <a:r>
              <a:rPr lang="en-US" sz="1400" err="1">
                <a:latin typeface="system-ui"/>
                <a:ea typeface="system-ui"/>
                <a:cs typeface="system-ui"/>
              </a:rPr>
              <a:t>olhos</a:t>
            </a:r>
            <a:r>
              <a:rPr lang="en-US" sz="1400">
                <a:latin typeface="system-ui"/>
                <a:ea typeface="system-ui"/>
                <a:cs typeface="system-ui"/>
              </a:rPr>
              <a:t> </a:t>
            </a:r>
            <a:r>
              <a:rPr lang="en-US" sz="1400" err="1">
                <a:latin typeface="system-ui"/>
                <a:ea typeface="system-ui"/>
                <a:cs typeface="system-ui"/>
              </a:rPr>
              <a:t>humanos</a:t>
            </a:r>
            <a:r>
              <a:rPr lang="en-US" sz="1400">
                <a:latin typeface="system-ui"/>
                <a:ea typeface="system-ui"/>
                <a:cs typeface="system-ui"/>
              </a:rPr>
              <a:t>, e </a:t>
            </a:r>
            <a:r>
              <a:rPr lang="en-US" sz="1400" err="1">
                <a:latin typeface="system-ui"/>
                <a:ea typeface="system-ui"/>
                <a:cs typeface="system-ui"/>
              </a:rPr>
              <a:t>não</a:t>
            </a:r>
            <a:r>
              <a:rPr lang="en-US" sz="1400">
                <a:latin typeface="system-ui"/>
                <a:ea typeface="system-ui"/>
                <a:cs typeface="system-ui"/>
              </a:rPr>
              <a:t> </a:t>
            </a:r>
            <a:r>
              <a:rPr lang="en-US" sz="1400" err="1">
                <a:latin typeface="system-ui"/>
                <a:ea typeface="system-ui"/>
                <a:cs typeface="system-ui"/>
              </a:rPr>
              <a:t>a</a:t>
            </a:r>
            <a:r>
              <a:rPr lang="en-US" sz="1400">
                <a:latin typeface="system-ui"/>
                <a:ea typeface="system-ui"/>
                <a:cs typeface="system-ui"/>
              </a:rPr>
              <a:t> </a:t>
            </a:r>
            <a:r>
              <a:rPr lang="en-US" sz="1400" err="1">
                <a:latin typeface="system-ui"/>
                <a:ea typeface="system-ui"/>
                <a:cs typeface="system-ui"/>
              </a:rPr>
              <a:t>energia</a:t>
            </a:r>
            <a:r>
              <a:rPr lang="en-US" sz="1400">
                <a:latin typeface="system-ui"/>
                <a:ea typeface="system-ui"/>
                <a:cs typeface="system-ui"/>
              </a:rPr>
              <a:t> </a:t>
            </a:r>
            <a:r>
              <a:rPr lang="en-US" sz="1400" err="1">
                <a:latin typeface="system-ui"/>
                <a:ea typeface="system-ui"/>
                <a:cs typeface="system-ui"/>
              </a:rPr>
              <a:t>refletida</a:t>
            </a:r>
            <a:r>
              <a:rPr lang="en-US" sz="1400">
                <a:latin typeface="system-ui"/>
                <a:ea typeface="system-ui"/>
                <a:cs typeface="system-ui"/>
              </a:rPr>
              <a:t> </a:t>
            </a:r>
            <a:r>
              <a:rPr lang="en-US" sz="1400" err="1">
                <a:latin typeface="system-ui"/>
                <a:ea typeface="system-ui"/>
                <a:cs typeface="system-ui"/>
              </a:rPr>
              <a:t>pelo</a:t>
            </a:r>
            <a:r>
              <a:rPr lang="en-US" sz="1400">
                <a:latin typeface="system-ui"/>
                <a:ea typeface="system-ui"/>
                <a:cs typeface="system-ui"/>
              </a:rPr>
              <a:t> </a:t>
            </a:r>
            <a:r>
              <a:rPr lang="en-US" sz="1400" err="1">
                <a:latin typeface="system-ui"/>
                <a:ea typeface="system-ui"/>
                <a:cs typeface="system-ui"/>
              </a:rPr>
              <a:t>alvo</a:t>
            </a:r>
            <a:r>
              <a:rPr lang="en-US" sz="1400">
                <a:latin typeface="system-ui"/>
                <a:ea typeface="system-ui"/>
                <a:cs typeface="system-ui"/>
              </a:rPr>
              <a:t>.</a:t>
            </a:r>
            <a:br>
              <a:rPr lang="en-US" sz="1400"/>
            </a:br>
            <a:r>
              <a:rPr lang="en-US" sz="1400">
                <a:latin typeface="system-ui"/>
                <a:ea typeface="system-ui"/>
                <a:cs typeface="system-ui"/>
              </a:rPr>
              <a:t>3. </a:t>
            </a:r>
            <a:r>
              <a:rPr lang="en-US" sz="1400" err="1">
                <a:latin typeface="system-ui"/>
                <a:ea typeface="system-ui"/>
                <a:cs typeface="system-ui"/>
              </a:rPr>
              <a:t>Finalidade</a:t>
            </a:r>
            <a:r>
              <a:rPr lang="en-US" sz="1400">
                <a:latin typeface="system-ui"/>
                <a:ea typeface="system-ui"/>
                <a:cs typeface="system-ui"/>
              </a:rPr>
              <a:t>: Basemaps </a:t>
            </a:r>
            <a:r>
              <a:rPr lang="en-US" sz="1400" err="1">
                <a:latin typeface="system-ui"/>
                <a:ea typeface="system-ui"/>
                <a:cs typeface="system-ui"/>
              </a:rPr>
              <a:t>servem</a:t>
            </a:r>
            <a:r>
              <a:rPr lang="en-US" sz="1400">
                <a:latin typeface="system-ui"/>
                <a:ea typeface="system-ui"/>
                <a:cs typeface="system-ui"/>
              </a:rPr>
              <a:t> para </a:t>
            </a:r>
            <a:r>
              <a:rPr lang="en-US" sz="1400" err="1">
                <a:latin typeface="system-ui"/>
                <a:ea typeface="system-ui"/>
                <a:cs typeface="system-ui"/>
              </a:rPr>
              <a:t>orientação</a:t>
            </a:r>
            <a:r>
              <a:rPr lang="en-US" sz="1400">
                <a:latin typeface="system-ui"/>
                <a:ea typeface="system-ui"/>
                <a:cs typeface="system-ui"/>
              </a:rPr>
              <a:t> </a:t>
            </a:r>
            <a:r>
              <a:rPr lang="en-US" sz="1400" err="1">
                <a:latin typeface="system-ui"/>
                <a:ea typeface="system-ui"/>
                <a:cs typeface="system-ui"/>
              </a:rPr>
              <a:t>espacial</a:t>
            </a:r>
            <a:r>
              <a:rPr lang="en-US" sz="1400">
                <a:latin typeface="system-ui"/>
                <a:ea typeface="system-ui"/>
                <a:cs typeface="system-ui"/>
              </a:rPr>
              <a:t> e </a:t>
            </a:r>
            <a:r>
              <a:rPr lang="en-US" sz="1400" err="1">
                <a:latin typeface="system-ui"/>
                <a:ea typeface="system-ui"/>
                <a:cs typeface="system-ui"/>
              </a:rPr>
              <a:t>composição</a:t>
            </a:r>
            <a:r>
              <a:rPr lang="en-US" sz="1400">
                <a:latin typeface="system-ui"/>
                <a:ea typeface="system-ui"/>
                <a:cs typeface="system-ui"/>
              </a:rPr>
              <a:t> de </a:t>
            </a:r>
            <a:r>
              <a:rPr lang="en-US" sz="1400" err="1">
                <a:latin typeface="system-ui"/>
                <a:ea typeface="system-ui"/>
                <a:cs typeface="system-ui"/>
              </a:rPr>
              <a:t>mapas</a:t>
            </a:r>
            <a:r>
              <a:rPr lang="en-US" sz="1400">
                <a:latin typeface="system-ui"/>
                <a:ea typeface="system-ui"/>
                <a:cs typeface="system-ui"/>
              </a:rPr>
              <a:t>, </a:t>
            </a:r>
            <a:r>
              <a:rPr lang="en-US" sz="1400" err="1">
                <a:latin typeface="system-ui"/>
                <a:ea typeface="system-ui"/>
                <a:cs typeface="system-ui"/>
              </a:rPr>
              <a:t>nunca</a:t>
            </a:r>
            <a:r>
              <a:rPr lang="en-US" sz="1400">
                <a:latin typeface="system-ui"/>
                <a:ea typeface="system-ui"/>
                <a:cs typeface="system-ui"/>
              </a:rPr>
              <a:t> para </a:t>
            </a:r>
            <a:r>
              <a:rPr lang="en-US" sz="1400" err="1">
                <a:latin typeface="system-ui"/>
                <a:ea typeface="system-ui"/>
                <a:cs typeface="system-ui"/>
              </a:rPr>
              <a:t>análises</a:t>
            </a:r>
            <a:r>
              <a:rPr lang="en-US" sz="1400">
                <a:latin typeface="system-ui"/>
                <a:ea typeface="system-ui"/>
                <a:cs typeface="system-ui"/>
              </a:rPr>
              <a:t> </a:t>
            </a:r>
            <a:r>
              <a:rPr lang="en-US" sz="1400" err="1">
                <a:latin typeface="system-ui"/>
                <a:ea typeface="system-ui"/>
                <a:cs typeface="system-ui"/>
              </a:rPr>
              <a:t>biofísicas</a:t>
            </a:r>
            <a:r>
              <a:rPr lang="en-US" sz="1400">
                <a:latin typeface="system-ui"/>
                <a:ea typeface="system-ui"/>
                <a:cs typeface="system-ui"/>
              </a:rPr>
              <a:t> </a:t>
            </a:r>
            <a:r>
              <a:rPr lang="en-US" sz="1400" err="1">
                <a:latin typeface="system-ui"/>
                <a:ea typeface="system-ui"/>
                <a:cs typeface="system-ui"/>
              </a:rPr>
              <a:t>ou</a:t>
            </a:r>
            <a:r>
              <a:rPr lang="en-US" sz="1400">
                <a:latin typeface="system-ui"/>
                <a:ea typeface="system-ui"/>
                <a:cs typeface="system-ui"/>
              </a:rPr>
              <a:t> </a:t>
            </a:r>
            <a:r>
              <a:rPr lang="en-US" sz="1400" err="1">
                <a:latin typeface="system-ui"/>
                <a:ea typeface="system-ui"/>
                <a:cs typeface="system-ui"/>
              </a:rPr>
              <a:t>classificações</a:t>
            </a:r>
            <a:r>
              <a:rPr lang="en-US" sz="1400">
                <a:latin typeface="system-ui"/>
                <a:ea typeface="system-ui"/>
                <a:cs typeface="system-ui"/>
              </a:rPr>
              <a:t> </a:t>
            </a:r>
            <a:r>
              <a:rPr lang="en-US" sz="1400" err="1">
                <a:latin typeface="system-ui"/>
                <a:ea typeface="system-ui"/>
                <a:cs typeface="system-ui"/>
              </a:rPr>
              <a:t>automáticas</a:t>
            </a:r>
            <a:r>
              <a:rPr lang="en-US" sz="1400">
                <a:latin typeface="system-ui"/>
                <a:ea typeface="system-ui"/>
                <a:cs typeface="system-ui"/>
              </a:rPr>
              <a:t>.</a:t>
            </a:r>
            <a:br>
              <a:rPr lang="en-US" sz="1400"/>
            </a:br>
            <a:br>
              <a:rPr lang="en-US" sz="1400"/>
            </a:br>
            <a:r>
              <a:rPr lang="en-US" sz="1400">
                <a:latin typeface="system-ui"/>
                <a:ea typeface="system-ui"/>
                <a:cs typeface="system-ui"/>
              </a:rPr>
              <a:t>Se </a:t>
            </a:r>
            <a:r>
              <a:rPr lang="en-US" sz="1400" err="1">
                <a:latin typeface="system-ui"/>
                <a:ea typeface="system-ui"/>
                <a:cs typeface="system-ui"/>
              </a:rPr>
              <a:t>você</a:t>
            </a:r>
            <a:r>
              <a:rPr lang="en-US" sz="1400">
                <a:latin typeface="system-ui"/>
                <a:ea typeface="system-ui"/>
                <a:cs typeface="system-ui"/>
              </a:rPr>
              <a:t> </a:t>
            </a:r>
            <a:r>
              <a:rPr lang="en-US" sz="1400" err="1">
                <a:latin typeface="system-ui"/>
                <a:ea typeface="system-ui"/>
                <a:cs typeface="system-ui"/>
              </a:rPr>
              <a:t>precisa</a:t>
            </a:r>
            <a:r>
              <a:rPr lang="en-US" sz="1400">
                <a:latin typeface="system-ui"/>
                <a:ea typeface="system-ui"/>
                <a:cs typeface="system-ui"/>
              </a:rPr>
              <a:t> </a:t>
            </a:r>
            <a:r>
              <a:rPr lang="en-US" sz="1400" err="1">
                <a:latin typeface="system-ui"/>
                <a:ea typeface="system-ui"/>
                <a:cs typeface="system-ui"/>
              </a:rPr>
              <a:t>analisar</a:t>
            </a:r>
            <a:r>
              <a:rPr lang="en-US" sz="1400">
                <a:latin typeface="system-ui"/>
                <a:ea typeface="system-ui"/>
                <a:cs typeface="system-ui"/>
              </a:rPr>
              <a:t> o vigor da </a:t>
            </a:r>
            <a:r>
              <a:rPr lang="en-US" sz="1400" err="1">
                <a:latin typeface="system-ui"/>
                <a:ea typeface="system-ui"/>
                <a:cs typeface="system-ui"/>
              </a:rPr>
              <a:t>vegetação</a:t>
            </a:r>
            <a:r>
              <a:rPr lang="en-US" sz="1400">
                <a:latin typeface="system-ui"/>
                <a:ea typeface="system-ui"/>
                <a:cs typeface="system-ui"/>
              </a:rPr>
              <a:t> </a:t>
            </a:r>
            <a:r>
              <a:rPr lang="en-US" sz="1400" err="1">
                <a:latin typeface="system-ui"/>
                <a:ea typeface="system-ui"/>
                <a:cs typeface="system-ui"/>
              </a:rPr>
              <a:t>ou</a:t>
            </a:r>
            <a:r>
              <a:rPr lang="en-US" sz="1400">
                <a:latin typeface="system-ui"/>
                <a:ea typeface="system-ui"/>
                <a:cs typeface="system-ui"/>
              </a:rPr>
              <a:t> </a:t>
            </a:r>
            <a:r>
              <a:rPr lang="en-US" sz="1400" err="1">
                <a:latin typeface="system-ui"/>
                <a:ea typeface="system-ui"/>
                <a:cs typeface="system-ui"/>
              </a:rPr>
              <a:t>uso</a:t>
            </a:r>
            <a:r>
              <a:rPr lang="en-US" sz="1400">
                <a:latin typeface="system-ui"/>
                <a:ea typeface="system-ui"/>
                <a:cs typeface="system-ui"/>
              </a:rPr>
              <a:t> do solo com </a:t>
            </a:r>
            <a:r>
              <a:rPr lang="en-US" sz="1400" err="1">
                <a:latin typeface="system-ui"/>
                <a:ea typeface="system-ui"/>
                <a:cs typeface="system-ui"/>
              </a:rPr>
              <a:t>precisão</a:t>
            </a:r>
            <a:r>
              <a:rPr lang="en-US" sz="1400">
                <a:latin typeface="system-ui"/>
                <a:ea typeface="system-ui"/>
                <a:cs typeface="system-ui"/>
              </a:rPr>
              <a:t>, </a:t>
            </a:r>
            <a:r>
              <a:rPr lang="en-US" sz="1400" err="1">
                <a:latin typeface="system-ui"/>
                <a:ea typeface="system-ui"/>
                <a:cs typeface="system-ui"/>
              </a:rPr>
              <a:t>busque</a:t>
            </a:r>
            <a:r>
              <a:rPr lang="en-US" sz="1400">
                <a:latin typeface="system-ui"/>
                <a:ea typeface="system-ui"/>
                <a:cs typeface="system-ui"/>
              </a:rPr>
              <a:t> dados </a:t>
            </a:r>
            <a:r>
              <a:rPr lang="en-US" sz="1400" err="1">
                <a:latin typeface="system-ui"/>
                <a:ea typeface="system-ui"/>
                <a:cs typeface="system-ui"/>
              </a:rPr>
              <a:t>originais</a:t>
            </a:r>
            <a:r>
              <a:rPr lang="en-US" sz="1400">
                <a:latin typeface="system-ui"/>
                <a:ea typeface="system-ui"/>
                <a:cs typeface="system-ui"/>
              </a:rPr>
              <a:t> </a:t>
            </a:r>
            <a:r>
              <a:rPr lang="en-US" sz="1400" err="1">
                <a:latin typeface="system-ui"/>
                <a:ea typeface="system-ui"/>
                <a:cs typeface="system-ui"/>
              </a:rPr>
              <a:t>em</a:t>
            </a:r>
            <a:r>
              <a:rPr lang="en-US" sz="1400">
                <a:latin typeface="system-ui"/>
                <a:ea typeface="system-ui"/>
                <a:cs typeface="system-ui"/>
              </a:rPr>
              <a:t> </a:t>
            </a:r>
            <a:r>
              <a:rPr lang="en-US" sz="1400" err="1">
                <a:latin typeface="system-ui"/>
                <a:ea typeface="system-ui"/>
                <a:cs typeface="system-ui"/>
              </a:rPr>
              <a:t>catálogos</a:t>
            </a:r>
            <a:r>
              <a:rPr lang="en-US" sz="1400">
                <a:latin typeface="system-ui"/>
                <a:ea typeface="system-ui"/>
                <a:cs typeface="system-ui"/>
              </a:rPr>
              <a:t> </a:t>
            </a:r>
            <a:r>
              <a:rPr lang="en-US" sz="1400" err="1">
                <a:latin typeface="system-ui"/>
                <a:ea typeface="system-ui"/>
                <a:cs typeface="system-ui"/>
              </a:rPr>
              <a:t>como</a:t>
            </a:r>
            <a:r>
              <a:rPr lang="en-US" sz="1400">
                <a:latin typeface="system-ui"/>
                <a:ea typeface="system-ui"/>
                <a:cs typeface="system-ui"/>
              </a:rPr>
              <a:t> Copernicus (Sentinel), NASA (Landsat) </a:t>
            </a:r>
            <a:r>
              <a:rPr lang="en-US" sz="1400" err="1">
                <a:latin typeface="system-ui"/>
                <a:ea typeface="system-ui"/>
                <a:cs typeface="system-ui"/>
              </a:rPr>
              <a:t>ou</a:t>
            </a:r>
            <a:r>
              <a:rPr lang="en-US" sz="1400">
                <a:latin typeface="system-ui"/>
                <a:ea typeface="system-ui"/>
                <a:cs typeface="system-ui"/>
              </a:rPr>
              <a:t> INPE (CBERS).</a:t>
            </a:r>
            <a:br>
              <a:rPr lang="en-US" sz="1400"/>
            </a:br>
            <a:r>
              <a:rPr lang="en-US" sz="1400">
                <a:latin typeface="system-ui"/>
                <a:ea typeface="system-ui"/>
                <a:cs typeface="system-ui"/>
              </a:rPr>
              <a:t>O </a:t>
            </a:r>
            <a:r>
              <a:rPr lang="en-US" sz="1400" err="1">
                <a:latin typeface="system-ui"/>
                <a:ea typeface="system-ui"/>
                <a:cs typeface="system-ui"/>
              </a:rPr>
              <a:t>uso</a:t>
            </a:r>
            <a:r>
              <a:rPr lang="en-US" sz="1400">
                <a:latin typeface="system-ui"/>
                <a:ea typeface="system-ui"/>
                <a:cs typeface="system-ui"/>
              </a:rPr>
              <a:t> da ferramenta </a:t>
            </a:r>
            <a:r>
              <a:rPr lang="en-US" sz="1400" err="1">
                <a:latin typeface="system-ui"/>
                <a:ea typeface="system-ui"/>
                <a:cs typeface="system-ui"/>
              </a:rPr>
              <a:t>certa</a:t>
            </a:r>
            <a:r>
              <a:rPr lang="en-US" sz="1400">
                <a:latin typeface="system-ui"/>
                <a:ea typeface="system-ui"/>
                <a:cs typeface="system-ui"/>
              </a:rPr>
              <a:t> </a:t>
            </a:r>
            <a:r>
              <a:rPr lang="en-US" sz="1400" err="1">
                <a:latin typeface="system-ui"/>
                <a:ea typeface="system-ui"/>
                <a:cs typeface="system-ui"/>
              </a:rPr>
              <a:t>separa</a:t>
            </a:r>
            <a:r>
              <a:rPr lang="en-US" sz="1400">
                <a:latin typeface="system-ui"/>
                <a:ea typeface="system-ui"/>
                <a:cs typeface="system-ui"/>
              </a:rPr>
              <a:t> um "</a:t>
            </a:r>
            <a:r>
              <a:rPr lang="en-US" sz="1400" err="1">
                <a:latin typeface="system-ui"/>
                <a:ea typeface="system-ui"/>
                <a:cs typeface="system-ui"/>
              </a:rPr>
              <a:t>desenhador</a:t>
            </a:r>
            <a:r>
              <a:rPr lang="en-US" sz="1400">
                <a:latin typeface="system-ui"/>
                <a:ea typeface="system-ui"/>
                <a:cs typeface="system-ui"/>
              </a:rPr>
              <a:t> de </a:t>
            </a:r>
            <a:r>
              <a:rPr lang="en-US" sz="1400" err="1">
                <a:latin typeface="system-ui"/>
                <a:ea typeface="system-ui"/>
                <a:cs typeface="system-ui"/>
              </a:rPr>
              <a:t>mapas</a:t>
            </a:r>
            <a:r>
              <a:rPr lang="en-US" sz="1400">
                <a:latin typeface="system-ui"/>
                <a:ea typeface="system-ui"/>
                <a:cs typeface="system-ui"/>
              </a:rPr>
              <a:t>" de um </a:t>
            </a:r>
            <a:r>
              <a:rPr lang="en-US" sz="1400" err="1">
                <a:latin typeface="system-ui"/>
                <a:ea typeface="system-ui"/>
                <a:cs typeface="system-ui"/>
              </a:rPr>
              <a:t>especialista</a:t>
            </a:r>
            <a:r>
              <a:rPr lang="en-US" sz="1400">
                <a:latin typeface="system-ui"/>
                <a:ea typeface="system-ui"/>
                <a:cs typeface="system-ui"/>
              </a:rPr>
              <a:t> </a:t>
            </a:r>
            <a:r>
              <a:rPr lang="en-US" sz="1400" err="1">
                <a:latin typeface="system-ui"/>
                <a:ea typeface="system-ui"/>
                <a:cs typeface="system-ui"/>
              </a:rPr>
              <a:t>em</a:t>
            </a:r>
            <a:r>
              <a:rPr lang="en-US" sz="1400">
                <a:latin typeface="system-ui"/>
                <a:ea typeface="system-ui"/>
                <a:cs typeface="system-ui"/>
              </a:rPr>
              <a:t> </a:t>
            </a:r>
            <a:r>
              <a:rPr lang="en-US" sz="1400" err="1">
                <a:latin typeface="system-ui"/>
                <a:ea typeface="system-ui"/>
                <a:cs typeface="system-ui"/>
              </a:rPr>
              <a:t>Geotecnologias</a:t>
            </a:r>
            <a:r>
              <a:rPr lang="en-US" sz="1400">
                <a:latin typeface="system-ui"/>
                <a:ea typeface="system-ui"/>
                <a:cs typeface="system-ui"/>
              </a:rPr>
              <a:t>. 💡🚀</a:t>
            </a:r>
            <a:endParaRPr lang="en-US" sz="1400">
              <a:ea typeface="Calibri"/>
              <a:cs typeface="Calibri"/>
            </a:endParaRPr>
          </a:p>
          <a:p>
            <a:pPr algn="ctr"/>
            <a:endParaRPr lang="pt-BR" sz="1400">
              <a:ea typeface="Calibri"/>
              <a:cs typeface="Calibri"/>
            </a:endParaRPr>
          </a:p>
        </p:txBody>
      </p:sp>
      <p:pic>
        <p:nvPicPr>
          <p:cNvPr id="5" name="Imagem 4" descr="Ver imagem">
            <a:extLst>
              <a:ext uri="{FF2B5EF4-FFF2-40B4-BE49-F238E27FC236}">
                <a16:creationId xmlns:a16="http://schemas.microsoft.com/office/drawing/2014/main" id="{4391B2D5-2D38-D42A-4085-AA0DAD5691C8}"/>
              </a:ext>
            </a:extLst>
          </p:cNvPr>
          <p:cNvPicPr>
            <a:picLocks noChangeAspect="1"/>
          </p:cNvPicPr>
          <p:nvPr/>
        </p:nvPicPr>
        <p:blipFill>
          <a:blip r:embed="rId2"/>
          <a:stretch>
            <a:fillRect/>
          </a:stretch>
        </p:blipFill>
        <p:spPr>
          <a:xfrm>
            <a:off x="244415" y="741603"/>
            <a:ext cx="5607170" cy="3635136"/>
          </a:xfrm>
          <a:prstGeom prst="rect">
            <a:avLst/>
          </a:prstGeom>
        </p:spPr>
      </p:pic>
      <p:sp>
        <p:nvSpPr>
          <p:cNvPr id="6" name="CaixaDeTexto 5">
            <a:extLst>
              <a:ext uri="{FF2B5EF4-FFF2-40B4-BE49-F238E27FC236}">
                <a16:creationId xmlns:a16="http://schemas.microsoft.com/office/drawing/2014/main" id="{9D9448B8-56D9-60D5-76E6-F29F594E66B8}"/>
              </a:ext>
            </a:extLst>
          </p:cNvPr>
          <p:cNvSpPr txBox="1"/>
          <p:nvPr/>
        </p:nvSpPr>
        <p:spPr>
          <a:xfrm>
            <a:off x="244415" y="4809226"/>
            <a:ext cx="4600755" cy="18466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https://www.linkedin.com/posts/qgis-geoprocessamento-sensoriamentoremoto-share-7442929010789105664-rsEG?utm_source=share&amp;utm_medium=member_desktop&amp;rcm=ACoAAAMQtAUB5UouXqdBJgo_gWpNVZ7Imay_2Tg</a:t>
            </a:r>
          </a:p>
          <a:p>
            <a:pPr algn="ctr"/>
            <a:endParaRPr lang="pt-BR"/>
          </a:p>
        </p:txBody>
      </p:sp>
    </p:spTree>
    <p:extLst>
      <p:ext uri="{BB962C8B-B14F-4D97-AF65-F5344CB8AC3E}">
        <p14:creationId xmlns:p14="http://schemas.microsoft.com/office/powerpoint/2010/main" val="17318384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E12FB309-564E-D8C3-3727-07078D4E6041}"/>
              </a:ext>
            </a:extLst>
          </p:cNvPr>
          <p:cNvSpPr txBox="1"/>
          <p:nvPr/>
        </p:nvSpPr>
        <p:spPr>
          <a:xfrm>
            <a:off x="5535283" y="2307566"/>
            <a:ext cx="60960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Learn how GIS and the ArcGIS Utility Network can be used to create an accurate model of the natural and manmade infrastructure used to capture and manage stormwater. </a:t>
            </a:r>
            <a:r>
              <a:rPr lang="en-US" b="1">
                <a:solidFill>
                  <a:srgbClr val="0A66C2"/>
                </a:solidFill>
                <a:latin typeface="-apple-system"/>
                <a:ea typeface="-apple-system"/>
                <a:cs typeface="-apple-system"/>
                <a:hlinkClick r:id="rId2"/>
              </a:rPr>
              <a:t>https://ow.ly/QjKg30sCI1O</a:t>
            </a:r>
            <a:endParaRPr lang="en-US"/>
          </a:p>
          <a:p>
            <a:pPr algn="ctr"/>
            <a:endParaRPr lang="pt-BR"/>
          </a:p>
        </p:txBody>
      </p:sp>
      <p:pic>
        <p:nvPicPr>
          <p:cNvPr id="5" name="Imagem 4" descr="Não foi fornecido texto alternativo para esta imagem">
            <a:extLst>
              <a:ext uri="{FF2B5EF4-FFF2-40B4-BE49-F238E27FC236}">
                <a16:creationId xmlns:a16="http://schemas.microsoft.com/office/drawing/2014/main" id="{1F6ABEBA-D1B2-9E47-FD76-7D014D5E89D9}"/>
              </a:ext>
            </a:extLst>
          </p:cNvPr>
          <p:cNvPicPr>
            <a:picLocks noChangeAspect="1"/>
          </p:cNvPicPr>
          <p:nvPr/>
        </p:nvPicPr>
        <p:blipFill>
          <a:blip r:embed="rId3"/>
          <a:stretch>
            <a:fillRect/>
          </a:stretch>
        </p:blipFill>
        <p:spPr>
          <a:xfrm>
            <a:off x="788419" y="776377"/>
            <a:ext cx="4543246" cy="4543246"/>
          </a:xfrm>
          <a:prstGeom prst="rect">
            <a:avLst/>
          </a:prstGeom>
        </p:spPr>
      </p:pic>
      <p:sp>
        <p:nvSpPr>
          <p:cNvPr id="6" name="CaixaDeTexto 5">
            <a:extLst>
              <a:ext uri="{FF2B5EF4-FFF2-40B4-BE49-F238E27FC236}">
                <a16:creationId xmlns:a16="http://schemas.microsoft.com/office/drawing/2014/main" id="{6FC5D68E-3127-9321-1426-06F97D8D1818}"/>
              </a:ext>
            </a:extLst>
          </p:cNvPr>
          <p:cNvSpPr txBox="1"/>
          <p:nvPr/>
        </p:nvSpPr>
        <p:spPr>
          <a:xfrm>
            <a:off x="503208" y="5599981"/>
            <a:ext cx="6541698"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https://www.linkedin.com/posts/andylovell_learn-how-gis-and-the-arcgis-utility-network-activity-7207397678060589057-6uKD?utm_source=share&amp;utm_medium=member_desktop&amp;rcm=ACoAAAMQtAUB5UouXqdBJgo_gWpNVZ7Imay_2Tg</a:t>
            </a:r>
          </a:p>
          <a:p>
            <a:pPr algn="ctr"/>
            <a:endParaRPr lang="pt-BR"/>
          </a:p>
        </p:txBody>
      </p:sp>
    </p:spTree>
    <p:extLst>
      <p:ext uri="{BB962C8B-B14F-4D97-AF65-F5344CB8AC3E}">
        <p14:creationId xmlns:p14="http://schemas.microsoft.com/office/powerpoint/2010/main" val="326080939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DAB3D75F-2082-EF97-7954-1B43888C0BA5}"/>
              </a:ext>
            </a:extLst>
          </p:cNvPr>
          <p:cNvSpPr txBox="1"/>
          <p:nvPr/>
        </p:nvSpPr>
        <p:spPr>
          <a:xfrm>
            <a:off x="5693433" y="294737"/>
            <a:ext cx="6096000" cy="62786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apple-system"/>
                <a:ea typeface="-apple-system"/>
                <a:cs typeface="-apple-system"/>
              </a:rPr>
              <a:t>O Poder do GIS </a:t>
            </a:r>
            <a:r>
              <a:rPr lang="en-US" sz="1600" err="1">
                <a:latin typeface="-apple-system"/>
                <a:ea typeface="-apple-system"/>
                <a:cs typeface="-apple-system"/>
              </a:rPr>
              <a:t>na</a:t>
            </a:r>
            <a:r>
              <a:rPr lang="en-US" sz="1600">
                <a:latin typeface="-apple-system"/>
                <a:ea typeface="-apple-system"/>
                <a:cs typeface="-apple-system"/>
              </a:rPr>
              <a:t> </a:t>
            </a:r>
            <a:r>
              <a:rPr lang="en-US" sz="1600" err="1">
                <a:latin typeface="-apple-system"/>
                <a:ea typeface="-apple-system"/>
                <a:cs typeface="-apple-system"/>
              </a:rPr>
              <a:t>Modernização</a:t>
            </a:r>
            <a:r>
              <a:rPr lang="en-US" sz="1600">
                <a:latin typeface="-apple-system"/>
                <a:ea typeface="-apple-system"/>
                <a:cs typeface="-apple-system"/>
              </a:rPr>
              <a:t> do Saneamento!</a:t>
            </a:r>
            <a:br>
              <a:rPr lang="en-US" sz="1600">
                <a:latin typeface="-apple-system"/>
                <a:ea typeface="-apple-system"/>
                <a:cs typeface="-apple-system"/>
              </a:rPr>
            </a:br>
            <a:br>
              <a:rPr lang="en-US" sz="1600">
                <a:latin typeface="-apple-system"/>
                <a:ea typeface="-apple-system"/>
                <a:cs typeface="-apple-system"/>
              </a:rPr>
            </a:br>
            <a:r>
              <a:rPr lang="en-US" sz="1600" err="1">
                <a:latin typeface="-apple-system"/>
                <a:ea typeface="-apple-system"/>
                <a:cs typeface="-apple-system"/>
              </a:rPr>
              <a:t>Você</a:t>
            </a:r>
            <a:r>
              <a:rPr lang="en-US" sz="1600">
                <a:latin typeface="-apple-system"/>
                <a:ea typeface="-apple-system"/>
                <a:cs typeface="-apple-system"/>
              </a:rPr>
              <a:t> sabia </a:t>
            </a:r>
            <a:r>
              <a:rPr lang="en-US" sz="1600" err="1">
                <a:latin typeface="-apple-system"/>
                <a:ea typeface="-apple-system"/>
                <a:cs typeface="-apple-system"/>
              </a:rPr>
              <a:t>que</a:t>
            </a:r>
            <a:r>
              <a:rPr lang="en-US" sz="1600">
                <a:latin typeface="-apple-system"/>
                <a:ea typeface="-apple-system"/>
                <a:cs typeface="-apple-system"/>
              </a:rPr>
              <a:t> </a:t>
            </a:r>
            <a:r>
              <a:rPr lang="en-US" sz="1600" err="1">
                <a:latin typeface="-apple-system"/>
                <a:ea typeface="-apple-system"/>
                <a:cs typeface="-apple-system"/>
              </a:rPr>
              <a:t>os</a:t>
            </a:r>
            <a:r>
              <a:rPr lang="en-US" sz="1600">
                <a:latin typeface="-apple-system"/>
                <a:ea typeface="-apple-system"/>
                <a:cs typeface="-apple-system"/>
              </a:rPr>
              <a:t> Sistemas de </a:t>
            </a:r>
            <a:r>
              <a:rPr lang="en-US" sz="1600" err="1">
                <a:latin typeface="-apple-system"/>
                <a:ea typeface="-apple-system"/>
                <a:cs typeface="-apple-system"/>
              </a:rPr>
              <a:t>Informações</a:t>
            </a:r>
            <a:r>
              <a:rPr lang="en-US" sz="1600">
                <a:latin typeface="-apple-system"/>
                <a:ea typeface="-apple-system"/>
                <a:cs typeface="-apple-system"/>
              </a:rPr>
              <a:t> </a:t>
            </a:r>
            <a:r>
              <a:rPr lang="en-US" sz="1600" err="1">
                <a:latin typeface="-apple-system"/>
                <a:ea typeface="-apple-system"/>
                <a:cs typeface="-apple-system"/>
              </a:rPr>
              <a:t>Geográficas</a:t>
            </a:r>
            <a:r>
              <a:rPr lang="en-US" sz="1600">
                <a:latin typeface="-apple-system"/>
                <a:ea typeface="-apple-system"/>
                <a:cs typeface="-apple-system"/>
              </a:rPr>
              <a:t> (GIS) </a:t>
            </a:r>
            <a:r>
              <a:rPr lang="en-US" sz="1600" err="1">
                <a:latin typeface="-apple-system"/>
                <a:ea typeface="-apple-system"/>
                <a:cs typeface="-apple-system"/>
              </a:rPr>
              <a:t>são</a:t>
            </a:r>
            <a:r>
              <a:rPr lang="en-US" sz="1600">
                <a:latin typeface="-apple-system"/>
                <a:ea typeface="-apple-system"/>
                <a:cs typeface="-apple-system"/>
              </a:rPr>
              <a:t> ferramentas </a:t>
            </a:r>
            <a:r>
              <a:rPr lang="en-US" sz="1600" err="1">
                <a:latin typeface="-apple-system"/>
                <a:ea typeface="-apple-system"/>
                <a:cs typeface="-apple-system"/>
              </a:rPr>
              <a:t>essenciais</a:t>
            </a:r>
            <a:r>
              <a:rPr lang="en-US" sz="1600">
                <a:latin typeface="-apple-system"/>
                <a:ea typeface="-apple-system"/>
                <a:cs typeface="-apple-system"/>
              </a:rPr>
              <a:t> para </a:t>
            </a:r>
            <a:r>
              <a:rPr lang="en-US" sz="1600" err="1">
                <a:latin typeface="-apple-system"/>
                <a:ea typeface="-apple-system"/>
                <a:cs typeface="-apple-system"/>
              </a:rPr>
              <a:t>enfrentar</a:t>
            </a:r>
            <a:r>
              <a:rPr lang="en-US" sz="1600">
                <a:latin typeface="-apple-system"/>
                <a:ea typeface="-apple-system"/>
                <a:cs typeface="-apple-system"/>
              </a:rPr>
              <a:t> </a:t>
            </a:r>
            <a:r>
              <a:rPr lang="en-US" sz="1600" err="1">
                <a:latin typeface="-apple-system"/>
                <a:ea typeface="-apple-system"/>
                <a:cs typeface="-apple-system"/>
              </a:rPr>
              <a:t>os</a:t>
            </a:r>
            <a:r>
              <a:rPr lang="en-US" sz="1600">
                <a:latin typeface="-apple-system"/>
                <a:ea typeface="-apple-system"/>
                <a:cs typeface="-apple-system"/>
              </a:rPr>
              <a:t> </a:t>
            </a:r>
            <a:r>
              <a:rPr lang="en-US" sz="1600" err="1">
                <a:latin typeface="-apple-system"/>
                <a:ea typeface="-apple-system"/>
                <a:cs typeface="-apple-system"/>
              </a:rPr>
              <a:t>desafios</a:t>
            </a:r>
            <a:r>
              <a:rPr lang="en-US" sz="1600">
                <a:latin typeface="-apple-system"/>
                <a:ea typeface="-apple-system"/>
                <a:cs typeface="-apple-system"/>
              </a:rPr>
              <a:t> do </a:t>
            </a:r>
            <a:r>
              <a:rPr lang="en-US" sz="1600" err="1">
                <a:latin typeface="-apple-system"/>
                <a:ea typeface="-apple-system"/>
                <a:cs typeface="-apple-system"/>
              </a:rPr>
              <a:t>setor</a:t>
            </a:r>
            <a:r>
              <a:rPr lang="en-US" sz="1600">
                <a:latin typeface="-apple-system"/>
                <a:ea typeface="-apple-system"/>
                <a:cs typeface="-apple-system"/>
              </a:rPr>
              <a:t> de </a:t>
            </a:r>
            <a:r>
              <a:rPr lang="en-US" sz="1600" err="1">
                <a:latin typeface="-apple-system"/>
                <a:ea typeface="-apple-system"/>
                <a:cs typeface="-apple-system"/>
              </a:rPr>
              <a:t>saneamento</a:t>
            </a:r>
            <a:r>
              <a:rPr lang="en-US" sz="1600">
                <a:latin typeface="-apple-system"/>
                <a:ea typeface="-apple-system"/>
                <a:cs typeface="-apple-system"/>
              </a:rPr>
              <a:t>? </a:t>
            </a:r>
            <a:r>
              <a:rPr lang="en-US" sz="1600" err="1">
                <a:latin typeface="-apple-system"/>
                <a:ea typeface="-apple-system"/>
                <a:cs typeface="-apple-system"/>
              </a:rPr>
              <a:t>Desde</a:t>
            </a:r>
            <a:r>
              <a:rPr lang="en-US" sz="1600">
                <a:latin typeface="-apple-system"/>
                <a:ea typeface="-apple-system"/>
                <a:cs typeface="-apple-system"/>
              </a:rPr>
              <a:t> o </a:t>
            </a:r>
            <a:r>
              <a:rPr lang="en-US" sz="1600" err="1">
                <a:latin typeface="-apple-system"/>
                <a:ea typeface="-apple-system"/>
                <a:cs typeface="-apple-system"/>
              </a:rPr>
              <a:t>cadastro</a:t>
            </a:r>
            <a:r>
              <a:rPr lang="en-US" sz="1600">
                <a:latin typeface="-apple-system"/>
                <a:ea typeface="-apple-system"/>
                <a:cs typeface="-apple-system"/>
              </a:rPr>
              <a:t> </a:t>
            </a:r>
            <a:r>
              <a:rPr lang="en-US" sz="1600" err="1">
                <a:latin typeface="-apple-system"/>
                <a:ea typeface="-apple-system"/>
                <a:cs typeface="-apple-system"/>
              </a:rPr>
              <a:t>técnico</a:t>
            </a:r>
            <a:r>
              <a:rPr lang="en-US" sz="1600">
                <a:latin typeface="-apple-system"/>
                <a:ea typeface="-apple-system"/>
                <a:cs typeface="-apple-system"/>
              </a:rPr>
              <a:t> de redes </a:t>
            </a:r>
            <a:r>
              <a:rPr lang="en-US" sz="1600" err="1">
                <a:latin typeface="-apple-system"/>
                <a:ea typeface="-apple-system"/>
                <a:cs typeface="-apple-system"/>
              </a:rPr>
              <a:t>até</a:t>
            </a:r>
            <a:r>
              <a:rPr lang="en-US" sz="1600">
                <a:latin typeface="-apple-system"/>
                <a:ea typeface="-apple-system"/>
                <a:cs typeface="-apple-system"/>
              </a:rPr>
              <a:t> a </a:t>
            </a:r>
            <a:r>
              <a:rPr lang="en-US" sz="1600" err="1">
                <a:latin typeface="-apple-system"/>
                <a:ea typeface="-apple-system"/>
                <a:cs typeface="-apple-system"/>
              </a:rPr>
              <a:t>gestão</a:t>
            </a:r>
            <a:r>
              <a:rPr lang="en-US" sz="1600">
                <a:latin typeface="-apple-system"/>
                <a:ea typeface="-apple-system"/>
                <a:cs typeface="-apple-system"/>
              </a:rPr>
              <a:t> de </a:t>
            </a:r>
            <a:r>
              <a:rPr lang="en-US" sz="1600" err="1">
                <a:latin typeface="-apple-system"/>
                <a:ea typeface="-apple-system"/>
                <a:cs typeface="-apple-system"/>
              </a:rPr>
              <a:t>perdas</a:t>
            </a:r>
            <a:r>
              <a:rPr lang="en-US" sz="1600">
                <a:latin typeface="-apple-system"/>
                <a:ea typeface="-apple-system"/>
                <a:cs typeface="-apple-system"/>
              </a:rPr>
              <a:t> de </a:t>
            </a:r>
            <a:r>
              <a:rPr lang="en-US" sz="1600" err="1">
                <a:latin typeface="-apple-system"/>
                <a:ea typeface="-apple-system"/>
                <a:cs typeface="-apple-system"/>
              </a:rPr>
              <a:t>água</a:t>
            </a:r>
            <a:r>
              <a:rPr lang="en-US" sz="1600">
                <a:latin typeface="-apple-system"/>
                <a:ea typeface="-apple-system"/>
                <a:cs typeface="-apple-system"/>
              </a:rPr>
              <a:t>, o GIS </a:t>
            </a:r>
            <a:r>
              <a:rPr lang="en-US" sz="1600" err="1">
                <a:latin typeface="-apple-system"/>
                <a:ea typeface="-apple-system"/>
                <a:cs typeface="-apple-system"/>
              </a:rPr>
              <a:t>oferece</a:t>
            </a:r>
            <a:r>
              <a:rPr lang="en-US" sz="1600">
                <a:latin typeface="-apple-system"/>
                <a:ea typeface="-apple-system"/>
                <a:cs typeface="-apple-system"/>
              </a:rPr>
              <a:t> </a:t>
            </a:r>
            <a:r>
              <a:rPr lang="en-US" sz="1600" err="1">
                <a:latin typeface="-apple-system"/>
                <a:ea typeface="-apple-system"/>
                <a:cs typeface="-apple-system"/>
              </a:rPr>
              <a:t>soluções</a:t>
            </a:r>
            <a:r>
              <a:rPr lang="en-US" sz="1600">
                <a:latin typeface="-apple-system"/>
                <a:ea typeface="-apple-system"/>
                <a:cs typeface="-apple-system"/>
              </a:rPr>
              <a:t> </a:t>
            </a:r>
            <a:r>
              <a:rPr lang="en-US" sz="1600" err="1">
                <a:latin typeface="-apple-system"/>
                <a:ea typeface="-apple-system"/>
                <a:cs typeface="-apple-system"/>
              </a:rPr>
              <a:t>que</a:t>
            </a:r>
            <a:r>
              <a:rPr lang="en-US" sz="1600">
                <a:latin typeface="-apple-system"/>
                <a:ea typeface="-apple-system"/>
                <a:cs typeface="-apple-system"/>
              </a:rPr>
              <a:t> </a:t>
            </a:r>
            <a:r>
              <a:rPr lang="en-US" sz="1600" err="1">
                <a:latin typeface="-apple-system"/>
                <a:ea typeface="-apple-system"/>
                <a:cs typeface="-apple-system"/>
              </a:rPr>
              <a:t>otimizam</a:t>
            </a:r>
            <a:r>
              <a:rPr lang="en-US" sz="1600">
                <a:latin typeface="-apple-system"/>
                <a:ea typeface="-apple-system"/>
                <a:cs typeface="-apple-system"/>
              </a:rPr>
              <a:t> </a:t>
            </a:r>
            <a:r>
              <a:rPr lang="en-US" sz="1600" err="1">
                <a:latin typeface="-apple-system"/>
                <a:ea typeface="-apple-system"/>
                <a:cs typeface="-apple-system"/>
              </a:rPr>
              <a:t>a</a:t>
            </a:r>
            <a:r>
              <a:rPr lang="en-US" sz="1600">
                <a:latin typeface="-apple-system"/>
                <a:ea typeface="-apple-system"/>
                <a:cs typeface="-apple-system"/>
              </a:rPr>
              <a:t> </a:t>
            </a:r>
            <a:r>
              <a:rPr lang="en-US" sz="1600" err="1">
                <a:latin typeface="-apple-system"/>
                <a:ea typeface="-apple-system"/>
                <a:cs typeface="-apple-system"/>
              </a:rPr>
              <a:t>operação</a:t>
            </a:r>
            <a:r>
              <a:rPr lang="en-US" sz="1600">
                <a:latin typeface="-apple-system"/>
                <a:ea typeface="-apple-system"/>
                <a:cs typeface="-apple-system"/>
              </a:rPr>
              <a:t> das </a:t>
            </a:r>
            <a:r>
              <a:rPr lang="en-US" sz="1600" err="1">
                <a:latin typeface="-apple-system"/>
                <a:ea typeface="-apple-system"/>
                <a:cs typeface="-apple-system"/>
              </a:rPr>
              <a:t>companhias</a:t>
            </a:r>
            <a:r>
              <a:rPr lang="en-US" sz="1600">
                <a:latin typeface="-apple-system"/>
                <a:ea typeface="-apple-system"/>
                <a:cs typeface="-apple-system"/>
              </a:rPr>
              <a:t> de </a:t>
            </a:r>
            <a:r>
              <a:rPr lang="en-US" sz="1600" err="1">
                <a:latin typeface="-apple-system"/>
                <a:ea typeface="-apple-system"/>
                <a:cs typeface="-apple-system"/>
              </a:rPr>
              <a:t>saneamento</a:t>
            </a:r>
            <a:r>
              <a:rPr lang="en-US" sz="1600">
                <a:latin typeface="-apple-system"/>
                <a:ea typeface="-apple-system"/>
                <a:cs typeface="-apple-system"/>
              </a:rPr>
              <a:t>, </a:t>
            </a:r>
            <a:r>
              <a:rPr lang="en-US" sz="1600" err="1">
                <a:latin typeface="-apple-system"/>
                <a:ea typeface="-apple-system"/>
                <a:cs typeface="-apple-system"/>
              </a:rPr>
              <a:t>melhoram</a:t>
            </a:r>
            <a:r>
              <a:rPr lang="en-US" sz="1600">
                <a:latin typeface="-apple-system"/>
                <a:ea typeface="-apple-system"/>
                <a:cs typeface="-apple-system"/>
              </a:rPr>
              <a:t> </a:t>
            </a:r>
            <a:r>
              <a:rPr lang="en-US" sz="1600" err="1">
                <a:latin typeface="-apple-system"/>
                <a:ea typeface="-apple-system"/>
                <a:cs typeface="-apple-system"/>
              </a:rPr>
              <a:t>a</a:t>
            </a:r>
            <a:r>
              <a:rPr lang="en-US" sz="1600">
                <a:latin typeface="-apple-system"/>
                <a:ea typeface="-apple-system"/>
                <a:cs typeface="-apple-system"/>
              </a:rPr>
              <a:t> </a:t>
            </a:r>
            <a:r>
              <a:rPr lang="en-US" sz="1600" err="1">
                <a:latin typeface="-apple-system"/>
                <a:ea typeface="-apple-system"/>
                <a:cs typeface="-apple-system"/>
              </a:rPr>
              <a:t>eficiência</a:t>
            </a:r>
            <a:r>
              <a:rPr lang="en-US" sz="1600">
                <a:latin typeface="-apple-system"/>
                <a:ea typeface="-apple-system"/>
                <a:cs typeface="-apple-system"/>
              </a:rPr>
              <a:t> e </a:t>
            </a:r>
            <a:r>
              <a:rPr lang="en-US" sz="1600" err="1">
                <a:latin typeface="-apple-system"/>
                <a:ea typeface="-apple-system"/>
                <a:cs typeface="-apple-system"/>
              </a:rPr>
              <a:t>reduzem</a:t>
            </a:r>
            <a:r>
              <a:rPr lang="en-US" sz="1600">
                <a:latin typeface="-apple-system"/>
                <a:ea typeface="-apple-system"/>
                <a:cs typeface="-apple-system"/>
              </a:rPr>
              <a:t> custos.</a:t>
            </a:r>
            <a:br>
              <a:rPr lang="en-US" sz="1600">
                <a:latin typeface="-apple-system"/>
                <a:ea typeface="-apple-system"/>
                <a:cs typeface="-apple-system"/>
              </a:rPr>
            </a:br>
            <a:br>
              <a:rPr lang="en-US" sz="1600">
                <a:latin typeface="-apple-system"/>
                <a:ea typeface="-apple-system"/>
                <a:cs typeface="-apple-system"/>
              </a:rPr>
            </a:br>
            <a:r>
              <a:rPr lang="en-US" sz="1600">
                <a:latin typeface="-apple-system"/>
                <a:ea typeface="-apple-system"/>
                <a:cs typeface="-apple-system"/>
              </a:rPr>
              <a:t>Com o </a:t>
            </a:r>
            <a:r>
              <a:rPr lang="en-US" sz="1600" err="1">
                <a:latin typeface="-apple-system"/>
                <a:ea typeface="-apple-system"/>
                <a:cs typeface="-apple-system"/>
              </a:rPr>
              <a:t>avanço</a:t>
            </a:r>
            <a:r>
              <a:rPr lang="en-US" sz="1600">
                <a:latin typeface="-apple-system"/>
                <a:ea typeface="-apple-system"/>
                <a:cs typeface="-apple-system"/>
              </a:rPr>
              <a:t> da </a:t>
            </a:r>
            <a:r>
              <a:rPr lang="en-US" sz="1600" err="1">
                <a:latin typeface="-apple-system"/>
                <a:ea typeface="-apple-system"/>
                <a:cs typeface="-apple-system"/>
              </a:rPr>
              <a:t>tecnologia</a:t>
            </a:r>
            <a:r>
              <a:rPr lang="en-US" sz="1600">
                <a:latin typeface="-apple-system"/>
                <a:ea typeface="-apple-system"/>
                <a:cs typeface="-apple-system"/>
              </a:rPr>
              <a:t>, o </a:t>
            </a:r>
            <a:r>
              <a:rPr lang="en-US" sz="1600" err="1">
                <a:latin typeface="-apple-system"/>
                <a:ea typeface="-apple-system"/>
                <a:cs typeface="-apple-system"/>
              </a:rPr>
              <a:t>modelo</a:t>
            </a:r>
            <a:r>
              <a:rPr lang="en-US" sz="1600">
                <a:latin typeface="-apple-system"/>
                <a:ea typeface="-apple-system"/>
                <a:cs typeface="-apple-system"/>
              </a:rPr>
              <a:t> SaaS (Software as a Service) </a:t>
            </a:r>
            <a:r>
              <a:rPr lang="en-US" sz="1600" err="1">
                <a:latin typeface="-apple-system"/>
                <a:ea typeface="-apple-system"/>
                <a:cs typeface="-apple-system"/>
              </a:rPr>
              <a:t>tornou</a:t>
            </a:r>
            <a:r>
              <a:rPr lang="en-US" sz="1600">
                <a:latin typeface="-apple-system"/>
                <a:ea typeface="-apple-system"/>
                <a:cs typeface="-apple-system"/>
              </a:rPr>
              <a:t> o GIS </a:t>
            </a:r>
            <a:r>
              <a:rPr lang="en-US" sz="1600" err="1">
                <a:latin typeface="-apple-system"/>
                <a:ea typeface="-apple-system"/>
                <a:cs typeface="-apple-system"/>
              </a:rPr>
              <a:t>ainda</a:t>
            </a:r>
            <a:r>
              <a:rPr lang="en-US" sz="1600">
                <a:latin typeface="-apple-system"/>
                <a:ea typeface="-apple-system"/>
                <a:cs typeface="-apple-system"/>
              </a:rPr>
              <a:t> </a:t>
            </a:r>
            <a:r>
              <a:rPr lang="en-US" sz="1600" err="1">
                <a:latin typeface="-apple-system"/>
                <a:ea typeface="-apple-system"/>
                <a:cs typeface="-apple-system"/>
              </a:rPr>
              <a:t>mais</a:t>
            </a:r>
            <a:r>
              <a:rPr lang="en-US" sz="1600">
                <a:latin typeface="-apple-system"/>
                <a:ea typeface="-apple-system"/>
                <a:cs typeface="-apple-system"/>
              </a:rPr>
              <a:t> </a:t>
            </a:r>
            <a:r>
              <a:rPr lang="en-US" sz="1600" err="1">
                <a:latin typeface="-apple-system"/>
                <a:ea typeface="-apple-system"/>
                <a:cs typeface="-apple-system"/>
              </a:rPr>
              <a:t>acessível</a:t>
            </a:r>
            <a:r>
              <a:rPr lang="en-US" sz="1600">
                <a:latin typeface="-apple-system"/>
                <a:ea typeface="-apple-system"/>
                <a:cs typeface="-apple-system"/>
              </a:rPr>
              <a:t>, </a:t>
            </a:r>
            <a:r>
              <a:rPr lang="en-US" sz="1600" err="1">
                <a:latin typeface="-apple-system"/>
                <a:ea typeface="-apple-system"/>
                <a:cs typeface="-apple-system"/>
              </a:rPr>
              <a:t>permitindo</a:t>
            </a:r>
            <a:r>
              <a:rPr lang="en-US" sz="1600">
                <a:latin typeface="-apple-system"/>
                <a:ea typeface="-apple-system"/>
                <a:cs typeface="-apple-system"/>
              </a:rPr>
              <a:t> </a:t>
            </a:r>
            <a:r>
              <a:rPr lang="en-US" sz="1600" err="1">
                <a:latin typeface="-apple-system"/>
                <a:ea typeface="-apple-system"/>
                <a:cs typeface="-apple-system"/>
              </a:rPr>
              <a:t>que</a:t>
            </a:r>
            <a:r>
              <a:rPr lang="en-US" sz="1600">
                <a:latin typeface="-apple-system"/>
                <a:ea typeface="-apple-system"/>
                <a:cs typeface="-apple-system"/>
              </a:rPr>
              <a:t> </a:t>
            </a:r>
            <a:r>
              <a:rPr lang="en-US" sz="1600" err="1">
                <a:latin typeface="-apple-system"/>
                <a:ea typeface="-apple-system"/>
                <a:cs typeface="-apple-system"/>
              </a:rPr>
              <a:t>empresas</a:t>
            </a:r>
            <a:r>
              <a:rPr lang="en-US" sz="1600">
                <a:latin typeface="-apple-system"/>
                <a:ea typeface="-apple-system"/>
                <a:cs typeface="-apple-system"/>
              </a:rPr>
              <a:t> de </a:t>
            </a:r>
            <a:r>
              <a:rPr lang="en-US" sz="1600" err="1">
                <a:latin typeface="-apple-system"/>
                <a:ea typeface="-apple-system"/>
                <a:cs typeface="-apple-system"/>
              </a:rPr>
              <a:t>todos</a:t>
            </a:r>
            <a:r>
              <a:rPr lang="en-US" sz="1600">
                <a:latin typeface="-apple-system"/>
                <a:ea typeface="-apple-system"/>
                <a:cs typeface="-apple-system"/>
              </a:rPr>
              <a:t> </a:t>
            </a:r>
            <a:r>
              <a:rPr lang="en-US" sz="1600" err="1">
                <a:latin typeface="-apple-system"/>
                <a:ea typeface="-apple-system"/>
                <a:cs typeface="-apple-system"/>
              </a:rPr>
              <a:t>os</a:t>
            </a:r>
            <a:r>
              <a:rPr lang="en-US" sz="1600">
                <a:latin typeface="-apple-system"/>
                <a:ea typeface="-apple-system"/>
                <a:cs typeface="-apple-system"/>
              </a:rPr>
              <a:t> </a:t>
            </a:r>
            <a:r>
              <a:rPr lang="en-US" sz="1600" err="1">
                <a:latin typeface="-apple-system"/>
                <a:ea typeface="-apple-system"/>
                <a:cs typeface="-apple-system"/>
              </a:rPr>
              <a:t>portes</a:t>
            </a:r>
            <a:r>
              <a:rPr lang="en-US" sz="1600">
                <a:latin typeface="-apple-system"/>
                <a:ea typeface="-apple-system"/>
                <a:cs typeface="-apple-system"/>
              </a:rPr>
              <a:t> </a:t>
            </a:r>
            <a:r>
              <a:rPr lang="en-US" sz="1600" err="1">
                <a:latin typeface="-apple-system"/>
                <a:ea typeface="-apple-system"/>
                <a:cs typeface="-apple-system"/>
              </a:rPr>
              <a:t>usufruam</a:t>
            </a:r>
            <a:r>
              <a:rPr lang="en-US" sz="1600">
                <a:latin typeface="-apple-system"/>
                <a:ea typeface="-apple-system"/>
                <a:cs typeface="-apple-system"/>
              </a:rPr>
              <a:t> de ferramentas </a:t>
            </a:r>
            <a:r>
              <a:rPr lang="en-US" sz="1600" err="1">
                <a:latin typeface="-apple-system"/>
                <a:ea typeface="-apple-system"/>
                <a:cs typeface="-apple-system"/>
              </a:rPr>
              <a:t>sofisticadas</a:t>
            </a:r>
            <a:r>
              <a:rPr lang="en-US" sz="1600">
                <a:latin typeface="-apple-system"/>
                <a:ea typeface="-apple-system"/>
                <a:cs typeface="-apple-system"/>
              </a:rPr>
              <a:t> </a:t>
            </a:r>
            <a:r>
              <a:rPr lang="en-US" sz="1600" err="1">
                <a:latin typeface="-apple-system"/>
                <a:ea typeface="-apple-system"/>
                <a:cs typeface="-apple-system"/>
              </a:rPr>
              <a:t>sem</a:t>
            </a:r>
            <a:r>
              <a:rPr lang="en-US" sz="1600">
                <a:latin typeface="-apple-system"/>
                <a:ea typeface="-apple-system"/>
                <a:cs typeface="-apple-system"/>
              </a:rPr>
              <a:t> a </a:t>
            </a:r>
            <a:r>
              <a:rPr lang="en-US" sz="1600" err="1">
                <a:latin typeface="-apple-system"/>
                <a:ea typeface="-apple-system"/>
                <a:cs typeface="-apple-system"/>
              </a:rPr>
              <a:t>necessidade</a:t>
            </a:r>
            <a:r>
              <a:rPr lang="en-US" sz="1600">
                <a:latin typeface="-apple-system"/>
                <a:ea typeface="-apple-system"/>
                <a:cs typeface="-apple-system"/>
              </a:rPr>
              <a:t> de </a:t>
            </a:r>
            <a:r>
              <a:rPr lang="en-US" sz="1600" err="1">
                <a:latin typeface="-apple-system"/>
                <a:ea typeface="-apple-system"/>
                <a:cs typeface="-apple-system"/>
              </a:rPr>
              <a:t>grandes</a:t>
            </a:r>
            <a:r>
              <a:rPr lang="en-US" sz="1600">
                <a:latin typeface="-apple-system"/>
                <a:ea typeface="-apple-system"/>
                <a:cs typeface="-apple-system"/>
              </a:rPr>
              <a:t> </a:t>
            </a:r>
            <a:r>
              <a:rPr lang="en-US" sz="1600" err="1">
                <a:latin typeface="-apple-system"/>
                <a:ea typeface="-apple-system"/>
                <a:cs typeface="-apple-system"/>
              </a:rPr>
              <a:t>investimentos</a:t>
            </a:r>
            <a:r>
              <a:rPr lang="en-US" sz="1600">
                <a:latin typeface="-apple-system"/>
                <a:ea typeface="-apple-system"/>
                <a:cs typeface="-apple-system"/>
              </a:rPr>
              <a:t> </a:t>
            </a:r>
            <a:r>
              <a:rPr lang="en-US" sz="1600" err="1">
                <a:latin typeface="-apple-system"/>
                <a:ea typeface="-apple-system"/>
                <a:cs typeface="-apple-system"/>
              </a:rPr>
              <a:t>em</a:t>
            </a:r>
            <a:r>
              <a:rPr lang="en-US" sz="1600">
                <a:latin typeface="-apple-system"/>
                <a:ea typeface="-apple-system"/>
                <a:cs typeface="-apple-system"/>
              </a:rPr>
              <a:t> </a:t>
            </a:r>
            <a:r>
              <a:rPr lang="en-US" sz="1600" err="1">
                <a:latin typeface="-apple-system"/>
                <a:ea typeface="-apple-system"/>
                <a:cs typeface="-apple-system"/>
              </a:rPr>
              <a:t>infraestrutura</a:t>
            </a:r>
            <a:r>
              <a:rPr lang="en-US" sz="1600">
                <a:latin typeface="-apple-system"/>
                <a:ea typeface="-apple-system"/>
                <a:cs typeface="-apple-system"/>
              </a:rPr>
              <a:t>. O </a:t>
            </a:r>
            <a:r>
              <a:rPr lang="en-US" sz="1600" err="1">
                <a:latin typeface="-apple-system"/>
                <a:ea typeface="-apple-system"/>
                <a:cs typeface="-apple-system"/>
              </a:rPr>
              <a:t>GeoMonitora</a:t>
            </a:r>
            <a:r>
              <a:rPr lang="en-US" sz="1600">
                <a:latin typeface="-apple-system"/>
                <a:ea typeface="-apple-system"/>
                <a:cs typeface="-apple-system"/>
              </a:rPr>
              <a:t>, </a:t>
            </a:r>
            <a:r>
              <a:rPr lang="en-US" sz="1600" err="1">
                <a:latin typeface="-apple-system"/>
                <a:ea typeface="-apple-system"/>
                <a:cs typeface="-apple-system"/>
              </a:rPr>
              <a:t>solução</a:t>
            </a:r>
            <a:r>
              <a:rPr lang="en-US" sz="1600">
                <a:latin typeface="-apple-system"/>
                <a:ea typeface="-apple-system"/>
                <a:cs typeface="-apple-system"/>
              </a:rPr>
              <a:t> </a:t>
            </a:r>
            <a:r>
              <a:rPr lang="en-US" sz="1600" err="1">
                <a:latin typeface="-apple-system"/>
                <a:ea typeface="-apple-system"/>
                <a:cs typeface="-apple-system"/>
              </a:rPr>
              <a:t>desenvolvida</a:t>
            </a:r>
            <a:r>
              <a:rPr lang="en-US" sz="1600">
                <a:latin typeface="-apple-system"/>
                <a:ea typeface="-apple-system"/>
                <a:cs typeface="-apple-system"/>
              </a:rPr>
              <a:t> pela </a:t>
            </a:r>
            <a:r>
              <a:rPr lang="en-US" sz="1600" err="1">
                <a:latin typeface="-apple-system"/>
                <a:ea typeface="-apple-system"/>
                <a:cs typeface="-apple-system"/>
              </a:rPr>
              <a:t>Monitora</a:t>
            </a:r>
            <a:r>
              <a:rPr lang="en-US" sz="1600">
                <a:latin typeface="-apple-system"/>
                <a:ea typeface="-apple-system"/>
                <a:cs typeface="-apple-system"/>
              </a:rPr>
              <a:t>, é um </a:t>
            </a:r>
            <a:r>
              <a:rPr lang="en-US" sz="1600" err="1">
                <a:latin typeface="-apple-system"/>
                <a:ea typeface="-apple-system"/>
                <a:cs typeface="-apple-system"/>
              </a:rPr>
              <a:t>exemplo</a:t>
            </a:r>
            <a:r>
              <a:rPr lang="en-US" sz="1600">
                <a:latin typeface="-apple-system"/>
                <a:ea typeface="-apple-system"/>
                <a:cs typeface="-apple-system"/>
              </a:rPr>
              <a:t> </a:t>
            </a:r>
            <a:r>
              <a:rPr lang="en-US" sz="1600" err="1">
                <a:latin typeface="-apple-system"/>
                <a:ea typeface="-apple-system"/>
                <a:cs typeface="-apple-system"/>
              </a:rPr>
              <a:t>disso</a:t>
            </a:r>
            <a:r>
              <a:rPr lang="en-US" sz="1600">
                <a:latin typeface="-apple-system"/>
                <a:ea typeface="-apple-system"/>
                <a:cs typeface="-apple-system"/>
              </a:rPr>
              <a:t>: </a:t>
            </a:r>
            <a:r>
              <a:rPr lang="en-US" sz="1600" err="1">
                <a:latin typeface="-apple-system"/>
                <a:ea typeface="-apple-system"/>
                <a:cs typeface="-apple-system"/>
              </a:rPr>
              <a:t>uma</a:t>
            </a:r>
            <a:r>
              <a:rPr lang="en-US" sz="1600">
                <a:latin typeface="-apple-system"/>
                <a:ea typeface="-apple-system"/>
                <a:cs typeface="-apple-system"/>
              </a:rPr>
              <a:t> </a:t>
            </a:r>
            <a:r>
              <a:rPr lang="en-US" sz="1600" err="1">
                <a:latin typeface="-apple-system"/>
                <a:ea typeface="-apple-system"/>
                <a:cs typeface="-apple-system"/>
              </a:rPr>
              <a:t>aplicação</a:t>
            </a:r>
            <a:r>
              <a:rPr lang="en-US" sz="1600">
                <a:latin typeface="-apple-system"/>
                <a:ea typeface="-apple-system"/>
                <a:cs typeface="-apple-system"/>
              </a:rPr>
              <a:t> GIS </a:t>
            </a:r>
            <a:r>
              <a:rPr lang="en-US" sz="1600" err="1">
                <a:latin typeface="-apple-system"/>
                <a:ea typeface="-apple-system"/>
                <a:cs typeface="-apple-system"/>
              </a:rPr>
              <a:t>totalmente</a:t>
            </a:r>
            <a:r>
              <a:rPr lang="en-US" sz="1600">
                <a:latin typeface="-apple-system"/>
                <a:ea typeface="-apple-system"/>
                <a:cs typeface="-apple-system"/>
              </a:rPr>
              <a:t> via web, </a:t>
            </a:r>
            <a:r>
              <a:rPr lang="en-US" sz="1600" err="1">
                <a:latin typeface="-apple-system"/>
                <a:ea typeface="-apple-system"/>
                <a:cs typeface="-apple-system"/>
              </a:rPr>
              <a:t>que</a:t>
            </a:r>
            <a:r>
              <a:rPr lang="en-US" sz="1600">
                <a:latin typeface="-apple-system"/>
                <a:ea typeface="-apple-system"/>
                <a:cs typeface="-apple-system"/>
              </a:rPr>
              <a:t> </a:t>
            </a:r>
            <a:r>
              <a:rPr lang="en-US" sz="1600" err="1">
                <a:latin typeface="-apple-system"/>
                <a:ea typeface="-apple-system"/>
                <a:cs typeface="-apple-system"/>
              </a:rPr>
              <a:t>democratiza</a:t>
            </a:r>
            <a:r>
              <a:rPr lang="en-US" sz="1600">
                <a:latin typeface="-apple-system"/>
                <a:ea typeface="-apple-system"/>
                <a:cs typeface="-apple-system"/>
              </a:rPr>
              <a:t> o </a:t>
            </a:r>
            <a:r>
              <a:rPr lang="en-US" sz="1600" err="1">
                <a:latin typeface="-apple-system"/>
                <a:ea typeface="-apple-system"/>
                <a:cs typeface="-apple-system"/>
              </a:rPr>
              <a:t>acesso</a:t>
            </a:r>
            <a:r>
              <a:rPr lang="en-US" sz="1600">
                <a:latin typeface="-apple-system"/>
                <a:ea typeface="-apple-system"/>
                <a:cs typeface="-apple-system"/>
              </a:rPr>
              <a:t> </a:t>
            </a:r>
            <a:r>
              <a:rPr lang="en-US" sz="1600" err="1">
                <a:latin typeface="-apple-system"/>
                <a:ea typeface="-apple-system"/>
                <a:cs typeface="-apple-system"/>
              </a:rPr>
              <a:t>a</a:t>
            </a:r>
            <a:r>
              <a:rPr lang="en-US" sz="1600">
                <a:latin typeface="-apple-system"/>
                <a:ea typeface="-apple-system"/>
                <a:cs typeface="-apple-system"/>
              </a:rPr>
              <a:t> </a:t>
            </a:r>
            <a:r>
              <a:rPr lang="en-US" sz="1600" err="1">
                <a:latin typeface="-apple-system"/>
                <a:ea typeface="-apple-system"/>
                <a:cs typeface="-apple-system"/>
              </a:rPr>
              <a:t>informações</a:t>
            </a:r>
            <a:r>
              <a:rPr lang="en-US" sz="1600">
                <a:latin typeface="-apple-system"/>
                <a:ea typeface="-apple-system"/>
                <a:cs typeface="-apple-system"/>
              </a:rPr>
              <a:t> </a:t>
            </a:r>
            <a:r>
              <a:rPr lang="en-US" sz="1600" err="1">
                <a:latin typeface="-apple-system"/>
                <a:ea typeface="-apple-system"/>
                <a:cs typeface="-apple-system"/>
              </a:rPr>
              <a:t>críticas</a:t>
            </a:r>
            <a:r>
              <a:rPr lang="en-US" sz="1600">
                <a:latin typeface="-apple-system"/>
                <a:ea typeface="-apple-system"/>
                <a:cs typeface="-apple-system"/>
              </a:rPr>
              <a:t>, </a:t>
            </a:r>
            <a:r>
              <a:rPr lang="en-US" sz="1600" err="1">
                <a:latin typeface="-apple-system"/>
                <a:ea typeface="-apple-system"/>
                <a:cs typeface="-apple-system"/>
              </a:rPr>
              <a:t>garantindo</a:t>
            </a:r>
            <a:r>
              <a:rPr lang="en-US" sz="1600">
                <a:latin typeface="-apple-system"/>
                <a:ea typeface="-apple-system"/>
                <a:cs typeface="-apple-system"/>
              </a:rPr>
              <a:t> </a:t>
            </a:r>
            <a:r>
              <a:rPr lang="en-US" sz="1600" err="1">
                <a:latin typeface="-apple-system"/>
                <a:ea typeface="-apple-system"/>
                <a:cs typeface="-apple-system"/>
              </a:rPr>
              <a:t>flexibilidade</a:t>
            </a:r>
            <a:r>
              <a:rPr lang="en-US" sz="1600">
                <a:latin typeface="-apple-system"/>
                <a:ea typeface="-apple-system"/>
                <a:cs typeface="-apple-system"/>
              </a:rPr>
              <a:t>, </a:t>
            </a:r>
            <a:r>
              <a:rPr lang="en-US" sz="1600" err="1">
                <a:latin typeface="-apple-system"/>
                <a:ea typeface="-apple-system"/>
                <a:cs typeface="-apple-system"/>
              </a:rPr>
              <a:t>segurança</a:t>
            </a:r>
            <a:r>
              <a:rPr lang="en-US" sz="1600">
                <a:latin typeface="-apple-system"/>
                <a:ea typeface="-apple-system"/>
                <a:cs typeface="-apple-system"/>
              </a:rPr>
              <a:t> e </a:t>
            </a:r>
            <a:r>
              <a:rPr lang="en-US" sz="1600" err="1">
                <a:latin typeface="-apple-system"/>
                <a:ea typeface="-apple-system"/>
                <a:cs typeface="-apple-system"/>
              </a:rPr>
              <a:t>inovação</a:t>
            </a:r>
            <a:r>
              <a:rPr lang="en-US" sz="1600">
                <a:latin typeface="-apple-system"/>
                <a:ea typeface="-apple-system"/>
                <a:cs typeface="-apple-system"/>
              </a:rPr>
              <a:t>.</a:t>
            </a:r>
            <a:br>
              <a:rPr lang="en-US" sz="1600">
                <a:latin typeface="-apple-system"/>
                <a:ea typeface="-apple-system"/>
                <a:cs typeface="-apple-system"/>
              </a:rPr>
            </a:br>
            <a:br>
              <a:rPr lang="en-US" sz="1600">
                <a:latin typeface="-apple-system"/>
                <a:ea typeface="-apple-system"/>
                <a:cs typeface="-apple-system"/>
              </a:rPr>
            </a:br>
            <a:r>
              <a:rPr lang="en-US" sz="1600" err="1">
                <a:latin typeface="-apple-system"/>
                <a:ea typeface="-apple-system"/>
                <a:cs typeface="-apple-system"/>
              </a:rPr>
              <a:t>Quer</a:t>
            </a:r>
            <a:r>
              <a:rPr lang="en-US" sz="1600">
                <a:latin typeface="-apple-system"/>
                <a:ea typeface="-apple-system"/>
                <a:cs typeface="-apple-system"/>
              </a:rPr>
              <a:t> saber </a:t>
            </a:r>
            <a:r>
              <a:rPr lang="en-US" sz="1600" err="1">
                <a:latin typeface="-apple-system"/>
                <a:ea typeface="-apple-system"/>
                <a:cs typeface="-apple-system"/>
              </a:rPr>
              <a:t>mais</a:t>
            </a:r>
            <a:r>
              <a:rPr lang="en-US" sz="1600">
                <a:latin typeface="-apple-system"/>
                <a:ea typeface="-apple-system"/>
                <a:cs typeface="-apple-system"/>
              </a:rPr>
              <a:t> </a:t>
            </a:r>
            <a:r>
              <a:rPr lang="en-US" sz="1600" err="1">
                <a:latin typeface="-apple-system"/>
                <a:ea typeface="-apple-system"/>
                <a:cs typeface="-apple-system"/>
              </a:rPr>
              <a:t>sobre</a:t>
            </a:r>
            <a:r>
              <a:rPr lang="en-US" sz="1600">
                <a:latin typeface="-apple-system"/>
                <a:ea typeface="-apple-system"/>
                <a:cs typeface="-apple-system"/>
              </a:rPr>
              <a:t> </a:t>
            </a:r>
            <a:r>
              <a:rPr lang="en-US" sz="1600" err="1">
                <a:latin typeface="-apple-system"/>
                <a:ea typeface="-apple-system"/>
                <a:cs typeface="-apple-system"/>
              </a:rPr>
              <a:t>como</a:t>
            </a:r>
            <a:r>
              <a:rPr lang="en-US" sz="1600">
                <a:latin typeface="-apple-system"/>
                <a:ea typeface="-apple-system"/>
                <a:cs typeface="-apple-system"/>
              </a:rPr>
              <a:t> o GIS </a:t>
            </a:r>
            <a:r>
              <a:rPr lang="en-US" sz="1600" err="1">
                <a:latin typeface="-apple-system"/>
                <a:ea typeface="-apple-system"/>
                <a:cs typeface="-apple-system"/>
              </a:rPr>
              <a:t>está</a:t>
            </a:r>
            <a:r>
              <a:rPr lang="en-US" sz="1600">
                <a:latin typeface="-apple-system"/>
                <a:ea typeface="-apple-system"/>
                <a:cs typeface="-apple-system"/>
              </a:rPr>
              <a:t> </a:t>
            </a:r>
            <a:r>
              <a:rPr lang="en-US" sz="1600" err="1">
                <a:latin typeface="-apple-system"/>
                <a:ea typeface="-apple-system"/>
                <a:cs typeface="-apple-system"/>
              </a:rPr>
              <a:t>transformando</a:t>
            </a:r>
            <a:r>
              <a:rPr lang="en-US" sz="1600">
                <a:latin typeface="-apple-system"/>
                <a:ea typeface="-apple-system"/>
                <a:cs typeface="-apple-system"/>
              </a:rPr>
              <a:t> o </a:t>
            </a:r>
            <a:r>
              <a:rPr lang="en-US" sz="1600" err="1">
                <a:latin typeface="-apple-system"/>
                <a:ea typeface="-apple-system"/>
                <a:cs typeface="-apple-system"/>
              </a:rPr>
              <a:t>saneamento</a:t>
            </a:r>
            <a:r>
              <a:rPr lang="en-US" sz="1600">
                <a:latin typeface="-apple-system"/>
                <a:ea typeface="-apple-system"/>
                <a:cs typeface="-apple-system"/>
              </a:rPr>
              <a:t>? E </a:t>
            </a:r>
            <a:r>
              <a:rPr lang="en-US" sz="1600" err="1">
                <a:latin typeface="-apple-system"/>
                <a:ea typeface="-apple-system"/>
                <a:cs typeface="-apple-system"/>
              </a:rPr>
              <a:t>como</a:t>
            </a:r>
            <a:r>
              <a:rPr lang="en-US" sz="1600">
                <a:latin typeface="-apple-system"/>
                <a:ea typeface="-apple-system"/>
                <a:cs typeface="-apple-system"/>
              </a:rPr>
              <a:t> o </a:t>
            </a:r>
            <a:r>
              <a:rPr lang="en-US" sz="1600" err="1">
                <a:latin typeface="-apple-system"/>
                <a:ea typeface="-apple-system"/>
                <a:cs typeface="-apple-system"/>
              </a:rPr>
              <a:t>GeoMonitora</a:t>
            </a:r>
            <a:r>
              <a:rPr lang="en-US" sz="1600">
                <a:latin typeface="-apple-system"/>
                <a:ea typeface="-apple-system"/>
                <a:cs typeface="-apple-system"/>
              </a:rPr>
              <a:t> </a:t>
            </a:r>
            <a:r>
              <a:rPr lang="en-US" sz="1600" err="1">
                <a:latin typeface="-apple-system"/>
                <a:ea typeface="-apple-system"/>
                <a:cs typeface="-apple-system"/>
              </a:rPr>
              <a:t>pode</a:t>
            </a:r>
            <a:r>
              <a:rPr lang="en-US" sz="1600">
                <a:latin typeface="-apple-system"/>
                <a:ea typeface="-apple-system"/>
                <a:cs typeface="-apple-system"/>
              </a:rPr>
              <a:t> se </a:t>
            </a:r>
            <a:r>
              <a:rPr lang="en-US" sz="1600" err="1">
                <a:latin typeface="-apple-system"/>
                <a:ea typeface="-apple-system"/>
                <a:cs typeface="-apple-system"/>
              </a:rPr>
              <a:t>adaptar</a:t>
            </a:r>
            <a:r>
              <a:rPr lang="en-US" sz="1600">
                <a:latin typeface="-apple-system"/>
                <a:ea typeface="-apple-system"/>
                <a:cs typeface="-apple-system"/>
              </a:rPr>
              <a:t> as </a:t>
            </a:r>
            <a:r>
              <a:rPr lang="en-US" sz="1600" err="1">
                <a:latin typeface="-apple-system"/>
                <a:ea typeface="-apple-system"/>
                <a:cs typeface="-apple-system"/>
              </a:rPr>
              <a:t>suas</a:t>
            </a:r>
            <a:r>
              <a:rPr lang="en-US" sz="1600">
                <a:latin typeface="-apple-system"/>
                <a:ea typeface="-apple-system"/>
                <a:cs typeface="-apple-system"/>
              </a:rPr>
              <a:t> </a:t>
            </a:r>
            <a:r>
              <a:rPr lang="en-US" sz="1600" err="1">
                <a:latin typeface="-apple-system"/>
                <a:ea typeface="-apple-system"/>
                <a:cs typeface="-apple-system"/>
              </a:rPr>
              <a:t>necessidades</a:t>
            </a:r>
            <a:r>
              <a:rPr lang="en-US" sz="1600">
                <a:latin typeface="-apple-system"/>
                <a:ea typeface="-apple-system"/>
                <a:cs typeface="-apple-system"/>
              </a:rPr>
              <a:t>? Leia o </a:t>
            </a:r>
            <a:r>
              <a:rPr lang="en-US" sz="1600" err="1">
                <a:latin typeface="-apple-system"/>
                <a:ea typeface="-apple-system"/>
                <a:cs typeface="-apple-system"/>
              </a:rPr>
              <a:t>artigo</a:t>
            </a:r>
            <a:r>
              <a:rPr lang="en-US" sz="1600">
                <a:latin typeface="-apple-system"/>
                <a:ea typeface="-apple-system"/>
                <a:cs typeface="-apple-system"/>
              </a:rPr>
              <a:t> </a:t>
            </a:r>
            <a:r>
              <a:rPr lang="en-US" sz="1600" err="1">
                <a:latin typeface="-apple-system"/>
                <a:ea typeface="-apple-system"/>
                <a:cs typeface="-apple-system"/>
              </a:rPr>
              <a:t>completo</a:t>
            </a:r>
            <a:r>
              <a:rPr lang="en-US" sz="1600">
                <a:latin typeface="-apple-system"/>
                <a:ea typeface="-apple-system"/>
                <a:cs typeface="-apple-system"/>
              </a:rPr>
              <a:t> e </a:t>
            </a:r>
            <a:r>
              <a:rPr lang="en-US" sz="1600" err="1">
                <a:latin typeface="-apple-system"/>
                <a:ea typeface="-apple-system"/>
                <a:cs typeface="-apple-system"/>
              </a:rPr>
              <a:t>descubra</a:t>
            </a:r>
            <a:r>
              <a:rPr lang="en-US" sz="1600">
                <a:latin typeface="-apple-system"/>
                <a:ea typeface="-apple-system"/>
                <a:cs typeface="-apple-system"/>
              </a:rPr>
              <a:t> </a:t>
            </a:r>
            <a:r>
              <a:rPr lang="en-US" sz="1600" err="1">
                <a:latin typeface="-apple-system"/>
                <a:ea typeface="-apple-system"/>
                <a:cs typeface="-apple-system"/>
              </a:rPr>
              <a:t>como</a:t>
            </a:r>
            <a:r>
              <a:rPr lang="en-US" sz="1600">
                <a:latin typeface="-apple-system"/>
                <a:ea typeface="-apple-system"/>
                <a:cs typeface="-apple-system"/>
              </a:rPr>
              <a:t> </a:t>
            </a:r>
            <a:r>
              <a:rPr lang="en-US" sz="1600" err="1">
                <a:latin typeface="-apple-system"/>
                <a:ea typeface="-apple-system"/>
                <a:cs typeface="-apple-system"/>
              </a:rPr>
              <a:t>sua</a:t>
            </a:r>
            <a:r>
              <a:rPr lang="en-US" sz="1600">
                <a:latin typeface="-apple-system"/>
                <a:ea typeface="-apple-system"/>
                <a:cs typeface="-apple-system"/>
              </a:rPr>
              <a:t> </a:t>
            </a:r>
            <a:r>
              <a:rPr lang="en-US" sz="1600" err="1">
                <a:latin typeface="-apple-system"/>
                <a:ea typeface="-apple-system"/>
                <a:cs typeface="-apple-system"/>
              </a:rPr>
              <a:t>empresa</a:t>
            </a:r>
            <a:r>
              <a:rPr lang="en-US" sz="1600">
                <a:latin typeface="-apple-system"/>
                <a:ea typeface="-apple-system"/>
                <a:cs typeface="-apple-system"/>
              </a:rPr>
              <a:t> </a:t>
            </a:r>
            <a:r>
              <a:rPr lang="en-US" sz="1600" err="1">
                <a:latin typeface="-apple-system"/>
                <a:ea typeface="-apple-system"/>
                <a:cs typeface="-apple-system"/>
              </a:rPr>
              <a:t>pode</a:t>
            </a:r>
            <a:r>
              <a:rPr lang="en-US" sz="1600">
                <a:latin typeface="-apple-system"/>
                <a:ea typeface="-apple-system"/>
                <a:cs typeface="-apple-system"/>
              </a:rPr>
              <a:t> se </a:t>
            </a:r>
            <a:r>
              <a:rPr lang="en-US" sz="1600" err="1">
                <a:latin typeface="-apple-system"/>
                <a:ea typeface="-apple-system"/>
                <a:cs typeface="-apple-system"/>
              </a:rPr>
              <a:t>beneficiar</a:t>
            </a:r>
            <a:r>
              <a:rPr lang="en-US" sz="1600">
                <a:latin typeface="-apple-system"/>
                <a:ea typeface="-apple-system"/>
                <a:cs typeface="-apple-system"/>
              </a:rPr>
              <a:t> dessa </a:t>
            </a:r>
            <a:r>
              <a:rPr lang="en-US" sz="1600" err="1">
                <a:latin typeface="-apple-system"/>
                <a:ea typeface="-apple-system"/>
                <a:cs typeface="-apple-system"/>
              </a:rPr>
              <a:t>tecnologia</a:t>
            </a:r>
            <a:r>
              <a:rPr lang="en-US" sz="1600">
                <a:latin typeface="-apple-system"/>
                <a:ea typeface="-apple-system"/>
                <a:cs typeface="-apple-system"/>
              </a:rPr>
              <a:t>!</a:t>
            </a:r>
            <a:br>
              <a:rPr lang="en-US" sz="1600">
                <a:latin typeface="-apple-system"/>
                <a:ea typeface="-apple-system"/>
                <a:cs typeface="-apple-system"/>
              </a:rPr>
            </a:br>
            <a:br>
              <a:rPr lang="en-US" sz="1600">
                <a:latin typeface="-apple-system"/>
                <a:ea typeface="-apple-system"/>
                <a:cs typeface="-apple-system"/>
              </a:rPr>
            </a:br>
            <a:r>
              <a:rPr lang="en-US" sz="1600">
                <a:latin typeface="-apple-system"/>
                <a:ea typeface="-apple-system"/>
                <a:cs typeface="-apple-system"/>
              </a:rPr>
              <a:t>Somos </a:t>
            </a:r>
            <a:r>
              <a:rPr lang="en-US" sz="1600" err="1">
                <a:latin typeface="-apple-system"/>
                <a:ea typeface="-apple-system"/>
                <a:cs typeface="-apple-system"/>
              </a:rPr>
              <a:t>Especialistas</a:t>
            </a:r>
            <a:r>
              <a:rPr lang="en-US" sz="1600">
                <a:latin typeface="-apple-system"/>
                <a:ea typeface="-apple-system"/>
                <a:cs typeface="-apple-system"/>
              </a:rPr>
              <a:t> </a:t>
            </a:r>
            <a:r>
              <a:rPr lang="en-US" sz="1600" err="1">
                <a:latin typeface="-apple-system"/>
                <a:ea typeface="-apple-system"/>
                <a:cs typeface="-apple-system"/>
              </a:rPr>
              <a:t>em</a:t>
            </a:r>
            <a:r>
              <a:rPr lang="en-US" sz="1600">
                <a:latin typeface="-apple-system"/>
                <a:ea typeface="-apple-system"/>
                <a:cs typeface="-apple-system"/>
              </a:rPr>
              <a:t> </a:t>
            </a:r>
            <a:r>
              <a:rPr lang="en-US" sz="1600" err="1">
                <a:latin typeface="-apple-system"/>
                <a:ea typeface="-apple-system"/>
                <a:cs typeface="-apple-system"/>
              </a:rPr>
              <a:t>Gestão</a:t>
            </a:r>
            <a:r>
              <a:rPr lang="en-US" sz="1600">
                <a:latin typeface="-apple-system"/>
                <a:ea typeface="-apple-system"/>
                <a:cs typeface="-apple-system"/>
              </a:rPr>
              <a:t> da </a:t>
            </a:r>
            <a:r>
              <a:rPr lang="en-US" sz="1600" err="1">
                <a:latin typeface="-apple-system"/>
                <a:ea typeface="-apple-system"/>
                <a:cs typeface="-apple-system"/>
              </a:rPr>
              <a:t>Água</a:t>
            </a:r>
            <a:r>
              <a:rPr lang="en-US" sz="1600">
                <a:latin typeface="-apple-system"/>
                <a:ea typeface="-apple-system"/>
                <a:cs typeface="-apple-system"/>
              </a:rPr>
              <a:t> | Maior </a:t>
            </a:r>
            <a:r>
              <a:rPr lang="en-US" sz="1600" err="1">
                <a:latin typeface="-apple-system"/>
                <a:ea typeface="-apple-system"/>
                <a:cs typeface="-apple-system"/>
              </a:rPr>
              <a:t>bem</a:t>
            </a:r>
            <a:r>
              <a:rPr lang="en-US" sz="1600">
                <a:latin typeface="-apple-system"/>
                <a:ea typeface="-apple-system"/>
                <a:cs typeface="-apple-system"/>
              </a:rPr>
              <a:t> do Mundo </a:t>
            </a:r>
            <a:br>
              <a:rPr lang="en-US" sz="1600">
                <a:latin typeface="-apple-system"/>
                <a:ea typeface="-apple-system"/>
                <a:cs typeface="-apple-system"/>
              </a:rPr>
            </a:br>
            <a:br>
              <a:rPr lang="en-US" sz="1600">
                <a:latin typeface="-apple-system"/>
                <a:ea typeface="-apple-system"/>
                <a:cs typeface="-apple-system"/>
              </a:rPr>
            </a:br>
            <a:r>
              <a:rPr lang="en-US" sz="1600" b="1">
                <a:solidFill>
                  <a:srgbClr val="0A66C2"/>
                </a:solidFill>
                <a:latin typeface="-apple-system"/>
                <a:ea typeface="-apple-system"/>
                <a:cs typeface="-apple-system"/>
                <a:hlinkClick r:id="rId2"/>
              </a:rPr>
              <a:t>https://lnkd.in/d9c8VAVe</a:t>
            </a:r>
            <a:endParaRPr lang="en-US" sz="1600">
              <a:ea typeface="Calibri"/>
              <a:cs typeface="Calibri"/>
            </a:endParaRPr>
          </a:p>
          <a:p>
            <a:pPr algn="ctr"/>
            <a:endParaRPr lang="pt-BR"/>
          </a:p>
        </p:txBody>
      </p:sp>
      <p:pic>
        <p:nvPicPr>
          <p:cNvPr id="5" name="Imagem 4" descr="Interface gráfica do usuário, Site&#10;&#10;O conteúdo gerado por IA pode estar incorreto.">
            <a:extLst>
              <a:ext uri="{FF2B5EF4-FFF2-40B4-BE49-F238E27FC236}">
                <a16:creationId xmlns:a16="http://schemas.microsoft.com/office/drawing/2014/main" id="{792B316C-A867-8E98-FF4F-2CAFBF5581CF}"/>
              </a:ext>
            </a:extLst>
          </p:cNvPr>
          <p:cNvPicPr>
            <a:picLocks noChangeAspect="1"/>
          </p:cNvPicPr>
          <p:nvPr/>
        </p:nvPicPr>
        <p:blipFill>
          <a:blip r:embed="rId3"/>
          <a:stretch>
            <a:fillRect/>
          </a:stretch>
        </p:blipFill>
        <p:spPr>
          <a:xfrm>
            <a:off x="289704" y="972089"/>
            <a:ext cx="5257800" cy="3562350"/>
          </a:xfrm>
          <a:prstGeom prst="rect">
            <a:avLst/>
          </a:prstGeom>
        </p:spPr>
      </p:pic>
      <p:sp>
        <p:nvSpPr>
          <p:cNvPr id="6" name="CaixaDeTexto 5">
            <a:extLst>
              <a:ext uri="{FF2B5EF4-FFF2-40B4-BE49-F238E27FC236}">
                <a16:creationId xmlns:a16="http://schemas.microsoft.com/office/drawing/2014/main" id="{F8FC85C0-F967-40CA-0DA9-BB1CF9E32CAC}"/>
              </a:ext>
            </a:extLst>
          </p:cNvPr>
          <p:cNvSpPr txBox="1"/>
          <p:nvPr/>
        </p:nvSpPr>
        <p:spPr>
          <a:xfrm>
            <a:off x="287547" y="4924245"/>
            <a:ext cx="5032076" cy="20928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https://www.linkedin.com/posts/monitora-tecnologia-e-informacao_aguavalemaisquediamante-paranaejsaguavalemaisquediamante-activity-7232105047952621568-EL5Z?utm_source=share&amp;utm_medium=member_desktop&amp;rcm=ACoAAAMQtAUB5UouXqdBJgo_gWpNVZ7Imay_2Tg</a:t>
            </a:r>
            <a:endParaRPr lang="en-US" sz="1600">
              <a:ea typeface="Calibri"/>
              <a:cs typeface="Calibri"/>
            </a:endParaRPr>
          </a:p>
          <a:p>
            <a:pPr algn="ctr"/>
            <a:endParaRPr lang="pt-BR"/>
          </a:p>
        </p:txBody>
      </p:sp>
    </p:spTree>
    <p:extLst>
      <p:ext uri="{BB962C8B-B14F-4D97-AF65-F5344CB8AC3E}">
        <p14:creationId xmlns:p14="http://schemas.microsoft.com/office/powerpoint/2010/main" val="28980376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557D7851-DA97-FD22-DD4B-A7321FF36CBB}"/>
              </a:ext>
            </a:extLst>
          </p:cNvPr>
          <p:cNvSpPr txBox="1"/>
          <p:nvPr/>
        </p:nvSpPr>
        <p:spPr>
          <a:xfrm>
            <a:off x="5851585" y="179716"/>
            <a:ext cx="6096000" cy="64940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err="1">
                <a:latin typeface="-apple-system"/>
                <a:ea typeface="-apple-system"/>
                <a:cs typeface="-apple-system"/>
              </a:rPr>
              <a:t>GeoNode</a:t>
            </a:r>
            <a:r>
              <a:rPr lang="en-US" sz="1600">
                <a:latin typeface="-apple-system"/>
                <a:ea typeface="-apple-system"/>
                <a:cs typeface="-apple-system"/>
              </a:rPr>
              <a:t> e ArcGIS Online </a:t>
            </a:r>
            <a:r>
              <a:rPr lang="en-US" sz="1600" err="1">
                <a:latin typeface="-apple-system"/>
                <a:ea typeface="-apple-system"/>
                <a:cs typeface="-apple-system"/>
              </a:rPr>
              <a:t>são</a:t>
            </a:r>
            <a:r>
              <a:rPr lang="en-US" sz="1600">
                <a:latin typeface="-apple-system"/>
                <a:ea typeface="-apple-system"/>
                <a:cs typeface="-apple-system"/>
              </a:rPr>
              <a:t> </a:t>
            </a:r>
            <a:r>
              <a:rPr lang="en-US" sz="1600" err="1">
                <a:latin typeface="-apple-system"/>
                <a:ea typeface="-apple-system"/>
                <a:cs typeface="-apple-system"/>
              </a:rPr>
              <a:t>plataformas</a:t>
            </a:r>
            <a:r>
              <a:rPr lang="en-US" sz="1600">
                <a:latin typeface="-apple-system"/>
                <a:ea typeface="-apple-system"/>
                <a:cs typeface="-apple-system"/>
              </a:rPr>
              <a:t> de software GIS </a:t>
            </a:r>
            <a:r>
              <a:rPr lang="en-US" sz="1600" err="1">
                <a:latin typeface="-apple-system"/>
                <a:ea typeface="-apple-system"/>
                <a:cs typeface="-apple-system"/>
              </a:rPr>
              <a:t>que</a:t>
            </a:r>
            <a:r>
              <a:rPr lang="en-US" sz="1600">
                <a:latin typeface="-apple-system"/>
                <a:ea typeface="-apple-system"/>
                <a:cs typeface="-apple-system"/>
              </a:rPr>
              <a:t> </a:t>
            </a:r>
            <a:r>
              <a:rPr lang="en-US" sz="1600" err="1">
                <a:latin typeface="-apple-system"/>
                <a:ea typeface="-apple-system"/>
                <a:cs typeface="-apple-system"/>
              </a:rPr>
              <a:t>permitem</a:t>
            </a:r>
            <a:r>
              <a:rPr lang="en-US" sz="1600">
                <a:latin typeface="-apple-system"/>
                <a:ea typeface="-apple-system"/>
                <a:cs typeface="-apple-system"/>
              </a:rPr>
              <a:t> a </a:t>
            </a:r>
            <a:r>
              <a:rPr lang="en-US" sz="1600" err="1">
                <a:latin typeface="-apple-system"/>
                <a:ea typeface="-apple-system"/>
                <a:cs typeface="-apple-system"/>
              </a:rPr>
              <a:t>criação</a:t>
            </a:r>
            <a:r>
              <a:rPr lang="en-US" sz="1600">
                <a:latin typeface="-apple-system"/>
                <a:ea typeface="-apple-system"/>
                <a:cs typeface="-apple-system"/>
              </a:rPr>
              <a:t> e o </a:t>
            </a:r>
            <a:r>
              <a:rPr lang="en-US" sz="1600" err="1">
                <a:latin typeface="-apple-system"/>
                <a:ea typeface="-apple-system"/>
                <a:cs typeface="-apple-system"/>
              </a:rPr>
              <a:t>compartilhamento</a:t>
            </a:r>
            <a:r>
              <a:rPr lang="en-US" sz="1600">
                <a:latin typeface="-apple-system"/>
                <a:ea typeface="-apple-system"/>
                <a:cs typeface="-apple-system"/>
              </a:rPr>
              <a:t> de </a:t>
            </a:r>
            <a:r>
              <a:rPr lang="en-US" sz="1600" err="1">
                <a:latin typeface="-apple-system"/>
                <a:ea typeface="-apple-system"/>
                <a:cs typeface="-apple-system"/>
              </a:rPr>
              <a:t>mapas</a:t>
            </a:r>
            <a:r>
              <a:rPr lang="en-US" sz="1600">
                <a:latin typeface="-apple-system"/>
                <a:ea typeface="-apple-system"/>
                <a:cs typeface="-apple-system"/>
              </a:rPr>
              <a:t> e </a:t>
            </a:r>
            <a:r>
              <a:rPr lang="en-US" sz="1600" err="1">
                <a:latin typeface="-apple-system"/>
                <a:ea typeface="-apple-system"/>
                <a:cs typeface="-apple-system"/>
              </a:rPr>
              <a:t>aplicativos</a:t>
            </a:r>
            <a:r>
              <a:rPr lang="en-US" sz="1600">
                <a:latin typeface="-apple-system"/>
                <a:ea typeface="-apple-system"/>
                <a:cs typeface="-apple-system"/>
              </a:rPr>
              <a:t> web. No </a:t>
            </a:r>
            <a:r>
              <a:rPr lang="en-US" sz="1600" err="1">
                <a:latin typeface="-apple-system"/>
                <a:ea typeface="-apple-system"/>
                <a:cs typeface="-apple-system"/>
              </a:rPr>
              <a:t>entanto</a:t>
            </a:r>
            <a:r>
              <a:rPr lang="en-US" sz="1600">
                <a:latin typeface="-apple-system"/>
                <a:ea typeface="-apple-system"/>
                <a:cs typeface="-apple-system"/>
              </a:rPr>
              <a:t>, </a:t>
            </a:r>
            <a:r>
              <a:rPr lang="en-US" sz="1600" err="1">
                <a:latin typeface="-apple-system"/>
                <a:ea typeface="-apple-system"/>
                <a:cs typeface="-apple-system"/>
              </a:rPr>
              <a:t>existem</a:t>
            </a:r>
            <a:r>
              <a:rPr lang="en-US" sz="1600">
                <a:latin typeface="-apple-system"/>
                <a:ea typeface="-apple-system"/>
                <a:cs typeface="-apple-system"/>
              </a:rPr>
              <a:t> </a:t>
            </a:r>
            <a:r>
              <a:rPr lang="en-US" sz="1600" err="1">
                <a:latin typeface="-apple-system"/>
                <a:ea typeface="-apple-system"/>
                <a:cs typeface="-apple-system"/>
              </a:rPr>
              <a:t>diferenças</a:t>
            </a:r>
            <a:r>
              <a:rPr lang="en-US" sz="1600">
                <a:latin typeface="-apple-system"/>
                <a:ea typeface="-apple-system"/>
                <a:cs typeface="-apple-system"/>
              </a:rPr>
              <a:t> </a:t>
            </a:r>
            <a:r>
              <a:rPr lang="en-US" sz="1600" err="1">
                <a:latin typeface="-apple-system"/>
                <a:ea typeface="-apple-system"/>
                <a:cs typeface="-apple-system"/>
              </a:rPr>
              <a:t>importantes</a:t>
            </a:r>
            <a:r>
              <a:rPr lang="en-US" sz="1600">
                <a:latin typeface="-apple-system"/>
                <a:ea typeface="-apple-system"/>
                <a:cs typeface="-apple-system"/>
              </a:rPr>
              <a:t> entre as duas </a:t>
            </a:r>
            <a:r>
              <a:rPr lang="en-US" sz="1600" err="1">
                <a:latin typeface="-apple-system"/>
                <a:ea typeface="-apple-system"/>
                <a:cs typeface="-apple-system"/>
              </a:rPr>
              <a:t>plataformas</a:t>
            </a:r>
            <a:r>
              <a:rPr lang="en-US" sz="1600">
                <a:latin typeface="-apple-system"/>
                <a:ea typeface="-apple-system"/>
                <a:cs typeface="-apple-system"/>
              </a:rPr>
              <a:t> </a:t>
            </a:r>
            <a:r>
              <a:rPr lang="en-US" sz="1600" err="1">
                <a:latin typeface="-apple-system"/>
                <a:ea typeface="-apple-system"/>
                <a:cs typeface="-apple-system"/>
              </a:rPr>
              <a:t>que</a:t>
            </a:r>
            <a:r>
              <a:rPr lang="en-US" sz="1600">
                <a:latin typeface="-apple-system"/>
                <a:ea typeface="-apple-system"/>
                <a:cs typeface="-apple-system"/>
              </a:rPr>
              <a:t> </a:t>
            </a:r>
            <a:r>
              <a:rPr lang="en-US" sz="1600" err="1">
                <a:latin typeface="-apple-system"/>
                <a:ea typeface="-apple-system"/>
                <a:cs typeface="-apple-system"/>
              </a:rPr>
              <a:t>podem</a:t>
            </a:r>
            <a:r>
              <a:rPr lang="en-US" sz="1600">
                <a:latin typeface="-apple-system"/>
                <a:ea typeface="-apple-system"/>
                <a:cs typeface="-apple-system"/>
              </a:rPr>
              <a:t> </a:t>
            </a:r>
            <a:r>
              <a:rPr lang="en-US" sz="1600" err="1">
                <a:latin typeface="-apple-system"/>
                <a:ea typeface="-apple-system"/>
                <a:cs typeface="-apple-system"/>
              </a:rPr>
              <a:t>influenciar</a:t>
            </a:r>
            <a:r>
              <a:rPr lang="en-US" sz="1600">
                <a:latin typeface="-apple-system"/>
                <a:ea typeface="-apple-system"/>
                <a:cs typeface="-apple-system"/>
              </a:rPr>
              <a:t> </a:t>
            </a:r>
            <a:r>
              <a:rPr lang="en-US" sz="1600" err="1">
                <a:latin typeface="-apple-system"/>
                <a:ea typeface="-apple-system"/>
                <a:cs typeface="-apple-system"/>
              </a:rPr>
              <a:t>na</a:t>
            </a:r>
            <a:r>
              <a:rPr lang="en-US" sz="1600">
                <a:latin typeface="-apple-system"/>
                <a:ea typeface="-apple-system"/>
                <a:cs typeface="-apple-system"/>
              </a:rPr>
              <a:t> </a:t>
            </a:r>
            <a:r>
              <a:rPr lang="en-US" sz="1600" err="1">
                <a:latin typeface="-apple-system"/>
                <a:ea typeface="-apple-system"/>
                <a:cs typeface="-apple-system"/>
              </a:rPr>
              <a:t>escolha</a:t>
            </a:r>
            <a:r>
              <a:rPr lang="en-US" sz="1600">
                <a:latin typeface="-apple-system"/>
                <a:ea typeface="-apple-system"/>
                <a:cs typeface="-apple-system"/>
              </a:rPr>
              <a:t> da </a:t>
            </a:r>
            <a:r>
              <a:rPr lang="en-US" sz="1600" err="1">
                <a:latin typeface="-apple-system"/>
                <a:ea typeface="-apple-system"/>
                <a:cs typeface="-apple-system"/>
              </a:rPr>
              <a:t>solução</a:t>
            </a:r>
            <a:r>
              <a:rPr lang="en-US" sz="1600">
                <a:latin typeface="-apple-system"/>
                <a:ea typeface="-apple-system"/>
                <a:cs typeface="-apple-system"/>
              </a:rPr>
              <a:t> </a:t>
            </a:r>
            <a:r>
              <a:rPr lang="en-US" sz="1600" err="1">
                <a:latin typeface="-apple-system"/>
                <a:ea typeface="-apple-system"/>
                <a:cs typeface="-apple-system"/>
              </a:rPr>
              <a:t>mais</a:t>
            </a:r>
            <a:r>
              <a:rPr lang="en-US" sz="1600">
                <a:latin typeface="-apple-system"/>
                <a:ea typeface="-apple-system"/>
                <a:cs typeface="-apple-system"/>
              </a:rPr>
              <a:t> </a:t>
            </a:r>
            <a:r>
              <a:rPr lang="en-US" sz="1600" err="1">
                <a:latin typeface="-apple-system"/>
                <a:ea typeface="-apple-system"/>
                <a:cs typeface="-apple-system"/>
              </a:rPr>
              <a:t>adequada</a:t>
            </a:r>
            <a:r>
              <a:rPr lang="en-US" sz="1600">
                <a:latin typeface="-apple-system"/>
                <a:ea typeface="-apple-system"/>
                <a:cs typeface="-apple-system"/>
              </a:rPr>
              <a:t> para </a:t>
            </a:r>
            <a:r>
              <a:rPr lang="en-US" sz="1600" err="1">
                <a:latin typeface="-apple-system"/>
                <a:ea typeface="-apple-system"/>
                <a:cs typeface="-apple-system"/>
              </a:rPr>
              <a:t>suas</a:t>
            </a:r>
            <a:r>
              <a:rPr lang="en-US" sz="1600">
                <a:latin typeface="-apple-system"/>
                <a:ea typeface="-apple-system"/>
                <a:cs typeface="-apple-system"/>
              </a:rPr>
              <a:t> </a:t>
            </a:r>
            <a:r>
              <a:rPr lang="en-US" sz="1600" err="1">
                <a:latin typeface="-apple-system"/>
                <a:ea typeface="-apple-system"/>
                <a:cs typeface="-apple-system"/>
              </a:rPr>
              <a:t>necessidades</a:t>
            </a:r>
            <a:r>
              <a:rPr lang="en-US" sz="1600">
                <a:latin typeface="-apple-system"/>
                <a:ea typeface="-apple-system"/>
                <a:cs typeface="-apple-system"/>
              </a:rPr>
              <a:t>, </a:t>
            </a:r>
            <a:r>
              <a:rPr lang="en-US" sz="1600" err="1">
                <a:latin typeface="-apple-system"/>
                <a:ea typeface="-apple-system"/>
                <a:cs typeface="-apple-system"/>
              </a:rPr>
              <a:t>como</a:t>
            </a:r>
            <a:r>
              <a:rPr lang="en-US" sz="1600">
                <a:latin typeface="-apple-system"/>
                <a:ea typeface="-apple-system"/>
                <a:cs typeface="-apple-system"/>
              </a:rPr>
              <a:t>:</a:t>
            </a:r>
            <a:br>
              <a:rPr lang="en-US" sz="1600">
                <a:latin typeface="-apple-system"/>
                <a:ea typeface="-apple-system"/>
                <a:cs typeface="-apple-system"/>
              </a:rPr>
            </a:br>
            <a:br>
              <a:rPr lang="en-US" sz="1600">
                <a:latin typeface="-apple-system"/>
                <a:ea typeface="-apple-system"/>
                <a:cs typeface="-apple-system"/>
              </a:rPr>
            </a:br>
            <a:r>
              <a:rPr lang="en-US" sz="1600">
                <a:latin typeface="-apple-system"/>
                <a:ea typeface="-apple-system"/>
                <a:cs typeface="-apple-system"/>
              </a:rPr>
              <a:t>📍 </a:t>
            </a:r>
            <a:r>
              <a:rPr lang="en-US" sz="1600" err="1">
                <a:latin typeface="-apple-system"/>
                <a:ea typeface="-apple-system"/>
                <a:cs typeface="-apple-system"/>
              </a:rPr>
              <a:t>Funcionalidades</a:t>
            </a:r>
            <a:br>
              <a:rPr lang="en-US" sz="1600">
                <a:latin typeface="-apple-system"/>
                <a:ea typeface="-apple-system"/>
                <a:cs typeface="-apple-system"/>
              </a:rPr>
            </a:br>
            <a:r>
              <a:rPr lang="en-US" sz="1600">
                <a:latin typeface="-apple-system"/>
                <a:ea typeface="-apple-system"/>
                <a:cs typeface="-apple-system"/>
              </a:rPr>
              <a:t>📍 Curva de </a:t>
            </a:r>
            <a:r>
              <a:rPr lang="en-US" sz="1600" err="1">
                <a:latin typeface="-apple-system"/>
                <a:ea typeface="-apple-system"/>
                <a:cs typeface="-apple-system"/>
              </a:rPr>
              <a:t>aprendizado</a:t>
            </a:r>
            <a:br>
              <a:rPr lang="en-US" sz="1600">
                <a:latin typeface="-apple-system"/>
                <a:ea typeface="-apple-system"/>
                <a:cs typeface="-apple-system"/>
              </a:rPr>
            </a:br>
            <a:r>
              <a:rPr lang="en-US" sz="1600">
                <a:latin typeface="-apple-system"/>
                <a:ea typeface="-apple-system"/>
                <a:cs typeface="-apple-system"/>
              </a:rPr>
              <a:t>📍 </a:t>
            </a:r>
            <a:r>
              <a:rPr lang="en-US" sz="1600" err="1">
                <a:latin typeface="-apple-system"/>
                <a:ea typeface="-apple-system"/>
                <a:cs typeface="-apple-system"/>
              </a:rPr>
              <a:t>Documentação</a:t>
            </a:r>
            <a:br>
              <a:rPr lang="en-US" sz="1600">
                <a:latin typeface="-apple-system"/>
                <a:ea typeface="-apple-system"/>
                <a:cs typeface="-apple-system"/>
              </a:rPr>
            </a:br>
            <a:r>
              <a:rPr lang="en-US" sz="1600">
                <a:latin typeface="-apple-system"/>
                <a:ea typeface="-apple-system"/>
                <a:cs typeface="-apple-system"/>
              </a:rPr>
              <a:t>📍 </a:t>
            </a:r>
            <a:r>
              <a:rPr lang="en-US" sz="1600" err="1">
                <a:latin typeface="-apple-system"/>
                <a:ea typeface="-apple-system"/>
                <a:cs typeface="-apple-system"/>
              </a:rPr>
              <a:t>Taxas</a:t>
            </a:r>
            <a:r>
              <a:rPr lang="en-US" sz="1600">
                <a:latin typeface="-apple-system"/>
                <a:ea typeface="-apple-system"/>
                <a:cs typeface="-apple-system"/>
              </a:rPr>
              <a:t> de </a:t>
            </a:r>
            <a:r>
              <a:rPr lang="en-US" sz="1600" err="1">
                <a:latin typeface="-apple-system"/>
                <a:ea typeface="-apple-system"/>
                <a:cs typeface="-apple-system"/>
              </a:rPr>
              <a:t>licenciamento</a:t>
            </a:r>
            <a:r>
              <a:rPr lang="en-US" sz="1600">
                <a:latin typeface="-apple-system"/>
                <a:ea typeface="-apple-system"/>
                <a:cs typeface="-apple-system"/>
              </a:rPr>
              <a:t> e custos de </a:t>
            </a:r>
            <a:r>
              <a:rPr lang="en-US" sz="1600" err="1">
                <a:latin typeface="-apple-system"/>
                <a:ea typeface="-apple-system"/>
                <a:cs typeface="-apple-system"/>
              </a:rPr>
              <a:t>assinatura</a:t>
            </a:r>
            <a:br>
              <a:rPr lang="en-US" sz="1600">
                <a:latin typeface="-apple-system"/>
                <a:ea typeface="-apple-system"/>
                <a:cs typeface="-apple-system"/>
              </a:rPr>
            </a:br>
            <a:r>
              <a:rPr lang="en-US" sz="1600">
                <a:latin typeface="-apple-system"/>
                <a:ea typeface="-apple-system"/>
                <a:cs typeface="-apple-system"/>
              </a:rPr>
              <a:t>📍 </a:t>
            </a:r>
            <a:r>
              <a:rPr lang="en-US" sz="1600" err="1">
                <a:latin typeface="-apple-system"/>
                <a:ea typeface="-apple-system"/>
                <a:cs typeface="-apple-system"/>
              </a:rPr>
              <a:t>Personalização</a:t>
            </a:r>
            <a:r>
              <a:rPr lang="en-US" sz="1600">
                <a:latin typeface="-apple-system"/>
                <a:ea typeface="-apple-system"/>
                <a:cs typeface="-apple-system"/>
              </a:rPr>
              <a:t> e </a:t>
            </a:r>
            <a:r>
              <a:rPr lang="en-US" sz="1600" err="1">
                <a:latin typeface="-apple-system"/>
                <a:ea typeface="-apple-system"/>
                <a:cs typeface="-apple-system"/>
              </a:rPr>
              <a:t>Desenvolvimento</a:t>
            </a:r>
            <a:br>
              <a:rPr lang="en-US" sz="1600">
                <a:latin typeface="-apple-system"/>
                <a:ea typeface="-apple-system"/>
                <a:cs typeface="-apple-system"/>
              </a:rPr>
            </a:br>
            <a:r>
              <a:rPr lang="en-US" sz="1600">
                <a:latin typeface="-apple-system"/>
                <a:ea typeface="-apple-system"/>
                <a:cs typeface="-apple-system"/>
              </a:rPr>
              <a:t>📍 </a:t>
            </a:r>
            <a:r>
              <a:rPr lang="en-US" sz="1600" err="1">
                <a:latin typeface="-apple-system"/>
                <a:ea typeface="-apple-system"/>
                <a:cs typeface="-apple-system"/>
              </a:rPr>
              <a:t>Escalabilidade</a:t>
            </a:r>
            <a:r>
              <a:rPr lang="en-US" sz="1600">
                <a:latin typeface="-apple-system"/>
                <a:ea typeface="-apple-system"/>
                <a:cs typeface="-apple-system"/>
              </a:rPr>
              <a:t> e </a:t>
            </a:r>
            <a:r>
              <a:rPr lang="en-US" sz="1600" err="1">
                <a:latin typeface="-apple-system"/>
                <a:ea typeface="-apple-system"/>
                <a:cs typeface="-apple-system"/>
              </a:rPr>
              <a:t>flexibilidade</a:t>
            </a:r>
            <a:br>
              <a:rPr lang="en-US" sz="1600">
                <a:latin typeface="-apple-system"/>
                <a:ea typeface="-apple-system"/>
                <a:cs typeface="-apple-system"/>
              </a:rPr>
            </a:br>
            <a:br>
              <a:rPr lang="en-US" sz="1600">
                <a:latin typeface="-apple-system"/>
                <a:ea typeface="-apple-system"/>
                <a:cs typeface="-apple-system"/>
              </a:rPr>
            </a:br>
            <a:r>
              <a:rPr lang="en-US" sz="1600" err="1">
                <a:latin typeface="-apple-system"/>
                <a:ea typeface="-apple-system"/>
                <a:cs typeface="-apple-system"/>
              </a:rPr>
              <a:t>Você</a:t>
            </a:r>
            <a:r>
              <a:rPr lang="en-US" sz="1600">
                <a:latin typeface="-apple-system"/>
                <a:ea typeface="-apple-system"/>
                <a:cs typeface="-apple-system"/>
              </a:rPr>
              <a:t> </a:t>
            </a:r>
            <a:r>
              <a:rPr lang="en-US" sz="1600" err="1">
                <a:latin typeface="-apple-system"/>
                <a:ea typeface="-apple-system"/>
                <a:cs typeface="-apple-system"/>
              </a:rPr>
              <a:t>pode</a:t>
            </a:r>
            <a:r>
              <a:rPr lang="en-US" sz="1600">
                <a:latin typeface="-apple-system"/>
                <a:ea typeface="-apple-system"/>
                <a:cs typeface="-apple-system"/>
              </a:rPr>
              <a:t> </a:t>
            </a:r>
            <a:r>
              <a:rPr lang="en-US" sz="1600" err="1">
                <a:latin typeface="-apple-system"/>
                <a:ea typeface="-apple-system"/>
                <a:cs typeface="-apple-system"/>
              </a:rPr>
              <a:t>ler</a:t>
            </a:r>
            <a:r>
              <a:rPr lang="en-US" sz="1600">
                <a:latin typeface="-apple-system"/>
                <a:ea typeface="-apple-system"/>
                <a:cs typeface="-apple-system"/>
              </a:rPr>
              <a:t> </a:t>
            </a:r>
            <a:r>
              <a:rPr lang="en-US" sz="1600" err="1">
                <a:latin typeface="-apple-system"/>
                <a:ea typeface="-apple-system"/>
                <a:cs typeface="-apple-system"/>
              </a:rPr>
              <a:t>a</a:t>
            </a:r>
            <a:r>
              <a:rPr lang="en-US" sz="1600">
                <a:latin typeface="-apple-system"/>
                <a:ea typeface="-apple-system"/>
                <a:cs typeface="-apple-system"/>
              </a:rPr>
              <a:t> </a:t>
            </a:r>
            <a:r>
              <a:rPr lang="en-US" sz="1600" err="1">
                <a:latin typeface="-apple-system"/>
                <a:ea typeface="-apple-system"/>
                <a:cs typeface="-apple-system"/>
              </a:rPr>
              <a:t>análise</a:t>
            </a:r>
            <a:r>
              <a:rPr lang="en-US" sz="1600">
                <a:latin typeface="-apple-system"/>
                <a:ea typeface="-apple-system"/>
                <a:cs typeface="-apple-system"/>
              </a:rPr>
              <a:t> completa </a:t>
            </a:r>
            <a:r>
              <a:rPr lang="en-US" sz="1600" err="1">
                <a:latin typeface="-apple-system"/>
                <a:ea typeface="-apple-system"/>
                <a:cs typeface="-apple-system"/>
              </a:rPr>
              <a:t>em</a:t>
            </a:r>
            <a:r>
              <a:rPr lang="en-US" sz="1600">
                <a:latin typeface="-apple-system"/>
                <a:ea typeface="-apple-system"/>
                <a:cs typeface="-apple-system"/>
              </a:rPr>
              <a:t> </a:t>
            </a:r>
            <a:r>
              <a:rPr lang="en-US" sz="1600" b="1">
                <a:solidFill>
                  <a:srgbClr val="0A66C2"/>
                </a:solidFill>
                <a:latin typeface="-apple-system"/>
                <a:ea typeface="-apple-system"/>
                <a:cs typeface="-apple-system"/>
                <a:hlinkClick r:id="rId2"/>
              </a:rPr>
              <a:t>https://lnkd.in/dwqWqbMG</a:t>
            </a:r>
            <a:br>
              <a:rPr lang="en-US" sz="1600">
                <a:latin typeface="-apple-system"/>
                <a:ea typeface="-apple-system"/>
                <a:cs typeface="-apple-system"/>
              </a:rPr>
            </a:br>
            <a:br>
              <a:rPr lang="en-US" sz="1600">
                <a:latin typeface="-apple-system"/>
                <a:ea typeface="-apple-system"/>
                <a:cs typeface="-apple-system"/>
              </a:rPr>
            </a:br>
            <a:r>
              <a:rPr lang="en-US" sz="1600">
                <a:latin typeface="-apple-system"/>
                <a:ea typeface="-apple-system"/>
                <a:cs typeface="-apple-system"/>
              </a:rPr>
              <a:t>👉 </a:t>
            </a:r>
            <a:r>
              <a:rPr lang="en-US" sz="1600" err="1">
                <a:latin typeface="-apple-system"/>
                <a:ea typeface="-apple-system"/>
                <a:cs typeface="-apple-system"/>
              </a:rPr>
              <a:t>Quer</a:t>
            </a:r>
            <a:r>
              <a:rPr lang="en-US" sz="1600">
                <a:latin typeface="-apple-system"/>
                <a:ea typeface="-apple-system"/>
                <a:cs typeface="-apple-system"/>
              </a:rPr>
              <a:t> saber </a:t>
            </a:r>
            <a:r>
              <a:rPr lang="en-US" sz="1600" err="1">
                <a:latin typeface="-apple-system"/>
                <a:ea typeface="-apple-system"/>
                <a:cs typeface="-apple-system"/>
              </a:rPr>
              <a:t>mais</a:t>
            </a:r>
            <a:r>
              <a:rPr lang="en-US" sz="1600">
                <a:latin typeface="-apple-system"/>
                <a:ea typeface="-apple-system"/>
                <a:cs typeface="-apple-system"/>
              </a:rPr>
              <a:t>?</a:t>
            </a:r>
            <a:br>
              <a:rPr lang="en-US" sz="1600">
                <a:latin typeface="-apple-system"/>
                <a:ea typeface="-apple-system"/>
                <a:cs typeface="-apple-system"/>
              </a:rPr>
            </a:br>
            <a:br>
              <a:rPr lang="en-US" sz="1600">
                <a:latin typeface="-apple-system"/>
                <a:ea typeface="-apple-system"/>
                <a:cs typeface="-apple-system"/>
              </a:rPr>
            </a:br>
            <a:r>
              <a:rPr lang="en-US" sz="1600">
                <a:latin typeface="-apple-system"/>
                <a:ea typeface="-apple-system"/>
                <a:cs typeface="-apple-system"/>
              </a:rPr>
              <a:t>A </a:t>
            </a:r>
            <a:r>
              <a:rPr lang="en-US" sz="1600" err="1">
                <a:latin typeface="-apple-system"/>
                <a:ea typeface="-apple-system"/>
                <a:cs typeface="-apple-system"/>
              </a:rPr>
              <a:t>Geocursos</a:t>
            </a:r>
            <a:r>
              <a:rPr lang="en-US" sz="1600">
                <a:latin typeface="-apple-system"/>
                <a:ea typeface="-apple-system"/>
                <a:cs typeface="-apple-system"/>
              </a:rPr>
              <a:t> </a:t>
            </a:r>
            <a:r>
              <a:rPr lang="en-US" sz="1600" err="1">
                <a:latin typeface="-apple-system"/>
                <a:ea typeface="-apple-system"/>
                <a:cs typeface="-apple-system"/>
              </a:rPr>
              <a:t>está</a:t>
            </a:r>
            <a:r>
              <a:rPr lang="en-US" sz="1600">
                <a:latin typeface="-apple-system"/>
                <a:ea typeface="-apple-system"/>
                <a:cs typeface="-apple-system"/>
              </a:rPr>
              <a:t> com </a:t>
            </a:r>
            <a:r>
              <a:rPr lang="en-US" sz="1600" err="1">
                <a:latin typeface="-apple-system"/>
                <a:ea typeface="-apple-system"/>
                <a:cs typeface="-apple-system"/>
              </a:rPr>
              <a:t>inscrições</a:t>
            </a:r>
            <a:r>
              <a:rPr lang="en-US" sz="1600">
                <a:latin typeface="-apple-system"/>
                <a:ea typeface="-apple-system"/>
                <a:cs typeface="-apple-system"/>
              </a:rPr>
              <a:t> </a:t>
            </a:r>
            <a:r>
              <a:rPr lang="en-US" sz="1600" err="1">
                <a:latin typeface="-apple-system"/>
                <a:ea typeface="-apple-system"/>
                <a:cs typeface="-apple-system"/>
              </a:rPr>
              <a:t>abertas</a:t>
            </a:r>
            <a:r>
              <a:rPr lang="en-US" sz="1600">
                <a:latin typeface="-apple-system"/>
                <a:ea typeface="-apple-system"/>
                <a:cs typeface="-apple-system"/>
              </a:rPr>
              <a:t> para o </a:t>
            </a:r>
            <a:r>
              <a:rPr lang="en-US" sz="1600" err="1">
                <a:latin typeface="-apple-system"/>
                <a:ea typeface="-apple-system"/>
                <a:cs typeface="-apple-system"/>
              </a:rPr>
              <a:t>Curso</a:t>
            </a:r>
            <a:r>
              <a:rPr lang="en-US" sz="1600">
                <a:latin typeface="-apple-system"/>
                <a:ea typeface="-apple-system"/>
                <a:cs typeface="-apple-system"/>
              </a:rPr>
              <a:t> de </a:t>
            </a:r>
            <a:r>
              <a:rPr lang="en-US" sz="1600" err="1">
                <a:latin typeface="-apple-system"/>
                <a:ea typeface="-apple-system"/>
                <a:cs typeface="-apple-system"/>
              </a:rPr>
              <a:t>GeoNode</a:t>
            </a:r>
            <a:r>
              <a:rPr lang="en-US" sz="1600">
                <a:latin typeface="-apple-system"/>
                <a:ea typeface="-apple-system"/>
                <a:cs typeface="-apple-system"/>
              </a:rPr>
              <a:t> </a:t>
            </a:r>
            <a:r>
              <a:rPr lang="en-US" sz="1600" err="1">
                <a:latin typeface="-apple-system"/>
                <a:ea typeface="-apple-system"/>
                <a:cs typeface="-apple-system"/>
              </a:rPr>
              <a:t>que</a:t>
            </a:r>
            <a:r>
              <a:rPr lang="en-US" sz="1600">
                <a:latin typeface="-apple-system"/>
                <a:ea typeface="-apple-system"/>
                <a:cs typeface="-apple-system"/>
              </a:rPr>
              <a:t> é </a:t>
            </a:r>
            <a:r>
              <a:rPr lang="en-US" sz="1600" err="1">
                <a:latin typeface="-apple-system"/>
                <a:ea typeface="-apple-system"/>
                <a:cs typeface="-apple-system"/>
              </a:rPr>
              <a:t>oferecido</a:t>
            </a:r>
            <a:r>
              <a:rPr lang="en-US" sz="1600">
                <a:latin typeface="-apple-system"/>
                <a:ea typeface="-apple-system"/>
                <a:cs typeface="-apple-system"/>
              </a:rPr>
              <a:t> </a:t>
            </a:r>
            <a:r>
              <a:rPr lang="en-US" sz="1600" err="1">
                <a:latin typeface="-apple-system"/>
                <a:ea typeface="-apple-system"/>
                <a:cs typeface="-apple-system"/>
              </a:rPr>
              <a:t>na</a:t>
            </a:r>
            <a:r>
              <a:rPr lang="en-US" sz="1600">
                <a:latin typeface="-apple-system"/>
                <a:ea typeface="-apple-system"/>
                <a:cs typeface="-apple-system"/>
              </a:rPr>
              <a:t> </a:t>
            </a:r>
            <a:r>
              <a:rPr lang="en-US" sz="1600" err="1">
                <a:latin typeface="-apple-system"/>
                <a:ea typeface="-apple-system"/>
                <a:cs typeface="-apple-system"/>
              </a:rPr>
              <a:t>modalidade</a:t>
            </a:r>
            <a:r>
              <a:rPr lang="en-US" sz="1600">
                <a:latin typeface="-apple-system"/>
                <a:ea typeface="-apple-system"/>
                <a:cs typeface="-apple-system"/>
              </a:rPr>
              <a:t> EAD Ao Vivo, com </a:t>
            </a:r>
            <a:r>
              <a:rPr lang="en-US" sz="1600" err="1">
                <a:latin typeface="-apple-system"/>
                <a:ea typeface="-apple-system"/>
                <a:cs typeface="-apple-system"/>
              </a:rPr>
              <a:t>uma</a:t>
            </a:r>
            <a:r>
              <a:rPr lang="en-US" sz="1600">
                <a:latin typeface="-apple-system"/>
                <a:ea typeface="-apple-system"/>
                <a:cs typeface="-apple-system"/>
              </a:rPr>
              <a:t> carga </a:t>
            </a:r>
            <a:r>
              <a:rPr lang="en-US" sz="1600" err="1">
                <a:latin typeface="-apple-system"/>
                <a:ea typeface="-apple-system"/>
                <a:cs typeface="-apple-system"/>
              </a:rPr>
              <a:t>horária</a:t>
            </a:r>
            <a:r>
              <a:rPr lang="en-US" sz="1600">
                <a:latin typeface="-apple-system"/>
                <a:ea typeface="-apple-system"/>
                <a:cs typeface="-apple-system"/>
              </a:rPr>
              <a:t> de 18 horas </a:t>
            </a:r>
            <a:r>
              <a:rPr lang="en-US" sz="1600" err="1">
                <a:latin typeface="-apple-system"/>
                <a:ea typeface="-apple-system"/>
                <a:cs typeface="-apple-system"/>
              </a:rPr>
              <a:t>divididos</a:t>
            </a:r>
            <a:r>
              <a:rPr lang="en-US" sz="1600">
                <a:latin typeface="-apple-system"/>
                <a:ea typeface="-apple-system"/>
                <a:cs typeface="-apple-system"/>
              </a:rPr>
              <a:t> </a:t>
            </a:r>
            <a:r>
              <a:rPr lang="en-US" sz="1600" err="1">
                <a:latin typeface="-apple-system"/>
                <a:ea typeface="-apple-system"/>
                <a:cs typeface="-apple-system"/>
              </a:rPr>
              <a:t>em</a:t>
            </a:r>
            <a:r>
              <a:rPr lang="en-US" sz="1600">
                <a:latin typeface="-apple-system"/>
                <a:ea typeface="-apple-system"/>
                <a:cs typeface="-apple-system"/>
              </a:rPr>
              <a:t> 6 </a:t>
            </a:r>
            <a:r>
              <a:rPr lang="en-US" sz="1600" err="1">
                <a:latin typeface="-apple-system"/>
                <a:ea typeface="-apple-system"/>
                <a:cs typeface="-apple-system"/>
              </a:rPr>
              <a:t>encontros</a:t>
            </a:r>
            <a:r>
              <a:rPr lang="en-US" sz="1600">
                <a:latin typeface="-apple-system"/>
                <a:ea typeface="-apple-system"/>
                <a:cs typeface="-apple-system"/>
              </a:rPr>
              <a:t>. </a:t>
            </a:r>
            <a:r>
              <a:rPr lang="en-US" sz="1600" err="1">
                <a:latin typeface="-apple-system"/>
                <a:ea typeface="-apple-system"/>
                <a:cs typeface="-apple-system"/>
              </a:rPr>
              <a:t>Porém</a:t>
            </a:r>
            <a:r>
              <a:rPr lang="en-US" sz="1600">
                <a:latin typeface="-apple-system"/>
                <a:ea typeface="-apple-system"/>
                <a:cs typeface="-apple-system"/>
              </a:rPr>
              <a:t>, </a:t>
            </a:r>
            <a:r>
              <a:rPr lang="en-US" sz="1600" err="1">
                <a:latin typeface="-apple-system"/>
                <a:ea typeface="-apple-system"/>
                <a:cs typeface="-apple-system"/>
              </a:rPr>
              <a:t>essas</a:t>
            </a:r>
            <a:r>
              <a:rPr lang="en-US" sz="1600">
                <a:latin typeface="-apple-system"/>
                <a:ea typeface="-apple-system"/>
                <a:cs typeface="-apple-system"/>
              </a:rPr>
              <a:t> aulas </a:t>
            </a:r>
            <a:r>
              <a:rPr lang="en-US" sz="1600" err="1">
                <a:latin typeface="-apple-system"/>
                <a:ea typeface="-apple-system"/>
                <a:cs typeface="-apple-system"/>
              </a:rPr>
              <a:t>são</a:t>
            </a:r>
            <a:r>
              <a:rPr lang="en-US" sz="1600">
                <a:latin typeface="-apple-system"/>
                <a:ea typeface="-apple-system"/>
                <a:cs typeface="-apple-system"/>
              </a:rPr>
              <a:t> </a:t>
            </a:r>
            <a:r>
              <a:rPr lang="en-US" sz="1600" err="1">
                <a:latin typeface="-apple-system"/>
                <a:ea typeface="-apple-system"/>
                <a:cs typeface="-apple-system"/>
              </a:rPr>
              <a:t>gravadas</a:t>
            </a:r>
            <a:r>
              <a:rPr lang="en-US" sz="1600">
                <a:latin typeface="-apple-system"/>
                <a:ea typeface="-apple-system"/>
                <a:cs typeface="-apple-system"/>
              </a:rPr>
              <a:t> e </a:t>
            </a:r>
            <a:r>
              <a:rPr lang="en-US" sz="1600" err="1">
                <a:latin typeface="-apple-system"/>
                <a:ea typeface="-apple-system"/>
                <a:cs typeface="-apple-system"/>
              </a:rPr>
              <a:t>ficam</a:t>
            </a:r>
            <a:r>
              <a:rPr lang="en-US" sz="1600">
                <a:latin typeface="-apple-system"/>
                <a:ea typeface="-apple-system"/>
                <a:cs typeface="-apple-system"/>
              </a:rPr>
              <a:t> </a:t>
            </a:r>
            <a:r>
              <a:rPr lang="en-US" sz="1600" err="1">
                <a:latin typeface="-apple-system"/>
                <a:ea typeface="-apple-system"/>
                <a:cs typeface="-apple-system"/>
              </a:rPr>
              <a:t>disponíveis</a:t>
            </a:r>
            <a:r>
              <a:rPr lang="en-US" sz="1600">
                <a:latin typeface="-apple-system"/>
                <a:ea typeface="-apple-system"/>
                <a:cs typeface="-apple-system"/>
              </a:rPr>
              <a:t> </a:t>
            </a:r>
            <a:r>
              <a:rPr lang="en-US" sz="1600" err="1">
                <a:latin typeface="-apple-system"/>
                <a:ea typeface="-apple-system"/>
                <a:cs typeface="-apple-system"/>
              </a:rPr>
              <a:t>ao</a:t>
            </a:r>
            <a:r>
              <a:rPr lang="en-US" sz="1600">
                <a:latin typeface="-apple-system"/>
                <a:ea typeface="-apple-system"/>
                <a:cs typeface="-apple-system"/>
              </a:rPr>
              <a:t> </a:t>
            </a:r>
            <a:r>
              <a:rPr lang="en-US" sz="1600" err="1">
                <a:latin typeface="-apple-system"/>
                <a:ea typeface="-apple-system"/>
                <a:cs typeface="-apple-system"/>
              </a:rPr>
              <a:t>aluno</a:t>
            </a:r>
            <a:r>
              <a:rPr lang="en-US" sz="1600">
                <a:latin typeface="-apple-system"/>
                <a:ea typeface="-apple-system"/>
                <a:cs typeface="-apple-system"/>
              </a:rPr>
              <a:t> </a:t>
            </a:r>
            <a:r>
              <a:rPr lang="en-US" sz="1600" err="1">
                <a:latin typeface="-apple-system"/>
                <a:ea typeface="-apple-system"/>
                <a:cs typeface="-apple-system"/>
              </a:rPr>
              <a:t>por</a:t>
            </a:r>
            <a:r>
              <a:rPr lang="en-US" sz="1600">
                <a:latin typeface="-apple-system"/>
                <a:ea typeface="-apple-system"/>
                <a:cs typeface="-apple-system"/>
              </a:rPr>
              <a:t> 12 meses </a:t>
            </a:r>
            <a:r>
              <a:rPr lang="en-US" sz="1600" err="1">
                <a:latin typeface="-apple-system"/>
                <a:ea typeface="-apple-system"/>
                <a:cs typeface="-apple-system"/>
              </a:rPr>
              <a:t>em</a:t>
            </a:r>
            <a:r>
              <a:rPr lang="en-US" sz="1600">
                <a:latin typeface="-apple-system"/>
                <a:ea typeface="-apple-system"/>
                <a:cs typeface="-apple-system"/>
              </a:rPr>
              <a:t> </a:t>
            </a:r>
            <a:r>
              <a:rPr lang="en-US" sz="1600" err="1">
                <a:latin typeface="-apple-system"/>
                <a:ea typeface="-apple-system"/>
                <a:cs typeface="-apple-system"/>
              </a:rPr>
              <a:t>nosso</a:t>
            </a:r>
            <a:r>
              <a:rPr lang="en-US" sz="1600">
                <a:latin typeface="-apple-system"/>
                <a:ea typeface="-apple-system"/>
                <a:cs typeface="-apple-system"/>
              </a:rPr>
              <a:t> portal do </a:t>
            </a:r>
            <a:r>
              <a:rPr lang="en-US" sz="1600" err="1">
                <a:latin typeface="-apple-system"/>
                <a:ea typeface="-apple-system"/>
                <a:cs typeface="-apple-system"/>
              </a:rPr>
              <a:t>aluno</a:t>
            </a:r>
            <a:r>
              <a:rPr lang="en-US" sz="1600">
                <a:latin typeface="-apple-system"/>
                <a:ea typeface="-apple-system"/>
                <a:cs typeface="-apple-system"/>
              </a:rPr>
              <a:t>.</a:t>
            </a:r>
            <a:br>
              <a:rPr lang="en-US" sz="1600">
                <a:latin typeface="-apple-system"/>
                <a:ea typeface="-apple-system"/>
                <a:cs typeface="-apple-system"/>
              </a:rPr>
            </a:br>
            <a:br>
              <a:rPr lang="en-US" sz="1600">
                <a:latin typeface="-apple-system"/>
                <a:ea typeface="-apple-system"/>
                <a:cs typeface="-apple-system"/>
              </a:rPr>
            </a:br>
            <a:r>
              <a:rPr lang="en-US" sz="1600" err="1">
                <a:latin typeface="-apple-system"/>
                <a:ea typeface="-apple-system"/>
                <a:cs typeface="-apple-system"/>
              </a:rPr>
              <a:t>Então</a:t>
            </a:r>
            <a:r>
              <a:rPr lang="en-US" sz="1600">
                <a:latin typeface="-apple-system"/>
                <a:ea typeface="-apple-system"/>
                <a:cs typeface="-apple-system"/>
              </a:rPr>
              <a:t>, se </a:t>
            </a:r>
            <a:r>
              <a:rPr lang="en-US" sz="1600" err="1">
                <a:latin typeface="-apple-system"/>
                <a:ea typeface="-apple-system"/>
                <a:cs typeface="-apple-system"/>
              </a:rPr>
              <a:t>por</a:t>
            </a:r>
            <a:r>
              <a:rPr lang="en-US" sz="1600">
                <a:latin typeface="-apple-system"/>
                <a:ea typeface="-apple-system"/>
                <a:cs typeface="-apple-system"/>
              </a:rPr>
              <a:t> </a:t>
            </a:r>
            <a:r>
              <a:rPr lang="en-US" sz="1600" err="1">
                <a:latin typeface="-apple-system"/>
                <a:ea typeface="-apple-system"/>
                <a:cs typeface="-apple-system"/>
              </a:rPr>
              <a:t>acaso</a:t>
            </a:r>
            <a:r>
              <a:rPr lang="en-US" sz="1600">
                <a:latin typeface="-apple-system"/>
                <a:ea typeface="-apple-system"/>
                <a:cs typeface="-apple-system"/>
              </a:rPr>
              <a:t> </a:t>
            </a:r>
            <a:r>
              <a:rPr lang="en-US" sz="1600" err="1">
                <a:latin typeface="-apple-system"/>
                <a:ea typeface="-apple-system"/>
                <a:cs typeface="-apple-system"/>
              </a:rPr>
              <a:t>você</a:t>
            </a:r>
            <a:r>
              <a:rPr lang="en-US" sz="1600">
                <a:latin typeface="-apple-system"/>
                <a:ea typeface="-apple-system"/>
                <a:cs typeface="-apple-system"/>
              </a:rPr>
              <a:t> </a:t>
            </a:r>
            <a:r>
              <a:rPr lang="en-US" sz="1600" err="1">
                <a:latin typeface="-apple-system"/>
                <a:ea typeface="-apple-system"/>
                <a:cs typeface="-apple-system"/>
              </a:rPr>
              <a:t>não</a:t>
            </a:r>
            <a:r>
              <a:rPr lang="en-US" sz="1600">
                <a:latin typeface="-apple-system"/>
                <a:ea typeface="-apple-system"/>
                <a:cs typeface="-apple-system"/>
              </a:rPr>
              <a:t> </a:t>
            </a:r>
            <a:r>
              <a:rPr lang="en-US" sz="1600" err="1">
                <a:latin typeface="-apple-system"/>
                <a:ea typeface="-apple-system"/>
                <a:cs typeface="-apple-system"/>
              </a:rPr>
              <a:t>puder</a:t>
            </a:r>
            <a:r>
              <a:rPr lang="en-US" sz="1600">
                <a:latin typeface="-apple-system"/>
                <a:ea typeface="-apple-system"/>
                <a:cs typeface="-apple-system"/>
              </a:rPr>
              <a:t> </a:t>
            </a:r>
            <a:r>
              <a:rPr lang="en-US" sz="1600" err="1">
                <a:latin typeface="-apple-system"/>
                <a:ea typeface="-apple-system"/>
                <a:cs typeface="-apple-system"/>
              </a:rPr>
              <a:t>comparecer</a:t>
            </a:r>
            <a:r>
              <a:rPr lang="en-US" sz="1600">
                <a:latin typeface="-apple-system"/>
                <a:ea typeface="-apple-system"/>
                <a:cs typeface="-apple-system"/>
              </a:rPr>
              <a:t> </a:t>
            </a:r>
            <a:r>
              <a:rPr lang="en-US" sz="1600" err="1">
                <a:latin typeface="-apple-system"/>
                <a:ea typeface="-apple-system"/>
                <a:cs typeface="-apple-system"/>
              </a:rPr>
              <a:t>em</a:t>
            </a:r>
            <a:r>
              <a:rPr lang="en-US" sz="1600">
                <a:latin typeface="-apple-system"/>
                <a:ea typeface="-apple-system"/>
                <a:cs typeface="-apple-system"/>
              </a:rPr>
              <a:t> </a:t>
            </a:r>
            <a:r>
              <a:rPr lang="en-US" sz="1600" err="1">
                <a:latin typeface="-apple-system"/>
                <a:ea typeface="-apple-system"/>
                <a:cs typeface="-apple-system"/>
              </a:rPr>
              <a:t>alguma</a:t>
            </a:r>
            <a:r>
              <a:rPr lang="en-US" sz="1600">
                <a:latin typeface="-apple-system"/>
                <a:ea typeface="-apple-system"/>
                <a:cs typeface="-apple-system"/>
              </a:rPr>
              <a:t> das aulas </a:t>
            </a:r>
            <a:r>
              <a:rPr lang="en-US" sz="1600" err="1">
                <a:latin typeface="-apple-system"/>
                <a:ea typeface="-apple-system"/>
                <a:cs typeface="-apple-system"/>
              </a:rPr>
              <a:t>ao</a:t>
            </a:r>
            <a:r>
              <a:rPr lang="en-US" sz="1600">
                <a:latin typeface="-apple-system"/>
                <a:ea typeface="-apple-system"/>
                <a:cs typeface="-apple-system"/>
              </a:rPr>
              <a:t> vivo, </a:t>
            </a:r>
            <a:r>
              <a:rPr lang="en-US" sz="1600" err="1">
                <a:latin typeface="-apple-system"/>
                <a:ea typeface="-apple-system"/>
                <a:cs typeface="-apple-system"/>
              </a:rPr>
              <a:t>não</a:t>
            </a:r>
            <a:r>
              <a:rPr lang="en-US" sz="1600">
                <a:latin typeface="-apple-system"/>
                <a:ea typeface="-apple-system"/>
                <a:cs typeface="-apple-system"/>
              </a:rPr>
              <a:t> se </a:t>
            </a:r>
            <a:r>
              <a:rPr lang="en-US" sz="1600" err="1">
                <a:latin typeface="-apple-system"/>
                <a:ea typeface="-apple-system"/>
                <a:cs typeface="-apple-system"/>
              </a:rPr>
              <a:t>preocupe</a:t>
            </a:r>
            <a:r>
              <a:rPr lang="en-US" sz="1600">
                <a:latin typeface="-apple-system"/>
                <a:ea typeface="-apple-system"/>
                <a:cs typeface="-apple-system"/>
              </a:rPr>
              <a:t>, </a:t>
            </a:r>
            <a:r>
              <a:rPr lang="en-US" sz="1600" err="1">
                <a:latin typeface="-apple-system"/>
                <a:ea typeface="-apple-system"/>
                <a:cs typeface="-apple-system"/>
              </a:rPr>
              <a:t>você</a:t>
            </a:r>
            <a:r>
              <a:rPr lang="en-US" sz="1600">
                <a:latin typeface="-apple-system"/>
                <a:ea typeface="-apple-system"/>
                <a:cs typeface="-apple-system"/>
              </a:rPr>
              <a:t> </a:t>
            </a:r>
            <a:r>
              <a:rPr lang="en-US" sz="1600" err="1">
                <a:latin typeface="-apple-system"/>
                <a:ea typeface="-apple-system"/>
                <a:cs typeface="-apple-system"/>
              </a:rPr>
              <a:t>poderá</a:t>
            </a:r>
            <a:r>
              <a:rPr lang="en-US" sz="1600">
                <a:latin typeface="-apple-system"/>
                <a:ea typeface="-apple-system"/>
                <a:cs typeface="-apple-system"/>
              </a:rPr>
              <a:t> </a:t>
            </a:r>
            <a:r>
              <a:rPr lang="en-US" sz="1600" err="1">
                <a:latin typeface="-apple-system"/>
                <a:ea typeface="-apple-system"/>
                <a:cs typeface="-apple-system"/>
              </a:rPr>
              <a:t>rever</a:t>
            </a:r>
            <a:r>
              <a:rPr lang="en-US" sz="1600">
                <a:latin typeface="-apple-system"/>
                <a:ea typeface="-apple-system"/>
                <a:cs typeface="-apple-system"/>
              </a:rPr>
              <a:t> </a:t>
            </a:r>
            <a:r>
              <a:rPr lang="en-US" sz="1600" err="1">
                <a:latin typeface="-apple-system"/>
                <a:ea typeface="-apple-system"/>
                <a:cs typeface="-apple-system"/>
              </a:rPr>
              <a:t>a</a:t>
            </a:r>
            <a:r>
              <a:rPr lang="en-US" sz="1600">
                <a:latin typeface="-apple-system"/>
                <a:ea typeface="-apple-system"/>
                <a:cs typeface="-apple-system"/>
              </a:rPr>
              <a:t> aula </a:t>
            </a:r>
            <a:r>
              <a:rPr lang="en-US" sz="1600" err="1">
                <a:latin typeface="-apple-system"/>
                <a:ea typeface="-apple-system"/>
                <a:cs typeface="-apple-system"/>
              </a:rPr>
              <a:t>gravada</a:t>
            </a:r>
            <a:r>
              <a:rPr lang="en-US" sz="1600">
                <a:latin typeface="-apple-system"/>
                <a:ea typeface="-apple-system"/>
                <a:cs typeface="-apple-system"/>
              </a:rPr>
              <a:t> a </a:t>
            </a:r>
            <a:r>
              <a:rPr lang="en-US" sz="1600" err="1">
                <a:latin typeface="-apple-system"/>
                <a:ea typeface="-apple-system"/>
                <a:cs typeface="-apple-system"/>
              </a:rPr>
              <a:t>qualquer</a:t>
            </a:r>
            <a:r>
              <a:rPr lang="en-US" sz="1600">
                <a:latin typeface="-apple-system"/>
                <a:ea typeface="-apple-system"/>
                <a:cs typeface="-apple-system"/>
              </a:rPr>
              <a:t> </a:t>
            </a:r>
            <a:r>
              <a:rPr lang="en-US" sz="1600" err="1">
                <a:latin typeface="-apple-system"/>
                <a:ea typeface="-apple-system"/>
                <a:cs typeface="-apple-system"/>
              </a:rPr>
              <a:t>momento</a:t>
            </a:r>
            <a:r>
              <a:rPr lang="en-US" sz="1600">
                <a:latin typeface="-apple-system"/>
                <a:ea typeface="-apple-system"/>
                <a:cs typeface="-apple-system"/>
              </a:rPr>
              <a:t>.</a:t>
            </a:r>
            <a:endParaRPr lang="en-US" sz="1600">
              <a:ea typeface="Calibri"/>
              <a:cs typeface="Calibri"/>
            </a:endParaRPr>
          </a:p>
          <a:p>
            <a:pPr algn="ctr"/>
            <a:endParaRPr lang="pt-BR" sz="1600">
              <a:ea typeface="Calibri"/>
              <a:cs typeface="Calibri"/>
            </a:endParaRPr>
          </a:p>
        </p:txBody>
      </p:sp>
      <p:pic>
        <p:nvPicPr>
          <p:cNvPr id="5" name="Imagem 4" descr="Não foi fornecido texto alternativo para esta imagem">
            <a:extLst>
              <a:ext uri="{FF2B5EF4-FFF2-40B4-BE49-F238E27FC236}">
                <a16:creationId xmlns:a16="http://schemas.microsoft.com/office/drawing/2014/main" id="{82611431-C261-1C99-D8CB-7A0257E20355}"/>
              </a:ext>
            </a:extLst>
          </p:cNvPr>
          <p:cNvPicPr>
            <a:picLocks noChangeAspect="1"/>
          </p:cNvPicPr>
          <p:nvPr/>
        </p:nvPicPr>
        <p:blipFill>
          <a:blip r:embed="rId3"/>
          <a:stretch>
            <a:fillRect/>
          </a:stretch>
        </p:blipFill>
        <p:spPr>
          <a:xfrm>
            <a:off x="704491" y="493413"/>
            <a:ext cx="4672642" cy="4088381"/>
          </a:xfrm>
          <a:prstGeom prst="rect">
            <a:avLst/>
          </a:prstGeom>
        </p:spPr>
      </p:pic>
      <p:sp>
        <p:nvSpPr>
          <p:cNvPr id="6" name="CaixaDeTexto 5">
            <a:extLst>
              <a:ext uri="{FF2B5EF4-FFF2-40B4-BE49-F238E27FC236}">
                <a16:creationId xmlns:a16="http://schemas.microsoft.com/office/drawing/2014/main" id="{7CA3248F-760B-282D-232C-2B38B8390EDD}"/>
              </a:ext>
            </a:extLst>
          </p:cNvPr>
          <p:cNvSpPr txBox="1"/>
          <p:nvPr/>
        </p:nvSpPr>
        <p:spPr>
          <a:xfrm>
            <a:off x="431321" y="4751717"/>
            <a:ext cx="4672642" cy="13542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https://www.linkedin.com/feed/update/urn:li:activity:7228779397976080384?utm_source=share&amp;utm_medium=member_desktop&amp;rcm=ACoAAAMQtAUB5UouXqdBJgo_gWpNVZ7Imay_2Tg</a:t>
            </a:r>
          </a:p>
          <a:p>
            <a:pPr algn="ctr"/>
            <a:endParaRPr lang="pt-BR"/>
          </a:p>
        </p:txBody>
      </p:sp>
    </p:spTree>
    <p:extLst>
      <p:ext uri="{BB962C8B-B14F-4D97-AF65-F5344CB8AC3E}">
        <p14:creationId xmlns:p14="http://schemas.microsoft.com/office/powerpoint/2010/main" val="273569736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1572B6E2-1FC9-E8E8-8526-557669C885A5}"/>
              </a:ext>
            </a:extLst>
          </p:cNvPr>
          <p:cNvSpPr txBox="1"/>
          <p:nvPr/>
        </p:nvSpPr>
        <p:spPr>
          <a:xfrm>
            <a:off x="5103962" y="-7189"/>
            <a:ext cx="6096000" cy="67710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apple-system"/>
                <a:ea typeface="-apple-system"/>
                <a:cs typeface="-apple-system"/>
              </a:rPr>
              <a:t>Olá de novo, rede!</a:t>
            </a:r>
            <a:br>
              <a:rPr lang="en-US" sz="1600">
                <a:latin typeface="-apple-system"/>
                <a:ea typeface="-apple-system"/>
                <a:cs typeface="-apple-system"/>
              </a:rPr>
            </a:br>
            <a:br>
              <a:rPr lang="en-US" sz="1600">
                <a:latin typeface="-apple-system"/>
                <a:ea typeface="-apple-system"/>
                <a:cs typeface="-apple-system"/>
              </a:rPr>
            </a:br>
            <a:r>
              <a:rPr lang="en-US" sz="1600">
                <a:latin typeface="-apple-system"/>
                <a:ea typeface="-apple-system"/>
                <a:cs typeface="-apple-system"/>
              </a:rPr>
              <a:t>Vim </a:t>
            </a:r>
            <a:r>
              <a:rPr lang="en-US" sz="1600" err="1">
                <a:latin typeface="-apple-system"/>
                <a:ea typeface="-apple-system"/>
                <a:cs typeface="-apple-system"/>
              </a:rPr>
              <a:t>trazer</a:t>
            </a:r>
            <a:r>
              <a:rPr lang="en-US" sz="1600">
                <a:latin typeface="-apple-system"/>
                <a:ea typeface="-apple-system"/>
                <a:cs typeface="-apple-system"/>
              </a:rPr>
              <a:t> </a:t>
            </a:r>
            <a:r>
              <a:rPr lang="en-US" sz="1600" err="1">
                <a:latin typeface="-apple-system"/>
                <a:ea typeface="-apple-system"/>
                <a:cs typeface="-apple-system"/>
              </a:rPr>
              <a:t>mais</a:t>
            </a:r>
            <a:r>
              <a:rPr lang="en-US" sz="1600">
                <a:latin typeface="-apple-system"/>
                <a:ea typeface="-apple-system"/>
                <a:cs typeface="-apple-system"/>
              </a:rPr>
              <a:t> </a:t>
            </a:r>
            <a:r>
              <a:rPr lang="en-US" sz="1600" err="1">
                <a:latin typeface="-apple-system"/>
                <a:ea typeface="-apple-system"/>
                <a:cs typeface="-apple-system"/>
              </a:rPr>
              <a:t>uma</a:t>
            </a:r>
            <a:r>
              <a:rPr lang="en-US" sz="1600">
                <a:latin typeface="-apple-system"/>
                <a:ea typeface="-apple-system"/>
                <a:cs typeface="-apple-system"/>
              </a:rPr>
              <a:t> </a:t>
            </a:r>
            <a:r>
              <a:rPr lang="en-US" sz="1600" err="1">
                <a:latin typeface="-apple-system"/>
                <a:ea typeface="-apple-system"/>
                <a:cs typeface="-apple-system"/>
              </a:rPr>
              <a:t>dica</a:t>
            </a:r>
            <a:r>
              <a:rPr lang="en-US" sz="1600">
                <a:latin typeface="-apple-system"/>
                <a:ea typeface="-apple-system"/>
                <a:cs typeface="-apple-system"/>
              </a:rPr>
              <a:t> </a:t>
            </a:r>
            <a:r>
              <a:rPr lang="en-US" sz="1600" err="1">
                <a:latin typeface="-apple-system"/>
                <a:ea typeface="-apple-system"/>
                <a:cs typeface="-apple-system"/>
              </a:rPr>
              <a:t>rápida</a:t>
            </a:r>
            <a:r>
              <a:rPr lang="en-US" sz="1600">
                <a:latin typeface="-apple-system"/>
                <a:ea typeface="-apple-system"/>
                <a:cs typeface="-apple-system"/>
              </a:rPr>
              <a:t> </a:t>
            </a:r>
            <a:r>
              <a:rPr lang="en-US" sz="1600" err="1">
                <a:latin typeface="-apple-system"/>
                <a:ea typeface="-apple-system"/>
                <a:cs typeface="-apple-system"/>
              </a:rPr>
              <a:t>que</a:t>
            </a:r>
            <a:r>
              <a:rPr lang="en-US" sz="1600">
                <a:latin typeface="-apple-system"/>
                <a:ea typeface="-apple-system"/>
                <a:cs typeface="-apple-system"/>
              </a:rPr>
              <a:t> dessa </a:t>
            </a:r>
            <a:r>
              <a:rPr lang="en-US" sz="1600" err="1">
                <a:latin typeface="-apple-system"/>
                <a:ea typeface="-apple-system"/>
                <a:cs typeface="-apple-system"/>
              </a:rPr>
              <a:t>vez</a:t>
            </a:r>
            <a:r>
              <a:rPr lang="en-US" sz="1600">
                <a:latin typeface="-apple-system"/>
                <a:ea typeface="-apple-system"/>
                <a:cs typeface="-apple-system"/>
              </a:rPr>
              <a:t> </a:t>
            </a:r>
            <a:r>
              <a:rPr lang="en-US" sz="1600" err="1">
                <a:latin typeface="-apple-system"/>
                <a:ea typeface="-apple-system"/>
                <a:cs typeface="-apple-system"/>
              </a:rPr>
              <a:t>aprendi</a:t>
            </a:r>
            <a:r>
              <a:rPr lang="en-US" sz="1600">
                <a:latin typeface="-apple-system"/>
                <a:ea typeface="-apple-system"/>
                <a:cs typeface="-apple-system"/>
              </a:rPr>
              <a:t> </a:t>
            </a:r>
            <a:r>
              <a:rPr lang="en-US" sz="1600" err="1">
                <a:latin typeface="-apple-system"/>
                <a:ea typeface="-apple-system"/>
                <a:cs typeface="-apple-system"/>
              </a:rPr>
              <a:t>nos</a:t>
            </a:r>
            <a:r>
              <a:rPr lang="en-US" sz="1600">
                <a:latin typeface="-apple-system"/>
                <a:ea typeface="-apple-system"/>
                <a:cs typeface="-apple-system"/>
              </a:rPr>
              <a:t> meus </a:t>
            </a:r>
            <a:r>
              <a:rPr lang="en-US" sz="1600" err="1">
                <a:latin typeface="-apple-system"/>
                <a:ea typeface="-apple-system"/>
                <a:cs typeface="-apple-system"/>
              </a:rPr>
              <a:t>estudos</a:t>
            </a:r>
            <a:r>
              <a:rPr lang="en-US" sz="1600">
                <a:latin typeface="-apple-system"/>
                <a:ea typeface="-apple-system"/>
                <a:cs typeface="-apple-system"/>
              </a:rPr>
              <a:t> de </a:t>
            </a:r>
            <a:r>
              <a:rPr lang="en-US" sz="1600" err="1">
                <a:latin typeface="-apple-system"/>
                <a:ea typeface="-apple-system"/>
                <a:cs typeface="-apple-system"/>
              </a:rPr>
              <a:t>geoprocessamento</a:t>
            </a:r>
            <a:r>
              <a:rPr lang="en-US" sz="1600">
                <a:latin typeface="-apple-system"/>
                <a:ea typeface="-apple-system"/>
                <a:cs typeface="-apple-system"/>
              </a:rPr>
              <a:t> com python.</a:t>
            </a:r>
            <a:br>
              <a:rPr lang="en-US" sz="1600">
                <a:latin typeface="-apple-system"/>
                <a:ea typeface="-apple-system"/>
                <a:cs typeface="-apple-system"/>
              </a:rPr>
            </a:br>
            <a:br>
              <a:rPr lang="en-US" sz="1600">
                <a:latin typeface="-apple-system"/>
                <a:ea typeface="-apple-system"/>
                <a:cs typeface="-apple-system"/>
              </a:rPr>
            </a:br>
            <a:r>
              <a:rPr lang="en-US" sz="1600">
                <a:latin typeface="-apple-system"/>
                <a:ea typeface="-apple-system"/>
                <a:cs typeface="-apple-system"/>
              </a:rPr>
              <a:t>Na </a:t>
            </a:r>
            <a:r>
              <a:rPr lang="en-US" sz="1600" err="1">
                <a:latin typeface="-apple-system"/>
                <a:ea typeface="-apple-system"/>
                <a:cs typeface="-apple-system"/>
              </a:rPr>
              <a:t>imagem</a:t>
            </a:r>
            <a:r>
              <a:rPr lang="en-US" sz="1600">
                <a:latin typeface="-apple-system"/>
                <a:ea typeface="-apple-system"/>
                <a:cs typeface="-apple-system"/>
              </a:rPr>
              <a:t> </a:t>
            </a:r>
            <a:r>
              <a:rPr lang="en-US" sz="1600" err="1">
                <a:latin typeface="-apple-system"/>
                <a:ea typeface="-apple-system"/>
                <a:cs typeface="-apple-system"/>
              </a:rPr>
              <a:t>que</a:t>
            </a:r>
            <a:r>
              <a:rPr lang="en-US" sz="1600">
                <a:latin typeface="-apple-system"/>
                <a:ea typeface="-apple-system"/>
                <a:cs typeface="-apple-system"/>
              </a:rPr>
              <a:t> </a:t>
            </a:r>
            <a:r>
              <a:rPr lang="en-US" sz="1600" err="1">
                <a:latin typeface="-apple-system"/>
                <a:ea typeface="-apple-system"/>
                <a:cs typeface="-apple-system"/>
              </a:rPr>
              <a:t>compartilho</a:t>
            </a:r>
            <a:r>
              <a:rPr lang="en-US" sz="1600">
                <a:latin typeface="-apple-system"/>
                <a:ea typeface="-apple-system"/>
                <a:cs typeface="-apple-system"/>
              </a:rPr>
              <a:t>, </a:t>
            </a:r>
            <a:r>
              <a:rPr lang="en-US" sz="1600" err="1">
                <a:latin typeface="-apple-system"/>
                <a:ea typeface="-apple-system"/>
                <a:cs typeface="-apple-system"/>
              </a:rPr>
              <a:t>destaco</a:t>
            </a:r>
            <a:r>
              <a:rPr lang="en-US" sz="1600">
                <a:latin typeface="-apple-system"/>
                <a:ea typeface="-apple-system"/>
                <a:cs typeface="-apple-system"/>
              </a:rPr>
              <a:t> o </a:t>
            </a:r>
            <a:r>
              <a:rPr lang="en-US" sz="1600" err="1">
                <a:latin typeface="-apple-system"/>
                <a:ea typeface="-apple-system"/>
                <a:cs typeface="-apple-system"/>
              </a:rPr>
              <a:t>arruamento</a:t>
            </a:r>
            <a:r>
              <a:rPr lang="en-US" sz="1600">
                <a:latin typeface="-apple-system"/>
                <a:ea typeface="-apple-system"/>
                <a:cs typeface="-apple-system"/>
              </a:rPr>
              <a:t> </a:t>
            </a:r>
            <a:r>
              <a:rPr lang="en-US" sz="1600" err="1">
                <a:latin typeface="-apple-system"/>
                <a:ea typeface="-apple-system"/>
                <a:cs typeface="-apple-system"/>
              </a:rPr>
              <a:t>detalhado</a:t>
            </a:r>
            <a:r>
              <a:rPr lang="en-US" sz="1600">
                <a:latin typeface="-apple-system"/>
                <a:ea typeface="-apple-system"/>
                <a:cs typeface="-apple-system"/>
              </a:rPr>
              <a:t> e </a:t>
            </a:r>
            <a:r>
              <a:rPr lang="en-US" sz="1600" err="1">
                <a:latin typeface="-apple-system"/>
                <a:ea typeface="-apple-system"/>
                <a:cs typeface="-apple-system"/>
              </a:rPr>
              <a:t>os</a:t>
            </a:r>
            <a:r>
              <a:rPr lang="en-US" sz="1600">
                <a:latin typeface="-apple-system"/>
                <a:ea typeface="-apple-system"/>
                <a:cs typeface="-apple-system"/>
              </a:rPr>
              <a:t> </a:t>
            </a:r>
            <a:r>
              <a:rPr lang="en-US" sz="1600" err="1">
                <a:latin typeface="-apple-system"/>
                <a:ea typeface="-apple-system"/>
                <a:cs typeface="-apple-system"/>
              </a:rPr>
              <a:t>polígonos</a:t>
            </a:r>
            <a:r>
              <a:rPr lang="en-US" sz="1600">
                <a:latin typeface="-apple-system"/>
                <a:ea typeface="-apple-system"/>
                <a:cs typeface="-apple-system"/>
              </a:rPr>
              <a:t> dos </a:t>
            </a:r>
            <a:r>
              <a:rPr lang="en-US" sz="1600" err="1">
                <a:latin typeface="-apple-system"/>
                <a:ea typeface="-apple-system"/>
                <a:cs typeface="-apple-system"/>
              </a:rPr>
              <a:t>edifícios</a:t>
            </a:r>
            <a:r>
              <a:rPr lang="en-US" sz="1600">
                <a:latin typeface="-apple-system"/>
                <a:ea typeface="-apple-system"/>
                <a:cs typeface="-apple-system"/>
              </a:rPr>
              <a:t> </a:t>
            </a:r>
            <a:r>
              <a:rPr lang="en-US" sz="1600" err="1">
                <a:latin typeface="-apple-system"/>
                <a:ea typeface="-apple-system"/>
                <a:cs typeface="-apple-system"/>
              </a:rPr>
              <a:t>locais</a:t>
            </a:r>
            <a:r>
              <a:rPr lang="en-US" sz="1600">
                <a:latin typeface="-apple-system"/>
                <a:ea typeface="-apple-system"/>
                <a:cs typeface="-apple-system"/>
              </a:rPr>
              <a:t>, </a:t>
            </a:r>
            <a:r>
              <a:rPr lang="en-US" sz="1600" err="1">
                <a:latin typeface="-apple-system"/>
                <a:ea typeface="-apple-system"/>
                <a:cs typeface="-apple-system"/>
              </a:rPr>
              <a:t>obtidos</a:t>
            </a:r>
            <a:r>
              <a:rPr lang="en-US" sz="1600">
                <a:latin typeface="-apple-system"/>
                <a:ea typeface="-apple-system"/>
                <a:cs typeface="-apple-system"/>
              </a:rPr>
              <a:t> </a:t>
            </a:r>
            <a:r>
              <a:rPr lang="en-US" sz="1600" err="1">
                <a:latin typeface="-apple-system"/>
                <a:ea typeface="-apple-system"/>
                <a:cs typeface="-apple-system"/>
              </a:rPr>
              <a:t>diretamente</a:t>
            </a:r>
            <a:r>
              <a:rPr lang="en-US" sz="1600">
                <a:latin typeface="-apple-system"/>
                <a:ea typeface="-apple-system"/>
                <a:cs typeface="-apple-system"/>
              </a:rPr>
              <a:t> com dados do OSM.</a:t>
            </a:r>
            <a:br>
              <a:rPr lang="en-US" sz="1600">
                <a:latin typeface="-apple-system"/>
                <a:ea typeface="-apple-system"/>
                <a:cs typeface="-apple-system"/>
              </a:rPr>
            </a:br>
            <a:br>
              <a:rPr lang="en-US" sz="1600">
                <a:latin typeface="-apple-system"/>
                <a:ea typeface="-apple-system"/>
                <a:cs typeface="-apple-system"/>
              </a:rPr>
            </a:br>
            <a:r>
              <a:rPr lang="en-US" sz="1600">
                <a:latin typeface="-apple-system"/>
                <a:ea typeface="-apple-system"/>
                <a:cs typeface="-apple-system"/>
              </a:rPr>
              <a:t>- O </a:t>
            </a:r>
            <a:r>
              <a:rPr lang="en-US" sz="1600" err="1">
                <a:latin typeface="-apple-system"/>
                <a:ea typeface="-apple-system"/>
                <a:cs typeface="-apple-system"/>
              </a:rPr>
              <a:t>que</a:t>
            </a:r>
            <a:r>
              <a:rPr lang="en-US" sz="1600">
                <a:latin typeface="-apple-system"/>
                <a:ea typeface="-apple-system"/>
                <a:cs typeface="-apple-system"/>
              </a:rPr>
              <a:t> é </a:t>
            </a:r>
            <a:r>
              <a:rPr lang="en-US" sz="1600" err="1">
                <a:latin typeface="-apple-system"/>
                <a:ea typeface="-apple-system"/>
                <a:cs typeface="-apple-system"/>
              </a:rPr>
              <a:t>OSMnx</a:t>
            </a:r>
            <a:r>
              <a:rPr lang="en-US" sz="1600">
                <a:latin typeface="-apple-system"/>
                <a:ea typeface="-apple-system"/>
                <a:cs typeface="-apple-system"/>
              </a:rPr>
              <a:t>?</a:t>
            </a:r>
            <a:br>
              <a:rPr lang="en-US" sz="1600">
                <a:latin typeface="-apple-system"/>
                <a:ea typeface="-apple-system"/>
                <a:cs typeface="-apple-system"/>
              </a:rPr>
            </a:br>
            <a:r>
              <a:rPr lang="en-US" sz="1600" err="1">
                <a:latin typeface="-apple-system"/>
                <a:ea typeface="-apple-system"/>
                <a:cs typeface="-apple-system"/>
              </a:rPr>
              <a:t>OSMnx</a:t>
            </a:r>
            <a:r>
              <a:rPr lang="en-US" sz="1600">
                <a:latin typeface="-apple-system"/>
                <a:ea typeface="-apple-system"/>
                <a:cs typeface="-apple-system"/>
              </a:rPr>
              <a:t> é </a:t>
            </a:r>
            <a:r>
              <a:rPr lang="en-US" sz="1600" err="1">
                <a:latin typeface="-apple-system"/>
                <a:ea typeface="-apple-system"/>
                <a:cs typeface="-apple-system"/>
              </a:rPr>
              <a:t>uma</a:t>
            </a:r>
            <a:r>
              <a:rPr lang="en-US" sz="1600">
                <a:latin typeface="-apple-system"/>
                <a:ea typeface="-apple-system"/>
                <a:cs typeface="-apple-system"/>
              </a:rPr>
              <a:t> </a:t>
            </a:r>
            <a:r>
              <a:rPr lang="en-US" sz="1600" err="1">
                <a:latin typeface="-apple-system"/>
                <a:ea typeface="-apple-system"/>
                <a:cs typeface="-apple-system"/>
              </a:rPr>
              <a:t>biblioteca</a:t>
            </a:r>
            <a:r>
              <a:rPr lang="en-US" sz="1600">
                <a:latin typeface="-apple-system"/>
                <a:ea typeface="-apple-system"/>
                <a:cs typeface="-apple-system"/>
              </a:rPr>
              <a:t> Python </a:t>
            </a:r>
            <a:r>
              <a:rPr lang="en-US" sz="1600" err="1">
                <a:latin typeface="-apple-system"/>
                <a:ea typeface="-apple-system"/>
                <a:cs typeface="-apple-system"/>
              </a:rPr>
              <a:t>que</a:t>
            </a:r>
            <a:r>
              <a:rPr lang="en-US" sz="1600">
                <a:latin typeface="-apple-system"/>
                <a:ea typeface="-apple-system"/>
                <a:cs typeface="-apple-system"/>
              </a:rPr>
              <a:t> </a:t>
            </a:r>
            <a:r>
              <a:rPr lang="en-US" sz="1600" err="1">
                <a:latin typeface="-apple-system"/>
                <a:ea typeface="-apple-system"/>
                <a:cs typeface="-apple-system"/>
              </a:rPr>
              <a:t>permite</a:t>
            </a:r>
            <a:r>
              <a:rPr lang="en-US" sz="1600">
                <a:latin typeface="-apple-system"/>
                <a:ea typeface="-apple-system"/>
                <a:cs typeface="-apple-system"/>
              </a:rPr>
              <a:t> </a:t>
            </a:r>
            <a:r>
              <a:rPr lang="en-US" sz="1600" err="1">
                <a:latin typeface="-apple-system"/>
                <a:ea typeface="-apple-system"/>
                <a:cs typeface="-apple-system"/>
              </a:rPr>
              <a:t>baixar</a:t>
            </a:r>
            <a:r>
              <a:rPr lang="en-US" sz="1600">
                <a:latin typeface="-apple-system"/>
                <a:ea typeface="-apple-system"/>
                <a:cs typeface="-apple-system"/>
              </a:rPr>
              <a:t>, </a:t>
            </a:r>
            <a:r>
              <a:rPr lang="en-US" sz="1600" err="1">
                <a:latin typeface="-apple-system"/>
                <a:ea typeface="-apple-system"/>
                <a:cs typeface="-apple-system"/>
              </a:rPr>
              <a:t>modelar</a:t>
            </a:r>
            <a:r>
              <a:rPr lang="en-US" sz="1600">
                <a:latin typeface="-apple-system"/>
                <a:ea typeface="-apple-system"/>
                <a:cs typeface="-apple-system"/>
              </a:rPr>
              <a:t>, </a:t>
            </a:r>
            <a:r>
              <a:rPr lang="en-US" sz="1600" err="1">
                <a:latin typeface="-apple-system"/>
                <a:ea typeface="-apple-system"/>
                <a:cs typeface="-apple-system"/>
              </a:rPr>
              <a:t>analisar</a:t>
            </a:r>
            <a:r>
              <a:rPr lang="en-US" sz="1600">
                <a:latin typeface="-apple-system"/>
                <a:ea typeface="-apple-system"/>
                <a:cs typeface="-apple-system"/>
              </a:rPr>
              <a:t> e </a:t>
            </a:r>
            <a:r>
              <a:rPr lang="en-US" sz="1600" err="1">
                <a:latin typeface="-apple-system"/>
                <a:ea typeface="-apple-system"/>
                <a:cs typeface="-apple-system"/>
              </a:rPr>
              <a:t>visualizar</a:t>
            </a:r>
            <a:r>
              <a:rPr lang="en-US" sz="1600">
                <a:latin typeface="-apple-system"/>
                <a:ea typeface="-apple-system"/>
                <a:cs typeface="-apple-system"/>
              </a:rPr>
              <a:t> redes de </a:t>
            </a:r>
            <a:r>
              <a:rPr lang="en-US" sz="1600" err="1">
                <a:latin typeface="-apple-system"/>
                <a:ea typeface="-apple-system"/>
                <a:cs typeface="-apple-system"/>
              </a:rPr>
              <a:t>ruas</a:t>
            </a:r>
            <a:r>
              <a:rPr lang="en-US" sz="1600">
                <a:latin typeface="-apple-system"/>
                <a:ea typeface="-apple-system"/>
                <a:cs typeface="-apple-system"/>
              </a:rPr>
              <a:t> e outros </a:t>
            </a:r>
            <a:r>
              <a:rPr lang="en-US" sz="1600" err="1">
                <a:latin typeface="-apple-system"/>
                <a:ea typeface="-apple-system"/>
                <a:cs typeface="-apple-system"/>
              </a:rPr>
              <a:t>recursos</a:t>
            </a:r>
            <a:r>
              <a:rPr lang="en-US" sz="1600">
                <a:latin typeface="-apple-system"/>
                <a:ea typeface="-apple-system"/>
                <a:cs typeface="-apple-system"/>
              </a:rPr>
              <a:t> </a:t>
            </a:r>
            <a:r>
              <a:rPr lang="en-US" sz="1600" err="1">
                <a:latin typeface="-apple-system"/>
                <a:ea typeface="-apple-system"/>
                <a:cs typeface="-apple-system"/>
              </a:rPr>
              <a:t>geoespaciais</a:t>
            </a:r>
            <a:r>
              <a:rPr lang="en-US" sz="1600">
                <a:latin typeface="-apple-system"/>
                <a:ea typeface="-apple-system"/>
                <a:cs typeface="-apple-system"/>
              </a:rPr>
              <a:t> do OpenStreetMap (OSM). Com </a:t>
            </a:r>
            <a:r>
              <a:rPr lang="en-US" sz="1600" err="1">
                <a:latin typeface="-apple-system"/>
                <a:ea typeface="-apple-system"/>
                <a:cs typeface="-apple-system"/>
              </a:rPr>
              <a:t>apenas</a:t>
            </a:r>
            <a:r>
              <a:rPr lang="en-US" sz="1600">
                <a:latin typeface="-apple-system"/>
                <a:ea typeface="-apple-system"/>
                <a:cs typeface="-apple-system"/>
              </a:rPr>
              <a:t> </a:t>
            </a:r>
            <a:r>
              <a:rPr lang="en-US" sz="1600" err="1">
                <a:latin typeface="-apple-system"/>
                <a:ea typeface="-apple-system"/>
                <a:cs typeface="-apple-system"/>
              </a:rPr>
              <a:t>uma</a:t>
            </a:r>
            <a:r>
              <a:rPr lang="en-US" sz="1600">
                <a:latin typeface="-apple-system"/>
                <a:ea typeface="-apple-system"/>
                <a:cs typeface="-apple-system"/>
              </a:rPr>
              <a:t> </a:t>
            </a:r>
            <a:r>
              <a:rPr lang="en-US" sz="1600" err="1">
                <a:latin typeface="-apple-system"/>
                <a:ea typeface="-apple-system"/>
                <a:cs typeface="-apple-system"/>
              </a:rPr>
              <a:t>linha</a:t>
            </a:r>
            <a:r>
              <a:rPr lang="en-US" sz="1600">
                <a:latin typeface="-apple-system"/>
                <a:ea typeface="-apple-system"/>
                <a:cs typeface="-apple-system"/>
              </a:rPr>
              <a:t> de </a:t>
            </a:r>
            <a:r>
              <a:rPr lang="en-US" sz="1600" err="1">
                <a:latin typeface="-apple-system"/>
                <a:ea typeface="-apple-system"/>
                <a:cs typeface="-apple-system"/>
              </a:rPr>
              <a:t>código</a:t>
            </a:r>
            <a:r>
              <a:rPr lang="en-US" sz="1600">
                <a:latin typeface="-apple-system"/>
                <a:ea typeface="-apple-system"/>
                <a:cs typeface="-apple-system"/>
              </a:rPr>
              <a:t>, </a:t>
            </a:r>
            <a:r>
              <a:rPr lang="en-US" sz="1600" err="1">
                <a:latin typeface="-apple-system"/>
                <a:ea typeface="-apple-system"/>
                <a:cs typeface="-apple-system"/>
              </a:rPr>
              <a:t>consigo</a:t>
            </a:r>
            <a:r>
              <a:rPr lang="en-US" sz="1600">
                <a:latin typeface="-apple-system"/>
                <a:ea typeface="-apple-system"/>
                <a:cs typeface="-apple-system"/>
              </a:rPr>
              <a:t> </a:t>
            </a:r>
            <a:r>
              <a:rPr lang="en-US" sz="1600" err="1">
                <a:latin typeface="-apple-system"/>
                <a:ea typeface="-apple-system"/>
                <a:cs typeface="-apple-system"/>
              </a:rPr>
              <a:t>baixar</a:t>
            </a:r>
            <a:r>
              <a:rPr lang="en-US" sz="1600">
                <a:latin typeface="-apple-system"/>
                <a:ea typeface="-apple-system"/>
                <a:cs typeface="-apple-system"/>
              </a:rPr>
              <a:t> e </a:t>
            </a:r>
            <a:r>
              <a:rPr lang="en-US" sz="1600" err="1">
                <a:latin typeface="-apple-system"/>
                <a:ea typeface="-apple-system"/>
                <a:cs typeface="-apple-system"/>
              </a:rPr>
              <a:t>modelar</a:t>
            </a:r>
            <a:r>
              <a:rPr lang="en-US" sz="1600">
                <a:latin typeface="-apple-system"/>
                <a:ea typeface="-apple-system"/>
                <a:cs typeface="-apple-system"/>
              </a:rPr>
              <a:t> redes de </a:t>
            </a:r>
            <a:r>
              <a:rPr lang="en-US" sz="1600" err="1">
                <a:latin typeface="-apple-system"/>
                <a:ea typeface="-apple-system"/>
                <a:cs typeface="-apple-system"/>
              </a:rPr>
              <a:t>transporte</a:t>
            </a:r>
            <a:r>
              <a:rPr lang="en-US" sz="1600">
                <a:latin typeface="-apple-system"/>
                <a:ea typeface="-apple-system"/>
                <a:cs typeface="-apple-system"/>
              </a:rPr>
              <a:t>, e </a:t>
            </a:r>
            <a:r>
              <a:rPr lang="en-US" sz="1600" err="1">
                <a:latin typeface="-apple-system"/>
                <a:ea typeface="-apple-system"/>
                <a:cs typeface="-apple-system"/>
              </a:rPr>
              <a:t>analisá</a:t>
            </a:r>
            <a:r>
              <a:rPr lang="en-US" sz="1600">
                <a:latin typeface="-apple-system"/>
                <a:ea typeface="-apple-system"/>
                <a:cs typeface="-apple-system"/>
              </a:rPr>
              <a:t>-las e </a:t>
            </a:r>
            <a:r>
              <a:rPr lang="en-US" sz="1600" err="1">
                <a:latin typeface="-apple-system"/>
                <a:ea typeface="-apple-system"/>
                <a:cs typeface="-apple-system"/>
              </a:rPr>
              <a:t>visualizá</a:t>
            </a:r>
            <a:r>
              <a:rPr lang="en-US" sz="1600">
                <a:latin typeface="-apple-system"/>
                <a:ea typeface="-apple-system"/>
                <a:cs typeface="-apple-system"/>
              </a:rPr>
              <a:t>-las. </a:t>
            </a:r>
            <a:r>
              <a:rPr lang="en-US" sz="1600" err="1">
                <a:latin typeface="-apple-system"/>
                <a:ea typeface="-apple-system"/>
                <a:cs typeface="-apple-system"/>
              </a:rPr>
              <a:t>Além</a:t>
            </a:r>
            <a:r>
              <a:rPr lang="en-US" sz="1600">
                <a:latin typeface="-apple-system"/>
                <a:ea typeface="-apple-system"/>
                <a:cs typeface="-apple-system"/>
              </a:rPr>
              <a:t> </a:t>
            </a:r>
            <a:r>
              <a:rPr lang="en-US" sz="1600" err="1">
                <a:latin typeface="-apple-system"/>
                <a:ea typeface="-apple-system"/>
                <a:cs typeface="-apple-system"/>
              </a:rPr>
              <a:t>disso</a:t>
            </a:r>
            <a:r>
              <a:rPr lang="en-US" sz="1600">
                <a:latin typeface="-apple-system"/>
                <a:ea typeface="-apple-system"/>
                <a:cs typeface="-apple-system"/>
              </a:rPr>
              <a:t>, o </a:t>
            </a:r>
            <a:r>
              <a:rPr lang="en-US" sz="1600" err="1">
                <a:latin typeface="-apple-system"/>
                <a:ea typeface="-apple-system"/>
                <a:cs typeface="-apple-system"/>
              </a:rPr>
              <a:t>OSMnx</a:t>
            </a:r>
            <a:r>
              <a:rPr lang="en-US" sz="1600">
                <a:latin typeface="-apple-system"/>
                <a:ea typeface="-apple-system"/>
                <a:cs typeface="-apple-system"/>
              </a:rPr>
              <a:t> </a:t>
            </a:r>
            <a:r>
              <a:rPr lang="en-US" sz="1600" err="1">
                <a:latin typeface="-apple-system"/>
                <a:ea typeface="-apple-system"/>
                <a:cs typeface="-apple-system"/>
              </a:rPr>
              <a:t>também</a:t>
            </a:r>
            <a:r>
              <a:rPr lang="en-US" sz="1600">
                <a:latin typeface="-apple-system"/>
                <a:ea typeface="-apple-system"/>
                <a:cs typeface="-apple-system"/>
              </a:rPr>
              <a:t> </a:t>
            </a:r>
            <a:r>
              <a:rPr lang="en-US" sz="1600" err="1">
                <a:latin typeface="-apple-system"/>
                <a:ea typeface="-apple-system"/>
                <a:cs typeface="-apple-system"/>
              </a:rPr>
              <a:t>permite</a:t>
            </a:r>
            <a:r>
              <a:rPr lang="en-US" sz="1600">
                <a:latin typeface="-apple-system"/>
                <a:ea typeface="-apple-system"/>
                <a:cs typeface="-apple-system"/>
              </a:rPr>
              <a:t> </a:t>
            </a:r>
            <a:r>
              <a:rPr lang="en-US" sz="1600" err="1">
                <a:latin typeface="-apple-system"/>
                <a:ea typeface="-apple-system"/>
                <a:cs typeface="-apple-system"/>
              </a:rPr>
              <a:t>trabalhar</a:t>
            </a:r>
            <a:r>
              <a:rPr lang="en-US" sz="1600">
                <a:latin typeface="-apple-system"/>
                <a:ea typeface="-apple-system"/>
                <a:cs typeface="-apple-system"/>
              </a:rPr>
              <a:t> com </a:t>
            </a:r>
            <a:r>
              <a:rPr lang="en-US" sz="1600" err="1">
                <a:latin typeface="-apple-system"/>
                <a:ea typeface="-apple-system"/>
                <a:cs typeface="-apple-system"/>
              </a:rPr>
              <a:t>amenidades</a:t>
            </a:r>
            <a:r>
              <a:rPr lang="en-US" sz="1600">
                <a:latin typeface="-apple-system"/>
                <a:ea typeface="-apple-system"/>
                <a:cs typeface="-apple-system"/>
              </a:rPr>
              <a:t> </a:t>
            </a:r>
            <a:r>
              <a:rPr lang="en-US" sz="1600" err="1">
                <a:latin typeface="-apple-system"/>
                <a:ea typeface="-apple-system"/>
                <a:cs typeface="-apple-system"/>
              </a:rPr>
              <a:t>urbanas</a:t>
            </a:r>
            <a:r>
              <a:rPr lang="en-US" sz="1600">
                <a:latin typeface="-apple-system"/>
                <a:ea typeface="-apple-system"/>
                <a:cs typeface="-apple-system"/>
              </a:rPr>
              <a:t>, </a:t>
            </a:r>
            <a:r>
              <a:rPr lang="en-US" sz="1600" err="1">
                <a:latin typeface="-apple-system"/>
                <a:ea typeface="-apple-system"/>
                <a:cs typeface="-apple-system"/>
              </a:rPr>
              <a:t>como</a:t>
            </a:r>
            <a:r>
              <a:rPr lang="en-US" sz="1600">
                <a:latin typeface="-apple-system"/>
                <a:ea typeface="-apple-system"/>
                <a:cs typeface="-apple-system"/>
              </a:rPr>
              <a:t> </a:t>
            </a:r>
            <a:r>
              <a:rPr lang="en-US" sz="1600" err="1">
                <a:latin typeface="-apple-system"/>
                <a:ea typeface="-apple-system"/>
                <a:cs typeface="-apple-system"/>
              </a:rPr>
              <a:t>pontos</a:t>
            </a:r>
            <a:r>
              <a:rPr lang="en-US" sz="1600">
                <a:latin typeface="-apple-system"/>
                <a:ea typeface="-apple-system"/>
                <a:cs typeface="-apple-system"/>
              </a:rPr>
              <a:t> de interesse, contornos de </a:t>
            </a:r>
            <a:r>
              <a:rPr lang="en-US" sz="1600" err="1">
                <a:latin typeface="-apple-system"/>
                <a:ea typeface="-apple-system"/>
                <a:cs typeface="-apple-system"/>
              </a:rPr>
              <a:t>edifícios</a:t>
            </a:r>
            <a:r>
              <a:rPr lang="en-US" sz="1600">
                <a:latin typeface="-apple-system"/>
                <a:ea typeface="-apple-system"/>
                <a:cs typeface="-apple-system"/>
              </a:rPr>
              <a:t>, </a:t>
            </a:r>
            <a:r>
              <a:rPr lang="en-US" sz="1600" err="1">
                <a:latin typeface="-apple-system"/>
                <a:ea typeface="-apple-system"/>
                <a:cs typeface="-apple-system"/>
              </a:rPr>
              <a:t>paradas</a:t>
            </a:r>
            <a:r>
              <a:rPr lang="en-US" sz="1600">
                <a:latin typeface="-apple-system"/>
                <a:ea typeface="-apple-system"/>
                <a:cs typeface="-apple-system"/>
              </a:rPr>
              <a:t> de </a:t>
            </a:r>
            <a:r>
              <a:rPr lang="en-US" sz="1600" err="1">
                <a:latin typeface="-apple-system"/>
                <a:ea typeface="-apple-system"/>
                <a:cs typeface="-apple-system"/>
              </a:rPr>
              <a:t>transporte</a:t>
            </a:r>
            <a:r>
              <a:rPr lang="en-US" sz="1600">
                <a:latin typeface="-apple-system"/>
                <a:ea typeface="-apple-system"/>
                <a:cs typeface="-apple-system"/>
              </a:rPr>
              <a:t> </a:t>
            </a:r>
            <a:r>
              <a:rPr lang="en-US" sz="1600" err="1">
                <a:latin typeface="-apple-system"/>
                <a:ea typeface="-apple-system"/>
                <a:cs typeface="-apple-system"/>
              </a:rPr>
              <a:t>público</a:t>
            </a:r>
            <a:r>
              <a:rPr lang="en-US" sz="1600">
                <a:latin typeface="-apple-system"/>
                <a:ea typeface="-apple-system"/>
                <a:cs typeface="-apple-system"/>
              </a:rPr>
              <a:t>, dados de </a:t>
            </a:r>
            <a:r>
              <a:rPr lang="en-US" sz="1600" err="1">
                <a:latin typeface="-apple-system"/>
                <a:ea typeface="-apple-system"/>
                <a:cs typeface="-apple-system"/>
              </a:rPr>
              <a:t>elevação</a:t>
            </a:r>
            <a:r>
              <a:rPr lang="en-US" sz="1600">
                <a:latin typeface="-apple-system"/>
                <a:ea typeface="-apple-system"/>
                <a:cs typeface="-apple-system"/>
              </a:rPr>
              <a:t>, </a:t>
            </a:r>
            <a:r>
              <a:rPr lang="en-US" sz="1600" err="1">
                <a:latin typeface="-apple-system"/>
                <a:ea typeface="-apple-system"/>
                <a:cs typeface="-apple-system"/>
              </a:rPr>
              <a:t>orientações</a:t>
            </a:r>
            <a:r>
              <a:rPr lang="en-US" sz="1600">
                <a:latin typeface="-apple-system"/>
                <a:ea typeface="-apple-system"/>
                <a:cs typeface="-apple-system"/>
              </a:rPr>
              <a:t> de </a:t>
            </a:r>
            <a:r>
              <a:rPr lang="en-US" sz="1600" err="1">
                <a:latin typeface="-apple-system"/>
                <a:ea typeface="-apple-system"/>
                <a:cs typeface="-apple-system"/>
              </a:rPr>
              <a:t>ruas</a:t>
            </a:r>
            <a:r>
              <a:rPr lang="en-US" sz="1600">
                <a:latin typeface="-apple-system"/>
                <a:ea typeface="-apple-system"/>
                <a:cs typeface="-apple-system"/>
              </a:rPr>
              <a:t>, </a:t>
            </a:r>
            <a:r>
              <a:rPr lang="en-US" sz="1600" err="1">
                <a:latin typeface="-apple-system"/>
                <a:ea typeface="-apple-system"/>
                <a:cs typeface="-apple-system"/>
              </a:rPr>
              <a:t>velocidade</a:t>
            </a:r>
            <a:r>
              <a:rPr lang="en-US" sz="1600">
                <a:latin typeface="-apple-system"/>
                <a:ea typeface="-apple-system"/>
                <a:cs typeface="-apple-system"/>
              </a:rPr>
              <a:t>/tempo de </a:t>
            </a:r>
            <a:r>
              <a:rPr lang="en-US" sz="1600" err="1">
                <a:latin typeface="-apple-system"/>
                <a:ea typeface="-apple-system"/>
                <a:cs typeface="-apple-system"/>
              </a:rPr>
              <a:t>viagem</a:t>
            </a:r>
            <a:r>
              <a:rPr lang="en-US" sz="1600">
                <a:latin typeface="-apple-system"/>
                <a:ea typeface="-apple-system"/>
                <a:cs typeface="-apple-system"/>
              </a:rPr>
              <a:t> e </a:t>
            </a:r>
            <a:r>
              <a:rPr lang="en-US" sz="1600" err="1">
                <a:latin typeface="-apple-system"/>
                <a:ea typeface="-apple-system"/>
                <a:cs typeface="-apple-system"/>
              </a:rPr>
              <a:t>roteamento</a:t>
            </a:r>
            <a:r>
              <a:rPr lang="en-US" sz="1600">
                <a:latin typeface="-apple-system"/>
                <a:ea typeface="-apple-system"/>
                <a:cs typeface="-apple-system"/>
              </a:rPr>
              <a:t> (</a:t>
            </a:r>
            <a:r>
              <a:rPr lang="en-US" sz="1600" err="1">
                <a:latin typeface="-apple-system"/>
                <a:ea typeface="-apple-system"/>
                <a:cs typeface="-apple-system"/>
              </a:rPr>
              <a:t>quero</a:t>
            </a:r>
            <a:r>
              <a:rPr lang="en-US" sz="1600">
                <a:latin typeface="-apple-system"/>
                <a:ea typeface="-apple-system"/>
                <a:cs typeface="-apple-system"/>
              </a:rPr>
              <a:t> </a:t>
            </a:r>
            <a:r>
              <a:rPr lang="en-US" sz="1600" err="1">
                <a:latin typeface="-apple-system"/>
                <a:ea typeface="-apple-system"/>
                <a:cs typeface="-apple-system"/>
              </a:rPr>
              <a:t>explorar</a:t>
            </a:r>
            <a:r>
              <a:rPr lang="en-US" sz="1600">
                <a:latin typeface="-apple-system"/>
                <a:ea typeface="-apple-system"/>
                <a:cs typeface="-apple-system"/>
              </a:rPr>
              <a:t> </a:t>
            </a:r>
            <a:r>
              <a:rPr lang="en-US" sz="1600" err="1">
                <a:latin typeface="-apple-system"/>
                <a:ea typeface="-apple-system"/>
                <a:cs typeface="-apple-system"/>
              </a:rPr>
              <a:t>mais</a:t>
            </a:r>
            <a:r>
              <a:rPr lang="en-US" sz="1600">
                <a:latin typeface="-apple-system"/>
                <a:ea typeface="-apple-system"/>
                <a:cs typeface="-apple-system"/>
              </a:rPr>
              <a:t> </a:t>
            </a:r>
            <a:r>
              <a:rPr lang="en-US" sz="1600" err="1">
                <a:latin typeface="-apple-system"/>
                <a:ea typeface="-apple-system"/>
                <a:cs typeface="-apple-system"/>
              </a:rPr>
              <a:t>isso</a:t>
            </a:r>
            <a:r>
              <a:rPr lang="en-US" sz="1600">
                <a:latin typeface="-apple-system"/>
                <a:ea typeface="-apple-system"/>
                <a:cs typeface="-apple-system"/>
              </a:rPr>
              <a:t>!).</a:t>
            </a:r>
            <a:br>
              <a:rPr lang="en-US" sz="1600">
                <a:latin typeface="-apple-system"/>
                <a:ea typeface="-apple-system"/>
                <a:cs typeface="-apple-system"/>
              </a:rPr>
            </a:br>
            <a:br>
              <a:rPr lang="en-US" sz="1600">
                <a:latin typeface="-apple-system"/>
                <a:ea typeface="-apple-system"/>
                <a:cs typeface="-apple-system"/>
              </a:rPr>
            </a:br>
            <a:r>
              <a:rPr lang="en-US" sz="1600" err="1">
                <a:latin typeface="-apple-system"/>
                <a:ea typeface="-apple-system"/>
                <a:cs typeface="-apple-system"/>
              </a:rPr>
              <a:t>Explorar</a:t>
            </a:r>
            <a:r>
              <a:rPr lang="en-US" sz="1600">
                <a:latin typeface="-apple-system"/>
                <a:ea typeface="-apple-system"/>
                <a:cs typeface="-apple-system"/>
              </a:rPr>
              <a:t> o </a:t>
            </a:r>
            <a:r>
              <a:rPr lang="en-US" sz="1600" err="1">
                <a:latin typeface="-apple-system"/>
                <a:ea typeface="-apple-system"/>
                <a:cs typeface="-apple-system"/>
              </a:rPr>
              <a:t>geoprocessamento</a:t>
            </a:r>
            <a:r>
              <a:rPr lang="en-US" sz="1600">
                <a:latin typeface="-apple-system"/>
                <a:ea typeface="-apple-system"/>
                <a:cs typeface="-apple-system"/>
              </a:rPr>
              <a:t> com Python </a:t>
            </a:r>
            <a:r>
              <a:rPr lang="en-US" sz="1600" err="1">
                <a:latin typeface="-apple-system"/>
                <a:ea typeface="-apple-system"/>
                <a:cs typeface="-apple-system"/>
              </a:rPr>
              <a:t>tem</a:t>
            </a:r>
            <a:r>
              <a:rPr lang="en-US" sz="1600">
                <a:latin typeface="-apple-system"/>
                <a:ea typeface="-apple-system"/>
                <a:cs typeface="-apple-system"/>
              </a:rPr>
              <a:t> </a:t>
            </a:r>
            <a:r>
              <a:rPr lang="en-US" sz="1600" err="1">
                <a:latin typeface="-apple-system"/>
                <a:ea typeface="-apple-system"/>
                <a:cs typeface="-apple-system"/>
              </a:rPr>
              <a:t>sido</a:t>
            </a:r>
            <a:r>
              <a:rPr lang="en-US" sz="1600">
                <a:latin typeface="-apple-system"/>
                <a:ea typeface="-apple-system"/>
                <a:cs typeface="-apple-system"/>
              </a:rPr>
              <a:t> </a:t>
            </a:r>
            <a:r>
              <a:rPr lang="en-US" sz="1600" err="1">
                <a:latin typeface="-apple-system"/>
                <a:ea typeface="-apple-system"/>
                <a:cs typeface="-apple-system"/>
              </a:rPr>
              <a:t>uma</a:t>
            </a:r>
            <a:r>
              <a:rPr lang="en-US" sz="1600">
                <a:latin typeface="-apple-system"/>
                <a:ea typeface="-apple-system"/>
                <a:cs typeface="-apple-system"/>
              </a:rPr>
              <a:t> </a:t>
            </a:r>
            <a:r>
              <a:rPr lang="en-US" sz="1600" err="1">
                <a:latin typeface="-apple-system"/>
                <a:ea typeface="-apple-system"/>
                <a:cs typeface="-apple-system"/>
              </a:rPr>
              <a:t>diversão</a:t>
            </a:r>
            <a:r>
              <a:rPr lang="en-US" sz="1600">
                <a:latin typeface="-apple-system"/>
                <a:ea typeface="-apple-system"/>
                <a:cs typeface="-apple-system"/>
              </a:rPr>
              <a:t> para </a:t>
            </a:r>
            <a:r>
              <a:rPr lang="en-US" sz="1600" err="1">
                <a:latin typeface="-apple-system"/>
                <a:ea typeface="-apple-system"/>
                <a:cs typeface="-apple-system"/>
              </a:rPr>
              <a:t>mim</a:t>
            </a:r>
            <a:r>
              <a:rPr lang="en-US" sz="1600">
                <a:latin typeface="-apple-system"/>
                <a:ea typeface="-apple-system"/>
                <a:cs typeface="-apple-system"/>
              </a:rPr>
              <a:t>. A </a:t>
            </a:r>
            <a:r>
              <a:rPr lang="en-US" sz="1600" err="1">
                <a:latin typeface="-apple-system"/>
                <a:ea typeface="-apple-system"/>
                <a:cs typeface="-apple-system"/>
              </a:rPr>
              <a:t>flexibilidade</a:t>
            </a:r>
            <a:r>
              <a:rPr lang="en-US" sz="1600">
                <a:latin typeface="-apple-system"/>
                <a:ea typeface="-apple-system"/>
                <a:cs typeface="-apple-system"/>
              </a:rPr>
              <a:t> e </a:t>
            </a:r>
            <a:r>
              <a:rPr lang="en-US" sz="1600" err="1">
                <a:latin typeface="-apple-system"/>
                <a:ea typeface="-apple-system"/>
                <a:cs typeface="-apple-system"/>
              </a:rPr>
              <a:t>poder</a:t>
            </a:r>
            <a:r>
              <a:rPr lang="en-US" sz="1600">
                <a:latin typeface="-apple-system"/>
                <a:ea typeface="-apple-system"/>
                <a:cs typeface="-apple-system"/>
              </a:rPr>
              <a:t> das ferramentas </a:t>
            </a:r>
            <a:r>
              <a:rPr lang="en-US" sz="1600" err="1">
                <a:latin typeface="-apple-system"/>
                <a:ea typeface="-apple-system"/>
                <a:cs typeface="-apple-system"/>
              </a:rPr>
              <a:t>disponíveis</a:t>
            </a:r>
            <a:r>
              <a:rPr lang="en-US" sz="1600">
                <a:latin typeface="-apple-system"/>
                <a:ea typeface="-apple-system"/>
                <a:cs typeface="-apple-system"/>
              </a:rPr>
              <a:t>, </a:t>
            </a:r>
            <a:r>
              <a:rPr lang="en-US" sz="1600" err="1">
                <a:latin typeface="-apple-system"/>
                <a:ea typeface="-apple-system"/>
                <a:cs typeface="-apple-system"/>
              </a:rPr>
              <a:t>como</a:t>
            </a:r>
            <a:r>
              <a:rPr lang="en-US" sz="1600">
                <a:latin typeface="-apple-system"/>
                <a:ea typeface="-apple-system"/>
                <a:cs typeface="-apple-system"/>
              </a:rPr>
              <a:t> </a:t>
            </a:r>
            <a:r>
              <a:rPr lang="en-US" sz="1600" err="1">
                <a:latin typeface="-apple-system"/>
                <a:ea typeface="-apple-system"/>
                <a:cs typeface="-apple-system"/>
              </a:rPr>
              <a:t>OSMnx</a:t>
            </a:r>
            <a:r>
              <a:rPr lang="en-US" sz="1600">
                <a:latin typeface="-apple-system"/>
                <a:ea typeface="-apple-system"/>
                <a:cs typeface="-apple-system"/>
              </a:rPr>
              <a:t>, GDAL, </a:t>
            </a:r>
            <a:r>
              <a:rPr lang="en-US" sz="1600" err="1">
                <a:latin typeface="-apple-system"/>
                <a:ea typeface="-apple-system"/>
                <a:cs typeface="-apple-system"/>
              </a:rPr>
              <a:t>GeoPandas</a:t>
            </a:r>
            <a:r>
              <a:rPr lang="en-US" sz="1600">
                <a:latin typeface="-apple-system"/>
                <a:ea typeface="-apple-system"/>
                <a:cs typeface="-apple-system"/>
              </a:rPr>
              <a:t>, e </a:t>
            </a:r>
            <a:r>
              <a:rPr lang="en-US" sz="1600" err="1">
                <a:latin typeface="-apple-system"/>
                <a:ea typeface="-apple-system"/>
                <a:cs typeface="-apple-system"/>
              </a:rPr>
              <a:t>PyQGIS</a:t>
            </a:r>
            <a:r>
              <a:rPr lang="en-US" sz="1600">
                <a:latin typeface="-apple-system"/>
                <a:ea typeface="-apple-system"/>
                <a:cs typeface="-apple-system"/>
              </a:rPr>
              <a:t>, </a:t>
            </a:r>
            <a:r>
              <a:rPr lang="en-US" sz="1600" err="1">
                <a:latin typeface="-apple-system"/>
                <a:ea typeface="-apple-system"/>
                <a:cs typeface="-apple-system"/>
              </a:rPr>
              <a:t>tornam</a:t>
            </a:r>
            <a:r>
              <a:rPr lang="en-US" sz="1600">
                <a:latin typeface="-apple-system"/>
                <a:ea typeface="-apple-system"/>
                <a:cs typeface="-apple-system"/>
              </a:rPr>
              <a:t> </a:t>
            </a:r>
            <a:r>
              <a:rPr lang="en-US" sz="1600" err="1">
                <a:latin typeface="-apple-system"/>
                <a:ea typeface="-apple-system"/>
                <a:cs typeface="-apple-system"/>
              </a:rPr>
              <a:t>possível</a:t>
            </a:r>
            <a:r>
              <a:rPr lang="en-US" sz="1600">
                <a:latin typeface="-apple-system"/>
                <a:ea typeface="-apple-system"/>
                <a:cs typeface="-apple-system"/>
              </a:rPr>
              <a:t> </a:t>
            </a:r>
            <a:r>
              <a:rPr lang="en-US" sz="1600" err="1">
                <a:latin typeface="-apple-system"/>
                <a:ea typeface="-apple-system"/>
                <a:cs typeface="-apple-system"/>
              </a:rPr>
              <a:t>automatizar</a:t>
            </a:r>
            <a:r>
              <a:rPr lang="en-US" sz="1600">
                <a:latin typeface="-apple-system"/>
                <a:ea typeface="-apple-system"/>
                <a:cs typeface="-apple-system"/>
              </a:rPr>
              <a:t> </a:t>
            </a:r>
            <a:r>
              <a:rPr lang="en-US" sz="1600" err="1">
                <a:latin typeface="-apple-system"/>
                <a:ea typeface="-apple-system"/>
                <a:cs typeface="-apple-system"/>
              </a:rPr>
              <a:t>tarefas</a:t>
            </a:r>
            <a:r>
              <a:rPr lang="en-US" sz="1600">
                <a:latin typeface="-apple-system"/>
                <a:ea typeface="-apple-system"/>
                <a:cs typeface="-apple-system"/>
              </a:rPr>
              <a:t> </a:t>
            </a:r>
            <a:r>
              <a:rPr lang="en-US" sz="1600" err="1">
                <a:latin typeface="-apple-system"/>
                <a:ea typeface="-apple-system"/>
                <a:cs typeface="-apple-system"/>
              </a:rPr>
              <a:t>complexas</a:t>
            </a:r>
            <a:r>
              <a:rPr lang="en-US" sz="1600">
                <a:latin typeface="-apple-system"/>
                <a:ea typeface="-apple-system"/>
                <a:cs typeface="-apple-system"/>
              </a:rPr>
              <a:t> (quem </a:t>
            </a:r>
            <a:r>
              <a:rPr lang="en-US" sz="1600" err="1">
                <a:latin typeface="-apple-system"/>
                <a:ea typeface="-apple-system"/>
                <a:cs typeface="-apple-system"/>
              </a:rPr>
              <a:t>já</a:t>
            </a:r>
            <a:r>
              <a:rPr lang="en-US" sz="1600">
                <a:latin typeface="-apple-system"/>
                <a:ea typeface="-apple-system"/>
                <a:cs typeface="-apple-system"/>
              </a:rPr>
              <a:t> </a:t>
            </a:r>
            <a:r>
              <a:rPr lang="en-US" sz="1600" err="1">
                <a:latin typeface="-apple-system"/>
                <a:ea typeface="-apple-system"/>
                <a:cs typeface="-apple-system"/>
              </a:rPr>
              <a:t>teve</a:t>
            </a:r>
            <a:r>
              <a:rPr lang="en-US" sz="1600">
                <a:latin typeface="-apple-system"/>
                <a:ea typeface="-apple-system"/>
                <a:cs typeface="-apple-system"/>
              </a:rPr>
              <a:t> </a:t>
            </a:r>
            <a:r>
              <a:rPr lang="en-US" sz="1600" err="1">
                <a:latin typeface="-apple-system"/>
                <a:ea typeface="-apple-system"/>
                <a:cs typeface="-apple-system"/>
              </a:rPr>
              <a:t>que</a:t>
            </a:r>
            <a:r>
              <a:rPr lang="en-US" sz="1600">
                <a:latin typeface="-apple-system"/>
                <a:ea typeface="-apple-system"/>
                <a:cs typeface="-apple-system"/>
              </a:rPr>
              <a:t> </a:t>
            </a:r>
            <a:r>
              <a:rPr lang="en-US" sz="1600" err="1">
                <a:latin typeface="-apple-system"/>
                <a:ea typeface="-apple-system"/>
                <a:cs typeface="-apple-system"/>
              </a:rPr>
              <a:t>fazer</a:t>
            </a:r>
            <a:r>
              <a:rPr lang="en-US" sz="1600">
                <a:latin typeface="-apple-system"/>
                <a:ea typeface="-apple-system"/>
                <a:cs typeface="-apple-system"/>
              </a:rPr>
              <a:t> </a:t>
            </a:r>
            <a:r>
              <a:rPr lang="en-US" sz="1600" err="1">
                <a:latin typeface="-apple-system"/>
                <a:ea typeface="-apple-system"/>
                <a:cs typeface="-apple-system"/>
              </a:rPr>
              <a:t>isso</a:t>
            </a:r>
            <a:r>
              <a:rPr lang="en-US" sz="1600">
                <a:latin typeface="-apple-system"/>
                <a:ea typeface="-apple-system"/>
                <a:cs typeface="-apple-system"/>
              </a:rPr>
              <a:t> </a:t>
            </a:r>
            <a:r>
              <a:rPr lang="en-US" sz="1600" err="1">
                <a:latin typeface="-apple-system"/>
                <a:ea typeface="-apple-system"/>
                <a:cs typeface="-apple-system"/>
              </a:rPr>
              <a:t>na</a:t>
            </a:r>
            <a:r>
              <a:rPr lang="en-US" sz="1600">
                <a:latin typeface="-apple-system"/>
                <a:ea typeface="-apple-system"/>
                <a:cs typeface="-apple-system"/>
              </a:rPr>
              <a:t> </a:t>
            </a:r>
            <a:r>
              <a:rPr lang="en-US" sz="1600" err="1">
                <a:latin typeface="-apple-system"/>
                <a:ea typeface="-apple-system"/>
                <a:cs typeface="-apple-system"/>
              </a:rPr>
              <a:t>unha</a:t>
            </a:r>
            <a:r>
              <a:rPr lang="en-US" sz="1600">
                <a:latin typeface="-apple-system"/>
                <a:ea typeface="-apple-system"/>
                <a:cs typeface="-apple-system"/>
              </a:rPr>
              <a:t> sabe o </a:t>
            </a:r>
            <a:r>
              <a:rPr lang="en-US" sz="1600" err="1">
                <a:latin typeface="-apple-system"/>
                <a:ea typeface="-apple-system"/>
                <a:cs typeface="-apple-system"/>
              </a:rPr>
              <a:t>trabalho</a:t>
            </a:r>
            <a:r>
              <a:rPr lang="en-US" sz="1600">
                <a:latin typeface="-apple-system"/>
                <a:ea typeface="-apple-system"/>
                <a:cs typeface="-apple-system"/>
              </a:rPr>
              <a:t> </a:t>
            </a:r>
            <a:r>
              <a:rPr lang="en-US" sz="1600" err="1">
                <a:latin typeface="-apple-system"/>
                <a:ea typeface="-apple-system"/>
                <a:cs typeface="-apple-system"/>
              </a:rPr>
              <a:t>rsrs</a:t>
            </a:r>
            <a:r>
              <a:rPr lang="en-US" sz="1600">
                <a:latin typeface="-apple-system"/>
                <a:ea typeface="-apple-system"/>
                <a:cs typeface="-apple-system"/>
              </a:rPr>
              <a:t>) e </a:t>
            </a:r>
            <a:r>
              <a:rPr lang="en-US" sz="1600" err="1">
                <a:latin typeface="-apple-system"/>
                <a:ea typeface="-apple-system"/>
                <a:cs typeface="-apple-system"/>
              </a:rPr>
              <a:t>gerar</a:t>
            </a:r>
            <a:r>
              <a:rPr lang="en-US" sz="1600">
                <a:latin typeface="-apple-system"/>
                <a:ea typeface="-apple-system"/>
                <a:cs typeface="-apple-system"/>
              </a:rPr>
              <a:t> insights </a:t>
            </a:r>
            <a:r>
              <a:rPr lang="en-US" sz="1600" err="1">
                <a:latin typeface="-apple-system"/>
                <a:ea typeface="-apple-system"/>
                <a:cs typeface="-apple-system"/>
              </a:rPr>
              <a:t>valiosos</a:t>
            </a:r>
            <a:r>
              <a:rPr lang="en-US" sz="1600">
                <a:latin typeface="-apple-system"/>
                <a:ea typeface="-apple-system"/>
                <a:cs typeface="-apple-system"/>
              </a:rPr>
              <a:t> a </a:t>
            </a:r>
            <a:r>
              <a:rPr lang="en-US" sz="1600" err="1">
                <a:latin typeface="-apple-system"/>
                <a:ea typeface="-apple-system"/>
                <a:cs typeface="-apple-system"/>
              </a:rPr>
              <a:t>partir</a:t>
            </a:r>
            <a:r>
              <a:rPr lang="en-US" sz="1600">
                <a:latin typeface="-apple-system"/>
                <a:ea typeface="-apple-system"/>
                <a:cs typeface="-apple-system"/>
              </a:rPr>
              <a:t> de dados </a:t>
            </a:r>
            <a:r>
              <a:rPr lang="en-US" sz="1600" err="1">
                <a:latin typeface="-apple-system"/>
                <a:ea typeface="-apple-system"/>
                <a:cs typeface="-apple-system"/>
              </a:rPr>
              <a:t>geoespaciais</a:t>
            </a:r>
            <a:r>
              <a:rPr lang="en-US" sz="1600">
                <a:latin typeface="-apple-system"/>
                <a:ea typeface="-apple-system"/>
                <a:cs typeface="-apple-system"/>
              </a:rPr>
              <a:t>. </a:t>
            </a:r>
            <a:br>
              <a:rPr lang="en-US" sz="1600">
                <a:latin typeface="-apple-system"/>
                <a:ea typeface="-apple-system"/>
                <a:cs typeface="-apple-system"/>
              </a:rPr>
            </a:br>
            <a:br>
              <a:rPr lang="en-US" sz="1600">
                <a:latin typeface="-apple-system"/>
                <a:ea typeface="-apple-system"/>
                <a:cs typeface="-apple-system"/>
              </a:rPr>
            </a:br>
            <a:r>
              <a:rPr lang="en-US" sz="1600" err="1">
                <a:latin typeface="-apple-system"/>
                <a:ea typeface="-apple-system"/>
                <a:cs typeface="-apple-system"/>
              </a:rPr>
              <a:t>Acredito</a:t>
            </a:r>
            <a:r>
              <a:rPr lang="en-US" sz="1600">
                <a:latin typeface="-apple-system"/>
                <a:ea typeface="-apple-system"/>
                <a:cs typeface="-apple-system"/>
              </a:rPr>
              <a:t> </a:t>
            </a:r>
            <a:r>
              <a:rPr lang="en-US" sz="1600" err="1">
                <a:latin typeface="-apple-system"/>
                <a:ea typeface="-apple-system"/>
                <a:cs typeface="-apple-system"/>
              </a:rPr>
              <a:t>que</a:t>
            </a:r>
            <a:r>
              <a:rPr lang="en-US" sz="1600">
                <a:latin typeface="-apple-system"/>
                <a:ea typeface="-apple-system"/>
                <a:cs typeface="-apple-system"/>
              </a:rPr>
              <a:t>, </a:t>
            </a:r>
            <a:r>
              <a:rPr lang="en-US" sz="1600" err="1">
                <a:latin typeface="-apple-system"/>
                <a:ea typeface="-apple-system"/>
                <a:cs typeface="-apple-system"/>
              </a:rPr>
              <a:t>atualmente</a:t>
            </a:r>
            <a:r>
              <a:rPr lang="en-US" sz="1600">
                <a:latin typeface="-apple-system"/>
                <a:ea typeface="-apple-system"/>
                <a:cs typeface="-apple-system"/>
              </a:rPr>
              <a:t>, </a:t>
            </a:r>
            <a:r>
              <a:rPr lang="en-US" sz="1600" err="1">
                <a:latin typeface="-apple-system"/>
                <a:ea typeface="-apple-system"/>
                <a:cs typeface="-apple-system"/>
              </a:rPr>
              <a:t>aprender</a:t>
            </a:r>
            <a:r>
              <a:rPr lang="en-US" sz="1600">
                <a:latin typeface="-apple-system"/>
                <a:ea typeface="-apple-system"/>
                <a:cs typeface="-apple-system"/>
              </a:rPr>
              <a:t> Python se </a:t>
            </a:r>
            <a:r>
              <a:rPr lang="en-US" sz="1600" err="1">
                <a:latin typeface="-apple-system"/>
                <a:ea typeface="-apple-system"/>
                <a:cs typeface="-apple-system"/>
              </a:rPr>
              <a:t>mostra</a:t>
            </a:r>
            <a:r>
              <a:rPr lang="en-US" sz="1600">
                <a:latin typeface="-apple-system"/>
                <a:ea typeface="-apple-system"/>
                <a:cs typeface="-apple-system"/>
              </a:rPr>
              <a:t> </a:t>
            </a:r>
            <a:r>
              <a:rPr lang="en-US" sz="1600" err="1">
                <a:latin typeface="-apple-system"/>
                <a:ea typeface="-apple-system"/>
                <a:cs typeface="-apple-system"/>
              </a:rPr>
              <a:t>indispensável</a:t>
            </a:r>
            <a:r>
              <a:rPr lang="en-US" sz="1600">
                <a:latin typeface="-apple-system"/>
                <a:ea typeface="-apple-system"/>
                <a:cs typeface="-apple-system"/>
              </a:rPr>
              <a:t> para quem </a:t>
            </a:r>
            <a:r>
              <a:rPr lang="en-US" sz="1600" err="1">
                <a:latin typeface="-apple-system"/>
                <a:ea typeface="-apple-system"/>
                <a:cs typeface="-apple-system"/>
              </a:rPr>
              <a:t>trabalha</a:t>
            </a:r>
            <a:r>
              <a:rPr lang="en-US" sz="1600">
                <a:latin typeface="-apple-system"/>
                <a:ea typeface="-apple-system"/>
                <a:cs typeface="-apple-system"/>
              </a:rPr>
              <a:t> com </a:t>
            </a:r>
            <a:r>
              <a:rPr lang="en-US" sz="1600" err="1">
                <a:latin typeface="-apple-system"/>
                <a:ea typeface="-apple-system"/>
                <a:cs typeface="-apple-system"/>
              </a:rPr>
              <a:t>informações</a:t>
            </a:r>
            <a:r>
              <a:rPr lang="en-US" sz="1600">
                <a:latin typeface="-apple-system"/>
                <a:ea typeface="-apple-system"/>
                <a:cs typeface="-apple-system"/>
              </a:rPr>
              <a:t> </a:t>
            </a:r>
            <a:r>
              <a:rPr lang="en-US" sz="1600" err="1">
                <a:latin typeface="-apple-system"/>
                <a:ea typeface="-apple-system"/>
                <a:cs typeface="-apple-system"/>
              </a:rPr>
              <a:t>geográficas</a:t>
            </a:r>
            <a:r>
              <a:rPr lang="en-US" sz="1600">
                <a:latin typeface="-apple-system"/>
                <a:ea typeface="-apple-system"/>
                <a:cs typeface="-apple-system"/>
              </a:rPr>
              <a:t>.</a:t>
            </a:r>
            <a:endParaRPr lang="en-US" sz="1600">
              <a:ea typeface="Calibri"/>
              <a:cs typeface="Calibri"/>
            </a:endParaRPr>
          </a:p>
          <a:p>
            <a:pPr algn="ctr"/>
            <a:endParaRPr lang="pt-BR"/>
          </a:p>
        </p:txBody>
      </p:sp>
      <p:pic>
        <p:nvPicPr>
          <p:cNvPr id="5" name="Imagem 4" descr="Uma imagem contendo Interface gráfica do usuário&#10;&#10;O conteúdo gerado por IA pode estar incorreto.">
            <a:extLst>
              <a:ext uri="{FF2B5EF4-FFF2-40B4-BE49-F238E27FC236}">
                <a16:creationId xmlns:a16="http://schemas.microsoft.com/office/drawing/2014/main" id="{67EE1DFC-604A-3287-94F4-510DC4ACF891}"/>
              </a:ext>
            </a:extLst>
          </p:cNvPr>
          <p:cNvPicPr>
            <a:picLocks noChangeAspect="1"/>
          </p:cNvPicPr>
          <p:nvPr/>
        </p:nvPicPr>
        <p:blipFill>
          <a:blip r:embed="rId2"/>
          <a:stretch>
            <a:fillRect/>
          </a:stretch>
        </p:blipFill>
        <p:spPr>
          <a:xfrm>
            <a:off x="728842" y="378753"/>
            <a:ext cx="4020090" cy="4605248"/>
          </a:xfrm>
          <a:prstGeom prst="rect">
            <a:avLst/>
          </a:prstGeom>
        </p:spPr>
      </p:pic>
      <p:sp>
        <p:nvSpPr>
          <p:cNvPr id="6" name="CaixaDeTexto 5">
            <a:extLst>
              <a:ext uri="{FF2B5EF4-FFF2-40B4-BE49-F238E27FC236}">
                <a16:creationId xmlns:a16="http://schemas.microsoft.com/office/drawing/2014/main" id="{6C6B18FA-88F8-D2A7-B7ED-04BCDC9E9F9E}"/>
              </a:ext>
            </a:extLst>
          </p:cNvPr>
          <p:cNvSpPr txBox="1"/>
          <p:nvPr/>
        </p:nvSpPr>
        <p:spPr>
          <a:xfrm>
            <a:off x="388188" y="5111151"/>
            <a:ext cx="4356340" cy="16619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https://www.linkedin.com/posts/carolina-cattaneo_geoprocessamento-python-osmnx-activity-7209555672982605825-vqRh?utm_source=share&amp;utm_medium=member_desktop&amp;rcm=ACoAAAMQtAUB5UouXqdBJgo_gWpNVZ7Imay_2Tg</a:t>
            </a:r>
          </a:p>
          <a:p>
            <a:pPr algn="ctr"/>
            <a:endParaRPr lang="pt-BR"/>
          </a:p>
        </p:txBody>
      </p:sp>
    </p:spTree>
    <p:extLst>
      <p:ext uri="{BB962C8B-B14F-4D97-AF65-F5344CB8AC3E}">
        <p14:creationId xmlns:p14="http://schemas.microsoft.com/office/powerpoint/2010/main" val="178308273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D867D1B6-2B9B-24E2-8EC6-C9234DAF6B1C}"/>
              </a:ext>
            </a:extLst>
          </p:cNvPr>
          <p:cNvSpPr txBox="1"/>
          <p:nvPr/>
        </p:nvSpPr>
        <p:spPr>
          <a:xfrm>
            <a:off x="5693434" y="1991264"/>
            <a:ext cx="6096000"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Did you know you can create presentations in ArcGIS Pro?</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Presentations are a new project item that allow you to organize maps, scenes, text, images, and videos and display them in full-screen mode. You can use presentations to tell the story of a project from within ArcGIS Pro.</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 presentation </a:t>
            </a:r>
            <a:r>
              <a:rPr lang="en-US" b="1">
                <a:solidFill>
                  <a:srgbClr val="0A66C2"/>
                </a:solidFill>
                <a:latin typeface="-apple-system"/>
                <a:ea typeface="-apple-system"/>
                <a:cs typeface="-apple-system"/>
                <a:hlinkClick r:id="rId2"/>
              </a:rPr>
              <a:t>hashtag#ARCGISPro</a:t>
            </a:r>
            <a:r>
              <a:rPr lang="en-US">
                <a:latin typeface="-apple-system"/>
                <a:ea typeface="-apple-system"/>
                <a:cs typeface="-apple-system"/>
              </a:rPr>
              <a:t> </a:t>
            </a:r>
            <a:r>
              <a:rPr lang="en-US" b="1">
                <a:solidFill>
                  <a:srgbClr val="0A66C2"/>
                </a:solidFill>
                <a:latin typeface="-apple-system"/>
                <a:ea typeface="-apple-system"/>
                <a:cs typeface="-apple-system"/>
                <a:hlinkClick r:id="rId3"/>
              </a:rPr>
              <a:t>hashtag#GIS</a:t>
            </a:r>
          </a:p>
          <a:p>
            <a:endParaRPr lang="en-US">
              <a:latin typeface="-apple-system"/>
              <a:ea typeface="-apple-system"/>
              <a:cs typeface="-apple-system"/>
            </a:endParaRPr>
          </a:p>
          <a:p>
            <a:pPr algn="ctr"/>
            <a:endParaRPr lang="pt-BR"/>
          </a:p>
        </p:txBody>
      </p:sp>
      <p:pic>
        <p:nvPicPr>
          <p:cNvPr id="5" name="Imagem 4" descr="Interface gráfica do usuário, Aplicativo, Word, PowerPoint&#10;&#10;O conteúdo gerado por IA pode estar incorreto.">
            <a:extLst>
              <a:ext uri="{FF2B5EF4-FFF2-40B4-BE49-F238E27FC236}">
                <a16:creationId xmlns:a16="http://schemas.microsoft.com/office/drawing/2014/main" id="{2E1D1022-EB4D-3C43-050E-4D0E02FEBE40}"/>
              </a:ext>
            </a:extLst>
          </p:cNvPr>
          <p:cNvPicPr>
            <a:picLocks noChangeAspect="1"/>
          </p:cNvPicPr>
          <p:nvPr/>
        </p:nvPicPr>
        <p:blipFill>
          <a:blip r:embed="rId4"/>
          <a:stretch>
            <a:fillRect/>
          </a:stretch>
        </p:blipFill>
        <p:spPr>
          <a:xfrm>
            <a:off x="596391" y="1519238"/>
            <a:ext cx="4658804" cy="3359450"/>
          </a:xfrm>
          <a:prstGeom prst="rect">
            <a:avLst/>
          </a:prstGeom>
        </p:spPr>
      </p:pic>
      <p:sp>
        <p:nvSpPr>
          <p:cNvPr id="6" name="CaixaDeTexto 5">
            <a:extLst>
              <a:ext uri="{FF2B5EF4-FFF2-40B4-BE49-F238E27FC236}">
                <a16:creationId xmlns:a16="http://schemas.microsoft.com/office/drawing/2014/main" id="{D9ACE774-C9EF-01B3-5BB0-E228797CDB7E}"/>
              </a:ext>
            </a:extLst>
          </p:cNvPr>
          <p:cNvSpPr txBox="1"/>
          <p:nvPr/>
        </p:nvSpPr>
        <p:spPr>
          <a:xfrm>
            <a:off x="273170" y="5312434"/>
            <a:ext cx="5305246" cy="13542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https://www.linkedin.com/posts/mohamed-rabie-122a9a1b5_arcgispro-gis-activity-7224742597771112448-P5Tb?utm_source=share&amp;utm_medium=member_desktop&amp;rcm=ACoAAAMQtAUB5UouXqdBJgo_gWpNVZ7Imay_2Tg</a:t>
            </a:r>
          </a:p>
          <a:p>
            <a:pPr algn="ctr"/>
            <a:endParaRPr lang="pt-BR"/>
          </a:p>
        </p:txBody>
      </p:sp>
    </p:spTree>
    <p:extLst>
      <p:ext uri="{BB962C8B-B14F-4D97-AF65-F5344CB8AC3E}">
        <p14:creationId xmlns:p14="http://schemas.microsoft.com/office/powerpoint/2010/main" val="51497201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39BD91CB-BD59-CF36-FE4B-396759547A57}"/>
              </a:ext>
            </a:extLst>
          </p:cNvPr>
          <p:cNvSpPr txBox="1"/>
          <p:nvPr/>
        </p:nvSpPr>
        <p:spPr>
          <a:xfrm>
            <a:off x="5578415" y="1027981"/>
            <a:ext cx="6096000"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If you are new to ArcGIS Pro an interested in editing best practices check out this presentation (</a:t>
            </a:r>
            <a:r>
              <a:rPr lang="en-US" b="1">
                <a:solidFill>
                  <a:srgbClr val="0A66C2"/>
                </a:solidFill>
                <a:latin typeface="-apple-system"/>
                <a:ea typeface="-apple-system"/>
                <a:cs typeface="-apple-system"/>
                <a:hlinkClick r:id="rId2"/>
              </a:rPr>
              <a:t>https://lnkd.in/gdWSNWFk</a:t>
            </a:r>
            <a:r>
              <a:rPr lang="en-US">
                <a:latin typeface="-apple-system"/>
                <a:ea typeface="-apple-system"/>
                <a:cs typeface="-apple-system"/>
              </a:rPr>
              <a:t>) from the Esri UC by </a:t>
            </a:r>
            <a:r>
              <a:rPr lang="en-US" b="1">
                <a:solidFill>
                  <a:srgbClr val="0A66C2"/>
                </a:solidFill>
                <a:latin typeface="-apple-system"/>
                <a:ea typeface="-apple-system"/>
                <a:cs typeface="-apple-system"/>
                <a:hlinkClick r:id="rId3"/>
              </a:rPr>
              <a:t>Robert LeClair</a:t>
            </a:r>
            <a:r>
              <a:rPr lang="en-US">
                <a:latin typeface="-apple-system"/>
                <a:ea typeface="-apple-system"/>
                <a:cs typeface="-apple-system"/>
              </a:rPr>
              <a:t> and </a:t>
            </a:r>
            <a:r>
              <a:rPr lang="en-US" b="1">
                <a:solidFill>
                  <a:srgbClr val="0A66C2"/>
                </a:solidFill>
                <a:latin typeface="-apple-system"/>
                <a:ea typeface="-apple-system"/>
                <a:cs typeface="-apple-system"/>
                <a:hlinkClick r:id="rId4"/>
              </a:rPr>
              <a:t>Leah Bailey</a:t>
            </a:r>
            <a:r>
              <a:rPr lang="en-US">
                <a:latin typeface="-apple-system"/>
                <a:ea typeface="-apple-system"/>
                <a:cs typeface="-apple-system"/>
              </a:rPr>
              <a:t>. It covers best practices around geodatabase and map design to make sure you're making your editing process as easy as possible while maintaining a high data quality standard.</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This is a good presentation for new and aspiring geodatabase administrators to take to get started on understanding how their role as an administrator can benefit their users. There are a few more sessions I'll be posting later this week that show some of the more advanced techniques that administrators can use to improve the end-user experience through configuration.</a:t>
            </a:r>
            <a:br>
              <a:rPr lang="en-US">
                <a:latin typeface="-apple-system"/>
                <a:ea typeface="-apple-system"/>
                <a:cs typeface="-apple-system"/>
              </a:rPr>
            </a:br>
            <a:br>
              <a:rPr lang="en-US">
                <a:latin typeface="-apple-system"/>
                <a:ea typeface="-apple-system"/>
                <a:cs typeface="-apple-system"/>
              </a:rPr>
            </a:br>
            <a:r>
              <a:rPr lang="en-US" b="1">
                <a:solidFill>
                  <a:srgbClr val="0A66C2"/>
                </a:solidFill>
                <a:latin typeface="-apple-system"/>
                <a:ea typeface="-apple-system"/>
                <a:cs typeface="-apple-system"/>
                <a:hlinkClick r:id="rId5"/>
              </a:rPr>
              <a:t>hashtag#EsriUC2024</a:t>
            </a:r>
            <a:endParaRPr lang="en-US"/>
          </a:p>
          <a:p>
            <a:pPr algn="ctr"/>
            <a:endParaRPr lang="pt-BR"/>
          </a:p>
        </p:txBody>
      </p:sp>
      <p:pic>
        <p:nvPicPr>
          <p:cNvPr id="5" name="Imagem 4" descr="Não foi fornecido texto alternativo para esta imagem">
            <a:extLst>
              <a:ext uri="{FF2B5EF4-FFF2-40B4-BE49-F238E27FC236}">
                <a16:creationId xmlns:a16="http://schemas.microsoft.com/office/drawing/2014/main" id="{AE171575-14D7-C60A-D268-00331B2F7D49}"/>
              </a:ext>
            </a:extLst>
          </p:cNvPr>
          <p:cNvPicPr>
            <a:picLocks noChangeAspect="1"/>
          </p:cNvPicPr>
          <p:nvPr/>
        </p:nvPicPr>
        <p:blipFill>
          <a:blip r:embed="rId6"/>
          <a:stretch>
            <a:fillRect/>
          </a:stretch>
        </p:blipFill>
        <p:spPr>
          <a:xfrm>
            <a:off x="388189" y="1034810"/>
            <a:ext cx="5060831" cy="3250003"/>
          </a:xfrm>
          <a:prstGeom prst="rect">
            <a:avLst/>
          </a:prstGeom>
        </p:spPr>
      </p:pic>
      <p:sp>
        <p:nvSpPr>
          <p:cNvPr id="6" name="CaixaDeTexto 5">
            <a:extLst>
              <a:ext uri="{FF2B5EF4-FFF2-40B4-BE49-F238E27FC236}">
                <a16:creationId xmlns:a16="http://schemas.microsoft.com/office/drawing/2014/main" id="{93DC02A7-F842-9344-6C64-465FB98C7ED2}"/>
              </a:ext>
            </a:extLst>
          </p:cNvPr>
          <p:cNvSpPr txBox="1"/>
          <p:nvPr/>
        </p:nvSpPr>
        <p:spPr>
          <a:xfrm>
            <a:off x="388189" y="4464170"/>
            <a:ext cx="4715774" cy="18466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https://www.linkedin.com/posts/robert-krisher-5a989438_esriuc2024-activity-7229852509798813696-IHVx?utm_source=share&amp;utm_medium=member_desktop&amp;rcm=ACoAAAMQtAUB5UouXqdBJgo_gWpNVZ7Imay_2Tg</a:t>
            </a:r>
          </a:p>
          <a:p>
            <a:pPr algn="ctr"/>
            <a:endParaRPr lang="pt-BR"/>
          </a:p>
        </p:txBody>
      </p:sp>
    </p:spTree>
    <p:extLst>
      <p:ext uri="{BB962C8B-B14F-4D97-AF65-F5344CB8AC3E}">
        <p14:creationId xmlns:p14="http://schemas.microsoft.com/office/powerpoint/2010/main" val="343194920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197E658B-F232-96E9-DB64-4ED3E1EBE875}"/>
              </a:ext>
            </a:extLst>
          </p:cNvPr>
          <p:cNvSpPr txBox="1"/>
          <p:nvPr/>
        </p:nvSpPr>
        <p:spPr>
          <a:xfrm>
            <a:off x="5420264" y="496019"/>
            <a:ext cx="6096000" cy="61863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One of the unsung heroes of editing in ArcGIS is feature templates. </a:t>
            </a:r>
            <a:r>
              <a:rPr lang="en-US" b="1">
                <a:solidFill>
                  <a:srgbClr val="0A66C2"/>
                </a:solidFill>
                <a:latin typeface="-apple-system"/>
                <a:ea typeface="-apple-system"/>
                <a:cs typeface="-apple-system"/>
                <a:hlinkClick r:id="rId2"/>
              </a:rPr>
              <a:t>Jennifer Cadkin</a:t>
            </a:r>
            <a:r>
              <a:rPr lang="en-US">
                <a:latin typeface="-apple-system"/>
                <a:ea typeface="-apple-system"/>
                <a:cs typeface="-apple-system"/>
              </a:rPr>
              <a:t> and Phil Sanchez gave a fantastic presentation (</a:t>
            </a:r>
            <a:r>
              <a:rPr lang="en-US" b="1">
                <a:solidFill>
                  <a:srgbClr val="0A66C2"/>
                </a:solidFill>
                <a:latin typeface="-apple-system"/>
                <a:ea typeface="-apple-system"/>
                <a:cs typeface="-apple-system"/>
                <a:hlinkClick r:id="rId3"/>
              </a:rPr>
              <a:t>https://lnkd.in/gAeQArBj</a:t>
            </a:r>
            <a:r>
              <a:rPr lang="en-US">
                <a:latin typeface="-apple-system"/>
                <a:ea typeface="-apple-system"/>
                <a:cs typeface="-apple-system"/>
              </a:rPr>
              <a:t>) at this year's Esri User Conference giving you a rundown of everything you need to know to about editing templates. It's a very demo-heavy presentation, which is important given the subject matter, that starts off simple but gets pretty advanced/fancy by the end.</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As the more advanced capabilities of editing templates make their past the desktop and into the web and mobile environments it is becoming increasingly important that administrators understand the power they have available to them through these templates. I've also had quite a few conversations with customers and partners who were planning on developing custom attribute rules or python add-ins only to discover that what they wanted to do was already available out of the box with feature templates! Why create a several hundred line attribute rule to automatically create a tap and excess flow valve with some dummy attributes, when you can just configure an editing template that does it all in a single sketch with prompts for key attributes (diameter, material, etc)!</a:t>
            </a:r>
            <a:endParaRPr lang="en-US"/>
          </a:p>
          <a:p>
            <a:pPr algn="ctr"/>
            <a:endParaRPr lang="pt-BR"/>
          </a:p>
        </p:txBody>
      </p:sp>
      <p:pic>
        <p:nvPicPr>
          <p:cNvPr id="5" name="Imagem 4" descr="Não foi fornecido texto alternativo para esta imagem">
            <a:extLst>
              <a:ext uri="{FF2B5EF4-FFF2-40B4-BE49-F238E27FC236}">
                <a16:creationId xmlns:a16="http://schemas.microsoft.com/office/drawing/2014/main" id="{CD881D9B-51B5-56F9-B2E1-E403B71F52D7}"/>
              </a:ext>
            </a:extLst>
          </p:cNvPr>
          <p:cNvPicPr>
            <a:picLocks noChangeAspect="1"/>
          </p:cNvPicPr>
          <p:nvPr/>
        </p:nvPicPr>
        <p:blipFill>
          <a:blip r:embed="rId4"/>
          <a:stretch>
            <a:fillRect/>
          </a:stretch>
        </p:blipFill>
        <p:spPr>
          <a:xfrm>
            <a:off x="330679" y="1286593"/>
            <a:ext cx="4931434" cy="2861454"/>
          </a:xfrm>
          <a:prstGeom prst="rect">
            <a:avLst/>
          </a:prstGeom>
        </p:spPr>
      </p:pic>
      <p:sp>
        <p:nvSpPr>
          <p:cNvPr id="6" name="CaixaDeTexto 5">
            <a:extLst>
              <a:ext uri="{FF2B5EF4-FFF2-40B4-BE49-F238E27FC236}">
                <a16:creationId xmlns:a16="http://schemas.microsoft.com/office/drawing/2014/main" id="{0A60DAC2-EB66-04ED-E906-B74BF2339C41}"/>
              </a:ext>
            </a:extLst>
          </p:cNvPr>
          <p:cNvSpPr txBox="1"/>
          <p:nvPr/>
        </p:nvSpPr>
        <p:spPr>
          <a:xfrm>
            <a:off x="330679" y="4579188"/>
            <a:ext cx="4212567" cy="18466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https://www.linkedin.com/posts/robert-krisher-5a989438_esriuc2024-activity-7230210187997945856-DOCm?utm_source=share&amp;utm_medium=member_desktop&amp;rcm=ACoAAAMQtAUB5UouXqdBJgo_gWpNVZ7Imay_2Tg</a:t>
            </a:r>
          </a:p>
          <a:p>
            <a:pPr algn="ctr"/>
            <a:endParaRPr lang="pt-BR"/>
          </a:p>
        </p:txBody>
      </p:sp>
    </p:spTree>
    <p:extLst>
      <p:ext uri="{BB962C8B-B14F-4D97-AF65-F5344CB8AC3E}">
        <p14:creationId xmlns:p14="http://schemas.microsoft.com/office/powerpoint/2010/main" val="396940138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F177142A-5ABD-F12A-774E-79A443D60645}"/>
              </a:ext>
            </a:extLst>
          </p:cNvPr>
          <p:cNvSpPr txBox="1"/>
          <p:nvPr/>
        </p:nvSpPr>
        <p:spPr>
          <a:xfrm>
            <a:off x="5750944" y="611037"/>
            <a:ext cx="6096000" cy="62478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apple-system"/>
                <a:ea typeface="-apple-system"/>
                <a:cs typeface="-apple-system"/>
              </a:rPr>
              <a:t>O Poder do GIS </a:t>
            </a:r>
            <a:r>
              <a:rPr lang="en-US" sz="1600" err="1">
                <a:latin typeface="-apple-system"/>
                <a:ea typeface="-apple-system"/>
                <a:cs typeface="-apple-system"/>
              </a:rPr>
              <a:t>na</a:t>
            </a:r>
            <a:r>
              <a:rPr lang="en-US" sz="1600">
                <a:latin typeface="-apple-system"/>
                <a:ea typeface="-apple-system"/>
                <a:cs typeface="-apple-system"/>
              </a:rPr>
              <a:t> </a:t>
            </a:r>
            <a:r>
              <a:rPr lang="en-US" sz="1600" err="1">
                <a:latin typeface="-apple-system"/>
                <a:ea typeface="-apple-system"/>
                <a:cs typeface="-apple-system"/>
              </a:rPr>
              <a:t>Modernização</a:t>
            </a:r>
            <a:r>
              <a:rPr lang="en-US" sz="1600">
                <a:latin typeface="-apple-system"/>
                <a:ea typeface="-apple-system"/>
                <a:cs typeface="-apple-system"/>
              </a:rPr>
              <a:t> do Saneamento!</a:t>
            </a:r>
            <a:br>
              <a:rPr lang="en-US" sz="1600">
                <a:latin typeface="-apple-system"/>
                <a:ea typeface="-apple-system"/>
                <a:cs typeface="-apple-system"/>
              </a:rPr>
            </a:br>
            <a:br>
              <a:rPr lang="en-US" sz="1600">
                <a:latin typeface="-apple-system"/>
                <a:ea typeface="-apple-system"/>
                <a:cs typeface="-apple-system"/>
              </a:rPr>
            </a:br>
            <a:r>
              <a:rPr lang="en-US" sz="1600" err="1">
                <a:latin typeface="-apple-system"/>
                <a:ea typeface="-apple-system"/>
                <a:cs typeface="-apple-system"/>
              </a:rPr>
              <a:t>Você</a:t>
            </a:r>
            <a:r>
              <a:rPr lang="en-US" sz="1600">
                <a:latin typeface="-apple-system"/>
                <a:ea typeface="-apple-system"/>
                <a:cs typeface="-apple-system"/>
              </a:rPr>
              <a:t> sabia </a:t>
            </a:r>
            <a:r>
              <a:rPr lang="en-US" sz="1600" err="1">
                <a:latin typeface="-apple-system"/>
                <a:ea typeface="-apple-system"/>
                <a:cs typeface="-apple-system"/>
              </a:rPr>
              <a:t>que</a:t>
            </a:r>
            <a:r>
              <a:rPr lang="en-US" sz="1600">
                <a:latin typeface="-apple-system"/>
                <a:ea typeface="-apple-system"/>
                <a:cs typeface="-apple-system"/>
              </a:rPr>
              <a:t> </a:t>
            </a:r>
            <a:r>
              <a:rPr lang="en-US" sz="1600" err="1">
                <a:latin typeface="-apple-system"/>
                <a:ea typeface="-apple-system"/>
                <a:cs typeface="-apple-system"/>
              </a:rPr>
              <a:t>os</a:t>
            </a:r>
            <a:r>
              <a:rPr lang="en-US" sz="1600">
                <a:latin typeface="-apple-system"/>
                <a:ea typeface="-apple-system"/>
                <a:cs typeface="-apple-system"/>
              </a:rPr>
              <a:t> Sistemas de </a:t>
            </a:r>
            <a:r>
              <a:rPr lang="en-US" sz="1600" err="1">
                <a:latin typeface="-apple-system"/>
                <a:ea typeface="-apple-system"/>
                <a:cs typeface="-apple-system"/>
              </a:rPr>
              <a:t>Informações</a:t>
            </a:r>
            <a:r>
              <a:rPr lang="en-US" sz="1600">
                <a:latin typeface="-apple-system"/>
                <a:ea typeface="-apple-system"/>
                <a:cs typeface="-apple-system"/>
              </a:rPr>
              <a:t> </a:t>
            </a:r>
            <a:r>
              <a:rPr lang="en-US" sz="1600" err="1">
                <a:latin typeface="-apple-system"/>
                <a:ea typeface="-apple-system"/>
                <a:cs typeface="-apple-system"/>
              </a:rPr>
              <a:t>Geográficas</a:t>
            </a:r>
            <a:r>
              <a:rPr lang="en-US" sz="1600">
                <a:latin typeface="-apple-system"/>
                <a:ea typeface="-apple-system"/>
                <a:cs typeface="-apple-system"/>
              </a:rPr>
              <a:t> (GIS) </a:t>
            </a:r>
            <a:r>
              <a:rPr lang="en-US" sz="1600" err="1">
                <a:latin typeface="-apple-system"/>
                <a:ea typeface="-apple-system"/>
                <a:cs typeface="-apple-system"/>
              </a:rPr>
              <a:t>são</a:t>
            </a:r>
            <a:r>
              <a:rPr lang="en-US" sz="1600">
                <a:latin typeface="-apple-system"/>
                <a:ea typeface="-apple-system"/>
                <a:cs typeface="-apple-system"/>
              </a:rPr>
              <a:t> ferramentas </a:t>
            </a:r>
            <a:r>
              <a:rPr lang="en-US" sz="1600" err="1">
                <a:latin typeface="-apple-system"/>
                <a:ea typeface="-apple-system"/>
                <a:cs typeface="-apple-system"/>
              </a:rPr>
              <a:t>essenciais</a:t>
            </a:r>
            <a:r>
              <a:rPr lang="en-US" sz="1600">
                <a:latin typeface="-apple-system"/>
                <a:ea typeface="-apple-system"/>
                <a:cs typeface="-apple-system"/>
              </a:rPr>
              <a:t> para </a:t>
            </a:r>
            <a:r>
              <a:rPr lang="en-US" sz="1600" err="1">
                <a:latin typeface="-apple-system"/>
                <a:ea typeface="-apple-system"/>
                <a:cs typeface="-apple-system"/>
              </a:rPr>
              <a:t>enfrentar</a:t>
            </a:r>
            <a:r>
              <a:rPr lang="en-US" sz="1600">
                <a:latin typeface="-apple-system"/>
                <a:ea typeface="-apple-system"/>
                <a:cs typeface="-apple-system"/>
              </a:rPr>
              <a:t> </a:t>
            </a:r>
            <a:r>
              <a:rPr lang="en-US" sz="1600" err="1">
                <a:latin typeface="-apple-system"/>
                <a:ea typeface="-apple-system"/>
                <a:cs typeface="-apple-system"/>
              </a:rPr>
              <a:t>os</a:t>
            </a:r>
            <a:r>
              <a:rPr lang="en-US" sz="1600">
                <a:latin typeface="-apple-system"/>
                <a:ea typeface="-apple-system"/>
                <a:cs typeface="-apple-system"/>
              </a:rPr>
              <a:t> </a:t>
            </a:r>
            <a:r>
              <a:rPr lang="en-US" sz="1600" err="1">
                <a:latin typeface="-apple-system"/>
                <a:ea typeface="-apple-system"/>
                <a:cs typeface="-apple-system"/>
              </a:rPr>
              <a:t>desafios</a:t>
            </a:r>
            <a:r>
              <a:rPr lang="en-US" sz="1600">
                <a:latin typeface="-apple-system"/>
                <a:ea typeface="-apple-system"/>
                <a:cs typeface="-apple-system"/>
              </a:rPr>
              <a:t> do </a:t>
            </a:r>
            <a:r>
              <a:rPr lang="en-US" sz="1600" err="1">
                <a:latin typeface="-apple-system"/>
                <a:ea typeface="-apple-system"/>
                <a:cs typeface="-apple-system"/>
              </a:rPr>
              <a:t>setor</a:t>
            </a:r>
            <a:r>
              <a:rPr lang="en-US" sz="1600">
                <a:latin typeface="-apple-system"/>
                <a:ea typeface="-apple-system"/>
                <a:cs typeface="-apple-system"/>
              </a:rPr>
              <a:t> de </a:t>
            </a:r>
            <a:r>
              <a:rPr lang="en-US" sz="1600" err="1">
                <a:latin typeface="-apple-system"/>
                <a:ea typeface="-apple-system"/>
                <a:cs typeface="-apple-system"/>
              </a:rPr>
              <a:t>saneamento</a:t>
            </a:r>
            <a:r>
              <a:rPr lang="en-US" sz="1600">
                <a:latin typeface="-apple-system"/>
                <a:ea typeface="-apple-system"/>
                <a:cs typeface="-apple-system"/>
              </a:rPr>
              <a:t>? </a:t>
            </a:r>
            <a:r>
              <a:rPr lang="en-US" sz="1600" err="1">
                <a:latin typeface="-apple-system"/>
                <a:ea typeface="-apple-system"/>
                <a:cs typeface="-apple-system"/>
              </a:rPr>
              <a:t>Desde</a:t>
            </a:r>
            <a:r>
              <a:rPr lang="en-US" sz="1600">
                <a:latin typeface="-apple-system"/>
                <a:ea typeface="-apple-system"/>
                <a:cs typeface="-apple-system"/>
              </a:rPr>
              <a:t> o </a:t>
            </a:r>
            <a:r>
              <a:rPr lang="en-US" sz="1600" err="1">
                <a:latin typeface="-apple-system"/>
                <a:ea typeface="-apple-system"/>
                <a:cs typeface="-apple-system"/>
              </a:rPr>
              <a:t>cadastro</a:t>
            </a:r>
            <a:r>
              <a:rPr lang="en-US" sz="1600">
                <a:latin typeface="-apple-system"/>
                <a:ea typeface="-apple-system"/>
                <a:cs typeface="-apple-system"/>
              </a:rPr>
              <a:t> </a:t>
            </a:r>
            <a:r>
              <a:rPr lang="en-US" sz="1600" err="1">
                <a:latin typeface="-apple-system"/>
                <a:ea typeface="-apple-system"/>
                <a:cs typeface="-apple-system"/>
              </a:rPr>
              <a:t>técnico</a:t>
            </a:r>
            <a:r>
              <a:rPr lang="en-US" sz="1600">
                <a:latin typeface="-apple-system"/>
                <a:ea typeface="-apple-system"/>
                <a:cs typeface="-apple-system"/>
              </a:rPr>
              <a:t> de redes </a:t>
            </a:r>
            <a:r>
              <a:rPr lang="en-US" sz="1600" err="1">
                <a:latin typeface="-apple-system"/>
                <a:ea typeface="-apple-system"/>
                <a:cs typeface="-apple-system"/>
              </a:rPr>
              <a:t>até</a:t>
            </a:r>
            <a:r>
              <a:rPr lang="en-US" sz="1600">
                <a:latin typeface="-apple-system"/>
                <a:ea typeface="-apple-system"/>
                <a:cs typeface="-apple-system"/>
              </a:rPr>
              <a:t> a </a:t>
            </a:r>
            <a:r>
              <a:rPr lang="en-US" sz="1600" err="1">
                <a:latin typeface="-apple-system"/>
                <a:ea typeface="-apple-system"/>
                <a:cs typeface="-apple-system"/>
              </a:rPr>
              <a:t>gestão</a:t>
            </a:r>
            <a:r>
              <a:rPr lang="en-US" sz="1600">
                <a:latin typeface="-apple-system"/>
                <a:ea typeface="-apple-system"/>
                <a:cs typeface="-apple-system"/>
              </a:rPr>
              <a:t> de </a:t>
            </a:r>
            <a:r>
              <a:rPr lang="en-US" sz="1600" err="1">
                <a:latin typeface="-apple-system"/>
                <a:ea typeface="-apple-system"/>
                <a:cs typeface="-apple-system"/>
              </a:rPr>
              <a:t>perdas</a:t>
            </a:r>
            <a:r>
              <a:rPr lang="en-US" sz="1600">
                <a:latin typeface="-apple-system"/>
                <a:ea typeface="-apple-system"/>
                <a:cs typeface="-apple-system"/>
              </a:rPr>
              <a:t> de </a:t>
            </a:r>
            <a:r>
              <a:rPr lang="en-US" sz="1600" err="1">
                <a:latin typeface="-apple-system"/>
                <a:ea typeface="-apple-system"/>
                <a:cs typeface="-apple-system"/>
              </a:rPr>
              <a:t>água</a:t>
            </a:r>
            <a:r>
              <a:rPr lang="en-US" sz="1600">
                <a:latin typeface="-apple-system"/>
                <a:ea typeface="-apple-system"/>
                <a:cs typeface="-apple-system"/>
              </a:rPr>
              <a:t>, o GIS </a:t>
            </a:r>
            <a:r>
              <a:rPr lang="en-US" sz="1600" err="1">
                <a:latin typeface="-apple-system"/>
                <a:ea typeface="-apple-system"/>
                <a:cs typeface="-apple-system"/>
              </a:rPr>
              <a:t>oferece</a:t>
            </a:r>
            <a:r>
              <a:rPr lang="en-US" sz="1600">
                <a:latin typeface="-apple-system"/>
                <a:ea typeface="-apple-system"/>
                <a:cs typeface="-apple-system"/>
              </a:rPr>
              <a:t> </a:t>
            </a:r>
            <a:r>
              <a:rPr lang="en-US" sz="1600" err="1">
                <a:latin typeface="-apple-system"/>
                <a:ea typeface="-apple-system"/>
                <a:cs typeface="-apple-system"/>
              </a:rPr>
              <a:t>soluções</a:t>
            </a:r>
            <a:r>
              <a:rPr lang="en-US" sz="1600">
                <a:latin typeface="-apple-system"/>
                <a:ea typeface="-apple-system"/>
                <a:cs typeface="-apple-system"/>
              </a:rPr>
              <a:t> </a:t>
            </a:r>
            <a:r>
              <a:rPr lang="en-US" sz="1600" err="1">
                <a:latin typeface="-apple-system"/>
                <a:ea typeface="-apple-system"/>
                <a:cs typeface="-apple-system"/>
              </a:rPr>
              <a:t>que</a:t>
            </a:r>
            <a:r>
              <a:rPr lang="en-US" sz="1600">
                <a:latin typeface="-apple-system"/>
                <a:ea typeface="-apple-system"/>
                <a:cs typeface="-apple-system"/>
              </a:rPr>
              <a:t> </a:t>
            </a:r>
            <a:r>
              <a:rPr lang="en-US" sz="1600" err="1">
                <a:latin typeface="-apple-system"/>
                <a:ea typeface="-apple-system"/>
                <a:cs typeface="-apple-system"/>
              </a:rPr>
              <a:t>otimizam</a:t>
            </a:r>
            <a:r>
              <a:rPr lang="en-US" sz="1600">
                <a:latin typeface="-apple-system"/>
                <a:ea typeface="-apple-system"/>
                <a:cs typeface="-apple-system"/>
              </a:rPr>
              <a:t> </a:t>
            </a:r>
            <a:r>
              <a:rPr lang="en-US" sz="1600" err="1">
                <a:latin typeface="-apple-system"/>
                <a:ea typeface="-apple-system"/>
                <a:cs typeface="-apple-system"/>
              </a:rPr>
              <a:t>a</a:t>
            </a:r>
            <a:r>
              <a:rPr lang="en-US" sz="1600">
                <a:latin typeface="-apple-system"/>
                <a:ea typeface="-apple-system"/>
                <a:cs typeface="-apple-system"/>
              </a:rPr>
              <a:t> </a:t>
            </a:r>
            <a:r>
              <a:rPr lang="en-US" sz="1600" err="1">
                <a:latin typeface="-apple-system"/>
                <a:ea typeface="-apple-system"/>
                <a:cs typeface="-apple-system"/>
              </a:rPr>
              <a:t>operação</a:t>
            </a:r>
            <a:r>
              <a:rPr lang="en-US" sz="1600">
                <a:latin typeface="-apple-system"/>
                <a:ea typeface="-apple-system"/>
                <a:cs typeface="-apple-system"/>
              </a:rPr>
              <a:t> das </a:t>
            </a:r>
            <a:r>
              <a:rPr lang="en-US" sz="1600" err="1">
                <a:latin typeface="-apple-system"/>
                <a:ea typeface="-apple-system"/>
                <a:cs typeface="-apple-system"/>
              </a:rPr>
              <a:t>companhias</a:t>
            </a:r>
            <a:r>
              <a:rPr lang="en-US" sz="1600">
                <a:latin typeface="-apple-system"/>
                <a:ea typeface="-apple-system"/>
                <a:cs typeface="-apple-system"/>
              </a:rPr>
              <a:t> de </a:t>
            </a:r>
            <a:r>
              <a:rPr lang="en-US" sz="1600" err="1">
                <a:latin typeface="-apple-system"/>
                <a:ea typeface="-apple-system"/>
                <a:cs typeface="-apple-system"/>
              </a:rPr>
              <a:t>saneamento</a:t>
            </a:r>
            <a:r>
              <a:rPr lang="en-US" sz="1600">
                <a:latin typeface="-apple-system"/>
                <a:ea typeface="-apple-system"/>
                <a:cs typeface="-apple-system"/>
              </a:rPr>
              <a:t>, </a:t>
            </a:r>
            <a:r>
              <a:rPr lang="en-US" sz="1600" err="1">
                <a:latin typeface="-apple-system"/>
                <a:ea typeface="-apple-system"/>
                <a:cs typeface="-apple-system"/>
              </a:rPr>
              <a:t>melhoram</a:t>
            </a:r>
            <a:r>
              <a:rPr lang="en-US" sz="1600">
                <a:latin typeface="-apple-system"/>
                <a:ea typeface="-apple-system"/>
                <a:cs typeface="-apple-system"/>
              </a:rPr>
              <a:t> </a:t>
            </a:r>
            <a:r>
              <a:rPr lang="en-US" sz="1600" err="1">
                <a:latin typeface="-apple-system"/>
                <a:ea typeface="-apple-system"/>
                <a:cs typeface="-apple-system"/>
              </a:rPr>
              <a:t>a</a:t>
            </a:r>
            <a:r>
              <a:rPr lang="en-US" sz="1600">
                <a:latin typeface="-apple-system"/>
                <a:ea typeface="-apple-system"/>
                <a:cs typeface="-apple-system"/>
              </a:rPr>
              <a:t> </a:t>
            </a:r>
            <a:r>
              <a:rPr lang="en-US" sz="1600" err="1">
                <a:latin typeface="-apple-system"/>
                <a:ea typeface="-apple-system"/>
                <a:cs typeface="-apple-system"/>
              </a:rPr>
              <a:t>eficiência</a:t>
            </a:r>
            <a:r>
              <a:rPr lang="en-US" sz="1600">
                <a:latin typeface="-apple-system"/>
                <a:ea typeface="-apple-system"/>
                <a:cs typeface="-apple-system"/>
              </a:rPr>
              <a:t> e </a:t>
            </a:r>
            <a:r>
              <a:rPr lang="en-US" sz="1600" err="1">
                <a:latin typeface="-apple-system"/>
                <a:ea typeface="-apple-system"/>
                <a:cs typeface="-apple-system"/>
              </a:rPr>
              <a:t>reduzem</a:t>
            </a:r>
            <a:r>
              <a:rPr lang="en-US" sz="1600">
                <a:latin typeface="-apple-system"/>
                <a:ea typeface="-apple-system"/>
                <a:cs typeface="-apple-system"/>
              </a:rPr>
              <a:t> custos.</a:t>
            </a:r>
            <a:br>
              <a:rPr lang="en-US" sz="1600">
                <a:latin typeface="-apple-system"/>
                <a:ea typeface="-apple-system"/>
                <a:cs typeface="-apple-system"/>
              </a:rPr>
            </a:br>
            <a:br>
              <a:rPr lang="en-US" sz="1600">
                <a:latin typeface="-apple-system"/>
                <a:ea typeface="-apple-system"/>
                <a:cs typeface="-apple-system"/>
              </a:rPr>
            </a:br>
            <a:r>
              <a:rPr lang="en-US" sz="1600">
                <a:latin typeface="-apple-system"/>
                <a:ea typeface="-apple-system"/>
                <a:cs typeface="-apple-system"/>
              </a:rPr>
              <a:t>Com o </a:t>
            </a:r>
            <a:r>
              <a:rPr lang="en-US" sz="1600" err="1">
                <a:latin typeface="-apple-system"/>
                <a:ea typeface="-apple-system"/>
                <a:cs typeface="-apple-system"/>
              </a:rPr>
              <a:t>avanço</a:t>
            </a:r>
            <a:r>
              <a:rPr lang="en-US" sz="1600">
                <a:latin typeface="-apple-system"/>
                <a:ea typeface="-apple-system"/>
                <a:cs typeface="-apple-system"/>
              </a:rPr>
              <a:t> da </a:t>
            </a:r>
            <a:r>
              <a:rPr lang="en-US" sz="1600" err="1">
                <a:latin typeface="-apple-system"/>
                <a:ea typeface="-apple-system"/>
                <a:cs typeface="-apple-system"/>
              </a:rPr>
              <a:t>tecnologia</a:t>
            </a:r>
            <a:r>
              <a:rPr lang="en-US" sz="1600">
                <a:latin typeface="-apple-system"/>
                <a:ea typeface="-apple-system"/>
                <a:cs typeface="-apple-system"/>
              </a:rPr>
              <a:t>, o </a:t>
            </a:r>
            <a:r>
              <a:rPr lang="en-US" sz="1600" err="1">
                <a:latin typeface="-apple-system"/>
                <a:ea typeface="-apple-system"/>
                <a:cs typeface="-apple-system"/>
              </a:rPr>
              <a:t>modelo</a:t>
            </a:r>
            <a:r>
              <a:rPr lang="en-US" sz="1600">
                <a:latin typeface="-apple-system"/>
                <a:ea typeface="-apple-system"/>
                <a:cs typeface="-apple-system"/>
              </a:rPr>
              <a:t> SaaS (Software as a Service) </a:t>
            </a:r>
            <a:r>
              <a:rPr lang="en-US" sz="1600" err="1">
                <a:latin typeface="-apple-system"/>
                <a:ea typeface="-apple-system"/>
                <a:cs typeface="-apple-system"/>
              </a:rPr>
              <a:t>tornou</a:t>
            </a:r>
            <a:r>
              <a:rPr lang="en-US" sz="1600">
                <a:latin typeface="-apple-system"/>
                <a:ea typeface="-apple-system"/>
                <a:cs typeface="-apple-system"/>
              </a:rPr>
              <a:t> o GIS </a:t>
            </a:r>
            <a:r>
              <a:rPr lang="en-US" sz="1600" err="1">
                <a:latin typeface="-apple-system"/>
                <a:ea typeface="-apple-system"/>
                <a:cs typeface="-apple-system"/>
              </a:rPr>
              <a:t>ainda</a:t>
            </a:r>
            <a:r>
              <a:rPr lang="en-US" sz="1600">
                <a:latin typeface="-apple-system"/>
                <a:ea typeface="-apple-system"/>
                <a:cs typeface="-apple-system"/>
              </a:rPr>
              <a:t> </a:t>
            </a:r>
            <a:r>
              <a:rPr lang="en-US" sz="1600" err="1">
                <a:latin typeface="-apple-system"/>
                <a:ea typeface="-apple-system"/>
                <a:cs typeface="-apple-system"/>
              </a:rPr>
              <a:t>mais</a:t>
            </a:r>
            <a:r>
              <a:rPr lang="en-US" sz="1600">
                <a:latin typeface="-apple-system"/>
                <a:ea typeface="-apple-system"/>
                <a:cs typeface="-apple-system"/>
              </a:rPr>
              <a:t> </a:t>
            </a:r>
            <a:r>
              <a:rPr lang="en-US" sz="1600" err="1">
                <a:latin typeface="-apple-system"/>
                <a:ea typeface="-apple-system"/>
                <a:cs typeface="-apple-system"/>
              </a:rPr>
              <a:t>acessível</a:t>
            </a:r>
            <a:r>
              <a:rPr lang="en-US" sz="1600">
                <a:latin typeface="-apple-system"/>
                <a:ea typeface="-apple-system"/>
                <a:cs typeface="-apple-system"/>
              </a:rPr>
              <a:t>, </a:t>
            </a:r>
            <a:r>
              <a:rPr lang="en-US" sz="1600" err="1">
                <a:latin typeface="-apple-system"/>
                <a:ea typeface="-apple-system"/>
                <a:cs typeface="-apple-system"/>
              </a:rPr>
              <a:t>permitindo</a:t>
            </a:r>
            <a:r>
              <a:rPr lang="en-US" sz="1600">
                <a:latin typeface="-apple-system"/>
                <a:ea typeface="-apple-system"/>
                <a:cs typeface="-apple-system"/>
              </a:rPr>
              <a:t> </a:t>
            </a:r>
            <a:r>
              <a:rPr lang="en-US" sz="1600" err="1">
                <a:latin typeface="-apple-system"/>
                <a:ea typeface="-apple-system"/>
                <a:cs typeface="-apple-system"/>
              </a:rPr>
              <a:t>que</a:t>
            </a:r>
            <a:r>
              <a:rPr lang="en-US" sz="1600">
                <a:latin typeface="-apple-system"/>
                <a:ea typeface="-apple-system"/>
                <a:cs typeface="-apple-system"/>
              </a:rPr>
              <a:t> </a:t>
            </a:r>
            <a:r>
              <a:rPr lang="en-US" sz="1600" err="1">
                <a:latin typeface="-apple-system"/>
                <a:ea typeface="-apple-system"/>
                <a:cs typeface="-apple-system"/>
              </a:rPr>
              <a:t>empresas</a:t>
            </a:r>
            <a:r>
              <a:rPr lang="en-US" sz="1600">
                <a:latin typeface="-apple-system"/>
                <a:ea typeface="-apple-system"/>
                <a:cs typeface="-apple-system"/>
              </a:rPr>
              <a:t> de </a:t>
            </a:r>
            <a:r>
              <a:rPr lang="en-US" sz="1600" err="1">
                <a:latin typeface="-apple-system"/>
                <a:ea typeface="-apple-system"/>
                <a:cs typeface="-apple-system"/>
              </a:rPr>
              <a:t>todos</a:t>
            </a:r>
            <a:r>
              <a:rPr lang="en-US" sz="1600">
                <a:latin typeface="-apple-system"/>
                <a:ea typeface="-apple-system"/>
                <a:cs typeface="-apple-system"/>
              </a:rPr>
              <a:t> </a:t>
            </a:r>
            <a:r>
              <a:rPr lang="en-US" sz="1600" err="1">
                <a:latin typeface="-apple-system"/>
                <a:ea typeface="-apple-system"/>
                <a:cs typeface="-apple-system"/>
              </a:rPr>
              <a:t>os</a:t>
            </a:r>
            <a:r>
              <a:rPr lang="en-US" sz="1600">
                <a:latin typeface="-apple-system"/>
                <a:ea typeface="-apple-system"/>
                <a:cs typeface="-apple-system"/>
              </a:rPr>
              <a:t> </a:t>
            </a:r>
            <a:r>
              <a:rPr lang="en-US" sz="1600" err="1">
                <a:latin typeface="-apple-system"/>
                <a:ea typeface="-apple-system"/>
                <a:cs typeface="-apple-system"/>
              </a:rPr>
              <a:t>portes</a:t>
            </a:r>
            <a:r>
              <a:rPr lang="en-US" sz="1600">
                <a:latin typeface="-apple-system"/>
                <a:ea typeface="-apple-system"/>
                <a:cs typeface="-apple-system"/>
              </a:rPr>
              <a:t> </a:t>
            </a:r>
            <a:r>
              <a:rPr lang="en-US" sz="1600" err="1">
                <a:latin typeface="-apple-system"/>
                <a:ea typeface="-apple-system"/>
                <a:cs typeface="-apple-system"/>
              </a:rPr>
              <a:t>usufruam</a:t>
            </a:r>
            <a:r>
              <a:rPr lang="en-US" sz="1600">
                <a:latin typeface="-apple-system"/>
                <a:ea typeface="-apple-system"/>
                <a:cs typeface="-apple-system"/>
              </a:rPr>
              <a:t> de ferramentas </a:t>
            </a:r>
            <a:r>
              <a:rPr lang="en-US" sz="1600" err="1">
                <a:latin typeface="-apple-system"/>
                <a:ea typeface="-apple-system"/>
                <a:cs typeface="-apple-system"/>
              </a:rPr>
              <a:t>sofisticadas</a:t>
            </a:r>
            <a:r>
              <a:rPr lang="en-US" sz="1600">
                <a:latin typeface="-apple-system"/>
                <a:ea typeface="-apple-system"/>
                <a:cs typeface="-apple-system"/>
              </a:rPr>
              <a:t> </a:t>
            </a:r>
            <a:r>
              <a:rPr lang="en-US" sz="1600" err="1">
                <a:latin typeface="-apple-system"/>
                <a:ea typeface="-apple-system"/>
                <a:cs typeface="-apple-system"/>
              </a:rPr>
              <a:t>sem</a:t>
            </a:r>
            <a:r>
              <a:rPr lang="en-US" sz="1600">
                <a:latin typeface="-apple-system"/>
                <a:ea typeface="-apple-system"/>
                <a:cs typeface="-apple-system"/>
              </a:rPr>
              <a:t> a </a:t>
            </a:r>
            <a:r>
              <a:rPr lang="en-US" sz="1600" err="1">
                <a:latin typeface="-apple-system"/>
                <a:ea typeface="-apple-system"/>
                <a:cs typeface="-apple-system"/>
              </a:rPr>
              <a:t>necessidade</a:t>
            </a:r>
            <a:r>
              <a:rPr lang="en-US" sz="1600">
                <a:latin typeface="-apple-system"/>
                <a:ea typeface="-apple-system"/>
                <a:cs typeface="-apple-system"/>
              </a:rPr>
              <a:t> de </a:t>
            </a:r>
            <a:r>
              <a:rPr lang="en-US" sz="1600" err="1">
                <a:latin typeface="-apple-system"/>
                <a:ea typeface="-apple-system"/>
                <a:cs typeface="-apple-system"/>
              </a:rPr>
              <a:t>grandes</a:t>
            </a:r>
            <a:r>
              <a:rPr lang="en-US" sz="1600">
                <a:latin typeface="-apple-system"/>
                <a:ea typeface="-apple-system"/>
                <a:cs typeface="-apple-system"/>
              </a:rPr>
              <a:t> </a:t>
            </a:r>
            <a:r>
              <a:rPr lang="en-US" sz="1600" err="1">
                <a:latin typeface="-apple-system"/>
                <a:ea typeface="-apple-system"/>
                <a:cs typeface="-apple-system"/>
              </a:rPr>
              <a:t>investimentos</a:t>
            </a:r>
            <a:r>
              <a:rPr lang="en-US" sz="1600">
                <a:latin typeface="-apple-system"/>
                <a:ea typeface="-apple-system"/>
                <a:cs typeface="-apple-system"/>
              </a:rPr>
              <a:t> </a:t>
            </a:r>
            <a:r>
              <a:rPr lang="en-US" sz="1600" err="1">
                <a:latin typeface="-apple-system"/>
                <a:ea typeface="-apple-system"/>
                <a:cs typeface="-apple-system"/>
              </a:rPr>
              <a:t>em</a:t>
            </a:r>
            <a:r>
              <a:rPr lang="en-US" sz="1600">
                <a:latin typeface="-apple-system"/>
                <a:ea typeface="-apple-system"/>
                <a:cs typeface="-apple-system"/>
              </a:rPr>
              <a:t> </a:t>
            </a:r>
            <a:r>
              <a:rPr lang="en-US" sz="1600" err="1">
                <a:latin typeface="-apple-system"/>
                <a:ea typeface="-apple-system"/>
                <a:cs typeface="-apple-system"/>
              </a:rPr>
              <a:t>infraestrutura</a:t>
            </a:r>
            <a:r>
              <a:rPr lang="en-US" sz="1600">
                <a:latin typeface="-apple-system"/>
                <a:ea typeface="-apple-system"/>
                <a:cs typeface="-apple-system"/>
              </a:rPr>
              <a:t>. O </a:t>
            </a:r>
            <a:r>
              <a:rPr lang="en-US" sz="1600" err="1">
                <a:latin typeface="-apple-system"/>
                <a:ea typeface="-apple-system"/>
                <a:cs typeface="-apple-system"/>
              </a:rPr>
              <a:t>GeoMonitora</a:t>
            </a:r>
            <a:r>
              <a:rPr lang="en-US" sz="1600">
                <a:latin typeface="-apple-system"/>
                <a:ea typeface="-apple-system"/>
                <a:cs typeface="-apple-system"/>
              </a:rPr>
              <a:t>, </a:t>
            </a:r>
            <a:r>
              <a:rPr lang="en-US" sz="1600" err="1">
                <a:latin typeface="-apple-system"/>
                <a:ea typeface="-apple-system"/>
                <a:cs typeface="-apple-system"/>
              </a:rPr>
              <a:t>solução</a:t>
            </a:r>
            <a:r>
              <a:rPr lang="en-US" sz="1600">
                <a:latin typeface="-apple-system"/>
                <a:ea typeface="-apple-system"/>
                <a:cs typeface="-apple-system"/>
              </a:rPr>
              <a:t> </a:t>
            </a:r>
            <a:r>
              <a:rPr lang="en-US" sz="1600" err="1">
                <a:latin typeface="-apple-system"/>
                <a:ea typeface="-apple-system"/>
                <a:cs typeface="-apple-system"/>
              </a:rPr>
              <a:t>desenvolvida</a:t>
            </a:r>
            <a:r>
              <a:rPr lang="en-US" sz="1600">
                <a:latin typeface="-apple-system"/>
                <a:ea typeface="-apple-system"/>
                <a:cs typeface="-apple-system"/>
              </a:rPr>
              <a:t> pela </a:t>
            </a:r>
            <a:r>
              <a:rPr lang="en-US" sz="1600" err="1">
                <a:latin typeface="-apple-system"/>
                <a:ea typeface="-apple-system"/>
                <a:cs typeface="-apple-system"/>
              </a:rPr>
              <a:t>Monitora</a:t>
            </a:r>
            <a:r>
              <a:rPr lang="en-US" sz="1600">
                <a:latin typeface="-apple-system"/>
                <a:ea typeface="-apple-system"/>
                <a:cs typeface="-apple-system"/>
              </a:rPr>
              <a:t>, é um </a:t>
            </a:r>
            <a:r>
              <a:rPr lang="en-US" sz="1600" err="1">
                <a:latin typeface="-apple-system"/>
                <a:ea typeface="-apple-system"/>
                <a:cs typeface="-apple-system"/>
              </a:rPr>
              <a:t>exemplo</a:t>
            </a:r>
            <a:r>
              <a:rPr lang="en-US" sz="1600">
                <a:latin typeface="-apple-system"/>
                <a:ea typeface="-apple-system"/>
                <a:cs typeface="-apple-system"/>
              </a:rPr>
              <a:t> </a:t>
            </a:r>
            <a:r>
              <a:rPr lang="en-US" sz="1600" err="1">
                <a:latin typeface="-apple-system"/>
                <a:ea typeface="-apple-system"/>
                <a:cs typeface="-apple-system"/>
              </a:rPr>
              <a:t>disso</a:t>
            </a:r>
            <a:r>
              <a:rPr lang="en-US" sz="1600">
                <a:latin typeface="-apple-system"/>
                <a:ea typeface="-apple-system"/>
                <a:cs typeface="-apple-system"/>
              </a:rPr>
              <a:t>: </a:t>
            </a:r>
            <a:r>
              <a:rPr lang="en-US" sz="1600" err="1">
                <a:latin typeface="-apple-system"/>
                <a:ea typeface="-apple-system"/>
                <a:cs typeface="-apple-system"/>
              </a:rPr>
              <a:t>uma</a:t>
            </a:r>
            <a:r>
              <a:rPr lang="en-US" sz="1600">
                <a:latin typeface="-apple-system"/>
                <a:ea typeface="-apple-system"/>
                <a:cs typeface="-apple-system"/>
              </a:rPr>
              <a:t> </a:t>
            </a:r>
            <a:r>
              <a:rPr lang="en-US" sz="1600" err="1">
                <a:latin typeface="-apple-system"/>
                <a:ea typeface="-apple-system"/>
                <a:cs typeface="-apple-system"/>
              </a:rPr>
              <a:t>aplicação</a:t>
            </a:r>
            <a:r>
              <a:rPr lang="en-US" sz="1600">
                <a:latin typeface="-apple-system"/>
                <a:ea typeface="-apple-system"/>
                <a:cs typeface="-apple-system"/>
              </a:rPr>
              <a:t> GIS </a:t>
            </a:r>
            <a:r>
              <a:rPr lang="en-US" sz="1600" err="1">
                <a:latin typeface="-apple-system"/>
                <a:ea typeface="-apple-system"/>
                <a:cs typeface="-apple-system"/>
              </a:rPr>
              <a:t>totalmente</a:t>
            </a:r>
            <a:r>
              <a:rPr lang="en-US" sz="1600">
                <a:latin typeface="-apple-system"/>
                <a:ea typeface="-apple-system"/>
                <a:cs typeface="-apple-system"/>
              </a:rPr>
              <a:t> via web, </a:t>
            </a:r>
            <a:r>
              <a:rPr lang="en-US" sz="1600" err="1">
                <a:latin typeface="-apple-system"/>
                <a:ea typeface="-apple-system"/>
                <a:cs typeface="-apple-system"/>
              </a:rPr>
              <a:t>que</a:t>
            </a:r>
            <a:r>
              <a:rPr lang="en-US" sz="1600">
                <a:latin typeface="-apple-system"/>
                <a:ea typeface="-apple-system"/>
                <a:cs typeface="-apple-system"/>
              </a:rPr>
              <a:t> </a:t>
            </a:r>
            <a:r>
              <a:rPr lang="en-US" sz="1600" err="1">
                <a:latin typeface="-apple-system"/>
                <a:ea typeface="-apple-system"/>
                <a:cs typeface="-apple-system"/>
              </a:rPr>
              <a:t>democratiza</a:t>
            </a:r>
            <a:r>
              <a:rPr lang="en-US" sz="1600">
                <a:latin typeface="-apple-system"/>
                <a:ea typeface="-apple-system"/>
                <a:cs typeface="-apple-system"/>
              </a:rPr>
              <a:t> o </a:t>
            </a:r>
            <a:r>
              <a:rPr lang="en-US" sz="1600" err="1">
                <a:latin typeface="-apple-system"/>
                <a:ea typeface="-apple-system"/>
                <a:cs typeface="-apple-system"/>
              </a:rPr>
              <a:t>acesso</a:t>
            </a:r>
            <a:r>
              <a:rPr lang="en-US" sz="1600">
                <a:latin typeface="-apple-system"/>
                <a:ea typeface="-apple-system"/>
                <a:cs typeface="-apple-system"/>
              </a:rPr>
              <a:t> </a:t>
            </a:r>
            <a:r>
              <a:rPr lang="en-US" sz="1600" err="1">
                <a:latin typeface="-apple-system"/>
                <a:ea typeface="-apple-system"/>
                <a:cs typeface="-apple-system"/>
              </a:rPr>
              <a:t>a</a:t>
            </a:r>
            <a:r>
              <a:rPr lang="en-US" sz="1600">
                <a:latin typeface="-apple-system"/>
                <a:ea typeface="-apple-system"/>
                <a:cs typeface="-apple-system"/>
              </a:rPr>
              <a:t> </a:t>
            </a:r>
            <a:r>
              <a:rPr lang="en-US" sz="1600" err="1">
                <a:latin typeface="-apple-system"/>
                <a:ea typeface="-apple-system"/>
                <a:cs typeface="-apple-system"/>
              </a:rPr>
              <a:t>informações</a:t>
            </a:r>
            <a:r>
              <a:rPr lang="en-US" sz="1600">
                <a:latin typeface="-apple-system"/>
                <a:ea typeface="-apple-system"/>
                <a:cs typeface="-apple-system"/>
              </a:rPr>
              <a:t> </a:t>
            </a:r>
            <a:r>
              <a:rPr lang="en-US" sz="1600" err="1">
                <a:latin typeface="-apple-system"/>
                <a:ea typeface="-apple-system"/>
                <a:cs typeface="-apple-system"/>
              </a:rPr>
              <a:t>críticas</a:t>
            </a:r>
            <a:r>
              <a:rPr lang="en-US" sz="1600">
                <a:latin typeface="-apple-system"/>
                <a:ea typeface="-apple-system"/>
                <a:cs typeface="-apple-system"/>
              </a:rPr>
              <a:t>, </a:t>
            </a:r>
            <a:r>
              <a:rPr lang="en-US" sz="1600" err="1">
                <a:latin typeface="-apple-system"/>
                <a:ea typeface="-apple-system"/>
                <a:cs typeface="-apple-system"/>
              </a:rPr>
              <a:t>garantindo</a:t>
            </a:r>
            <a:r>
              <a:rPr lang="en-US" sz="1600">
                <a:latin typeface="-apple-system"/>
                <a:ea typeface="-apple-system"/>
                <a:cs typeface="-apple-system"/>
              </a:rPr>
              <a:t> </a:t>
            </a:r>
            <a:r>
              <a:rPr lang="en-US" sz="1600" err="1">
                <a:latin typeface="-apple-system"/>
                <a:ea typeface="-apple-system"/>
                <a:cs typeface="-apple-system"/>
              </a:rPr>
              <a:t>flexibilidade</a:t>
            </a:r>
            <a:r>
              <a:rPr lang="en-US" sz="1600">
                <a:latin typeface="-apple-system"/>
                <a:ea typeface="-apple-system"/>
                <a:cs typeface="-apple-system"/>
              </a:rPr>
              <a:t>, </a:t>
            </a:r>
            <a:r>
              <a:rPr lang="en-US" sz="1600" err="1">
                <a:latin typeface="-apple-system"/>
                <a:ea typeface="-apple-system"/>
                <a:cs typeface="-apple-system"/>
              </a:rPr>
              <a:t>segurança</a:t>
            </a:r>
            <a:r>
              <a:rPr lang="en-US" sz="1600">
                <a:latin typeface="-apple-system"/>
                <a:ea typeface="-apple-system"/>
                <a:cs typeface="-apple-system"/>
              </a:rPr>
              <a:t> e </a:t>
            </a:r>
            <a:r>
              <a:rPr lang="en-US" sz="1600" err="1">
                <a:latin typeface="-apple-system"/>
                <a:ea typeface="-apple-system"/>
                <a:cs typeface="-apple-system"/>
              </a:rPr>
              <a:t>inovação</a:t>
            </a:r>
            <a:r>
              <a:rPr lang="en-US" sz="1600">
                <a:latin typeface="-apple-system"/>
                <a:ea typeface="-apple-system"/>
                <a:cs typeface="-apple-system"/>
              </a:rPr>
              <a:t>.</a:t>
            </a:r>
            <a:br>
              <a:rPr lang="en-US" sz="1600">
                <a:latin typeface="-apple-system"/>
                <a:ea typeface="-apple-system"/>
                <a:cs typeface="-apple-system"/>
              </a:rPr>
            </a:br>
            <a:br>
              <a:rPr lang="en-US" sz="1600">
                <a:latin typeface="-apple-system"/>
                <a:ea typeface="-apple-system"/>
                <a:cs typeface="-apple-system"/>
              </a:rPr>
            </a:br>
            <a:r>
              <a:rPr lang="en-US" sz="1600" err="1">
                <a:latin typeface="-apple-system"/>
                <a:ea typeface="-apple-system"/>
                <a:cs typeface="-apple-system"/>
              </a:rPr>
              <a:t>Quer</a:t>
            </a:r>
            <a:r>
              <a:rPr lang="en-US" sz="1600">
                <a:latin typeface="-apple-system"/>
                <a:ea typeface="-apple-system"/>
                <a:cs typeface="-apple-system"/>
              </a:rPr>
              <a:t> saber </a:t>
            </a:r>
            <a:r>
              <a:rPr lang="en-US" sz="1600" err="1">
                <a:latin typeface="-apple-system"/>
                <a:ea typeface="-apple-system"/>
                <a:cs typeface="-apple-system"/>
              </a:rPr>
              <a:t>mais</a:t>
            </a:r>
            <a:r>
              <a:rPr lang="en-US" sz="1600">
                <a:latin typeface="-apple-system"/>
                <a:ea typeface="-apple-system"/>
                <a:cs typeface="-apple-system"/>
              </a:rPr>
              <a:t> </a:t>
            </a:r>
            <a:r>
              <a:rPr lang="en-US" sz="1600" err="1">
                <a:latin typeface="-apple-system"/>
                <a:ea typeface="-apple-system"/>
                <a:cs typeface="-apple-system"/>
              </a:rPr>
              <a:t>sobre</a:t>
            </a:r>
            <a:r>
              <a:rPr lang="en-US" sz="1600">
                <a:latin typeface="-apple-system"/>
                <a:ea typeface="-apple-system"/>
                <a:cs typeface="-apple-system"/>
              </a:rPr>
              <a:t> </a:t>
            </a:r>
            <a:r>
              <a:rPr lang="en-US" sz="1600" err="1">
                <a:latin typeface="-apple-system"/>
                <a:ea typeface="-apple-system"/>
                <a:cs typeface="-apple-system"/>
              </a:rPr>
              <a:t>como</a:t>
            </a:r>
            <a:r>
              <a:rPr lang="en-US" sz="1600">
                <a:latin typeface="-apple-system"/>
                <a:ea typeface="-apple-system"/>
                <a:cs typeface="-apple-system"/>
              </a:rPr>
              <a:t> o GIS </a:t>
            </a:r>
            <a:r>
              <a:rPr lang="en-US" sz="1600" err="1">
                <a:latin typeface="-apple-system"/>
                <a:ea typeface="-apple-system"/>
                <a:cs typeface="-apple-system"/>
              </a:rPr>
              <a:t>está</a:t>
            </a:r>
            <a:r>
              <a:rPr lang="en-US" sz="1600">
                <a:latin typeface="-apple-system"/>
                <a:ea typeface="-apple-system"/>
                <a:cs typeface="-apple-system"/>
              </a:rPr>
              <a:t> </a:t>
            </a:r>
            <a:r>
              <a:rPr lang="en-US" sz="1600" err="1">
                <a:latin typeface="-apple-system"/>
                <a:ea typeface="-apple-system"/>
                <a:cs typeface="-apple-system"/>
              </a:rPr>
              <a:t>transformando</a:t>
            </a:r>
            <a:r>
              <a:rPr lang="en-US" sz="1600">
                <a:latin typeface="-apple-system"/>
                <a:ea typeface="-apple-system"/>
                <a:cs typeface="-apple-system"/>
              </a:rPr>
              <a:t> o </a:t>
            </a:r>
            <a:r>
              <a:rPr lang="en-US" sz="1600" err="1">
                <a:latin typeface="-apple-system"/>
                <a:ea typeface="-apple-system"/>
                <a:cs typeface="-apple-system"/>
              </a:rPr>
              <a:t>saneamento</a:t>
            </a:r>
            <a:r>
              <a:rPr lang="en-US" sz="1600">
                <a:latin typeface="-apple-system"/>
                <a:ea typeface="-apple-system"/>
                <a:cs typeface="-apple-system"/>
              </a:rPr>
              <a:t>? E </a:t>
            </a:r>
            <a:r>
              <a:rPr lang="en-US" sz="1600" err="1">
                <a:latin typeface="-apple-system"/>
                <a:ea typeface="-apple-system"/>
                <a:cs typeface="-apple-system"/>
              </a:rPr>
              <a:t>como</a:t>
            </a:r>
            <a:r>
              <a:rPr lang="en-US" sz="1600">
                <a:latin typeface="-apple-system"/>
                <a:ea typeface="-apple-system"/>
                <a:cs typeface="-apple-system"/>
              </a:rPr>
              <a:t> o </a:t>
            </a:r>
            <a:r>
              <a:rPr lang="en-US" sz="1600" err="1">
                <a:latin typeface="-apple-system"/>
                <a:ea typeface="-apple-system"/>
                <a:cs typeface="-apple-system"/>
              </a:rPr>
              <a:t>GeoMonitora</a:t>
            </a:r>
            <a:r>
              <a:rPr lang="en-US" sz="1600">
                <a:latin typeface="-apple-system"/>
                <a:ea typeface="-apple-system"/>
                <a:cs typeface="-apple-system"/>
              </a:rPr>
              <a:t> </a:t>
            </a:r>
            <a:r>
              <a:rPr lang="en-US" sz="1600" err="1">
                <a:latin typeface="-apple-system"/>
                <a:ea typeface="-apple-system"/>
                <a:cs typeface="-apple-system"/>
              </a:rPr>
              <a:t>pode</a:t>
            </a:r>
            <a:r>
              <a:rPr lang="en-US" sz="1600">
                <a:latin typeface="-apple-system"/>
                <a:ea typeface="-apple-system"/>
                <a:cs typeface="-apple-system"/>
              </a:rPr>
              <a:t> se </a:t>
            </a:r>
            <a:r>
              <a:rPr lang="en-US" sz="1600" err="1">
                <a:latin typeface="-apple-system"/>
                <a:ea typeface="-apple-system"/>
                <a:cs typeface="-apple-system"/>
              </a:rPr>
              <a:t>adaptar</a:t>
            </a:r>
            <a:r>
              <a:rPr lang="en-US" sz="1600">
                <a:latin typeface="-apple-system"/>
                <a:ea typeface="-apple-system"/>
                <a:cs typeface="-apple-system"/>
              </a:rPr>
              <a:t> as </a:t>
            </a:r>
            <a:r>
              <a:rPr lang="en-US" sz="1600" err="1">
                <a:latin typeface="-apple-system"/>
                <a:ea typeface="-apple-system"/>
                <a:cs typeface="-apple-system"/>
              </a:rPr>
              <a:t>suas</a:t>
            </a:r>
            <a:r>
              <a:rPr lang="en-US" sz="1600">
                <a:latin typeface="-apple-system"/>
                <a:ea typeface="-apple-system"/>
                <a:cs typeface="-apple-system"/>
              </a:rPr>
              <a:t> </a:t>
            </a:r>
            <a:r>
              <a:rPr lang="en-US" sz="1600" err="1">
                <a:latin typeface="-apple-system"/>
                <a:ea typeface="-apple-system"/>
                <a:cs typeface="-apple-system"/>
              </a:rPr>
              <a:t>necessidades</a:t>
            </a:r>
            <a:r>
              <a:rPr lang="en-US" sz="1600">
                <a:latin typeface="-apple-system"/>
                <a:ea typeface="-apple-system"/>
                <a:cs typeface="-apple-system"/>
              </a:rPr>
              <a:t>? Leia o </a:t>
            </a:r>
            <a:r>
              <a:rPr lang="en-US" sz="1600" err="1">
                <a:latin typeface="-apple-system"/>
                <a:ea typeface="-apple-system"/>
                <a:cs typeface="-apple-system"/>
              </a:rPr>
              <a:t>artigo</a:t>
            </a:r>
            <a:r>
              <a:rPr lang="en-US" sz="1600">
                <a:latin typeface="-apple-system"/>
                <a:ea typeface="-apple-system"/>
                <a:cs typeface="-apple-system"/>
              </a:rPr>
              <a:t> </a:t>
            </a:r>
            <a:r>
              <a:rPr lang="en-US" sz="1600" err="1">
                <a:latin typeface="-apple-system"/>
                <a:ea typeface="-apple-system"/>
                <a:cs typeface="-apple-system"/>
              </a:rPr>
              <a:t>completo</a:t>
            </a:r>
            <a:r>
              <a:rPr lang="en-US" sz="1600">
                <a:latin typeface="-apple-system"/>
                <a:ea typeface="-apple-system"/>
                <a:cs typeface="-apple-system"/>
              </a:rPr>
              <a:t> e </a:t>
            </a:r>
            <a:r>
              <a:rPr lang="en-US" sz="1600" err="1">
                <a:latin typeface="-apple-system"/>
                <a:ea typeface="-apple-system"/>
                <a:cs typeface="-apple-system"/>
              </a:rPr>
              <a:t>descubra</a:t>
            </a:r>
            <a:r>
              <a:rPr lang="en-US" sz="1600">
                <a:latin typeface="-apple-system"/>
                <a:ea typeface="-apple-system"/>
                <a:cs typeface="-apple-system"/>
              </a:rPr>
              <a:t> </a:t>
            </a:r>
            <a:r>
              <a:rPr lang="en-US" sz="1600" err="1">
                <a:latin typeface="-apple-system"/>
                <a:ea typeface="-apple-system"/>
                <a:cs typeface="-apple-system"/>
              </a:rPr>
              <a:t>como</a:t>
            </a:r>
            <a:r>
              <a:rPr lang="en-US" sz="1600">
                <a:latin typeface="-apple-system"/>
                <a:ea typeface="-apple-system"/>
                <a:cs typeface="-apple-system"/>
              </a:rPr>
              <a:t> </a:t>
            </a:r>
            <a:r>
              <a:rPr lang="en-US" sz="1600" err="1">
                <a:latin typeface="-apple-system"/>
                <a:ea typeface="-apple-system"/>
                <a:cs typeface="-apple-system"/>
              </a:rPr>
              <a:t>sua</a:t>
            </a:r>
            <a:r>
              <a:rPr lang="en-US" sz="1600">
                <a:latin typeface="-apple-system"/>
                <a:ea typeface="-apple-system"/>
                <a:cs typeface="-apple-system"/>
              </a:rPr>
              <a:t> </a:t>
            </a:r>
            <a:r>
              <a:rPr lang="en-US" sz="1600" err="1">
                <a:latin typeface="-apple-system"/>
                <a:ea typeface="-apple-system"/>
                <a:cs typeface="-apple-system"/>
              </a:rPr>
              <a:t>empresa</a:t>
            </a:r>
            <a:r>
              <a:rPr lang="en-US" sz="1600">
                <a:latin typeface="-apple-system"/>
                <a:ea typeface="-apple-system"/>
                <a:cs typeface="-apple-system"/>
              </a:rPr>
              <a:t> </a:t>
            </a:r>
            <a:r>
              <a:rPr lang="en-US" sz="1600" err="1">
                <a:latin typeface="-apple-system"/>
                <a:ea typeface="-apple-system"/>
                <a:cs typeface="-apple-system"/>
              </a:rPr>
              <a:t>pode</a:t>
            </a:r>
            <a:r>
              <a:rPr lang="en-US" sz="1600">
                <a:latin typeface="-apple-system"/>
                <a:ea typeface="-apple-system"/>
                <a:cs typeface="-apple-system"/>
              </a:rPr>
              <a:t> se </a:t>
            </a:r>
            <a:r>
              <a:rPr lang="en-US" sz="1600" err="1">
                <a:latin typeface="-apple-system"/>
                <a:ea typeface="-apple-system"/>
                <a:cs typeface="-apple-system"/>
              </a:rPr>
              <a:t>beneficiar</a:t>
            </a:r>
            <a:r>
              <a:rPr lang="en-US" sz="1600">
                <a:latin typeface="-apple-system"/>
                <a:ea typeface="-apple-system"/>
                <a:cs typeface="-apple-system"/>
              </a:rPr>
              <a:t> dessa </a:t>
            </a:r>
            <a:r>
              <a:rPr lang="en-US" sz="1600" err="1">
                <a:latin typeface="-apple-system"/>
                <a:ea typeface="-apple-system"/>
                <a:cs typeface="-apple-system"/>
              </a:rPr>
              <a:t>tecnologia</a:t>
            </a:r>
            <a:r>
              <a:rPr lang="en-US" sz="1600">
                <a:latin typeface="-apple-system"/>
                <a:ea typeface="-apple-system"/>
                <a:cs typeface="-apple-system"/>
              </a:rPr>
              <a:t>!</a:t>
            </a:r>
            <a:br>
              <a:rPr lang="en-US" sz="1600">
                <a:latin typeface="-apple-system"/>
                <a:ea typeface="-apple-system"/>
                <a:cs typeface="-apple-system"/>
              </a:rPr>
            </a:br>
            <a:br>
              <a:rPr lang="en-US" sz="1600">
                <a:latin typeface="-apple-system"/>
                <a:ea typeface="-apple-system"/>
                <a:cs typeface="-apple-system"/>
              </a:rPr>
            </a:br>
            <a:r>
              <a:rPr lang="en-US" sz="1600">
                <a:latin typeface="-apple-system"/>
                <a:ea typeface="-apple-system"/>
                <a:cs typeface="-apple-system"/>
              </a:rPr>
              <a:t>Somos </a:t>
            </a:r>
            <a:r>
              <a:rPr lang="en-US" sz="1600" err="1">
                <a:latin typeface="-apple-system"/>
                <a:ea typeface="-apple-system"/>
                <a:cs typeface="-apple-system"/>
              </a:rPr>
              <a:t>Especialistas</a:t>
            </a:r>
            <a:r>
              <a:rPr lang="en-US" sz="1600">
                <a:latin typeface="-apple-system"/>
                <a:ea typeface="-apple-system"/>
                <a:cs typeface="-apple-system"/>
              </a:rPr>
              <a:t> </a:t>
            </a:r>
            <a:r>
              <a:rPr lang="en-US" sz="1600" err="1">
                <a:latin typeface="-apple-system"/>
                <a:ea typeface="-apple-system"/>
                <a:cs typeface="-apple-system"/>
              </a:rPr>
              <a:t>em</a:t>
            </a:r>
            <a:r>
              <a:rPr lang="en-US" sz="1600">
                <a:latin typeface="-apple-system"/>
                <a:ea typeface="-apple-system"/>
                <a:cs typeface="-apple-system"/>
              </a:rPr>
              <a:t> </a:t>
            </a:r>
            <a:r>
              <a:rPr lang="en-US" sz="1600" err="1">
                <a:latin typeface="-apple-system"/>
                <a:ea typeface="-apple-system"/>
                <a:cs typeface="-apple-system"/>
              </a:rPr>
              <a:t>Gestão</a:t>
            </a:r>
            <a:r>
              <a:rPr lang="en-US" sz="1600">
                <a:latin typeface="-apple-system"/>
                <a:ea typeface="-apple-system"/>
                <a:cs typeface="-apple-system"/>
              </a:rPr>
              <a:t> da </a:t>
            </a:r>
            <a:r>
              <a:rPr lang="en-US" sz="1600" err="1">
                <a:latin typeface="-apple-system"/>
                <a:ea typeface="-apple-system"/>
                <a:cs typeface="-apple-system"/>
              </a:rPr>
              <a:t>Água</a:t>
            </a:r>
            <a:r>
              <a:rPr lang="en-US" sz="1600">
                <a:latin typeface="-apple-system"/>
                <a:ea typeface="-apple-system"/>
                <a:cs typeface="-apple-system"/>
              </a:rPr>
              <a:t> | Maior </a:t>
            </a:r>
            <a:r>
              <a:rPr lang="en-US" sz="1600" err="1">
                <a:latin typeface="-apple-system"/>
                <a:ea typeface="-apple-system"/>
                <a:cs typeface="-apple-system"/>
              </a:rPr>
              <a:t>bem</a:t>
            </a:r>
            <a:r>
              <a:rPr lang="en-US" sz="1600">
                <a:latin typeface="-apple-system"/>
                <a:ea typeface="-apple-system"/>
                <a:cs typeface="-apple-system"/>
              </a:rPr>
              <a:t> do Mundo </a:t>
            </a:r>
            <a:br>
              <a:rPr lang="en-US" sz="1600">
                <a:latin typeface="-apple-system"/>
                <a:ea typeface="-apple-system"/>
                <a:cs typeface="-apple-system"/>
              </a:rPr>
            </a:br>
            <a:br>
              <a:rPr lang="en-US" sz="1600">
                <a:latin typeface="-apple-system"/>
                <a:ea typeface="-apple-system"/>
                <a:cs typeface="-apple-system"/>
              </a:rPr>
            </a:br>
            <a:r>
              <a:rPr lang="en-US" sz="1600" b="1">
                <a:solidFill>
                  <a:srgbClr val="0A66C2"/>
                </a:solidFill>
                <a:latin typeface="-apple-system"/>
                <a:ea typeface="-apple-system"/>
                <a:cs typeface="-apple-system"/>
                <a:hlinkClick r:id="rId2"/>
              </a:rPr>
              <a:t>https://lnkd.in/d9c8VAVe</a:t>
            </a:r>
            <a:endParaRPr lang="en-US" sz="1600">
              <a:ea typeface="Calibri"/>
              <a:cs typeface="Calibri"/>
            </a:endParaRPr>
          </a:p>
          <a:p>
            <a:pPr algn="ctr"/>
            <a:endParaRPr lang="pt-BR" sz="1600">
              <a:ea typeface="Calibri"/>
              <a:cs typeface="Calibri"/>
            </a:endParaRPr>
          </a:p>
        </p:txBody>
      </p:sp>
      <p:pic>
        <p:nvPicPr>
          <p:cNvPr id="5" name="Imagem 4" descr="Uma imagem contendo Interface gráfica do usuário&#10;&#10;O conteúdo gerado por IA pode estar incorreto.">
            <a:extLst>
              <a:ext uri="{FF2B5EF4-FFF2-40B4-BE49-F238E27FC236}">
                <a16:creationId xmlns:a16="http://schemas.microsoft.com/office/drawing/2014/main" id="{B8F1A1AA-705D-55C7-48EB-A5A9810E909F}"/>
              </a:ext>
            </a:extLst>
          </p:cNvPr>
          <p:cNvPicPr>
            <a:picLocks noChangeAspect="1"/>
          </p:cNvPicPr>
          <p:nvPr/>
        </p:nvPicPr>
        <p:blipFill>
          <a:blip r:embed="rId3"/>
          <a:stretch>
            <a:fillRect/>
          </a:stretch>
        </p:blipFill>
        <p:spPr>
          <a:xfrm>
            <a:off x="774954" y="431321"/>
            <a:ext cx="3841603" cy="3867510"/>
          </a:xfrm>
          <a:prstGeom prst="rect">
            <a:avLst/>
          </a:prstGeom>
        </p:spPr>
      </p:pic>
      <p:sp>
        <p:nvSpPr>
          <p:cNvPr id="6" name="CaixaDeTexto 5">
            <a:extLst>
              <a:ext uri="{FF2B5EF4-FFF2-40B4-BE49-F238E27FC236}">
                <a16:creationId xmlns:a16="http://schemas.microsoft.com/office/drawing/2014/main" id="{91864F22-3580-0D71-E4B4-A9CE5369DFD4}"/>
              </a:ext>
            </a:extLst>
          </p:cNvPr>
          <p:cNvSpPr txBox="1"/>
          <p:nvPr/>
        </p:nvSpPr>
        <p:spPr>
          <a:xfrm>
            <a:off x="762000" y="4708585"/>
            <a:ext cx="4557623" cy="233910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https://www.linkedin.com/posts/monitora-tecnologia-e-informacao_aguavalemaisquediamante-paranaejsaguavalemaisquediamante-activity-7232105047952621568-EL5Z?utm_source=share&amp;utm_medium=member_desktop&amp;rcm=ACoAAAMQtAUB5UouXqdBJgo_gWpNVZ7Imay_2Tg</a:t>
            </a:r>
          </a:p>
          <a:p>
            <a:pPr algn="ctr"/>
            <a:endParaRPr lang="pt-BR"/>
          </a:p>
        </p:txBody>
      </p:sp>
    </p:spTree>
    <p:extLst>
      <p:ext uri="{BB962C8B-B14F-4D97-AF65-F5344CB8AC3E}">
        <p14:creationId xmlns:p14="http://schemas.microsoft.com/office/powerpoint/2010/main" val="59172578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4A2C02F6-A36C-C512-A6A1-51425A4B2A91}"/>
              </a:ext>
            </a:extLst>
          </p:cNvPr>
          <p:cNvSpPr txBox="1"/>
          <p:nvPr/>
        </p:nvSpPr>
        <p:spPr>
          <a:xfrm>
            <a:off x="5607170" y="395377"/>
            <a:ext cx="6096000" cy="64633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latin typeface="-apple-system"/>
                <a:ea typeface="-apple-system"/>
                <a:cs typeface="-apple-system"/>
              </a:rPr>
              <a:t>Gerenciamento</a:t>
            </a:r>
            <a:r>
              <a:rPr lang="en-US">
                <a:latin typeface="-apple-system"/>
                <a:ea typeface="-apple-system"/>
                <a:cs typeface="-apple-system"/>
              </a:rPr>
              <a:t> do </a:t>
            </a:r>
            <a:r>
              <a:rPr lang="en-US" err="1">
                <a:latin typeface="-apple-system"/>
                <a:ea typeface="-apple-system"/>
                <a:cs typeface="-apple-system"/>
              </a:rPr>
              <a:t>Ambiente</a:t>
            </a:r>
            <a:r>
              <a:rPr lang="en-US">
                <a:latin typeface="-apple-system"/>
                <a:ea typeface="-apple-system"/>
                <a:cs typeface="-apple-system"/>
              </a:rPr>
              <a:t> </a:t>
            </a:r>
            <a:r>
              <a:rPr lang="en-US" err="1">
                <a:latin typeface="-apple-system"/>
                <a:ea typeface="-apple-system"/>
                <a:cs typeface="-apple-system"/>
              </a:rPr>
              <a:t>Arcgis</a:t>
            </a:r>
            <a:r>
              <a:rPr lang="en-US">
                <a:latin typeface="-apple-system"/>
                <a:ea typeface="-apple-system"/>
                <a:cs typeface="-apple-system"/>
              </a:rPr>
              <a:t> </a:t>
            </a:r>
            <a:r>
              <a:rPr lang="en-US" err="1">
                <a:latin typeface="-apple-system"/>
                <a:ea typeface="-apple-system"/>
                <a:cs typeface="-apple-system"/>
              </a:rPr>
              <a:t>Enteprise</a:t>
            </a:r>
            <a:r>
              <a:rPr lang="en-US">
                <a:latin typeface="-apple-system"/>
                <a:ea typeface="-apple-system"/>
                <a:cs typeface="-apple-system"/>
              </a:rPr>
              <a:t> - </a:t>
            </a:r>
            <a:r>
              <a:rPr lang="en-US" err="1">
                <a:latin typeface="-apple-system"/>
                <a:ea typeface="-apple-system"/>
                <a:cs typeface="-apple-system"/>
              </a:rPr>
              <a:t>Análise</a:t>
            </a:r>
            <a:r>
              <a:rPr lang="en-US">
                <a:latin typeface="-apple-system"/>
                <a:ea typeface="-apple-system"/>
                <a:cs typeface="-apple-system"/>
              </a:rPr>
              <a:t> de Logs</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Como </a:t>
            </a:r>
            <a:r>
              <a:rPr lang="en-US" err="1">
                <a:latin typeface="-apple-system"/>
                <a:ea typeface="-apple-system"/>
                <a:cs typeface="-apple-system"/>
              </a:rPr>
              <a:t>está</a:t>
            </a:r>
            <a:r>
              <a:rPr lang="en-US">
                <a:latin typeface="-apple-system"/>
                <a:ea typeface="-apple-system"/>
                <a:cs typeface="-apple-system"/>
              </a:rPr>
              <a:t> o </a:t>
            </a:r>
            <a:r>
              <a:rPr lang="en-US" err="1">
                <a:latin typeface="-apple-system"/>
                <a:ea typeface="-apple-system"/>
                <a:cs typeface="-apple-system"/>
              </a:rPr>
              <a:t>desempenho</a:t>
            </a:r>
            <a:r>
              <a:rPr lang="en-US">
                <a:latin typeface="-apple-system"/>
                <a:ea typeface="-apple-system"/>
                <a:cs typeface="-apple-system"/>
              </a:rPr>
              <a:t> do </a:t>
            </a:r>
            <a:r>
              <a:rPr lang="en-US" err="1">
                <a:latin typeface="-apple-system"/>
                <a:ea typeface="-apple-system"/>
                <a:cs typeface="-apple-system"/>
              </a:rPr>
              <a:t>seu</a:t>
            </a:r>
            <a:r>
              <a:rPr lang="en-US">
                <a:latin typeface="-apple-system"/>
                <a:ea typeface="-apple-system"/>
                <a:cs typeface="-apple-system"/>
              </a:rPr>
              <a:t> </a:t>
            </a:r>
            <a:r>
              <a:rPr lang="en-US" err="1">
                <a:latin typeface="-apple-system"/>
                <a:ea typeface="-apple-system"/>
                <a:cs typeface="-apple-system"/>
              </a:rPr>
              <a:t>ambiente</a:t>
            </a:r>
            <a:r>
              <a:rPr lang="en-US">
                <a:latin typeface="-apple-system"/>
                <a:ea typeface="-apple-system"/>
                <a:cs typeface="-apple-system"/>
              </a:rPr>
              <a:t> de </a:t>
            </a:r>
            <a:r>
              <a:rPr lang="en-US" err="1">
                <a:latin typeface="-apple-system"/>
                <a:ea typeface="-apple-system"/>
                <a:cs typeface="-apple-system"/>
              </a:rPr>
              <a:t>mapas</a:t>
            </a:r>
            <a:r>
              <a:rPr lang="en-US">
                <a:latin typeface="-apple-system"/>
                <a:ea typeface="-apple-system"/>
                <a:cs typeface="-apple-system"/>
              </a:rPr>
              <a:t> web? </a:t>
            </a:r>
            <a:r>
              <a:rPr lang="en-US" err="1">
                <a:latin typeface="-apple-system"/>
                <a:ea typeface="-apple-system"/>
                <a:cs typeface="-apple-system"/>
              </a:rPr>
              <a:t>Há</a:t>
            </a:r>
            <a:r>
              <a:rPr lang="en-US">
                <a:latin typeface="-apple-system"/>
                <a:ea typeface="-apple-system"/>
                <a:cs typeface="-apple-system"/>
              </a:rPr>
              <a:t> tempos </a:t>
            </a:r>
            <a:r>
              <a:rPr lang="en-US" err="1">
                <a:latin typeface="-apple-system"/>
                <a:ea typeface="-apple-system"/>
                <a:cs typeface="-apple-system"/>
              </a:rPr>
              <a:t>tentando</a:t>
            </a:r>
            <a:r>
              <a:rPr lang="en-US">
                <a:latin typeface="-apple-system"/>
                <a:ea typeface="-apple-system"/>
                <a:cs typeface="-apple-system"/>
              </a:rPr>
              <a:t> </a:t>
            </a:r>
            <a:r>
              <a:rPr lang="en-US" err="1">
                <a:latin typeface="-apple-system"/>
                <a:ea typeface="-apple-system"/>
                <a:cs typeface="-apple-system"/>
              </a:rPr>
              <a:t>entender</a:t>
            </a:r>
            <a:r>
              <a:rPr lang="en-US">
                <a:latin typeface="-apple-system"/>
                <a:ea typeface="-apple-system"/>
                <a:cs typeface="-apple-system"/>
              </a:rPr>
              <a:t> </a:t>
            </a:r>
            <a:r>
              <a:rPr lang="en-US" err="1">
                <a:latin typeface="-apple-system"/>
                <a:ea typeface="-apple-system"/>
                <a:cs typeface="-apple-system"/>
              </a:rPr>
              <a:t>como</a:t>
            </a:r>
            <a:r>
              <a:rPr lang="en-US">
                <a:latin typeface="-apple-system"/>
                <a:ea typeface="-apple-system"/>
                <a:cs typeface="-apple-system"/>
              </a:rPr>
              <a:t> </a:t>
            </a:r>
            <a:r>
              <a:rPr lang="en-US" err="1">
                <a:latin typeface="-apple-system"/>
                <a:ea typeface="-apple-system"/>
                <a:cs typeface="-apple-system"/>
              </a:rPr>
              <a:t>identificar</a:t>
            </a:r>
            <a:r>
              <a:rPr lang="en-US">
                <a:latin typeface="-apple-system"/>
                <a:ea typeface="-apple-system"/>
                <a:cs typeface="-apple-system"/>
              </a:rPr>
              <a:t> </a:t>
            </a:r>
            <a:r>
              <a:rPr lang="en-US" err="1">
                <a:latin typeface="-apple-system"/>
                <a:ea typeface="-apple-system"/>
                <a:cs typeface="-apple-system"/>
              </a:rPr>
              <a:t>os</a:t>
            </a:r>
            <a:r>
              <a:rPr lang="en-US">
                <a:latin typeface="-apple-system"/>
                <a:ea typeface="-apple-system"/>
                <a:cs typeface="-apple-system"/>
              </a:rPr>
              <a:t> </a:t>
            </a:r>
            <a:r>
              <a:rPr lang="en-US" err="1">
                <a:latin typeface="-apple-system"/>
                <a:ea typeface="-apple-system"/>
                <a:cs typeface="-apple-system"/>
              </a:rPr>
              <a:t>gargalos</a:t>
            </a:r>
            <a:r>
              <a:rPr lang="en-US">
                <a:latin typeface="-apple-system"/>
                <a:ea typeface="-apple-system"/>
                <a:cs typeface="-apple-system"/>
              </a:rPr>
              <a:t> do </a:t>
            </a:r>
            <a:r>
              <a:rPr lang="en-US" err="1">
                <a:latin typeface="-apple-system"/>
                <a:ea typeface="-apple-system"/>
                <a:cs typeface="-apple-system"/>
              </a:rPr>
              <a:t>ambiente</a:t>
            </a:r>
            <a:r>
              <a:rPr lang="en-US">
                <a:latin typeface="-apple-system"/>
                <a:ea typeface="-apple-system"/>
                <a:cs typeface="-apple-system"/>
              </a:rPr>
              <a:t> </a:t>
            </a:r>
            <a:r>
              <a:rPr lang="en-US" err="1">
                <a:latin typeface="-apple-system"/>
                <a:ea typeface="-apple-system"/>
                <a:cs typeface="-apple-system"/>
              </a:rPr>
              <a:t>Arcgis</a:t>
            </a:r>
            <a:r>
              <a:rPr lang="en-US">
                <a:latin typeface="-apple-system"/>
                <a:ea typeface="-apple-system"/>
                <a:cs typeface="-apple-system"/>
              </a:rPr>
              <a:t> </a:t>
            </a:r>
            <a:r>
              <a:rPr lang="en-US" err="1">
                <a:latin typeface="-apple-system"/>
                <a:ea typeface="-apple-system"/>
                <a:cs typeface="-apple-system"/>
              </a:rPr>
              <a:t>Enteprise</a:t>
            </a:r>
            <a:r>
              <a:rPr lang="en-US">
                <a:latin typeface="-apple-system"/>
                <a:ea typeface="-apple-system"/>
                <a:cs typeface="-apple-system"/>
              </a:rPr>
              <a:t> </a:t>
            </a:r>
            <a:r>
              <a:rPr lang="en-US" err="1">
                <a:latin typeface="-apple-system"/>
                <a:ea typeface="-apple-system"/>
                <a:cs typeface="-apple-system"/>
              </a:rPr>
              <a:t>cheguei</a:t>
            </a:r>
            <a:r>
              <a:rPr lang="en-US">
                <a:latin typeface="-apple-system"/>
                <a:ea typeface="-apple-system"/>
                <a:cs typeface="-apple-system"/>
              </a:rPr>
              <a:t> </a:t>
            </a:r>
            <a:r>
              <a:rPr lang="en-US" err="1">
                <a:latin typeface="-apple-system"/>
                <a:ea typeface="-apple-system"/>
                <a:cs typeface="-apple-system"/>
              </a:rPr>
              <a:t>em</a:t>
            </a:r>
            <a:r>
              <a:rPr lang="en-US">
                <a:latin typeface="-apple-system"/>
                <a:ea typeface="-apple-system"/>
                <a:cs typeface="-apple-system"/>
              </a:rPr>
              <a:t> </a:t>
            </a:r>
            <a:r>
              <a:rPr lang="en-US" err="1">
                <a:latin typeface="-apple-system"/>
                <a:ea typeface="-apple-system"/>
                <a:cs typeface="-apple-system"/>
              </a:rPr>
              <a:t>algumas</a:t>
            </a:r>
            <a:r>
              <a:rPr lang="en-US">
                <a:latin typeface="-apple-system"/>
                <a:ea typeface="-apple-system"/>
                <a:cs typeface="-apple-system"/>
              </a:rPr>
              <a:t> </a:t>
            </a:r>
            <a:r>
              <a:rPr lang="en-US" err="1">
                <a:latin typeface="-apple-system"/>
                <a:ea typeface="-apple-system"/>
                <a:cs typeface="-apple-system"/>
              </a:rPr>
              <a:t>documentações</a:t>
            </a:r>
            <a:r>
              <a:rPr lang="en-US">
                <a:latin typeface="-apple-system"/>
                <a:ea typeface="-apple-system"/>
                <a:cs typeface="-apple-system"/>
              </a:rPr>
              <a:t> </a:t>
            </a:r>
            <a:r>
              <a:rPr lang="en-US" err="1">
                <a:latin typeface="-apple-system"/>
                <a:ea typeface="-apple-system"/>
                <a:cs typeface="-apple-system"/>
              </a:rPr>
              <a:t>que</a:t>
            </a:r>
            <a:r>
              <a:rPr lang="en-US">
                <a:latin typeface="-apple-system"/>
                <a:ea typeface="-apple-system"/>
                <a:cs typeface="-apple-system"/>
              </a:rPr>
              <a:t> </a:t>
            </a:r>
            <a:r>
              <a:rPr lang="en-US" err="1">
                <a:latin typeface="-apple-system"/>
                <a:ea typeface="-apple-system"/>
                <a:cs typeface="-apple-system"/>
              </a:rPr>
              <a:t>possibilitaram</a:t>
            </a:r>
            <a:r>
              <a:rPr lang="en-US">
                <a:latin typeface="-apple-system"/>
                <a:ea typeface="-apple-system"/>
                <a:cs typeface="-apple-system"/>
              </a:rPr>
              <a:t> </a:t>
            </a:r>
            <a:r>
              <a:rPr lang="en-US" err="1">
                <a:latin typeface="-apple-system"/>
                <a:ea typeface="-apple-system"/>
                <a:cs typeface="-apple-system"/>
              </a:rPr>
              <a:t>avaliar</a:t>
            </a:r>
            <a:r>
              <a:rPr lang="en-US">
                <a:latin typeface="-apple-system"/>
                <a:ea typeface="-apple-system"/>
                <a:cs typeface="-apple-system"/>
              </a:rPr>
              <a:t> </a:t>
            </a:r>
            <a:r>
              <a:rPr lang="en-US" err="1">
                <a:latin typeface="-apple-system"/>
                <a:ea typeface="-apple-system"/>
                <a:cs typeface="-apple-system"/>
              </a:rPr>
              <a:t>os</a:t>
            </a:r>
            <a:r>
              <a:rPr lang="en-US">
                <a:latin typeface="-apple-system"/>
                <a:ea typeface="-apple-system"/>
                <a:cs typeface="-apple-system"/>
              </a:rPr>
              <a:t> logs </a:t>
            </a:r>
            <a:r>
              <a:rPr lang="en-US" err="1">
                <a:latin typeface="-apple-system"/>
                <a:ea typeface="-apple-system"/>
                <a:cs typeface="-apple-system"/>
              </a:rPr>
              <a:t>em</a:t>
            </a:r>
            <a:r>
              <a:rPr lang="en-US">
                <a:latin typeface="-apple-system"/>
                <a:ea typeface="-apple-system"/>
                <a:cs typeface="-apple-system"/>
              </a:rPr>
              <a:t> </a:t>
            </a:r>
            <a:r>
              <a:rPr lang="en-US" err="1">
                <a:latin typeface="-apple-system"/>
                <a:ea typeface="-apple-system"/>
                <a:cs typeface="-apple-system"/>
              </a:rPr>
              <a:t>detalhes</a:t>
            </a:r>
            <a:r>
              <a:rPr lang="en-US">
                <a:latin typeface="-apple-system"/>
                <a:ea typeface="-apple-system"/>
                <a:cs typeface="-apple-system"/>
              </a:rPr>
              <a:t> para </a:t>
            </a:r>
            <a:r>
              <a:rPr lang="en-US" err="1">
                <a:latin typeface="-apple-system"/>
                <a:ea typeface="-apple-system"/>
                <a:cs typeface="-apple-system"/>
              </a:rPr>
              <a:t>identificar</a:t>
            </a:r>
            <a:r>
              <a:rPr lang="en-US">
                <a:latin typeface="-apple-system"/>
                <a:ea typeface="-apple-system"/>
                <a:cs typeface="-apple-system"/>
              </a:rPr>
              <a:t> e </a:t>
            </a:r>
            <a:r>
              <a:rPr lang="en-US" err="1">
                <a:latin typeface="-apple-system"/>
                <a:ea typeface="-apple-system"/>
                <a:cs typeface="-apple-system"/>
              </a:rPr>
              <a:t>corrigir</a:t>
            </a:r>
            <a:r>
              <a:rPr lang="en-US">
                <a:latin typeface="-apple-system"/>
                <a:ea typeface="-apple-system"/>
                <a:cs typeface="-apple-system"/>
              </a:rPr>
              <a:t> </a:t>
            </a:r>
            <a:r>
              <a:rPr lang="en-US" err="1">
                <a:latin typeface="-apple-system"/>
                <a:ea typeface="-apple-system"/>
                <a:cs typeface="-apple-system"/>
              </a:rPr>
              <a:t>os</a:t>
            </a:r>
            <a:r>
              <a:rPr lang="en-US">
                <a:latin typeface="-apple-system"/>
                <a:ea typeface="-apple-system"/>
                <a:cs typeface="-apple-system"/>
              </a:rPr>
              <a:t> </a:t>
            </a:r>
            <a:r>
              <a:rPr lang="en-US" err="1">
                <a:latin typeface="-apple-system"/>
                <a:ea typeface="-apple-system"/>
                <a:cs typeface="-apple-system"/>
              </a:rPr>
              <a:t>problemas</a:t>
            </a:r>
            <a:r>
              <a:rPr lang="en-US">
                <a:latin typeface="-apple-system"/>
                <a:ea typeface="-apple-system"/>
                <a:cs typeface="-apple-system"/>
              </a:rPr>
              <a:t>.</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 Ao </a:t>
            </a:r>
            <a:r>
              <a:rPr lang="en-US" err="1">
                <a:latin typeface="-apple-system"/>
                <a:ea typeface="-apple-system"/>
                <a:cs typeface="-apple-system"/>
              </a:rPr>
              <a:t>examinar</a:t>
            </a:r>
            <a:r>
              <a:rPr lang="en-US">
                <a:latin typeface="-apple-system"/>
                <a:ea typeface="-apple-system"/>
                <a:cs typeface="-apple-system"/>
              </a:rPr>
              <a:t> logs </a:t>
            </a:r>
            <a:r>
              <a:rPr lang="en-US" err="1">
                <a:latin typeface="-apple-system"/>
                <a:ea typeface="-apple-system"/>
                <a:cs typeface="-apple-system"/>
              </a:rPr>
              <a:t>detalhados</a:t>
            </a:r>
            <a:r>
              <a:rPr lang="en-US">
                <a:latin typeface="-apple-system"/>
                <a:ea typeface="-apple-system"/>
                <a:cs typeface="-apple-system"/>
              </a:rPr>
              <a:t>, </a:t>
            </a:r>
            <a:r>
              <a:rPr lang="en-US" err="1">
                <a:latin typeface="-apple-system"/>
                <a:ea typeface="-apple-system"/>
                <a:cs typeface="-apple-system"/>
              </a:rPr>
              <a:t>você</a:t>
            </a:r>
            <a:r>
              <a:rPr lang="en-US">
                <a:latin typeface="-apple-system"/>
                <a:ea typeface="-apple-system"/>
                <a:cs typeface="-apple-system"/>
              </a:rPr>
              <a:t> </a:t>
            </a:r>
            <a:r>
              <a:rPr lang="en-US" err="1">
                <a:latin typeface="-apple-system"/>
                <a:ea typeface="-apple-system"/>
                <a:cs typeface="-apple-system"/>
              </a:rPr>
              <a:t>frequentemente</a:t>
            </a:r>
            <a:r>
              <a:rPr lang="en-US">
                <a:latin typeface="-apple-system"/>
                <a:ea typeface="-apple-system"/>
                <a:cs typeface="-apple-system"/>
              </a:rPr>
              <a:t> </a:t>
            </a:r>
            <a:r>
              <a:rPr lang="en-US" err="1">
                <a:latin typeface="-apple-system"/>
                <a:ea typeface="-apple-system"/>
                <a:cs typeface="-apple-system"/>
              </a:rPr>
              <a:t>verá</a:t>
            </a:r>
            <a:r>
              <a:rPr lang="en-US">
                <a:latin typeface="-apple-system"/>
                <a:ea typeface="-apple-system"/>
                <a:cs typeface="-apple-system"/>
              </a:rPr>
              <a:t> as </a:t>
            </a:r>
            <a:r>
              <a:rPr lang="en-US" err="1">
                <a:latin typeface="-apple-system"/>
                <a:ea typeface="-apple-system"/>
                <a:cs typeface="-apple-system"/>
              </a:rPr>
              <a:t>mensagens</a:t>
            </a:r>
            <a:r>
              <a:rPr lang="en-US">
                <a:latin typeface="-apple-system"/>
                <a:ea typeface="-apple-system"/>
                <a:cs typeface="-apple-system"/>
              </a:rPr>
              <a:t> Beginning of layer draw e End of layer draw . O tempo entre o </a:t>
            </a:r>
            <a:r>
              <a:rPr lang="en-US" err="1">
                <a:latin typeface="-apple-system"/>
                <a:ea typeface="-apple-system"/>
                <a:cs typeface="-apple-system"/>
              </a:rPr>
              <a:t>início</a:t>
            </a:r>
            <a:r>
              <a:rPr lang="en-US">
                <a:latin typeface="-apple-system"/>
                <a:ea typeface="-apple-system"/>
                <a:cs typeface="-apple-system"/>
              </a:rPr>
              <a:t> e o </a:t>
            </a:r>
            <a:r>
              <a:rPr lang="en-US" err="1">
                <a:latin typeface="-apple-system"/>
                <a:ea typeface="-apple-system"/>
                <a:cs typeface="-apple-system"/>
              </a:rPr>
              <a:t>fim</a:t>
            </a:r>
            <a:r>
              <a:rPr lang="en-US">
                <a:latin typeface="-apple-system"/>
                <a:ea typeface="-apple-system"/>
                <a:cs typeface="-apple-system"/>
              </a:rPr>
              <a:t> do layer draw é o tempo </a:t>
            </a:r>
            <a:r>
              <a:rPr lang="en-US" err="1">
                <a:latin typeface="-apple-system"/>
                <a:ea typeface="-apple-system"/>
                <a:cs typeface="-apple-system"/>
              </a:rPr>
              <a:t>que</a:t>
            </a:r>
            <a:r>
              <a:rPr lang="en-US">
                <a:latin typeface="-apple-system"/>
                <a:ea typeface="-apple-system"/>
                <a:cs typeface="-apple-system"/>
              </a:rPr>
              <a:t> a </a:t>
            </a:r>
            <a:r>
              <a:rPr lang="en-US" err="1">
                <a:latin typeface="-apple-system"/>
                <a:ea typeface="-apple-system"/>
                <a:cs typeface="-apple-system"/>
              </a:rPr>
              <a:t>solicitação</a:t>
            </a:r>
            <a:r>
              <a:rPr lang="en-US">
                <a:latin typeface="-apple-system"/>
                <a:ea typeface="-apple-system"/>
                <a:cs typeface="-apple-system"/>
              </a:rPr>
              <a:t> </a:t>
            </a:r>
            <a:r>
              <a:rPr lang="en-US" err="1">
                <a:latin typeface="-apple-system"/>
                <a:ea typeface="-apple-system"/>
                <a:cs typeface="-apple-system"/>
              </a:rPr>
              <a:t>gasta</a:t>
            </a:r>
            <a:r>
              <a:rPr lang="en-US">
                <a:latin typeface="-apple-system"/>
                <a:ea typeface="-apple-system"/>
                <a:cs typeface="-apple-system"/>
              </a:rPr>
              <a:t> </a:t>
            </a:r>
            <a:r>
              <a:rPr lang="en-US" err="1">
                <a:latin typeface="-apple-system"/>
                <a:ea typeface="-apple-system"/>
                <a:cs typeface="-apple-system"/>
              </a:rPr>
              <a:t>na</a:t>
            </a:r>
            <a:r>
              <a:rPr lang="en-US">
                <a:latin typeface="-apple-system"/>
                <a:ea typeface="-apple-system"/>
                <a:cs typeface="-apple-system"/>
              </a:rPr>
              <a:t> </a:t>
            </a:r>
            <a:r>
              <a:rPr lang="en-US" err="1">
                <a:latin typeface="-apple-system"/>
                <a:ea typeface="-apple-system"/>
                <a:cs typeface="-apple-system"/>
              </a:rPr>
              <a:t>camada</a:t>
            </a:r>
            <a:r>
              <a:rPr lang="en-US">
                <a:latin typeface="-apple-system"/>
                <a:ea typeface="-apple-system"/>
                <a:cs typeface="-apple-system"/>
              </a:rPr>
              <a:t> do </a:t>
            </a:r>
            <a:r>
              <a:rPr lang="en-US" err="1">
                <a:latin typeface="-apple-system"/>
                <a:ea typeface="-apple-system"/>
                <a:cs typeface="-apple-system"/>
              </a:rPr>
              <a:t>servidor</a:t>
            </a:r>
            <a:r>
              <a:rPr lang="en-US">
                <a:latin typeface="-apple-system"/>
                <a:ea typeface="-apple-system"/>
                <a:cs typeface="-apple-system"/>
              </a:rPr>
              <a:t> GIS. Se </a:t>
            </a:r>
            <a:r>
              <a:rPr lang="en-US" err="1">
                <a:latin typeface="-apple-system"/>
                <a:ea typeface="-apple-system"/>
                <a:cs typeface="-apple-system"/>
              </a:rPr>
              <a:t>você</a:t>
            </a:r>
            <a:r>
              <a:rPr lang="en-US">
                <a:latin typeface="-apple-system"/>
                <a:ea typeface="-apple-system"/>
                <a:cs typeface="-apple-system"/>
              </a:rPr>
              <a:t> </a:t>
            </a:r>
            <a:r>
              <a:rPr lang="en-US" err="1">
                <a:latin typeface="-apple-system"/>
                <a:ea typeface="-apple-system"/>
                <a:cs typeface="-apple-system"/>
              </a:rPr>
              <a:t>determinar</a:t>
            </a:r>
            <a:r>
              <a:rPr lang="en-US">
                <a:latin typeface="-apple-system"/>
                <a:ea typeface="-apple-system"/>
                <a:cs typeface="-apple-system"/>
              </a:rPr>
              <a:t> </a:t>
            </a:r>
            <a:r>
              <a:rPr lang="en-US" err="1">
                <a:latin typeface="-apple-system"/>
                <a:ea typeface="-apple-system"/>
                <a:cs typeface="-apple-system"/>
              </a:rPr>
              <a:t>que</a:t>
            </a:r>
            <a:r>
              <a:rPr lang="en-US">
                <a:latin typeface="-apple-system"/>
                <a:ea typeface="-apple-system"/>
                <a:cs typeface="-apple-system"/>
              </a:rPr>
              <a:t> </a:t>
            </a:r>
            <a:r>
              <a:rPr lang="en-US" err="1">
                <a:latin typeface="-apple-system"/>
                <a:ea typeface="-apple-system"/>
                <a:cs typeface="-apple-system"/>
              </a:rPr>
              <a:t>o</a:t>
            </a:r>
            <a:r>
              <a:rPr lang="en-US">
                <a:latin typeface="-apple-system"/>
                <a:ea typeface="-apple-system"/>
                <a:cs typeface="-apple-system"/>
              </a:rPr>
              <a:t> </a:t>
            </a:r>
            <a:r>
              <a:rPr lang="en-US" err="1">
                <a:latin typeface="-apple-system"/>
                <a:ea typeface="-apple-system"/>
                <a:cs typeface="-apple-system"/>
              </a:rPr>
              <a:t>desempenho</a:t>
            </a:r>
            <a:r>
              <a:rPr lang="en-US">
                <a:latin typeface="-apple-system"/>
                <a:ea typeface="-apple-system"/>
                <a:cs typeface="-apple-system"/>
              </a:rPr>
              <a:t> é </a:t>
            </a:r>
            <a:r>
              <a:rPr lang="en-US" err="1">
                <a:latin typeface="-apple-system"/>
                <a:ea typeface="-apple-system"/>
                <a:cs typeface="-apple-system"/>
              </a:rPr>
              <a:t>aceitável</a:t>
            </a:r>
            <a:r>
              <a:rPr lang="en-US">
                <a:latin typeface="-apple-system"/>
                <a:ea typeface="-apple-system"/>
                <a:cs typeface="-apple-system"/>
              </a:rPr>
              <a:t> </a:t>
            </a:r>
            <a:r>
              <a:rPr lang="en-US" err="1">
                <a:latin typeface="-apple-system"/>
                <a:ea typeface="-apple-system"/>
                <a:cs typeface="-apple-system"/>
              </a:rPr>
              <a:t>na</a:t>
            </a:r>
            <a:r>
              <a:rPr lang="en-US">
                <a:latin typeface="-apple-system"/>
                <a:ea typeface="-apple-system"/>
                <a:cs typeface="-apple-system"/>
              </a:rPr>
              <a:t> </a:t>
            </a:r>
            <a:r>
              <a:rPr lang="en-US" err="1">
                <a:latin typeface="-apple-system"/>
                <a:ea typeface="-apple-system"/>
                <a:cs typeface="-apple-system"/>
              </a:rPr>
              <a:t>camada</a:t>
            </a:r>
            <a:r>
              <a:rPr lang="en-US">
                <a:latin typeface="-apple-system"/>
                <a:ea typeface="-apple-system"/>
                <a:cs typeface="-apple-system"/>
              </a:rPr>
              <a:t> do </a:t>
            </a:r>
            <a:r>
              <a:rPr lang="en-US" err="1">
                <a:latin typeface="-apple-system"/>
                <a:ea typeface="-apple-system"/>
                <a:cs typeface="-apple-system"/>
              </a:rPr>
              <a:t>servidor</a:t>
            </a:r>
            <a:r>
              <a:rPr lang="en-US">
                <a:latin typeface="-apple-system"/>
                <a:ea typeface="-apple-system"/>
                <a:cs typeface="-apple-system"/>
              </a:rPr>
              <a:t> GIS, mas </a:t>
            </a:r>
            <a:r>
              <a:rPr lang="en-US" err="1">
                <a:latin typeface="-apple-system"/>
                <a:ea typeface="-apple-system"/>
                <a:cs typeface="-apple-system"/>
              </a:rPr>
              <a:t>seu</a:t>
            </a:r>
            <a:r>
              <a:rPr lang="en-US">
                <a:latin typeface="-apple-system"/>
                <a:ea typeface="-apple-system"/>
                <a:cs typeface="-apple-system"/>
              </a:rPr>
              <a:t> </a:t>
            </a:r>
            <a:r>
              <a:rPr lang="en-US" err="1">
                <a:latin typeface="-apple-system"/>
                <a:ea typeface="-apple-system"/>
                <a:cs typeface="-apple-system"/>
              </a:rPr>
              <a:t>aplicativo</a:t>
            </a:r>
            <a:r>
              <a:rPr lang="en-US">
                <a:latin typeface="-apple-system"/>
                <a:ea typeface="-apple-system"/>
                <a:cs typeface="-apple-system"/>
              </a:rPr>
              <a:t> </a:t>
            </a:r>
            <a:r>
              <a:rPr lang="en-US" err="1">
                <a:latin typeface="-apple-system"/>
                <a:ea typeface="-apple-system"/>
                <a:cs typeface="-apple-system"/>
              </a:rPr>
              <a:t>ainda</a:t>
            </a:r>
            <a:r>
              <a:rPr lang="en-US">
                <a:latin typeface="-apple-system"/>
                <a:ea typeface="-apple-system"/>
                <a:cs typeface="-apple-system"/>
              </a:rPr>
              <a:t> </a:t>
            </a:r>
            <a:r>
              <a:rPr lang="en-US" err="1">
                <a:latin typeface="-apple-system"/>
                <a:ea typeface="-apple-system"/>
                <a:cs typeface="-apple-system"/>
              </a:rPr>
              <a:t>estiver</a:t>
            </a:r>
            <a:r>
              <a:rPr lang="en-US">
                <a:latin typeface="-apple-system"/>
                <a:ea typeface="-apple-system"/>
                <a:cs typeface="-apple-system"/>
              </a:rPr>
              <a:t> lento, é </a:t>
            </a:r>
            <a:r>
              <a:rPr lang="en-US" err="1">
                <a:latin typeface="-apple-system"/>
                <a:ea typeface="-apple-system"/>
                <a:cs typeface="-apple-system"/>
              </a:rPr>
              <a:t>possível</a:t>
            </a:r>
            <a:r>
              <a:rPr lang="en-US">
                <a:latin typeface="-apple-system"/>
                <a:ea typeface="-apple-system"/>
                <a:cs typeface="-apple-system"/>
              </a:rPr>
              <a:t> </a:t>
            </a:r>
            <a:r>
              <a:rPr lang="en-US" err="1">
                <a:latin typeface="-apple-system"/>
                <a:ea typeface="-apple-system"/>
                <a:cs typeface="-apple-system"/>
              </a:rPr>
              <a:t>que</a:t>
            </a:r>
            <a:r>
              <a:rPr lang="en-US">
                <a:latin typeface="-apple-system"/>
                <a:ea typeface="-apple-system"/>
                <a:cs typeface="-apple-system"/>
              </a:rPr>
              <a:t> </a:t>
            </a:r>
            <a:r>
              <a:rPr lang="en-US" err="1">
                <a:latin typeface="-apple-system"/>
                <a:ea typeface="-apple-system"/>
                <a:cs typeface="-apple-system"/>
              </a:rPr>
              <a:t>seu</a:t>
            </a:r>
            <a:r>
              <a:rPr lang="en-US">
                <a:latin typeface="-apple-system"/>
                <a:ea typeface="-apple-system"/>
                <a:cs typeface="-apple-system"/>
              </a:rPr>
              <a:t> </a:t>
            </a:r>
            <a:r>
              <a:rPr lang="en-US" err="1">
                <a:latin typeface="-apple-system"/>
                <a:ea typeface="-apple-system"/>
                <a:cs typeface="-apple-system"/>
              </a:rPr>
              <a:t>servidor</a:t>
            </a:r>
            <a:r>
              <a:rPr lang="en-US">
                <a:latin typeface="-apple-system"/>
                <a:ea typeface="-apple-system"/>
                <a:cs typeface="-apple-system"/>
              </a:rPr>
              <a:t> web </a:t>
            </a:r>
            <a:r>
              <a:rPr lang="en-US" err="1">
                <a:latin typeface="-apple-system"/>
                <a:ea typeface="-apple-system"/>
                <a:cs typeface="-apple-system"/>
              </a:rPr>
              <a:t>seja</a:t>
            </a:r>
            <a:r>
              <a:rPr lang="en-US">
                <a:latin typeface="-apple-system"/>
                <a:ea typeface="-apple-system"/>
                <a:cs typeface="-apple-system"/>
              </a:rPr>
              <a:t> a causa </a:t>
            </a:r>
            <a:r>
              <a:rPr lang="en-US" err="1">
                <a:latin typeface="-apple-system"/>
                <a:ea typeface="-apple-system"/>
                <a:cs typeface="-apple-system"/>
              </a:rPr>
              <a:t>ou</a:t>
            </a:r>
            <a:r>
              <a:rPr lang="en-US">
                <a:latin typeface="-apple-system"/>
                <a:ea typeface="-apple-system"/>
                <a:cs typeface="-apple-system"/>
              </a:rPr>
              <a:t> </a:t>
            </a:r>
            <a:r>
              <a:rPr lang="en-US" err="1">
                <a:latin typeface="-apple-system"/>
                <a:ea typeface="-apple-system"/>
                <a:cs typeface="-apple-system"/>
              </a:rPr>
              <a:t>que</a:t>
            </a:r>
            <a:r>
              <a:rPr lang="en-US">
                <a:latin typeface="-apple-system"/>
                <a:ea typeface="-apple-system"/>
                <a:cs typeface="-apple-system"/>
              </a:rPr>
              <a:t> </a:t>
            </a:r>
            <a:r>
              <a:rPr lang="en-US" err="1">
                <a:latin typeface="-apple-system"/>
                <a:ea typeface="-apple-system"/>
                <a:cs typeface="-apple-system"/>
              </a:rPr>
              <a:t>seu</a:t>
            </a:r>
            <a:r>
              <a:rPr lang="en-US">
                <a:latin typeface="-apple-system"/>
                <a:ea typeface="-apple-system"/>
                <a:cs typeface="-apple-system"/>
              </a:rPr>
              <a:t> </a:t>
            </a:r>
            <a:r>
              <a:rPr lang="en-US" err="1">
                <a:latin typeface="-apple-system"/>
                <a:ea typeface="-apple-system"/>
                <a:cs typeface="-apple-system"/>
              </a:rPr>
              <a:t>aplicativo</a:t>
            </a:r>
            <a:r>
              <a:rPr lang="en-US">
                <a:latin typeface="-apple-system"/>
                <a:ea typeface="-apple-system"/>
                <a:cs typeface="-apple-system"/>
              </a:rPr>
              <a:t> </a:t>
            </a:r>
            <a:r>
              <a:rPr lang="en-US" err="1">
                <a:latin typeface="-apple-system"/>
                <a:ea typeface="-apple-system"/>
                <a:cs typeface="-apple-system"/>
              </a:rPr>
              <a:t>esteja</a:t>
            </a:r>
            <a:r>
              <a:rPr lang="en-US">
                <a:latin typeface="-apple-system"/>
                <a:ea typeface="-apple-system"/>
                <a:cs typeface="-apple-system"/>
              </a:rPr>
              <a:t> </a:t>
            </a:r>
            <a:r>
              <a:rPr lang="en-US" err="1">
                <a:latin typeface="-apple-system"/>
                <a:ea typeface="-apple-system"/>
                <a:cs typeface="-apple-system"/>
              </a:rPr>
              <a:t>aguardando</a:t>
            </a:r>
            <a:r>
              <a:rPr lang="en-US">
                <a:latin typeface="-apple-system"/>
                <a:ea typeface="-apple-system"/>
                <a:cs typeface="-apple-system"/>
              </a:rPr>
              <a:t> </a:t>
            </a:r>
            <a:r>
              <a:rPr lang="en-US" err="1">
                <a:latin typeface="-apple-system"/>
                <a:ea typeface="-apple-system"/>
                <a:cs typeface="-apple-system"/>
              </a:rPr>
              <a:t>instâncias</a:t>
            </a:r>
            <a:r>
              <a:rPr lang="en-US">
                <a:latin typeface="-apple-system"/>
                <a:ea typeface="-apple-system"/>
                <a:cs typeface="-apple-system"/>
              </a:rPr>
              <a:t> de </a:t>
            </a:r>
            <a:r>
              <a:rPr lang="en-US" err="1">
                <a:latin typeface="-apple-system"/>
                <a:ea typeface="-apple-system"/>
                <a:cs typeface="-apple-system"/>
              </a:rPr>
              <a:t>serviço</a:t>
            </a:r>
            <a:r>
              <a:rPr lang="en-US">
                <a:latin typeface="-apple-system"/>
                <a:ea typeface="-apple-system"/>
                <a:cs typeface="-apple-system"/>
              </a:rPr>
              <a:t> </a:t>
            </a:r>
            <a:r>
              <a:rPr lang="en-US" err="1">
                <a:latin typeface="-apple-system"/>
                <a:ea typeface="-apple-system"/>
                <a:cs typeface="-apple-system"/>
              </a:rPr>
              <a:t>disponíveis</a:t>
            </a:r>
            <a:r>
              <a:rPr lang="en-US">
                <a:latin typeface="-apple-system"/>
                <a:ea typeface="-apple-system"/>
                <a:cs typeface="-apple-system"/>
              </a:rPr>
              <a:t> para </a:t>
            </a:r>
            <a:r>
              <a:rPr lang="en-US" err="1">
                <a:latin typeface="-apple-system"/>
                <a:ea typeface="-apple-system"/>
                <a:cs typeface="-apple-system"/>
              </a:rPr>
              <a:t>que</a:t>
            </a:r>
            <a:r>
              <a:rPr lang="en-US">
                <a:latin typeface="-apple-system"/>
                <a:ea typeface="-apple-system"/>
                <a:cs typeface="-apple-system"/>
              </a:rPr>
              <a:t> </a:t>
            </a:r>
            <a:r>
              <a:rPr lang="en-US" err="1">
                <a:latin typeface="-apple-system"/>
                <a:ea typeface="-apple-system"/>
                <a:cs typeface="-apple-system"/>
              </a:rPr>
              <a:t>ele</a:t>
            </a:r>
            <a:r>
              <a:rPr lang="en-US">
                <a:latin typeface="-apple-system"/>
                <a:ea typeface="-apple-system"/>
                <a:cs typeface="-apple-system"/>
              </a:rPr>
              <a:t> </a:t>
            </a:r>
            <a:r>
              <a:rPr lang="en-US" err="1">
                <a:latin typeface="-apple-system"/>
                <a:ea typeface="-apple-system"/>
                <a:cs typeface="-apple-system"/>
              </a:rPr>
              <a:t>possa</a:t>
            </a:r>
            <a:r>
              <a:rPr lang="en-US">
                <a:latin typeface="-apple-system"/>
                <a:ea typeface="-apple-system"/>
                <a:cs typeface="-apple-system"/>
              </a:rPr>
              <a:t> </a:t>
            </a:r>
            <a:r>
              <a:rPr lang="en-US" err="1">
                <a:latin typeface="-apple-system"/>
                <a:ea typeface="-apple-system"/>
                <a:cs typeface="-apple-system"/>
              </a:rPr>
              <a:t>desenhar</a:t>
            </a:r>
            <a:r>
              <a:rPr lang="en-US">
                <a:latin typeface="-apple-system"/>
                <a:ea typeface="-apple-system"/>
                <a:cs typeface="-apple-system"/>
              </a:rPr>
              <a:t> a </a:t>
            </a:r>
            <a:r>
              <a:rPr lang="en-US" err="1">
                <a:latin typeface="-apple-system"/>
                <a:ea typeface="-apple-system"/>
                <a:cs typeface="-apple-system"/>
              </a:rPr>
              <a:t>camada</a:t>
            </a:r>
            <a:r>
              <a:rPr lang="en-US">
                <a:latin typeface="-apple-system"/>
                <a:ea typeface="-apple-system"/>
                <a:cs typeface="-apple-system"/>
              </a:rPr>
              <a:t>."</a:t>
            </a:r>
            <a:br>
              <a:rPr lang="en-US">
                <a:latin typeface="-apple-system"/>
                <a:ea typeface="-apple-system"/>
                <a:cs typeface="-apple-system"/>
              </a:rPr>
            </a:br>
            <a:br>
              <a:rPr lang="en-US">
                <a:latin typeface="-apple-system"/>
                <a:ea typeface="-apple-system"/>
                <a:cs typeface="-apple-system"/>
              </a:rPr>
            </a:br>
            <a:r>
              <a:rPr lang="en-US" b="1">
                <a:solidFill>
                  <a:srgbClr val="0A66C2"/>
                </a:solidFill>
                <a:latin typeface="-apple-system"/>
                <a:ea typeface="-apple-system"/>
                <a:cs typeface="-apple-system"/>
                <a:hlinkClick r:id="rId2"/>
              </a:rPr>
              <a:t>https://lnkd.in/eaXvVBKS</a:t>
            </a:r>
            <a:br>
              <a:rPr lang="en-US">
                <a:latin typeface="-apple-system"/>
                <a:ea typeface="-apple-system"/>
                <a:cs typeface="-apple-system"/>
              </a:rPr>
            </a:br>
            <a:br>
              <a:rPr lang="en-US">
                <a:latin typeface="-apple-system"/>
                <a:ea typeface="-apple-system"/>
                <a:cs typeface="-apple-system"/>
              </a:rPr>
            </a:br>
            <a:r>
              <a:rPr lang="en-US" b="1">
                <a:solidFill>
                  <a:srgbClr val="0A66C2"/>
                </a:solidFill>
                <a:latin typeface="-apple-system"/>
                <a:ea typeface="-apple-system"/>
                <a:cs typeface="-apple-system"/>
                <a:hlinkClick r:id="rId3"/>
              </a:rPr>
              <a:t>https://lnkd.in/eaPhMZag</a:t>
            </a:r>
            <a:br>
              <a:rPr lang="en-US">
                <a:latin typeface="-apple-system"/>
                <a:ea typeface="-apple-system"/>
                <a:cs typeface="-apple-system"/>
              </a:rPr>
            </a:br>
            <a:br>
              <a:rPr lang="en-US">
                <a:latin typeface="-apple-system"/>
                <a:ea typeface="-apple-system"/>
                <a:cs typeface="-apple-system"/>
              </a:rPr>
            </a:br>
            <a:endParaRPr lang="en-US">
              <a:latin typeface="-apple-system"/>
            </a:endParaRPr>
          </a:p>
        </p:txBody>
      </p:sp>
      <p:pic>
        <p:nvPicPr>
          <p:cNvPr id="3" name="Imagem 2" descr="Não foi fornecido texto alternativo para esta imagem">
            <a:extLst>
              <a:ext uri="{FF2B5EF4-FFF2-40B4-BE49-F238E27FC236}">
                <a16:creationId xmlns:a16="http://schemas.microsoft.com/office/drawing/2014/main" id="{2324FA8A-5EEA-164A-0EB0-9FB150654D15}"/>
              </a:ext>
            </a:extLst>
          </p:cNvPr>
          <p:cNvPicPr>
            <a:picLocks noChangeAspect="1"/>
          </p:cNvPicPr>
          <p:nvPr/>
        </p:nvPicPr>
        <p:blipFill>
          <a:blip r:embed="rId4"/>
          <a:stretch>
            <a:fillRect/>
          </a:stretch>
        </p:blipFill>
        <p:spPr>
          <a:xfrm>
            <a:off x="818086" y="762000"/>
            <a:ext cx="4474206" cy="4514491"/>
          </a:xfrm>
          <a:prstGeom prst="rect">
            <a:avLst/>
          </a:prstGeom>
        </p:spPr>
      </p:pic>
      <p:sp>
        <p:nvSpPr>
          <p:cNvPr id="5" name="CaixaDeTexto 4">
            <a:extLst>
              <a:ext uri="{FF2B5EF4-FFF2-40B4-BE49-F238E27FC236}">
                <a16:creationId xmlns:a16="http://schemas.microsoft.com/office/drawing/2014/main" id="{F8F5C247-A354-AB65-07AC-8D2039088A8F}"/>
              </a:ext>
            </a:extLst>
          </p:cNvPr>
          <p:cNvSpPr txBox="1"/>
          <p:nvPr/>
        </p:nvSpPr>
        <p:spPr>
          <a:xfrm>
            <a:off x="345057" y="5427453"/>
            <a:ext cx="4945812"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https://www.linkedin.com/posts/ariane-zancan_gis-esri-arcgis-activity-7233566308380934144-Uw6z?utm_source=share&amp;utm_medium=member_desktop&amp;rcm=ACoAAAMQtAUB5UouXqdBJgo_gWpNVZ7Imay_2Tg</a:t>
            </a:r>
          </a:p>
          <a:p>
            <a:pPr algn="ctr"/>
            <a:endParaRPr lang="pt-BR"/>
          </a:p>
        </p:txBody>
      </p:sp>
    </p:spTree>
    <p:extLst>
      <p:ext uri="{BB962C8B-B14F-4D97-AF65-F5344CB8AC3E}">
        <p14:creationId xmlns:p14="http://schemas.microsoft.com/office/powerpoint/2010/main" val="82344715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AC1BBEF3-0E66-95C7-78F4-C5742615356A}"/>
              </a:ext>
            </a:extLst>
          </p:cNvPr>
          <p:cNvSpPr txBox="1"/>
          <p:nvPr/>
        </p:nvSpPr>
        <p:spPr>
          <a:xfrm>
            <a:off x="4370719" y="7188"/>
            <a:ext cx="7821282" cy="70173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err="1">
                <a:latin typeface="-apple-system"/>
                <a:ea typeface="-apple-system"/>
                <a:cs typeface="-apple-system"/>
              </a:rPr>
              <a:t>Graças</a:t>
            </a:r>
            <a:r>
              <a:rPr lang="en-US" sz="1600">
                <a:latin typeface="-apple-system"/>
                <a:ea typeface="-apple-system"/>
                <a:cs typeface="-apple-system"/>
              </a:rPr>
              <a:t> ♥️ a Deus</a:t>
            </a:r>
            <a:br>
              <a:rPr lang="en-US" sz="1600">
                <a:latin typeface="-apple-system"/>
                <a:ea typeface="-apple-system"/>
                <a:cs typeface="-apple-system"/>
              </a:rPr>
            </a:br>
            <a:r>
              <a:rPr lang="en-US" sz="1600">
                <a:latin typeface="-apple-system"/>
                <a:ea typeface="-apple-system"/>
                <a:cs typeface="-apple-system"/>
              </a:rPr>
              <a:t>O </a:t>
            </a:r>
            <a:r>
              <a:rPr lang="en-US" sz="1600" err="1">
                <a:latin typeface="-apple-system"/>
                <a:ea typeface="-apple-system"/>
                <a:cs typeface="-apple-system"/>
              </a:rPr>
              <a:t>projeto</a:t>
            </a:r>
            <a:r>
              <a:rPr lang="en-US" sz="1600">
                <a:latin typeface="-apple-system"/>
                <a:ea typeface="-apple-system"/>
                <a:cs typeface="-apple-system"/>
              </a:rPr>
              <a:t> dos </a:t>
            </a:r>
            <a:r>
              <a:rPr lang="en-US" sz="1600" err="1">
                <a:latin typeface="-apple-system"/>
                <a:ea typeface="-apple-system"/>
                <a:cs typeface="-apple-system"/>
              </a:rPr>
              <a:t>sistemas</a:t>
            </a:r>
            <a:r>
              <a:rPr lang="en-US" sz="1600">
                <a:latin typeface="-apple-system"/>
                <a:ea typeface="-apple-system"/>
                <a:cs typeface="-apple-system"/>
              </a:rPr>
              <a:t> de </a:t>
            </a:r>
            <a:r>
              <a:rPr lang="en-US" sz="1600" err="1">
                <a:latin typeface="-apple-system"/>
                <a:ea typeface="-apple-system"/>
                <a:cs typeface="-apple-system"/>
              </a:rPr>
              <a:t>água</a:t>
            </a:r>
            <a:r>
              <a:rPr lang="en-US" sz="1600">
                <a:latin typeface="-apple-system"/>
                <a:ea typeface="-apple-system"/>
                <a:cs typeface="-apple-system"/>
              </a:rPr>
              <a:t> (</a:t>
            </a:r>
            <a:r>
              <a:rPr lang="en-US" sz="1600" err="1">
                <a:latin typeface="-apple-system"/>
                <a:ea typeface="-apple-system"/>
                <a:cs typeface="-apple-system"/>
              </a:rPr>
              <a:t>esquema</a:t>
            </a:r>
            <a:r>
              <a:rPr lang="en-US" sz="1600">
                <a:latin typeface="-apple-system"/>
                <a:ea typeface="-apple-system"/>
                <a:cs typeface="-apple-system"/>
              </a:rPr>
              <a:t>) para a </a:t>
            </a:r>
            <a:r>
              <a:rPr lang="en-US" sz="1600" err="1">
                <a:latin typeface="-apple-system"/>
                <a:ea typeface="-apple-system"/>
                <a:cs typeface="-apple-system"/>
              </a:rPr>
              <a:t>água</a:t>
            </a:r>
            <a:r>
              <a:rPr lang="en-US" sz="1600">
                <a:latin typeface="-apple-system"/>
                <a:ea typeface="-apple-system"/>
                <a:cs typeface="-apple-system"/>
              </a:rPr>
              <a:t> </a:t>
            </a:r>
            <a:r>
              <a:rPr lang="en-US" sz="1600" err="1">
                <a:latin typeface="-apple-system"/>
                <a:ea typeface="-apple-system"/>
                <a:cs typeface="-apple-system"/>
              </a:rPr>
              <a:t>foi</a:t>
            </a:r>
            <a:r>
              <a:rPr lang="en-US" sz="1600">
                <a:latin typeface="-apple-system"/>
                <a:ea typeface="-apple-system"/>
                <a:cs typeface="-apple-system"/>
              </a:rPr>
              <a:t> </a:t>
            </a:r>
            <a:r>
              <a:rPr lang="en-US" sz="1600" err="1">
                <a:latin typeface="-apple-system"/>
                <a:ea typeface="-apple-system"/>
                <a:cs typeface="-apple-system"/>
              </a:rPr>
              <a:t>concluído</a:t>
            </a:r>
            <a:r>
              <a:rPr lang="en-US" sz="1600">
                <a:latin typeface="-apple-system"/>
                <a:ea typeface="-apple-system"/>
                <a:cs typeface="-apple-system"/>
              </a:rPr>
              <a:t>. </a:t>
            </a:r>
            <a:br>
              <a:rPr lang="en-US" sz="1600">
                <a:latin typeface="-apple-system"/>
                <a:ea typeface="-apple-system"/>
                <a:cs typeface="-apple-system"/>
              </a:rPr>
            </a:br>
            <a:r>
              <a:rPr lang="en-US" sz="1600">
                <a:latin typeface="-apple-system"/>
                <a:ea typeface="-apple-system"/>
                <a:cs typeface="-apple-system"/>
              </a:rPr>
              <a:t>O </a:t>
            </a:r>
            <a:r>
              <a:rPr lang="en-US" sz="1600" err="1">
                <a:latin typeface="-apple-system"/>
                <a:ea typeface="-apple-system"/>
                <a:cs typeface="-apple-system"/>
              </a:rPr>
              <a:t>painel</a:t>
            </a:r>
            <a:r>
              <a:rPr lang="en-US" sz="1600">
                <a:latin typeface="-apple-system"/>
                <a:ea typeface="-apple-system"/>
                <a:cs typeface="-apple-system"/>
              </a:rPr>
              <a:t> </a:t>
            </a:r>
            <a:r>
              <a:rPr lang="en-US" sz="1600" err="1">
                <a:latin typeface="-apple-system"/>
                <a:ea typeface="-apple-system"/>
                <a:cs typeface="-apple-system"/>
              </a:rPr>
              <a:t>foi</a:t>
            </a:r>
            <a:r>
              <a:rPr lang="en-US" sz="1600">
                <a:latin typeface="-apple-system"/>
                <a:ea typeface="-apple-system"/>
                <a:cs typeface="-apple-system"/>
              </a:rPr>
              <a:t> </a:t>
            </a:r>
            <a:r>
              <a:rPr lang="en-US" sz="1600" err="1">
                <a:latin typeface="-apple-system"/>
                <a:ea typeface="-apple-system"/>
                <a:cs typeface="-apple-system"/>
              </a:rPr>
              <a:t>criado</a:t>
            </a:r>
            <a:r>
              <a:rPr lang="en-US" sz="1600">
                <a:latin typeface="-apple-system"/>
                <a:ea typeface="-apple-system"/>
                <a:cs typeface="-apple-system"/>
              </a:rPr>
              <a:t> para </a:t>
            </a:r>
            <a:r>
              <a:rPr lang="en-US" sz="1600" err="1">
                <a:latin typeface="-apple-system"/>
                <a:ea typeface="-apple-system"/>
                <a:cs typeface="-apple-system"/>
              </a:rPr>
              <a:t>visualizar</a:t>
            </a:r>
            <a:r>
              <a:rPr lang="en-US" sz="1600">
                <a:latin typeface="-apple-system"/>
                <a:ea typeface="-apple-system"/>
                <a:cs typeface="-apple-system"/>
              </a:rPr>
              <a:t> </a:t>
            </a:r>
            <a:r>
              <a:rPr lang="en-US" sz="1600" err="1">
                <a:latin typeface="-apple-system"/>
                <a:ea typeface="-apple-system"/>
                <a:cs typeface="-apple-system"/>
              </a:rPr>
              <a:t>os</a:t>
            </a:r>
            <a:r>
              <a:rPr lang="en-US" sz="1600">
                <a:latin typeface="-apple-system"/>
                <a:ea typeface="-apple-system"/>
                <a:cs typeface="-apple-system"/>
              </a:rPr>
              <a:t> dados </a:t>
            </a:r>
            <a:r>
              <a:rPr lang="en-US" sz="1600" err="1">
                <a:latin typeface="-apple-system"/>
                <a:ea typeface="-apple-system"/>
                <a:cs typeface="-apple-system"/>
              </a:rPr>
              <a:t>caso</a:t>
            </a:r>
            <a:r>
              <a:rPr lang="en-US" sz="1600">
                <a:latin typeface="-apple-system"/>
                <a:ea typeface="-apple-system"/>
                <a:cs typeface="-apple-system"/>
              </a:rPr>
              <a:t> </a:t>
            </a:r>
            <a:r>
              <a:rPr lang="en-US" sz="1600" err="1">
                <a:latin typeface="-apple-system"/>
                <a:ea typeface="-apple-system"/>
                <a:cs typeface="-apple-system"/>
              </a:rPr>
              <a:t>seja</a:t>
            </a:r>
            <a:r>
              <a:rPr lang="en-US" sz="1600">
                <a:latin typeface="-apple-system"/>
                <a:ea typeface="-apple-system"/>
                <a:cs typeface="-apple-system"/>
              </a:rPr>
              <a:t> </a:t>
            </a:r>
            <a:r>
              <a:rPr lang="en-US" sz="1600" err="1">
                <a:latin typeface="-apple-system"/>
                <a:ea typeface="-apple-system"/>
                <a:cs typeface="-apple-system"/>
              </a:rPr>
              <a:t>tomada</a:t>
            </a:r>
            <a:r>
              <a:rPr lang="en-US" sz="1600">
                <a:latin typeface="-apple-system"/>
                <a:ea typeface="-apple-system"/>
                <a:cs typeface="-apple-system"/>
              </a:rPr>
              <a:t> </a:t>
            </a:r>
            <a:r>
              <a:rPr lang="en-US" sz="1600" err="1">
                <a:latin typeface="-apple-system"/>
                <a:ea typeface="-apple-system"/>
                <a:cs typeface="-apple-system"/>
              </a:rPr>
              <a:t>qualquer</a:t>
            </a:r>
            <a:r>
              <a:rPr lang="en-US" sz="1600">
                <a:latin typeface="-apple-system"/>
                <a:ea typeface="-apple-system"/>
                <a:cs typeface="-apple-system"/>
              </a:rPr>
              <a:t> </a:t>
            </a:r>
            <a:r>
              <a:rPr lang="en-US" sz="1600" err="1">
                <a:latin typeface="-apple-system"/>
                <a:ea typeface="-apple-system"/>
                <a:cs typeface="-apple-system"/>
              </a:rPr>
              <a:t>decisão</a:t>
            </a:r>
            <a:r>
              <a:rPr lang="en-US" sz="1600">
                <a:latin typeface="-apple-system"/>
                <a:ea typeface="-apple-system"/>
                <a:cs typeface="-apple-system"/>
              </a:rPr>
              <a:t> </a:t>
            </a:r>
            <a:r>
              <a:rPr lang="en-US" sz="1600" err="1">
                <a:latin typeface="-apple-system"/>
                <a:ea typeface="-apple-system"/>
                <a:cs typeface="-apple-system"/>
              </a:rPr>
              <a:t>sobre</a:t>
            </a:r>
            <a:r>
              <a:rPr lang="en-US" sz="1600">
                <a:latin typeface="-apple-system"/>
                <a:ea typeface="-apple-system"/>
                <a:cs typeface="-apple-system"/>
              </a:rPr>
              <a:t> o </a:t>
            </a:r>
            <a:r>
              <a:rPr lang="en-US" sz="1600" err="1">
                <a:latin typeface="-apple-system"/>
                <a:ea typeface="-apple-system"/>
                <a:cs typeface="-apple-system"/>
              </a:rPr>
              <a:t>tipo</a:t>
            </a:r>
            <a:r>
              <a:rPr lang="en-US" sz="1600">
                <a:latin typeface="-apple-system"/>
                <a:ea typeface="-apple-system"/>
                <a:cs typeface="-apple-system"/>
              </a:rPr>
              <a:t> de </a:t>
            </a:r>
            <a:r>
              <a:rPr lang="en-US" sz="1600" err="1">
                <a:latin typeface="-apple-system"/>
                <a:ea typeface="-apple-system"/>
                <a:cs typeface="-apple-system"/>
              </a:rPr>
              <a:t>medidor</a:t>
            </a:r>
            <a:r>
              <a:rPr lang="en-US" sz="1600">
                <a:latin typeface="-apple-system"/>
                <a:ea typeface="-apple-system"/>
                <a:cs typeface="-apple-system"/>
              </a:rPr>
              <a:t>, </a:t>
            </a:r>
            <a:r>
              <a:rPr lang="en-US" sz="1600" err="1">
                <a:latin typeface="-apple-system"/>
                <a:ea typeface="-apple-system"/>
                <a:cs typeface="-apple-system"/>
              </a:rPr>
              <a:t>seja</a:t>
            </a:r>
            <a:r>
              <a:rPr lang="en-US" sz="1600">
                <a:latin typeface="-apple-system"/>
                <a:ea typeface="-apple-system"/>
                <a:cs typeface="-apple-system"/>
              </a:rPr>
              <a:t> </a:t>
            </a:r>
            <a:r>
              <a:rPr lang="en-US" sz="1600" err="1">
                <a:latin typeface="-apple-system"/>
                <a:ea typeface="-apple-system"/>
                <a:cs typeface="-apple-system"/>
              </a:rPr>
              <a:t>residencial</a:t>
            </a:r>
            <a:r>
              <a:rPr lang="en-US" sz="1600">
                <a:latin typeface="-apple-system"/>
                <a:ea typeface="-apple-system"/>
                <a:cs typeface="-apple-system"/>
              </a:rPr>
              <a:t> </a:t>
            </a:r>
            <a:r>
              <a:rPr lang="en-US" sz="1600" err="1">
                <a:latin typeface="-apple-system"/>
                <a:ea typeface="-apple-system"/>
                <a:cs typeface="-apple-system"/>
              </a:rPr>
              <a:t>ou</a:t>
            </a:r>
            <a:r>
              <a:rPr lang="en-US" sz="1600">
                <a:latin typeface="-apple-system"/>
                <a:ea typeface="-apple-system"/>
                <a:cs typeface="-apple-system"/>
              </a:rPr>
              <a:t> </a:t>
            </a:r>
            <a:r>
              <a:rPr lang="en-US" sz="1600" err="1">
                <a:latin typeface="-apple-system"/>
                <a:ea typeface="-apple-system"/>
                <a:cs typeface="-apple-system"/>
              </a:rPr>
              <a:t>comercial</a:t>
            </a:r>
            <a:r>
              <a:rPr lang="en-US" sz="1600">
                <a:latin typeface="-apple-system"/>
                <a:ea typeface="-apple-system"/>
                <a:cs typeface="-apple-system"/>
              </a:rPr>
              <a:t>, o status dos </a:t>
            </a:r>
            <a:r>
              <a:rPr lang="en-US" sz="1600" err="1">
                <a:latin typeface="-apple-system"/>
                <a:ea typeface="-apple-system"/>
                <a:cs typeface="-apple-system"/>
              </a:rPr>
              <a:t>extintores</a:t>
            </a:r>
            <a:r>
              <a:rPr lang="en-US" sz="1600">
                <a:latin typeface="-apple-system"/>
                <a:ea typeface="-apple-system"/>
                <a:cs typeface="-apple-system"/>
              </a:rPr>
              <a:t> é </a:t>
            </a:r>
            <a:r>
              <a:rPr lang="en-US" sz="1600" err="1">
                <a:latin typeface="-apple-system"/>
                <a:ea typeface="-apple-system"/>
                <a:cs typeface="-apple-system"/>
              </a:rPr>
              <a:t>ativo</a:t>
            </a:r>
            <a:r>
              <a:rPr lang="en-US" sz="1600">
                <a:latin typeface="-apple-system"/>
                <a:ea typeface="-apple-system"/>
                <a:cs typeface="-apple-system"/>
              </a:rPr>
              <a:t> e </a:t>
            </a:r>
            <a:r>
              <a:rPr lang="en-US" sz="1600" err="1">
                <a:latin typeface="-apple-system"/>
                <a:ea typeface="-apple-system"/>
                <a:cs typeface="-apple-system"/>
              </a:rPr>
              <a:t>inativo</a:t>
            </a:r>
            <a:r>
              <a:rPr lang="en-US" sz="1600">
                <a:latin typeface="-apple-system"/>
                <a:ea typeface="-apple-system"/>
                <a:cs typeface="-apple-system"/>
              </a:rPr>
              <a:t>.</a:t>
            </a:r>
            <a:br>
              <a:rPr lang="en-US" sz="1600">
                <a:latin typeface="-apple-system"/>
                <a:ea typeface="-apple-system"/>
                <a:cs typeface="-apple-system"/>
              </a:rPr>
            </a:br>
            <a:r>
              <a:rPr lang="en-US" sz="1600" err="1">
                <a:latin typeface="-apple-system"/>
                <a:ea typeface="-apple-system"/>
                <a:cs typeface="-apple-system"/>
              </a:rPr>
              <a:t>Diâmetro</a:t>
            </a:r>
            <a:r>
              <a:rPr lang="en-US" sz="1600">
                <a:latin typeface="-apple-system"/>
                <a:ea typeface="-apple-system"/>
                <a:cs typeface="-apple-system"/>
              </a:rPr>
              <a:t> da </a:t>
            </a:r>
            <a:r>
              <a:rPr lang="en-US" sz="1600" err="1">
                <a:latin typeface="-apple-system"/>
                <a:ea typeface="-apple-system"/>
                <a:cs typeface="-apple-system"/>
              </a:rPr>
              <a:t>parede</a:t>
            </a:r>
            <a:r>
              <a:rPr lang="en-US" sz="1600">
                <a:latin typeface="-apple-system"/>
                <a:ea typeface="-apple-system"/>
                <a:cs typeface="-apple-system"/>
              </a:rPr>
              <a:t>, </a:t>
            </a:r>
            <a:r>
              <a:rPr lang="en-US" sz="1600" err="1">
                <a:latin typeface="-apple-system"/>
                <a:ea typeface="-apple-system"/>
                <a:cs typeface="-apple-system"/>
              </a:rPr>
              <a:t>seja</a:t>
            </a:r>
            <a:r>
              <a:rPr lang="en-US" sz="1600">
                <a:latin typeface="-apple-system"/>
                <a:ea typeface="-apple-system"/>
                <a:cs typeface="-apple-system"/>
              </a:rPr>
              <a:t> </a:t>
            </a:r>
            <a:r>
              <a:rPr lang="en-US" sz="1600" err="1">
                <a:latin typeface="-apple-system"/>
                <a:ea typeface="-apple-system"/>
                <a:cs typeface="-apple-system"/>
              </a:rPr>
              <a:t>Distribuição</a:t>
            </a:r>
            <a:r>
              <a:rPr lang="en-US" sz="1600">
                <a:latin typeface="-apple-system"/>
                <a:ea typeface="-apple-system"/>
                <a:cs typeface="-apple-system"/>
              </a:rPr>
              <a:t> </a:t>
            </a:r>
            <a:r>
              <a:rPr lang="en-US" sz="1600" err="1">
                <a:latin typeface="-apple-system"/>
                <a:ea typeface="-apple-system"/>
                <a:cs typeface="-apple-system"/>
              </a:rPr>
              <a:t>ou</a:t>
            </a:r>
            <a:r>
              <a:rPr lang="en-US" sz="1600">
                <a:latin typeface="-apple-system"/>
                <a:ea typeface="-apple-system"/>
                <a:cs typeface="-apple-system"/>
              </a:rPr>
              <a:t> </a:t>
            </a:r>
            <a:r>
              <a:rPr lang="en-US" sz="1600" err="1">
                <a:latin typeface="-apple-system"/>
                <a:ea typeface="-apple-system"/>
                <a:cs typeface="-apple-system"/>
              </a:rPr>
              <a:t>Transmissão</a:t>
            </a:r>
            <a:r>
              <a:rPr lang="en-US" sz="1600">
                <a:latin typeface="-apple-system"/>
                <a:ea typeface="-apple-system"/>
                <a:cs typeface="-apple-system"/>
              </a:rPr>
              <a:t>.</a:t>
            </a:r>
            <a:br>
              <a:rPr lang="en-US" sz="1600">
                <a:latin typeface="-apple-system"/>
                <a:ea typeface="-apple-system"/>
                <a:cs typeface="-apple-system"/>
              </a:rPr>
            </a:br>
            <a:r>
              <a:rPr lang="en-US" sz="1600">
                <a:latin typeface="-apple-system"/>
                <a:ea typeface="-apple-system"/>
                <a:cs typeface="-apple-system"/>
              </a:rPr>
              <a:t>Por </a:t>
            </a:r>
            <a:r>
              <a:rPr lang="en-US" sz="1600" err="1">
                <a:latin typeface="-apple-system"/>
                <a:ea typeface="-apple-system"/>
                <a:cs typeface="-apple-system"/>
              </a:rPr>
              <a:t>fim</a:t>
            </a:r>
            <a:r>
              <a:rPr lang="en-US" sz="1600">
                <a:latin typeface="-apple-system"/>
                <a:ea typeface="-apple-system"/>
                <a:cs typeface="-apple-system"/>
              </a:rPr>
              <a:t>, </a:t>
            </a:r>
            <a:r>
              <a:rPr lang="en-US" sz="1600" err="1">
                <a:latin typeface="-apple-system"/>
                <a:ea typeface="-apple-system"/>
                <a:cs typeface="-apple-system"/>
              </a:rPr>
              <a:t>crie</a:t>
            </a:r>
            <a:r>
              <a:rPr lang="en-US" sz="1600">
                <a:latin typeface="-apple-system"/>
                <a:ea typeface="-apple-system"/>
                <a:cs typeface="-apple-system"/>
              </a:rPr>
              <a:t> um </a:t>
            </a:r>
            <a:r>
              <a:rPr lang="en-US" sz="1600" err="1">
                <a:latin typeface="-apple-system"/>
                <a:ea typeface="-apple-system"/>
                <a:cs typeface="-apple-system"/>
              </a:rPr>
              <a:t>Aplicativo</a:t>
            </a:r>
            <a:r>
              <a:rPr lang="en-US" sz="1600">
                <a:latin typeface="-apple-system"/>
                <a:ea typeface="-apple-system"/>
                <a:cs typeface="-apple-system"/>
              </a:rPr>
              <a:t> </a:t>
            </a:r>
            <a:r>
              <a:rPr lang="en-US" sz="1600" err="1">
                <a:latin typeface="-apple-system"/>
                <a:ea typeface="-apple-system"/>
                <a:cs typeface="-apple-system"/>
              </a:rPr>
              <a:t>Instantâneo</a:t>
            </a:r>
            <a:r>
              <a:rPr lang="en-US" sz="1600">
                <a:latin typeface="-apple-system"/>
                <a:ea typeface="-apple-system"/>
                <a:cs typeface="-apple-system"/>
              </a:rPr>
              <a:t> </a:t>
            </a:r>
            <a:r>
              <a:rPr lang="en-US" sz="1600" err="1">
                <a:latin typeface="-apple-system"/>
                <a:ea typeface="-apple-system"/>
                <a:cs typeface="-apple-system"/>
              </a:rPr>
              <a:t>por</a:t>
            </a:r>
            <a:r>
              <a:rPr lang="en-US" sz="1600">
                <a:latin typeface="-apple-system"/>
                <a:ea typeface="-apple-system"/>
                <a:cs typeface="-apple-system"/>
              </a:rPr>
              <a:t> causa de </a:t>
            </a:r>
            <a:r>
              <a:rPr lang="en-US" sz="1600" err="1">
                <a:latin typeface="-apple-system"/>
                <a:ea typeface="-apple-system"/>
                <a:cs typeface="-apple-system"/>
              </a:rPr>
              <a:t>seus</a:t>
            </a:r>
            <a:r>
              <a:rPr lang="en-US" sz="1600">
                <a:latin typeface="-apple-system"/>
                <a:ea typeface="-apple-system"/>
                <a:cs typeface="-apple-system"/>
              </a:rPr>
              <a:t> </a:t>
            </a:r>
            <a:r>
              <a:rPr lang="en-US" sz="1600" err="1">
                <a:latin typeface="-apple-system"/>
                <a:ea typeface="-apple-system"/>
                <a:cs typeface="-apple-system"/>
              </a:rPr>
              <a:t>recursos</a:t>
            </a:r>
            <a:r>
              <a:rPr lang="en-US" sz="1600">
                <a:latin typeface="-apple-system"/>
                <a:ea typeface="-apple-system"/>
                <a:cs typeface="-apple-system"/>
              </a:rPr>
              <a:t>, </a:t>
            </a:r>
            <a:r>
              <a:rPr lang="en-US" sz="1600" err="1">
                <a:latin typeface="-apple-system"/>
                <a:ea typeface="-apple-system"/>
                <a:cs typeface="-apple-system"/>
              </a:rPr>
              <a:t>incluindo</a:t>
            </a:r>
            <a:r>
              <a:rPr lang="en-US" sz="1600">
                <a:latin typeface="-apple-system"/>
                <a:ea typeface="-apple-system"/>
                <a:cs typeface="-apple-system"/>
              </a:rPr>
              <a:t> o </a:t>
            </a:r>
            <a:r>
              <a:rPr lang="en-US" sz="1600" err="1">
                <a:latin typeface="-apple-system"/>
                <a:ea typeface="-apple-system"/>
                <a:cs typeface="-apple-system"/>
              </a:rPr>
              <a:t>fato</a:t>
            </a:r>
            <a:r>
              <a:rPr lang="en-US" sz="1600">
                <a:latin typeface="-apple-system"/>
                <a:ea typeface="-apple-system"/>
                <a:cs typeface="-apple-system"/>
              </a:rPr>
              <a:t> de </a:t>
            </a:r>
            <a:r>
              <a:rPr lang="en-US" sz="1600" err="1">
                <a:latin typeface="-apple-system"/>
                <a:ea typeface="-apple-system"/>
                <a:cs typeface="-apple-system"/>
              </a:rPr>
              <a:t>extrair</a:t>
            </a:r>
            <a:r>
              <a:rPr lang="en-US" sz="1600">
                <a:latin typeface="-apple-system"/>
                <a:ea typeface="-apple-system"/>
                <a:cs typeface="-apple-system"/>
              </a:rPr>
              <a:t> </a:t>
            </a:r>
            <a:r>
              <a:rPr lang="en-US" sz="1600" err="1">
                <a:latin typeface="-apple-system"/>
                <a:ea typeface="-apple-system"/>
                <a:cs typeface="-apple-system"/>
              </a:rPr>
              <a:t>tudo</a:t>
            </a:r>
            <a:r>
              <a:rPr lang="en-US" sz="1600">
                <a:latin typeface="-apple-system"/>
                <a:ea typeface="-apple-system"/>
                <a:cs typeface="-apple-system"/>
              </a:rPr>
              <a:t> o </a:t>
            </a:r>
            <a:r>
              <a:rPr lang="en-US" sz="1600" err="1">
                <a:latin typeface="-apple-system"/>
                <a:ea typeface="-apple-system"/>
                <a:cs typeface="-apple-system"/>
              </a:rPr>
              <a:t>que</a:t>
            </a:r>
            <a:r>
              <a:rPr lang="en-US" sz="1600">
                <a:latin typeface="-apple-system"/>
                <a:ea typeface="-apple-system"/>
                <a:cs typeface="-apple-system"/>
              </a:rPr>
              <a:t> </a:t>
            </a:r>
            <a:r>
              <a:rPr lang="en-US" sz="1600" err="1">
                <a:latin typeface="-apple-system"/>
                <a:ea typeface="-apple-system"/>
                <a:cs typeface="-apple-system"/>
              </a:rPr>
              <a:t>você</a:t>
            </a:r>
            <a:r>
              <a:rPr lang="en-US" sz="1600">
                <a:latin typeface="-apple-system"/>
                <a:ea typeface="-apple-system"/>
                <a:cs typeface="-apple-system"/>
              </a:rPr>
              <a:t> </a:t>
            </a:r>
            <a:r>
              <a:rPr lang="en-US" sz="1600" err="1">
                <a:latin typeface="-apple-system"/>
                <a:ea typeface="-apple-system"/>
                <a:cs typeface="-apple-system"/>
              </a:rPr>
              <a:t>precisa</a:t>
            </a:r>
            <a:r>
              <a:rPr lang="en-US" sz="1600">
                <a:latin typeface="-apple-system"/>
                <a:ea typeface="-apple-system"/>
                <a:cs typeface="-apple-system"/>
              </a:rPr>
              <a:t> </a:t>
            </a:r>
            <a:r>
              <a:rPr lang="en-US" sz="1600" err="1">
                <a:latin typeface="-apple-system"/>
                <a:ea typeface="-apple-system"/>
                <a:cs typeface="-apple-system"/>
              </a:rPr>
              <a:t>na</a:t>
            </a:r>
            <a:r>
              <a:rPr lang="en-US" sz="1600">
                <a:latin typeface="-apple-system"/>
                <a:ea typeface="-apple-system"/>
                <a:cs typeface="-apple-system"/>
              </a:rPr>
              <a:t> </a:t>
            </a:r>
            <a:r>
              <a:rPr lang="en-US" sz="1600" err="1">
                <a:latin typeface="-apple-system"/>
                <a:ea typeface="-apple-system"/>
                <a:cs typeface="-apple-system"/>
              </a:rPr>
              <a:t>visualização</a:t>
            </a:r>
            <a:r>
              <a:rPr lang="en-US" sz="1600">
                <a:latin typeface="-apple-system"/>
                <a:ea typeface="-apple-system"/>
                <a:cs typeface="-apple-system"/>
              </a:rPr>
              <a:t> do </a:t>
            </a:r>
            <a:r>
              <a:rPr lang="en-US" sz="1600" err="1">
                <a:latin typeface="-apple-system"/>
                <a:ea typeface="-apple-system"/>
                <a:cs typeface="-apple-system"/>
              </a:rPr>
              <a:t>mapa</a:t>
            </a:r>
            <a:r>
              <a:rPr lang="en-US" sz="1600">
                <a:latin typeface="-apple-system"/>
                <a:ea typeface="-apple-system"/>
                <a:cs typeface="-apple-system"/>
              </a:rPr>
              <a:t> </a:t>
            </a:r>
            <a:r>
              <a:rPr lang="en-US" sz="1600" err="1">
                <a:latin typeface="-apple-system"/>
                <a:ea typeface="-apple-system"/>
                <a:cs typeface="-apple-system"/>
              </a:rPr>
              <a:t>em</a:t>
            </a:r>
            <a:r>
              <a:rPr lang="en-US" sz="1600">
                <a:latin typeface="-apple-system"/>
                <a:ea typeface="-apple-system"/>
                <a:cs typeface="-apple-system"/>
              </a:rPr>
              <a:t> </a:t>
            </a:r>
            <a:r>
              <a:rPr lang="en-US" sz="1600" err="1">
                <a:latin typeface="-apple-system"/>
                <a:ea typeface="-apple-system"/>
                <a:cs typeface="-apple-system"/>
              </a:rPr>
              <a:t>formato</a:t>
            </a:r>
            <a:r>
              <a:rPr lang="en-US" sz="1600">
                <a:latin typeface="-apple-system"/>
                <a:ea typeface="-apple-system"/>
                <a:cs typeface="-apple-system"/>
              </a:rPr>
              <a:t> PDF.</a:t>
            </a:r>
            <a:br>
              <a:rPr lang="en-US" sz="1600">
                <a:latin typeface="-apple-system"/>
                <a:ea typeface="-apple-system"/>
                <a:cs typeface="-apple-system"/>
              </a:rPr>
            </a:br>
            <a:r>
              <a:rPr lang="en-US" sz="1600" err="1">
                <a:latin typeface="-apple-system"/>
                <a:ea typeface="-apple-system"/>
                <a:cs typeface="-apple-system"/>
              </a:rPr>
              <a:t>Os</a:t>
            </a:r>
            <a:r>
              <a:rPr lang="en-US" sz="1600">
                <a:latin typeface="-apple-system"/>
                <a:ea typeface="-apple-system"/>
                <a:cs typeface="-apple-system"/>
              </a:rPr>
              <a:t> dados </a:t>
            </a:r>
            <a:r>
              <a:rPr lang="en-US" sz="1600" err="1">
                <a:latin typeface="-apple-system"/>
                <a:ea typeface="-apple-system"/>
                <a:cs typeface="-apple-system"/>
              </a:rPr>
              <a:t>estão</a:t>
            </a:r>
            <a:r>
              <a:rPr lang="en-US" sz="1600">
                <a:latin typeface="-apple-system"/>
                <a:ea typeface="-apple-system"/>
                <a:cs typeface="-apple-system"/>
              </a:rPr>
              <a:t> </a:t>
            </a:r>
            <a:r>
              <a:rPr lang="en-US" sz="1600" err="1">
                <a:latin typeface="-apple-system"/>
                <a:ea typeface="-apple-system"/>
                <a:cs typeface="-apple-system"/>
              </a:rPr>
              <a:t>disponíveis</a:t>
            </a:r>
            <a:r>
              <a:rPr lang="en-US" sz="1600">
                <a:latin typeface="-apple-system"/>
                <a:ea typeface="-apple-system"/>
                <a:cs typeface="-apple-system"/>
              </a:rPr>
              <a:t> para </a:t>
            </a:r>
            <a:r>
              <a:rPr lang="en-US" sz="1600" err="1">
                <a:latin typeface="-apple-system"/>
                <a:ea typeface="-apple-system"/>
                <a:cs typeface="-apple-system"/>
              </a:rPr>
              <a:t>todos</a:t>
            </a:r>
            <a:r>
              <a:rPr lang="en-US" sz="1600">
                <a:latin typeface="-apple-system"/>
                <a:ea typeface="-apple-system"/>
                <a:cs typeface="-apple-system"/>
              </a:rPr>
              <a:t> </a:t>
            </a:r>
            <a:r>
              <a:rPr lang="en-US" sz="1600" err="1">
                <a:latin typeface="-apple-system"/>
                <a:ea typeface="-apple-system"/>
                <a:cs typeface="-apple-system"/>
              </a:rPr>
              <a:t>em</a:t>
            </a:r>
            <a:r>
              <a:rPr lang="en-US" sz="1600">
                <a:latin typeface="-apple-system"/>
                <a:ea typeface="-apple-system"/>
                <a:cs typeface="-apple-system"/>
              </a:rPr>
              <a:t> </a:t>
            </a:r>
            <a:r>
              <a:rPr lang="en-US" sz="1600" err="1">
                <a:latin typeface="-apple-system"/>
                <a:ea typeface="-apple-system"/>
                <a:cs typeface="-apple-system"/>
              </a:rPr>
              <a:t>termos</a:t>
            </a:r>
            <a:r>
              <a:rPr lang="en-US" sz="1600">
                <a:latin typeface="-apple-system"/>
                <a:ea typeface="-apple-system"/>
                <a:cs typeface="-apple-system"/>
              </a:rPr>
              <a:t> de </a:t>
            </a:r>
            <a:r>
              <a:rPr lang="en-US" sz="1600" err="1">
                <a:latin typeface="-apple-system"/>
                <a:ea typeface="-apple-system"/>
                <a:cs typeface="-apple-system"/>
              </a:rPr>
              <a:t>apresentação</a:t>
            </a:r>
            <a:r>
              <a:rPr lang="en-US" sz="1600">
                <a:latin typeface="-apple-system"/>
                <a:ea typeface="-apple-system"/>
                <a:cs typeface="-apple-system"/>
              </a:rPr>
              <a:t>.</a:t>
            </a:r>
            <a:br>
              <a:rPr lang="en-US" sz="1600">
                <a:latin typeface="-apple-system"/>
                <a:ea typeface="-apple-system"/>
                <a:cs typeface="-apple-system"/>
              </a:rPr>
            </a:br>
            <a:r>
              <a:rPr lang="en-US" sz="1600">
                <a:latin typeface="-apple-system"/>
                <a:ea typeface="-apple-system"/>
                <a:cs typeface="-apple-system"/>
              </a:rPr>
              <a:t>A rede de </a:t>
            </a:r>
            <a:r>
              <a:rPr lang="en-US" sz="1600" err="1">
                <a:latin typeface="-apple-system"/>
                <a:ea typeface="-apple-system"/>
                <a:cs typeface="-apple-system"/>
              </a:rPr>
              <a:t>utilidades</a:t>
            </a:r>
            <a:r>
              <a:rPr lang="en-US" sz="1600">
                <a:latin typeface="-apple-system"/>
                <a:ea typeface="-apple-system"/>
                <a:cs typeface="-apple-system"/>
              </a:rPr>
              <a:t> é </a:t>
            </a:r>
            <a:r>
              <a:rPr lang="en-US" sz="1600" err="1">
                <a:latin typeface="-apple-system"/>
                <a:ea typeface="-apple-system"/>
                <a:cs typeface="-apple-system"/>
              </a:rPr>
              <a:t>usada</a:t>
            </a:r>
            <a:r>
              <a:rPr lang="en-US" sz="1600">
                <a:latin typeface="-apple-system"/>
                <a:ea typeface="-apple-system"/>
                <a:cs typeface="-apple-system"/>
              </a:rPr>
              <a:t> </a:t>
            </a:r>
            <a:r>
              <a:rPr lang="en-US" sz="1600" err="1">
                <a:latin typeface="-apple-system"/>
                <a:ea typeface="-apple-system"/>
                <a:cs typeface="-apple-system"/>
              </a:rPr>
              <a:t>dentro</a:t>
            </a:r>
            <a:r>
              <a:rPr lang="en-US" sz="1600">
                <a:latin typeface="-apple-system"/>
                <a:ea typeface="-apple-system"/>
                <a:cs typeface="-apple-system"/>
              </a:rPr>
              <a:t> do ArcGIS Pro.</a:t>
            </a:r>
            <a:br>
              <a:rPr lang="en-US" sz="1600">
                <a:latin typeface="-apple-system"/>
                <a:ea typeface="-apple-system"/>
                <a:cs typeface="-apple-system"/>
              </a:rPr>
            </a:br>
            <a:r>
              <a:rPr lang="en-US" sz="1600" err="1">
                <a:latin typeface="-apple-system"/>
                <a:ea typeface="-apple-system"/>
                <a:cs typeface="-apple-system"/>
              </a:rPr>
              <a:t>A</a:t>
            </a:r>
            <a:r>
              <a:rPr lang="en-US" sz="1600">
                <a:latin typeface="-apple-system"/>
                <a:ea typeface="-apple-system"/>
                <a:cs typeface="-apple-system"/>
              </a:rPr>
              <a:t> </a:t>
            </a:r>
            <a:r>
              <a:rPr lang="en-US" sz="1600" err="1">
                <a:latin typeface="-apple-system"/>
                <a:ea typeface="-apple-system"/>
                <a:cs typeface="-apple-system"/>
              </a:rPr>
              <a:t>ideia</a:t>
            </a:r>
            <a:r>
              <a:rPr lang="en-US" sz="1600">
                <a:latin typeface="-apple-system"/>
                <a:ea typeface="-apple-system"/>
                <a:cs typeface="-apple-system"/>
              </a:rPr>
              <a:t> de </a:t>
            </a:r>
            <a:r>
              <a:rPr lang="en-US" sz="1600" err="1">
                <a:latin typeface="-apple-system"/>
                <a:ea typeface="-apple-system"/>
                <a:cs typeface="-apple-system"/>
              </a:rPr>
              <a:t>criar</a:t>
            </a:r>
            <a:r>
              <a:rPr lang="en-US" sz="1600">
                <a:latin typeface="-apple-system"/>
                <a:ea typeface="-apple-system"/>
                <a:cs typeface="-apple-system"/>
              </a:rPr>
              <a:t> </a:t>
            </a:r>
            <a:r>
              <a:rPr lang="en-US" sz="1600" err="1">
                <a:latin typeface="-apple-system"/>
                <a:ea typeface="-apple-system"/>
                <a:cs typeface="-apple-system"/>
              </a:rPr>
              <a:t>uma</a:t>
            </a:r>
            <a:r>
              <a:rPr lang="en-US" sz="1600">
                <a:latin typeface="-apple-system"/>
                <a:ea typeface="-apple-system"/>
                <a:cs typeface="-apple-system"/>
              </a:rPr>
              <a:t> rede de </a:t>
            </a:r>
            <a:r>
              <a:rPr lang="en-US" sz="1600" err="1">
                <a:latin typeface="-apple-system"/>
                <a:ea typeface="-apple-system"/>
                <a:cs typeface="-apple-system"/>
              </a:rPr>
              <a:t>utilidades</a:t>
            </a:r>
            <a:r>
              <a:rPr lang="en-US" sz="1600">
                <a:latin typeface="-apple-system"/>
                <a:ea typeface="-apple-system"/>
                <a:cs typeface="-apple-system"/>
              </a:rPr>
              <a:t> é </a:t>
            </a:r>
            <a:r>
              <a:rPr lang="en-US" sz="1600" err="1">
                <a:latin typeface="-apple-system"/>
                <a:ea typeface="-apple-system"/>
                <a:cs typeface="-apple-system"/>
              </a:rPr>
              <a:t>que</a:t>
            </a:r>
            <a:r>
              <a:rPr lang="en-US" sz="1600">
                <a:latin typeface="-apple-system"/>
                <a:ea typeface="-apple-system"/>
                <a:cs typeface="-apple-system"/>
              </a:rPr>
              <a:t> </a:t>
            </a:r>
            <a:r>
              <a:rPr lang="en-US" sz="1600" err="1">
                <a:latin typeface="-apple-system"/>
                <a:ea typeface="-apple-system"/>
                <a:cs typeface="-apple-system"/>
              </a:rPr>
              <a:t>nós</a:t>
            </a:r>
            <a:r>
              <a:rPr lang="en-US" sz="1600">
                <a:latin typeface="-apple-system"/>
                <a:ea typeface="-apple-system"/>
                <a:cs typeface="-apple-system"/>
              </a:rPr>
              <a:t> </a:t>
            </a:r>
            <a:r>
              <a:rPr lang="en-US" sz="1600" err="1">
                <a:latin typeface="-apple-system"/>
                <a:ea typeface="-apple-system"/>
                <a:cs typeface="-apple-system"/>
              </a:rPr>
              <a:t>nos</a:t>
            </a:r>
            <a:r>
              <a:rPr lang="en-US" sz="1600">
                <a:latin typeface="-apple-system"/>
                <a:ea typeface="-apple-system"/>
                <a:cs typeface="-apple-system"/>
              </a:rPr>
              <a:t> </a:t>
            </a:r>
            <a:r>
              <a:rPr lang="en-US" sz="1600" err="1">
                <a:latin typeface="-apple-system"/>
                <a:ea typeface="-apple-system"/>
                <a:cs typeface="-apple-system"/>
              </a:rPr>
              <a:t>enquadramos</a:t>
            </a:r>
            <a:r>
              <a:rPr lang="en-US" sz="1600">
                <a:latin typeface="-apple-system"/>
                <a:ea typeface="-apple-system"/>
                <a:cs typeface="-apple-system"/>
              </a:rPr>
              <a:t> </a:t>
            </a:r>
            <a:r>
              <a:rPr lang="en-US" sz="1600" err="1">
                <a:latin typeface="-apple-system"/>
                <a:ea typeface="-apple-system"/>
                <a:cs typeface="-apple-system"/>
              </a:rPr>
              <a:t>nela</a:t>
            </a:r>
            <a:r>
              <a:rPr lang="en-US" sz="1600">
                <a:latin typeface="-apple-system"/>
                <a:ea typeface="-apple-system"/>
                <a:cs typeface="-apple-system"/>
              </a:rPr>
              <a:t>.</a:t>
            </a:r>
            <a:br>
              <a:rPr lang="en-US" sz="1600">
                <a:latin typeface="-apple-system"/>
                <a:ea typeface="-apple-system"/>
                <a:cs typeface="-apple-system"/>
              </a:rPr>
            </a:br>
            <a:r>
              <a:rPr lang="en-US" sz="1600">
                <a:latin typeface="-apple-system"/>
                <a:ea typeface="-apple-system"/>
                <a:cs typeface="-apple-system"/>
              </a:rPr>
              <a:t>Rede Domanie </a:t>
            </a:r>
            <a:br>
              <a:rPr lang="en-US" sz="1600">
                <a:latin typeface="-apple-system"/>
                <a:ea typeface="-apple-system"/>
                <a:cs typeface="-apple-system"/>
              </a:rPr>
            </a:br>
            <a:r>
              <a:rPr lang="en-US" sz="1600" err="1">
                <a:latin typeface="-apple-system"/>
                <a:ea typeface="-apple-system"/>
                <a:cs typeface="-apple-system"/>
              </a:rPr>
              <a:t>Distribuído</a:t>
            </a:r>
            <a:r>
              <a:rPr lang="en-US" sz="1600">
                <a:latin typeface="-apple-system"/>
                <a:ea typeface="-apple-system"/>
                <a:cs typeface="-apple-system"/>
              </a:rPr>
              <a:t> para Conjunto de </a:t>
            </a:r>
            <a:r>
              <a:rPr lang="en-US" sz="1600" err="1">
                <a:latin typeface="-apple-system"/>
                <a:ea typeface="-apple-system"/>
                <a:cs typeface="-apple-system"/>
              </a:rPr>
              <a:t>Água</a:t>
            </a:r>
            <a:r>
              <a:rPr lang="en-US" sz="1600">
                <a:latin typeface="-apple-system"/>
                <a:ea typeface="-apple-system"/>
                <a:cs typeface="-apple-system"/>
              </a:rPr>
              <a:t>, </a:t>
            </a:r>
            <a:r>
              <a:rPr lang="en-US" sz="1600" err="1">
                <a:latin typeface="-apple-system"/>
                <a:ea typeface="-apple-system"/>
                <a:cs typeface="-apple-system"/>
              </a:rPr>
              <a:t>Dispositivo</a:t>
            </a:r>
            <a:r>
              <a:rPr lang="en-US" sz="1600">
                <a:latin typeface="-apple-system"/>
                <a:ea typeface="-apple-system"/>
                <a:cs typeface="-apple-system"/>
              </a:rPr>
              <a:t> W, </a:t>
            </a:r>
            <a:r>
              <a:rPr lang="en-US" sz="1600" err="1">
                <a:latin typeface="-apple-system"/>
                <a:ea typeface="-apple-system"/>
                <a:cs typeface="-apple-system"/>
              </a:rPr>
              <a:t>Entroncamento</a:t>
            </a:r>
            <a:r>
              <a:rPr lang="en-US" sz="1600">
                <a:latin typeface="-apple-system"/>
                <a:ea typeface="-apple-system"/>
                <a:cs typeface="-apple-system"/>
              </a:rPr>
              <a:t> W, </a:t>
            </a:r>
            <a:r>
              <a:rPr lang="en-US" sz="1600" err="1">
                <a:latin typeface="-apple-system"/>
                <a:ea typeface="-apple-system"/>
                <a:cs typeface="-apple-system"/>
              </a:rPr>
              <a:t>Linha</a:t>
            </a:r>
            <a:r>
              <a:rPr lang="en-US" sz="1600">
                <a:latin typeface="-apple-system"/>
                <a:ea typeface="-apple-system"/>
                <a:cs typeface="-apple-system"/>
              </a:rPr>
              <a:t> W, </a:t>
            </a:r>
            <a:r>
              <a:rPr lang="en-US" sz="1600" err="1">
                <a:latin typeface="-apple-system"/>
                <a:ea typeface="-apple-system"/>
                <a:cs typeface="-apple-system"/>
              </a:rPr>
              <a:t>Linha</a:t>
            </a:r>
            <a:r>
              <a:rPr lang="en-US" sz="1600">
                <a:latin typeface="-apple-system"/>
                <a:ea typeface="-apple-system"/>
                <a:cs typeface="-apple-system"/>
              </a:rPr>
              <a:t> de Sub-rede W </a:t>
            </a:r>
            <a:br>
              <a:rPr lang="en-US" sz="1600">
                <a:latin typeface="-apple-system"/>
                <a:ea typeface="-apple-system"/>
                <a:cs typeface="-apple-system"/>
              </a:rPr>
            </a:br>
            <a:r>
              <a:rPr lang="en-US" sz="1600" err="1">
                <a:latin typeface="-apple-system"/>
                <a:ea typeface="-apple-system"/>
                <a:cs typeface="-apple-system"/>
              </a:rPr>
              <a:t>Exemplo</a:t>
            </a:r>
            <a:r>
              <a:rPr lang="en-US" sz="1600">
                <a:latin typeface="-apple-system"/>
                <a:ea typeface="-apple-system"/>
                <a:cs typeface="-apple-system"/>
              </a:rPr>
              <a:t> de Water </a:t>
            </a:r>
            <a:r>
              <a:rPr lang="en-US" sz="1600" err="1">
                <a:latin typeface="-apple-system"/>
                <a:ea typeface="-apple-system"/>
                <a:cs typeface="-apple-system"/>
              </a:rPr>
              <a:t>Devicr</a:t>
            </a:r>
            <a:r>
              <a:rPr lang="en-US" sz="1600">
                <a:latin typeface="-apple-system"/>
                <a:ea typeface="-apple-system"/>
                <a:cs typeface="-apple-system"/>
              </a:rPr>
              <a:t>.</a:t>
            </a:r>
            <a:br>
              <a:rPr lang="en-US" sz="1600">
                <a:latin typeface="-apple-system"/>
                <a:ea typeface="-apple-system"/>
                <a:cs typeface="-apple-system"/>
              </a:rPr>
            </a:br>
            <a:r>
              <a:rPr lang="en-US" sz="1600">
                <a:latin typeface="-apple-system"/>
                <a:ea typeface="-apple-system"/>
                <a:cs typeface="-apple-system"/>
              </a:rPr>
              <a:t>Ele </a:t>
            </a:r>
            <a:r>
              <a:rPr lang="en-US" sz="1600" err="1">
                <a:latin typeface="-apple-system"/>
                <a:ea typeface="-apple-system"/>
                <a:cs typeface="-apple-system"/>
              </a:rPr>
              <a:t>contém</a:t>
            </a:r>
            <a:r>
              <a:rPr lang="en-US" sz="1600">
                <a:latin typeface="-apple-system"/>
                <a:ea typeface="-apple-system"/>
                <a:cs typeface="-apple-system"/>
              </a:rPr>
              <a:t> </a:t>
            </a:r>
            <a:r>
              <a:rPr lang="en-US" sz="1600" err="1">
                <a:latin typeface="-apple-system"/>
                <a:ea typeface="-apple-system"/>
                <a:cs typeface="-apple-system"/>
              </a:rPr>
              <a:t>várias</a:t>
            </a:r>
            <a:r>
              <a:rPr lang="en-US" sz="1600">
                <a:latin typeface="-apple-system"/>
                <a:ea typeface="-apple-system"/>
                <a:cs typeface="-apple-system"/>
              </a:rPr>
              <a:t> </a:t>
            </a:r>
            <a:r>
              <a:rPr lang="en-US" sz="1600" err="1">
                <a:latin typeface="-apple-system"/>
                <a:ea typeface="-apple-system"/>
                <a:cs typeface="-apple-system"/>
              </a:rPr>
              <a:t>camadas</a:t>
            </a:r>
            <a:r>
              <a:rPr lang="en-US" sz="1600">
                <a:latin typeface="-apple-system"/>
                <a:ea typeface="-apple-system"/>
                <a:cs typeface="-apple-system"/>
              </a:rPr>
              <a:t> dele (</a:t>
            </a:r>
            <a:r>
              <a:rPr lang="en-US" sz="1600" err="1">
                <a:latin typeface="-apple-system"/>
                <a:ea typeface="-apple-system"/>
                <a:cs typeface="-apple-system"/>
              </a:rPr>
              <a:t>Medidor</a:t>
            </a:r>
            <a:r>
              <a:rPr lang="en-US" sz="1600">
                <a:latin typeface="-apple-system"/>
                <a:ea typeface="-apple-system"/>
                <a:cs typeface="-apple-system"/>
              </a:rPr>
              <a:t> de </a:t>
            </a:r>
            <a:r>
              <a:rPr lang="en-US" sz="1600" err="1">
                <a:latin typeface="-apple-system"/>
                <a:ea typeface="-apple-system"/>
                <a:cs typeface="-apple-system"/>
              </a:rPr>
              <a:t>Serviço</a:t>
            </a:r>
            <a:r>
              <a:rPr lang="en-US" sz="1600">
                <a:latin typeface="-apple-system"/>
                <a:ea typeface="-apple-system"/>
                <a:cs typeface="-apple-system"/>
              </a:rPr>
              <a:t>, </a:t>
            </a:r>
            <a:r>
              <a:rPr lang="en-US" sz="1600" err="1">
                <a:latin typeface="-apple-system"/>
                <a:ea typeface="-apple-system"/>
                <a:cs typeface="-apple-system"/>
              </a:rPr>
              <a:t>Válvula</a:t>
            </a:r>
            <a:r>
              <a:rPr lang="en-US" sz="1600">
                <a:latin typeface="-apple-system"/>
                <a:ea typeface="-apple-system"/>
                <a:cs typeface="-apple-system"/>
              </a:rPr>
              <a:t> de </a:t>
            </a:r>
            <a:r>
              <a:rPr lang="en-US" sz="1600" err="1">
                <a:latin typeface="-apple-system"/>
                <a:ea typeface="-apple-system"/>
                <a:cs typeface="-apple-system"/>
              </a:rPr>
              <a:t>Serviço</a:t>
            </a:r>
            <a:r>
              <a:rPr lang="en-US" sz="1600">
                <a:latin typeface="-apple-system"/>
                <a:ea typeface="-apple-system"/>
                <a:cs typeface="-apple-system"/>
              </a:rPr>
              <a:t>, </a:t>
            </a:r>
            <a:r>
              <a:rPr lang="en-US" sz="1600" err="1">
                <a:latin typeface="-apple-system"/>
                <a:ea typeface="-apple-system"/>
                <a:cs typeface="-apple-system"/>
              </a:rPr>
              <a:t>Válvula</a:t>
            </a:r>
            <a:r>
              <a:rPr lang="en-US" sz="1600">
                <a:latin typeface="-apple-system"/>
                <a:ea typeface="-apple-system"/>
                <a:cs typeface="-apple-system"/>
              </a:rPr>
              <a:t> do Sistema, </a:t>
            </a:r>
            <a:r>
              <a:rPr lang="en-US" sz="1600" err="1">
                <a:latin typeface="-apple-system"/>
                <a:ea typeface="-apple-system"/>
                <a:cs typeface="-apple-system"/>
              </a:rPr>
              <a:t>etc</a:t>
            </a:r>
            <a:r>
              <a:rPr lang="en-US" sz="1600">
                <a:latin typeface="-apple-system"/>
                <a:ea typeface="-apple-system"/>
                <a:cs typeface="-apple-system"/>
              </a:rPr>
              <a:t>).</a:t>
            </a:r>
            <a:br>
              <a:rPr lang="en-US" sz="1600">
                <a:latin typeface="-apple-system"/>
                <a:ea typeface="-apple-system"/>
                <a:cs typeface="-apple-system"/>
              </a:rPr>
            </a:br>
            <a:r>
              <a:rPr lang="en-US" sz="1600">
                <a:latin typeface="-apple-system"/>
                <a:ea typeface="-apple-system"/>
                <a:cs typeface="-apple-system"/>
              </a:rPr>
              <a:t>E </a:t>
            </a:r>
            <a:r>
              <a:rPr lang="en-US" sz="1600" err="1">
                <a:latin typeface="-apple-system"/>
                <a:ea typeface="-apple-system"/>
                <a:cs typeface="-apple-system"/>
              </a:rPr>
              <a:t>aplicou</a:t>
            </a:r>
            <a:r>
              <a:rPr lang="en-US" sz="1600">
                <a:latin typeface="-apple-system"/>
                <a:ea typeface="-apple-system"/>
                <a:cs typeface="-apple-system"/>
              </a:rPr>
              <a:t> </a:t>
            </a:r>
            <a:r>
              <a:rPr lang="en-US" sz="1600" err="1">
                <a:latin typeface="-apple-system"/>
                <a:ea typeface="-apple-system"/>
                <a:cs typeface="-apple-system"/>
              </a:rPr>
              <a:t>junção</a:t>
            </a:r>
            <a:r>
              <a:rPr lang="en-US" sz="1600">
                <a:latin typeface="-apple-system"/>
                <a:ea typeface="-apple-system"/>
                <a:cs typeface="-apple-system"/>
              </a:rPr>
              <a:t> de </a:t>
            </a:r>
            <a:r>
              <a:rPr lang="en-US" sz="1600" err="1">
                <a:latin typeface="-apple-system"/>
                <a:ea typeface="-apple-system"/>
                <a:cs typeface="-apple-system"/>
              </a:rPr>
              <a:t>água</a:t>
            </a:r>
            <a:r>
              <a:rPr lang="en-US" sz="1600">
                <a:latin typeface="-apple-system"/>
                <a:ea typeface="-apple-system"/>
                <a:cs typeface="-apple-system"/>
              </a:rPr>
              <a:t>.</a:t>
            </a:r>
            <a:br>
              <a:rPr lang="en-US" sz="1600">
                <a:latin typeface="-apple-system"/>
                <a:ea typeface="-apple-system"/>
                <a:cs typeface="-apple-system"/>
              </a:rPr>
            </a:br>
            <a:r>
              <a:rPr lang="en-US" sz="1600">
                <a:latin typeface="-apple-system"/>
                <a:ea typeface="-apple-system"/>
                <a:cs typeface="-apple-system"/>
              </a:rPr>
              <a:t>Ele </a:t>
            </a:r>
            <a:r>
              <a:rPr lang="en-US" sz="1600" err="1">
                <a:latin typeface="-apple-system"/>
                <a:ea typeface="-apple-system"/>
                <a:cs typeface="-apple-system"/>
              </a:rPr>
              <a:t>contém</a:t>
            </a:r>
            <a:r>
              <a:rPr lang="en-US" sz="1600">
                <a:latin typeface="-apple-system"/>
                <a:ea typeface="-apple-system"/>
                <a:cs typeface="-apple-system"/>
              </a:rPr>
              <a:t> </a:t>
            </a:r>
            <a:r>
              <a:rPr lang="en-US" sz="1600" err="1">
                <a:latin typeface="-apple-system"/>
                <a:ea typeface="-apple-system"/>
                <a:cs typeface="-apple-system"/>
              </a:rPr>
              <a:t>uma</a:t>
            </a:r>
            <a:r>
              <a:rPr lang="en-US" sz="1600">
                <a:latin typeface="-apple-system"/>
                <a:ea typeface="-apple-system"/>
                <a:cs typeface="-apple-system"/>
              </a:rPr>
              <a:t> </a:t>
            </a:r>
            <a:r>
              <a:rPr lang="en-US" sz="1600" err="1">
                <a:latin typeface="-apple-system"/>
                <a:ea typeface="-apple-system"/>
                <a:cs typeface="-apple-system"/>
              </a:rPr>
              <a:t>camada</a:t>
            </a:r>
            <a:r>
              <a:rPr lang="en-US" sz="1600">
                <a:latin typeface="-apple-system"/>
                <a:ea typeface="-apple-system"/>
                <a:cs typeface="-apple-system"/>
              </a:rPr>
              <a:t> de Fitting.</a:t>
            </a:r>
            <a:br>
              <a:rPr lang="en-US" sz="1600">
                <a:latin typeface="-apple-system"/>
                <a:ea typeface="-apple-system"/>
                <a:cs typeface="-apple-system"/>
              </a:rPr>
            </a:br>
            <a:r>
              <a:rPr lang="en-US" sz="1600" err="1">
                <a:latin typeface="-apple-system"/>
                <a:ea typeface="-apple-system"/>
                <a:cs typeface="-apple-system"/>
              </a:rPr>
              <a:t>Além</a:t>
            </a:r>
            <a:r>
              <a:rPr lang="en-US" sz="1600">
                <a:latin typeface="-apple-system"/>
                <a:ea typeface="-apple-system"/>
                <a:cs typeface="-apple-system"/>
              </a:rPr>
              <a:t> da rede de </a:t>
            </a:r>
            <a:r>
              <a:rPr lang="en-US" sz="1600" err="1">
                <a:latin typeface="-apple-system"/>
                <a:ea typeface="-apple-system"/>
                <a:cs typeface="-apple-system"/>
              </a:rPr>
              <a:t>Estruturas</a:t>
            </a:r>
            <a:r>
              <a:rPr lang="en-US" sz="1600">
                <a:latin typeface="-apple-system"/>
                <a:ea typeface="-apple-system"/>
                <a:cs typeface="-apple-system"/>
              </a:rPr>
              <a:t>.</a:t>
            </a:r>
            <a:br>
              <a:rPr lang="en-US" sz="1600">
                <a:latin typeface="-apple-system"/>
                <a:ea typeface="-apple-system"/>
                <a:cs typeface="-apple-system"/>
              </a:rPr>
            </a:br>
            <a:r>
              <a:rPr lang="en-US" sz="1600">
                <a:latin typeface="-apple-system"/>
                <a:ea typeface="-apple-system"/>
                <a:cs typeface="-apple-system"/>
              </a:rPr>
              <a:t>Ele se </a:t>
            </a:r>
            <a:r>
              <a:rPr lang="en-US" sz="1600" err="1">
                <a:latin typeface="-apple-system"/>
                <a:ea typeface="-apple-system"/>
                <a:cs typeface="-apple-system"/>
              </a:rPr>
              <a:t>enquadra</a:t>
            </a:r>
            <a:r>
              <a:rPr lang="en-US" sz="1600">
                <a:latin typeface="-apple-system"/>
                <a:ea typeface="-apple-system"/>
                <a:cs typeface="-apple-system"/>
              </a:rPr>
              <a:t> </a:t>
            </a:r>
            <a:r>
              <a:rPr lang="en-US" sz="1600" err="1">
                <a:latin typeface="-apple-system"/>
                <a:ea typeface="-apple-system"/>
                <a:cs typeface="-apple-system"/>
              </a:rPr>
              <a:t>nela</a:t>
            </a:r>
            <a:r>
              <a:rPr lang="en-US" sz="1600">
                <a:latin typeface="-apple-system"/>
                <a:ea typeface="-apple-system"/>
                <a:cs typeface="-apple-system"/>
              </a:rPr>
              <a:t>. </a:t>
            </a:r>
            <a:br>
              <a:rPr lang="en-US" sz="1600">
                <a:latin typeface="-apple-system"/>
                <a:ea typeface="-apple-system"/>
                <a:cs typeface="-apple-system"/>
              </a:rPr>
            </a:br>
            <a:r>
              <a:rPr lang="en-US" sz="1600" err="1">
                <a:latin typeface="-apple-system"/>
                <a:ea typeface="-apple-system"/>
                <a:cs typeface="-apple-system"/>
              </a:rPr>
              <a:t>Limite</a:t>
            </a:r>
            <a:r>
              <a:rPr lang="en-US" sz="1600">
                <a:latin typeface="-apple-system"/>
                <a:ea typeface="-apple-system"/>
                <a:cs typeface="-apple-system"/>
              </a:rPr>
              <a:t> </a:t>
            </a:r>
            <a:r>
              <a:rPr lang="en-US" sz="1600" err="1">
                <a:latin typeface="-apple-system"/>
                <a:ea typeface="-apple-system"/>
                <a:cs typeface="-apple-system"/>
              </a:rPr>
              <a:t>Estrutural</a:t>
            </a:r>
            <a:r>
              <a:rPr lang="en-US" sz="1600">
                <a:latin typeface="-apple-system"/>
                <a:ea typeface="-apple-system"/>
                <a:cs typeface="-apple-system"/>
              </a:rPr>
              <a:t> </a:t>
            </a:r>
            <a:br>
              <a:rPr lang="en-US" sz="1600">
                <a:latin typeface="-apple-system"/>
                <a:ea typeface="-apple-system"/>
                <a:cs typeface="-apple-system"/>
              </a:rPr>
            </a:br>
            <a:r>
              <a:rPr lang="en-US" sz="1600" err="1">
                <a:latin typeface="-apple-system"/>
                <a:ea typeface="-apple-system"/>
                <a:cs typeface="-apple-system"/>
              </a:rPr>
              <a:t>Linha</a:t>
            </a:r>
            <a:r>
              <a:rPr lang="en-US" sz="1600">
                <a:latin typeface="-apple-system"/>
                <a:ea typeface="-apple-system"/>
                <a:cs typeface="-apple-system"/>
              </a:rPr>
              <a:t> </a:t>
            </a:r>
            <a:r>
              <a:rPr lang="en-US" sz="1600" err="1">
                <a:latin typeface="-apple-system"/>
                <a:ea typeface="-apple-system"/>
                <a:cs typeface="-apple-system"/>
              </a:rPr>
              <a:t>estrutural</a:t>
            </a:r>
            <a:r>
              <a:rPr lang="en-US" sz="1600">
                <a:latin typeface="-apple-system"/>
                <a:ea typeface="-apple-system"/>
                <a:cs typeface="-apple-system"/>
              </a:rPr>
              <a:t> </a:t>
            </a:r>
            <a:br>
              <a:rPr lang="en-US" sz="1600">
                <a:latin typeface="-apple-system"/>
                <a:ea typeface="-apple-system"/>
                <a:cs typeface="-apple-system"/>
              </a:rPr>
            </a:br>
            <a:r>
              <a:rPr lang="en-US" sz="1600" err="1">
                <a:latin typeface="-apple-system"/>
                <a:ea typeface="-apple-system"/>
                <a:cs typeface="-apple-system"/>
              </a:rPr>
              <a:t>Junção</a:t>
            </a:r>
            <a:r>
              <a:rPr lang="en-US" sz="1600">
                <a:latin typeface="-apple-system"/>
                <a:ea typeface="-apple-system"/>
                <a:cs typeface="-apple-system"/>
              </a:rPr>
              <a:t> </a:t>
            </a:r>
            <a:r>
              <a:rPr lang="en-US" sz="1600" err="1">
                <a:latin typeface="-apple-system"/>
                <a:ea typeface="-apple-system"/>
                <a:cs typeface="-apple-system"/>
              </a:rPr>
              <a:t>estrutural</a:t>
            </a:r>
            <a:r>
              <a:rPr lang="en-US" sz="1600">
                <a:latin typeface="-apple-system"/>
                <a:ea typeface="-apple-system"/>
                <a:cs typeface="-apple-system"/>
              </a:rPr>
              <a:t> </a:t>
            </a:r>
            <a:br>
              <a:rPr lang="en-US" sz="1600">
                <a:latin typeface="-apple-system"/>
                <a:ea typeface="-apple-system"/>
                <a:cs typeface="-apple-system"/>
              </a:rPr>
            </a:br>
            <a:r>
              <a:rPr lang="en-US" sz="1600">
                <a:latin typeface="-apple-system"/>
                <a:ea typeface="-apple-system"/>
                <a:cs typeface="-apple-system"/>
              </a:rPr>
              <a:t>Eles </a:t>
            </a:r>
            <a:r>
              <a:rPr lang="en-US" sz="1600" err="1">
                <a:latin typeface="-apple-system"/>
                <a:ea typeface="-apple-system"/>
                <a:cs typeface="-apple-system"/>
              </a:rPr>
              <a:t>não</a:t>
            </a:r>
            <a:r>
              <a:rPr lang="en-US" sz="1600">
                <a:latin typeface="-apple-system"/>
                <a:ea typeface="-apple-system"/>
                <a:cs typeface="-apple-system"/>
              </a:rPr>
              <a:t> </a:t>
            </a:r>
            <a:r>
              <a:rPr lang="en-US" sz="1600" err="1">
                <a:latin typeface="-apple-system"/>
                <a:ea typeface="-apple-system"/>
                <a:cs typeface="-apple-system"/>
              </a:rPr>
              <a:t>passam</a:t>
            </a:r>
            <a:r>
              <a:rPr lang="en-US" sz="1600">
                <a:latin typeface="-apple-system"/>
                <a:ea typeface="-apple-system"/>
                <a:cs typeface="-apple-system"/>
              </a:rPr>
              <a:t> de </a:t>
            </a:r>
            <a:r>
              <a:rPr lang="en-US" sz="1600" err="1">
                <a:latin typeface="-apple-system"/>
                <a:ea typeface="-apple-system"/>
                <a:cs typeface="-apple-system"/>
              </a:rPr>
              <a:t>suplementos</a:t>
            </a:r>
            <a:r>
              <a:rPr lang="en-US" sz="1600">
                <a:latin typeface="-apple-system"/>
                <a:ea typeface="-apple-system"/>
                <a:cs typeface="-apple-system"/>
              </a:rPr>
              <a:t> para a Domanie Network</a:t>
            </a:r>
            <a:br>
              <a:rPr lang="en-US" sz="1600">
                <a:latin typeface="-apple-system"/>
                <a:ea typeface="-apple-system"/>
                <a:cs typeface="-apple-system"/>
              </a:rPr>
            </a:br>
            <a:r>
              <a:rPr lang="en-US" sz="1600">
                <a:latin typeface="-apple-system"/>
                <a:ea typeface="-apple-system"/>
                <a:cs typeface="-apple-system"/>
              </a:rPr>
              <a:t>Boa </a:t>
            </a:r>
            <a:r>
              <a:rPr lang="en-US" sz="1600" err="1">
                <a:latin typeface="-apple-system"/>
                <a:ea typeface="-apple-system"/>
                <a:cs typeface="-apple-system"/>
              </a:rPr>
              <a:t>sorte</a:t>
            </a:r>
            <a:r>
              <a:rPr lang="en-US" sz="1600">
                <a:latin typeface="-apple-system"/>
                <a:ea typeface="-apple-system"/>
                <a:cs typeface="-apple-system"/>
              </a:rPr>
              <a:t> a </a:t>
            </a:r>
            <a:r>
              <a:rPr lang="en-US" sz="1600" err="1">
                <a:latin typeface="-apple-system"/>
                <a:ea typeface="-apple-system"/>
                <a:cs typeface="-apple-system"/>
              </a:rPr>
              <a:t>todos</a:t>
            </a:r>
            <a:br>
              <a:rPr lang="en-US" sz="1600">
                <a:latin typeface="-apple-system"/>
                <a:ea typeface="-apple-system"/>
                <a:cs typeface="-apple-system"/>
              </a:rPr>
            </a:br>
            <a:r>
              <a:rPr lang="en-US" sz="1600">
                <a:latin typeface="-apple-system"/>
                <a:ea typeface="-apple-system"/>
                <a:cs typeface="-apple-system"/>
              </a:rPr>
              <a:t>Painel 📊 de Link </a:t>
            </a:r>
            <a:r>
              <a:rPr lang="en-US" sz="1600" b="1">
                <a:solidFill>
                  <a:srgbClr val="0A66C2"/>
                </a:solidFill>
                <a:latin typeface="-apple-system"/>
                <a:ea typeface="-apple-system"/>
                <a:cs typeface="-apple-system"/>
                <a:hlinkClick r:id="rId2"/>
              </a:rPr>
              <a:t>https://lnkd.in/dN4vAkT6</a:t>
            </a:r>
            <a:r>
              <a:rPr lang="en-US" sz="1600">
                <a:latin typeface="-apple-system"/>
                <a:ea typeface="-apple-system"/>
                <a:cs typeface="-apple-system"/>
              </a:rPr>
              <a:t> </a:t>
            </a:r>
            <a:br>
              <a:rPr lang="en-US" sz="1600">
                <a:latin typeface="-apple-system"/>
                <a:ea typeface="-apple-system"/>
                <a:cs typeface="-apple-system"/>
              </a:rPr>
            </a:br>
            <a:r>
              <a:rPr lang="en-US" sz="1600">
                <a:latin typeface="-apple-system"/>
                <a:ea typeface="-apple-system"/>
                <a:cs typeface="-apple-system"/>
              </a:rPr>
              <a:t>Link </a:t>
            </a:r>
            <a:r>
              <a:rPr lang="en-US" sz="1600" err="1">
                <a:latin typeface="-apple-system"/>
                <a:ea typeface="-apple-system"/>
                <a:cs typeface="-apple-system"/>
              </a:rPr>
              <a:t>Aplicativo</a:t>
            </a:r>
            <a:r>
              <a:rPr lang="en-US" sz="1600">
                <a:latin typeface="-apple-system"/>
                <a:ea typeface="-apple-system"/>
                <a:cs typeface="-apple-system"/>
              </a:rPr>
              <a:t>👨 💻 </a:t>
            </a:r>
            <a:r>
              <a:rPr lang="en-US" sz="1600" err="1">
                <a:latin typeface="-apple-system"/>
                <a:ea typeface="-apple-system"/>
                <a:cs typeface="-apple-system"/>
              </a:rPr>
              <a:t>Instantâneo</a:t>
            </a:r>
            <a:r>
              <a:rPr lang="en-US" sz="1600">
                <a:latin typeface="-apple-system"/>
                <a:ea typeface="-apple-system"/>
                <a:cs typeface="-apple-system"/>
              </a:rPr>
              <a:t> </a:t>
            </a:r>
            <a:r>
              <a:rPr lang="en-US" sz="1600" b="1">
                <a:solidFill>
                  <a:srgbClr val="0A66C2"/>
                </a:solidFill>
                <a:latin typeface="-apple-system"/>
                <a:ea typeface="-apple-system"/>
                <a:cs typeface="-apple-system"/>
                <a:hlinkClick r:id="rId3"/>
              </a:rPr>
              <a:t>https://lnkd.in/dFCjEkym</a:t>
            </a:r>
            <a:endParaRPr lang="en-US" sz="1600"/>
          </a:p>
          <a:p>
            <a:pPr algn="ctr"/>
            <a:endParaRPr lang="pt-BR"/>
          </a:p>
        </p:txBody>
      </p:sp>
      <p:pic>
        <p:nvPicPr>
          <p:cNvPr id="5" name="Imagem 4" descr="Interface gráfica do usuário, Aplicativo&#10;&#10;O conteúdo gerado por IA pode estar incorreto.">
            <a:extLst>
              <a:ext uri="{FF2B5EF4-FFF2-40B4-BE49-F238E27FC236}">
                <a16:creationId xmlns:a16="http://schemas.microsoft.com/office/drawing/2014/main" id="{DEC2EEA2-C010-47FD-0C96-9D30B39E2995}"/>
              </a:ext>
            </a:extLst>
          </p:cNvPr>
          <p:cNvPicPr>
            <a:picLocks noChangeAspect="1"/>
          </p:cNvPicPr>
          <p:nvPr/>
        </p:nvPicPr>
        <p:blipFill>
          <a:blip r:embed="rId4"/>
          <a:stretch>
            <a:fillRect/>
          </a:stretch>
        </p:blipFill>
        <p:spPr>
          <a:xfrm>
            <a:off x="16264" y="188075"/>
            <a:ext cx="4352566" cy="4325248"/>
          </a:xfrm>
          <a:prstGeom prst="rect">
            <a:avLst/>
          </a:prstGeom>
        </p:spPr>
      </p:pic>
      <p:sp>
        <p:nvSpPr>
          <p:cNvPr id="6" name="CaixaDeTexto 5">
            <a:extLst>
              <a:ext uri="{FF2B5EF4-FFF2-40B4-BE49-F238E27FC236}">
                <a16:creationId xmlns:a16="http://schemas.microsoft.com/office/drawing/2014/main" id="{F58561D1-B3F9-B6BC-3D76-01497B16F463}"/>
              </a:ext>
            </a:extLst>
          </p:cNvPr>
          <p:cNvSpPr txBox="1"/>
          <p:nvPr/>
        </p:nvSpPr>
        <p:spPr>
          <a:xfrm>
            <a:off x="258792" y="4521679"/>
            <a:ext cx="3249284" cy="25700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https://www.linkedin.com/posts/ibrahim-nabil-elsayed_gis-maps-utility-activity-7235662105775882240-50Il?utm_source=share&amp;utm_medium=member_desktop&amp;rcm=ACoAAAMQtAUB5UouXqdBJgo_gWpNVZ7Imay_2Tg</a:t>
            </a:r>
          </a:p>
          <a:p>
            <a:pPr algn="ctr"/>
            <a:endParaRPr lang="pt-BR"/>
          </a:p>
        </p:txBody>
      </p:sp>
    </p:spTree>
    <p:extLst>
      <p:ext uri="{BB962C8B-B14F-4D97-AF65-F5344CB8AC3E}">
        <p14:creationId xmlns:p14="http://schemas.microsoft.com/office/powerpoint/2010/main" val="291298969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m 3" descr="Não foi fornecido texto alternativo para esta imagem">
            <a:extLst>
              <a:ext uri="{FF2B5EF4-FFF2-40B4-BE49-F238E27FC236}">
                <a16:creationId xmlns:a16="http://schemas.microsoft.com/office/drawing/2014/main" id="{D8D04873-3C7B-EDD9-4946-CDD385AA72D2}"/>
              </a:ext>
            </a:extLst>
          </p:cNvPr>
          <p:cNvPicPr>
            <a:picLocks noChangeAspect="1"/>
          </p:cNvPicPr>
          <p:nvPr/>
        </p:nvPicPr>
        <p:blipFill>
          <a:blip r:embed="rId2"/>
          <a:stretch>
            <a:fillRect/>
          </a:stretch>
        </p:blipFill>
        <p:spPr>
          <a:xfrm>
            <a:off x="316302" y="473644"/>
            <a:ext cx="3881887" cy="5378750"/>
          </a:xfrm>
          <a:prstGeom prst="rect">
            <a:avLst/>
          </a:prstGeom>
        </p:spPr>
      </p:pic>
      <p:sp>
        <p:nvSpPr>
          <p:cNvPr id="6" name="CaixaDeTexto 5">
            <a:extLst>
              <a:ext uri="{FF2B5EF4-FFF2-40B4-BE49-F238E27FC236}">
                <a16:creationId xmlns:a16="http://schemas.microsoft.com/office/drawing/2014/main" id="{A09E2039-0DCF-2DE2-C19F-F3B079D007A9}"/>
              </a:ext>
            </a:extLst>
          </p:cNvPr>
          <p:cNvSpPr txBox="1"/>
          <p:nvPr/>
        </p:nvSpPr>
        <p:spPr>
          <a:xfrm>
            <a:off x="5420264" y="4924245"/>
            <a:ext cx="60960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https://www.linkedin.com/posts/mashford-mahute-012487178_gis-gis-qgis-activity-7235259361772617728-85Ns?utm_source=share&amp;utm_medium=member_desktop&amp;rcm=ACoAAAMQtAUB5UouXqdBJgo_gWpNVZ7Imay_2Tg</a:t>
            </a:r>
          </a:p>
          <a:p>
            <a:pPr algn="ctr"/>
            <a:endParaRPr lang="pt-BR"/>
          </a:p>
        </p:txBody>
      </p:sp>
    </p:spTree>
    <p:extLst>
      <p:ext uri="{BB962C8B-B14F-4D97-AF65-F5344CB8AC3E}">
        <p14:creationId xmlns:p14="http://schemas.microsoft.com/office/powerpoint/2010/main" val="56094734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FBBC1700-07DC-F712-0F1B-73BF86DB9AD5}"/>
              </a:ext>
            </a:extLst>
          </p:cNvPr>
          <p:cNvSpPr txBox="1"/>
          <p:nvPr/>
        </p:nvSpPr>
        <p:spPr>
          <a:xfrm>
            <a:off x="5664679" y="2537604"/>
            <a:ext cx="609600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Welcome back to GIS Diaries. In the last post we stepped into Utility GIS, how it emerged and how it is different from regular GIS. In this post we will see about what the significance of data model in Utility GIS is. If you think of GIS implementation or GIS project, think of RedPlanet Solutions</a:t>
            </a:r>
          </a:p>
          <a:p>
            <a:pPr algn="ctr"/>
            <a:endParaRPr lang="pt-BR"/>
          </a:p>
        </p:txBody>
      </p:sp>
      <p:pic>
        <p:nvPicPr>
          <p:cNvPr id="5" name="Imagem 4" descr="Interface gráfica do usuário, Texto, Aplicativo, Email&#10;&#10;O conteúdo gerado por IA pode estar incorreto.">
            <a:extLst>
              <a:ext uri="{FF2B5EF4-FFF2-40B4-BE49-F238E27FC236}">
                <a16:creationId xmlns:a16="http://schemas.microsoft.com/office/drawing/2014/main" id="{7F79D1F4-5536-9687-386D-F4BBB64CDBB2}"/>
              </a:ext>
            </a:extLst>
          </p:cNvPr>
          <p:cNvPicPr>
            <a:picLocks noChangeAspect="1"/>
          </p:cNvPicPr>
          <p:nvPr/>
        </p:nvPicPr>
        <p:blipFill>
          <a:blip r:embed="rId2"/>
          <a:stretch>
            <a:fillRect/>
          </a:stretch>
        </p:blipFill>
        <p:spPr>
          <a:xfrm>
            <a:off x="557393" y="1100767"/>
            <a:ext cx="4995594" cy="3707562"/>
          </a:xfrm>
          <a:prstGeom prst="rect">
            <a:avLst/>
          </a:prstGeom>
        </p:spPr>
      </p:pic>
      <p:sp>
        <p:nvSpPr>
          <p:cNvPr id="6" name="CaixaDeTexto 5">
            <a:extLst>
              <a:ext uri="{FF2B5EF4-FFF2-40B4-BE49-F238E27FC236}">
                <a16:creationId xmlns:a16="http://schemas.microsoft.com/office/drawing/2014/main" id="{A601037F-42D8-BC8E-B8A0-2AE7F267B3F1}"/>
              </a:ext>
            </a:extLst>
          </p:cNvPr>
          <p:cNvSpPr txBox="1"/>
          <p:nvPr/>
        </p:nvSpPr>
        <p:spPr>
          <a:xfrm>
            <a:off x="747623" y="5168660"/>
            <a:ext cx="60960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https://www.linkedin.com/posts/ehanthalingam-gopaul_gis-utilitygis-redplanet-activity-7238516500674846720-9jyz?utm_source=share&amp;utm_medium=member_desktop&amp;rcm=ACoAAAMQtAUB5UouXqdBJgo_gWpNVZ7Imay_2Tg</a:t>
            </a:r>
          </a:p>
          <a:p>
            <a:pPr algn="ctr"/>
            <a:endParaRPr lang="pt-BR"/>
          </a:p>
        </p:txBody>
      </p:sp>
    </p:spTree>
    <p:extLst>
      <p:ext uri="{BB962C8B-B14F-4D97-AF65-F5344CB8AC3E}">
        <p14:creationId xmlns:p14="http://schemas.microsoft.com/office/powerpoint/2010/main" val="366991295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54987CAF-EB95-78D8-7C63-8BEA7A518265}"/>
              </a:ext>
            </a:extLst>
          </p:cNvPr>
          <p:cNvSpPr txBox="1"/>
          <p:nvPr/>
        </p:nvSpPr>
        <p:spPr>
          <a:xfrm>
            <a:off x="6096000" y="7188"/>
            <a:ext cx="6096000" cy="72635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err="1">
                <a:latin typeface="-apple-system"/>
                <a:ea typeface="-apple-system"/>
                <a:cs typeface="-apple-system"/>
              </a:rPr>
              <a:t>Estou</a:t>
            </a:r>
            <a:r>
              <a:rPr lang="en-US" sz="1600">
                <a:latin typeface="-apple-system"/>
                <a:ea typeface="-apple-system"/>
                <a:cs typeface="-apple-system"/>
              </a:rPr>
              <a:t> </a:t>
            </a:r>
            <a:r>
              <a:rPr lang="en-US" sz="1600" err="1">
                <a:latin typeface="-apple-system"/>
                <a:ea typeface="-apple-system"/>
                <a:cs typeface="-apple-system"/>
              </a:rPr>
              <a:t>muito</a:t>
            </a:r>
            <a:r>
              <a:rPr lang="en-US" sz="1600">
                <a:latin typeface="-apple-system"/>
                <a:ea typeface="-apple-system"/>
                <a:cs typeface="-apple-system"/>
              </a:rPr>
              <a:t> </a:t>
            </a:r>
            <a:r>
              <a:rPr lang="en-US" sz="1600" err="1">
                <a:latin typeface="-apple-system"/>
                <a:ea typeface="-apple-system"/>
                <a:cs typeface="-apple-system"/>
              </a:rPr>
              <a:t>contente</a:t>
            </a:r>
            <a:r>
              <a:rPr lang="en-US" sz="1600">
                <a:latin typeface="-apple-system"/>
                <a:ea typeface="-apple-system"/>
                <a:cs typeface="-apple-system"/>
              </a:rPr>
              <a:t> </a:t>
            </a:r>
            <a:r>
              <a:rPr lang="en-US" sz="1600" err="1">
                <a:latin typeface="-apple-system"/>
                <a:ea typeface="-apple-system"/>
                <a:cs typeface="-apple-system"/>
              </a:rPr>
              <a:t>em</a:t>
            </a:r>
            <a:r>
              <a:rPr lang="en-US" sz="1600">
                <a:latin typeface="-apple-system"/>
                <a:ea typeface="-apple-system"/>
                <a:cs typeface="-apple-system"/>
              </a:rPr>
              <a:t> </a:t>
            </a:r>
            <a:r>
              <a:rPr lang="en-US" sz="1600" err="1">
                <a:latin typeface="-apple-system"/>
                <a:ea typeface="-apple-system"/>
                <a:cs typeface="-apple-system"/>
              </a:rPr>
              <a:t>apresentar</a:t>
            </a:r>
            <a:r>
              <a:rPr lang="en-US" sz="1600">
                <a:latin typeface="-apple-system"/>
                <a:ea typeface="-apple-system"/>
                <a:cs typeface="-apple-system"/>
              </a:rPr>
              <a:t> o ILOVEGIS, </a:t>
            </a:r>
            <a:r>
              <a:rPr lang="en-US" sz="1600" err="1">
                <a:latin typeface="-apple-system"/>
                <a:ea typeface="-apple-system"/>
                <a:cs typeface="-apple-system"/>
              </a:rPr>
              <a:t>uma</a:t>
            </a:r>
            <a:r>
              <a:rPr lang="en-US" sz="1600">
                <a:latin typeface="-apple-system"/>
                <a:ea typeface="-apple-system"/>
                <a:cs typeface="-apple-system"/>
              </a:rPr>
              <a:t> ferramenta </a:t>
            </a:r>
            <a:r>
              <a:rPr lang="en-US" sz="1600" err="1">
                <a:latin typeface="-apple-system"/>
                <a:ea typeface="-apple-system"/>
                <a:cs typeface="-apple-system"/>
              </a:rPr>
              <a:t>inovadora</a:t>
            </a:r>
            <a:r>
              <a:rPr lang="en-US" sz="1600">
                <a:latin typeface="-apple-system"/>
                <a:ea typeface="-apple-system"/>
                <a:cs typeface="-apple-system"/>
              </a:rPr>
              <a:t> para </a:t>
            </a:r>
            <a:r>
              <a:rPr lang="en-US" sz="1600" err="1">
                <a:latin typeface="-apple-system"/>
                <a:ea typeface="-apple-system"/>
                <a:cs typeface="-apple-system"/>
              </a:rPr>
              <a:t>gerar</a:t>
            </a:r>
            <a:r>
              <a:rPr lang="en-US" sz="1600">
                <a:latin typeface="-apple-system"/>
                <a:ea typeface="-apple-system"/>
                <a:cs typeface="-apple-system"/>
              </a:rPr>
              <a:t> </a:t>
            </a:r>
            <a:r>
              <a:rPr lang="en-US" sz="1600" err="1">
                <a:latin typeface="-apple-system"/>
                <a:ea typeface="-apple-system"/>
                <a:cs typeface="-apple-system"/>
              </a:rPr>
              <a:t>relatórios</a:t>
            </a:r>
            <a:r>
              <a:rPr lang="en-US" sz="1600">
                <a:latin typeface="-apple-system"/>
                <a:ea typeface="-apple-system"/>
                <a:cs typeface="-apple-system"/>
              </a:rPr>
              <a:t> de </a:t>
            </a:r>
            <a:r>
              <a:rPr lang="en-US" sz="1600" err="1">
                <a:latin typeface="-apple-system"/>
                <a:ea typeface="-apple-system"/>
                <a:cs typeface="-apple-system"/>
              </a:rPr>
              <a:t>informações</a:t>
            </a:r>
            <a:r>
              <a:rPr lang="en-US" sz="1600">
                <a:latin typeface="-apple-system"/>
                <a:ea typeface="-apple-system"/>
                <a:cs typeface="-apple-system"/>
              </a:rPr>
              <a:t> </a:t>
            </a:r>
            <a:r>
              <a:rPr lang="en-US" sz="1600" err="1">
                <a:latin typeface="-apple-system"/>
                <a:ea typeface="-apple-system"/>
                <a:cs typeface="-apple-system"/>
              </a:rPr>
              <a:t>geográficas</a:t>
            </a:r>
            <a:r>
              <a:rPr lang="en-US" sz="1600">
                <a:latin typeface="-apple-system"/>
                <a:ea typeface="-apple-system"/>
                <a:cs typeface="-apple-system"/>
              </a:rPr>
              <a:t>. </a:t>
            </a:r>
            <a:br>
              <a:rPr lang="en-US" sz="1600">
                <a:latin typeface="-apple-system"/>
                <a:ea typeface="-apple-system"/>
                <a:cs typeface="-apple-system"/>
              </a:rPr>
            </a:br>
            <a:r>
              <a:rPr lang="en-US" sz="1600" err="1">
                <a:latin typeface="-apple-system"/>
                <a:ea typeface="-apple-system"/>
                <a:cs typeface="-apple-system"/>
              </a:rPr>
              <a:t>Acesse</a:t>
            </a:r>
            <a:r>
              <a:rPr lang="en-US" sz="1600">
                <a:latin typeface="-apple-system"/>
                <a:ea typeface="-apple-system"/>
                <a:cs typeface="-apple-system"/>
              </a:rPr>
              <a:t> o site: </a:t>
            </a:r>
            <a:r>
              <a:rPr lang="en-US" sz="1600" b="1">
                <a:solidFill>
                  <a:srgbClr val="0A66C2"/>
                </a:solidFill>
                <a:latin typeface="-apple-system"/>
                <a:ea typeface="-apple-system"/>
                <a:cs typeface="-apple-system"/>
                <a:hlinkClick r:id="rId2"/>
              </a:rPr>
              <a:t>ilovegis.com.br</a:t>
            </a:r>
            <a:br>
              <a:rPr lang="en-US" sz="1600">
                <a:latin typeface="-apple-system"/>
                <a:ea typeface="-apple-system"/>
                <a:cs typeface="-apple-system"/>
              </a:rPr>
            </a:br>
            <a:br>
              <a:rPr lang="en-US" sz="1600">
                <a:latin typeface="-apple-system"/>
                <a:ea typeface="-apple-system"/>
                <a:cs typeface="-apple-system"/>
              </a:rPr>
            </a:br>
            <a:r>
              <a:rPr lang="en-US" sz="1600" err="1">
                <a:latin typeface="-apple-system"/>
                <a:ea typeface="-apple-system"/>
                <a:cs typeface="-apple-system"/>
              </a:rPr>
              <a:t>Desenvolvi</a:t>
            </a:r>
            <a:r>
              <a:rPr lang="en-US" sz="1600">
                <a:latin typeface="-apple-system"/>
                <a:ea typeface="-apple-system"/>
                <a:cs typeface="-apple-system"/>
              </a:rPr>
              <a:t> </a:t>
            </a:r>
            <a:r>
              <a:rPr lang="en-US" sz="1600" err="1">
                <a:latin typeface="-apple-system"/>
                <a:ea typeface="-apple-system"/>
                <a:cs typeface="-apple-system"/>
              </a:rPr>
              <a:t>essa</a:t>
            </a:r>
            <a:r>
              <a:rPr lang="en-US" sz="1600">
                <a:latin typeface="-apple-system"/>
                <a:ea typeface="-apple-system"/>
                <a:cs typeface="-apple-system"/>
              </a:rPr>
              <a:t> </a:t>
            </a:r>
            <a:r>
              <a:rPr lang="en-US" sz="1600" err="1">
                <a:latin typeface="-apple-system"/>
                <a:ea typeface="-apple-system"/>
                <a:cs typeface="-apple-system"/>
              </a:rPr>
              <a:t>solução</a:t>
            </a:r>
            <a:r>
              <a:rPr lang="en-US" sz="1600">
                <a:latin typeface="-apple-system"/>
                <a:ea typeface="-apple-system"/>
                <a:cs typeface="-apple-system"/>
              </a:rPr>
              <a:t> para </a:t>
            </a:r>
            <a:r>
              <a:rPr lang="en-US" sz="1600" err="1">
                <a:latin typeface="-apple-system"/>
                <a:ea typeface="-apple-system"/>
                <a:cs typeface="-apple-system"/>
              </a:rPr>
              <a:t>facilitar</a:t>
            </a:r>
            <a:r>
              <a:rPr lang="en-US" sz="1600">
                <a:latin typeface="-apple-system"/>
                <a:ea typeface="-apple-system"/>
                <a:cs typeface="-apple-system"/>
              </a:rPr>
              <a:t> e </a:t>
            </a:r>
            <a:r>
              <a:rPr lang="en-US" sz="1600" err="1">
                <a:latin typeface="-apple-system"/>
                <a:ea typeface="-apple-system"/>
                <a:cs typeface="-apple-system"/>
              </a:rPr>
              <a:t>otimizar</a:t>
            </a:r>
            <a:r>
              <a:rPr lang="en-US" sz="1600">
                <a:latin typeface="-apple-system"/>
                <a:ea typeface="-apple-system"/>
                <a:cs typeface="-apple-system"/>
              </a:rPr>
              <a:t> o </a:t>
            </a:r>
            <a:r>
              <a:rPr lang="en-US" sz="1600" err="1">
                <a:latin typeface="-apple-system"/>
                <a:ea typeface="-apple-system"/>
                <a:cs typeface="-apple-system"/>
              </a:rPr>
              <a:t>trabalho</a:t>
            </a:r>
            <a:r>
              <a:rPr lang="en-US" sz="1600">
                <a:latin typeface="-apple-system"/>
                <a:ea typeface="-apple-system"/>
                <a:cs typeface="-apple-system"/>
              </a:rPr>
              <a:t> de </a:t>
            </a:r>
            <a:r>
              <a:rPr lang="en-US" sz="1600" err="1">
                <a:latin typeface="-apple-system"/>
                <a:ea typeface="-apple-system"/>
                <a:cs typeface="-apple-system"/>
              </a:rPr>
              <a:t>consultores</a:t>
            </a:r>
            <a:r>
              <a:rPr lang="en-US" sz="1600">
                <a:latin typeface="-apple-system"/>
                <a:ea typeface="-apple-system"/>
                <a:cs typeface="-apple-system"/>
              </a:rPr>
              <a:t> </a:t>
            </a:r>
            <a:r>
              <a:rPr lang="en-US" sz="1600" err="1">
                <a:latin typeface="-apple-system"/>
                <a:ea typeface="-apple-system"/>
                <a:cs typeface="-apple-system"/>
              </a:rPr>
              <a:t>ambientais</a:t>
            </a:r>
            <a:r>
              <a:rPr lang="en-US" sz="1600">
                <a:latin typeface="-apple-system"/>
                <a:ea typeface="-apple-system"/>
                <a:cs typeface="-apple-system"/>
              </a:rPr>
              <a:t> </a:t>
            </a:r>
            <a:r>
              <a:rPr lang="en-US" sz="1600" err="1">
                <a:latin typeface="-apple-system"/>
                <a:ea typeface="-apple-system"/>
                <a:cs typeface="-apple-system"/>
              </a:rPr>
              <a:t>que</a:t>
            </a:r>
            <a:r>
              <a:rPr lang="en-US" sz="1600">
                <a:latin typeface="-apple-system"/>
                <a:ea typeface="-apple-system"/>
                <a:cs typeface="-apple-system"/>
              </a:rPr>
              <a:t> </a:t>
            </a:r>
            <a:r>
              <a:rPr lang="en-US" sz="1600" err="1">
                <a:latin typeface="-apple-system"/>
                <a:ea typeface="-apple-system"/>
                <a:cs typeface="-apple-system"/>
              </a:rPr>
              <a:t>precisam</a:t>
            </a:r>
            <a:r>
              <a:rPr lang="en-US" sz="1600">
                <a:latin typeface="-apple-system"/>
                <a:ea typeface="-apple-system"/>
                <a:cs typeface="-apple-system"/>
              </a:rPr>
              <a:t> de </a:t>
            </a:r>
            <a:r>
              <a:rPr lang="en-US" sz="1600" err="1">
                <a:latin typeface="-apple-system"/>
                <a:ea typeface="-apple-system"/>
                <a:cs typeface="-apple-system"/>
              </a:rPr>
              <a:t>análises</a:t>
            </a:r>
            <a:r>
              <a:rPr lang="en-US" sz="1600">
                <a:latin typeface="-apple-system"/>
                <a:ea typeface="-apple-system"/>
                <a:cs typeface="-apple-system"/>
              </a:rPr>
              <a:t> </a:t>
            </a:r>
            <a:r>
              <a:rPr lang="en-US" sz="1600" err="1">
                <a:latin typeface="-apple-system"/>
                <a:ea typeface="-apple-system"/>
                <a:cs typeface="-apple-system"/>
              </a:rPr>
              <a:t>espaciais</a:t>
            </a:r>
            <a:r>
              <a:rPr lang="en-US" sz="1600">
                <a:latin typeface="-apple-system"/>
                <a:ea typeface="-apple-system"/>
                <a:cs typeface="-apple-system"/>
              </a:rPr>
              <a:t>, mas </a:t>
            </a:r>
            <a:r>
              <a:rPr lang="en-US" sz="1600" err="1">
                <a:latin typeface="-apple-system"/>
                <a:ea typeface="-apple-system"/>
                <a:cs typeface="-apple-system"/>
              </a:rPr>
              <a:t>não</a:t>
            </a:r>
            <a:r>
              <a:rPr lang="en-US" sz="1600">
                <a:latin typeface="-apple-system"/>
                <a:ea typeface="-apple-system"/>
                <a:cs typeface="-apple-system"/>
              </a:rPr>
              <a:t> </a:t>
            </a:r>
            <a:r>
              <a:rPr lang="en-US" sz="1600" err="1">
                <a:latin typeface="-apple-system"/>
                <a:ea typeface="-apple-system"/>
                <a:cs typeface="-apple-system"/>
              </a:rPr>
              <a:t>utilizam</a:t>
            </a:r>
            <a:r>
              <a:rPr lang="en-US" sz="1600">
                <a:latin typeface="-apple-system"/>
                <a:ea typeface="-apple-system"/>
                <a:cs typeface="-apple-system"/>
              </a:rPr>
              <a:t> </a:t>
            </a:r>
            <a:r>
              <a:rPr lang="en-US" sz="1600" err="1">
                <a:latin typeface="-apple-system"/>
                <a:ea typeface="-apple-system"/>
                <a:cs typeface="-apple-system"/>
              </a:rPr>
              <a:t>softwares</a:t>
            </a:r>
            <a:r>
              <a:rPr lang="en-US" sz="1600">
                <a:latin typeface="-apple-system"/>
                <a:ea typeface="-apple-system"/>
                <a:cs typeface="-apple-system"/>
              </a:rPr>
              <a:t> de SIG </a:t>
            </a:r>
            <a:r>
              <a:rPr lang="en-US" sz="1600" err="1">
                <a:latin typeface="-apple-system"/>
                <a:ea typeface="-apple-system"/>
                <a:cs typeface="-apple-system"/>
              </a:rPr>
              <a:t>ou</a:t>
            </a:r>
            <a:r>
              <a:rPr lang="en-US" sz="1600">
                <a:latin typeface="-apple-system"/>
                <a:ea typeface="-apple-system"/>
                <a:cs typeface="-apple-system"/>
              </a:rPr>
              <a:t> </a:t>
            </a:r>
            <a:r>
              <a:rPr lang="en-US" sz="1600" err="1">
                <a:latin typeface="-apple-system"/>
                <a:ea typeface="-apple-system"/>
                <a:cs typeface="-apple-system"/>
              </a:rPr>
              <a:t>desejam</a:t>
            </a:r>
            <a:r>
              <a:rPr lang="en-US" sz="1600">
                <a:latin typeface="-apple-system"/>
                <a:ea typeface="-apple-system"/>
                <a:cs typeface="-apple-system"/>
              </a:rPr>
              <a:t> </a:t>
            </a:r>
            <a:r>
              <a:rPr lang="en-US" sz="1600" err="1">
                <a:latin typeface="-apple-system"/>
                <a:ea typeface="-apple-system"/>
                <a:cs typeface="-apple-system"/>
              </a:rPr>
              <a:t>visualizar</a:t>
            </a:r>
            <a:r>
              <a:rPr lang="en-US" sz="1600">
                <a:latin typeface="-apple-system"/>
                <a:ea typeface="-apple-system"/>
                <a:cs typeface="-apple-system"/>
              </a:rPr>
              <a:t> </a:t>
            </a:r>
            <a:r>
              <a:rPr lang="en-US" sz="1600" err="1">
                <a:latin typeface="-apple-system"/>
                <a:ea typeface="-apple-system"/>
                <a:cs typeface="-apple-system"/>
              </a:rPr>
              <a:t>restrições</a:t>
            </a:r>
            <a:r>
              <a:rPr lang="en-US" sz="1600">
                <a:latin typeface="-apple-system"/>
                <a:ea typeface="-apple-system"/>
                <a:cs typeface="-apple-system"/>
              </a:rPr>
              <a:t> </a:t>
            </a:r>
            <a:r>
              <a:rPr lang="en-US" sz="1600" err="1">
                <a:latin typeface="-apple-system"/>
                <a:ea typeface="-apple-system"/>
                <a:cs typeface="-apple-system"/>
              </a:rPr>
              <a:t>ambientais</a:t>
            </a:r>
            <a:r>
              <a:rPr lang="en-US" sz="1600">
                <a:latin typeface="-apple-system"/>
                <a:ea typeface="-apple-system"/>
                <a:cs typeface="-apple-system"/>
              </a:rPr>
              <a:t> </a:t>
            </a:r>
            <a:r>
              <a:rPr lang="en-US" sz="1600" err="1">
                <a:latin typeface="-apple-system"/>
                <a:ea typeface="-apple-system"/>
                <a:cs typeface="-apple-system"/>
              </a:rPr>
              <a:t>rapidamente</a:t>
            </a:r>
            <a:r>
              <a:rPr lang="en-US" sz="1600">
                <a:latin typeface="-apple-system"/>
                <a:ea typeface="-apple-system"/>
                <a:cs typeface="-apple-system"/>
              </a:rPr>
              <a:t>.</a:t>
            </a:r>
            <a:br>
              <a:rPr lang="en-US" sz="1600">
                <a:latin typeface="-apple-system"/>
                <a:ea typeface="-apple-system"/>
                <a:cs typeface="-apple-system"/>
              </a:rPr>
            </a:br>
            <a:br>
              <a:rPr lang="en-US" sz="1600">
                <a:latin typeface="-apple-system"/>
                <a:ea typeface="-apple-system"/>
                <a:cs typeface="-apple-system"/>
              </a:rPr>
            </a:br>
            <a:r>
              <a:rPr lang="en-US" sz="1600">
                <a:latin typeface="-apple-system"/>
                <a:ea typeface="-apple-system"/>
                <a:cs typeface="-apple-system"/>
              </a:rPr>
              <a:t>Com o ILOVEGIS, </a:t>
            </a:r>
            <a:r>
              <a:rPr lang="en-US" sz="1600" err="1">
                <a:latin typeface="-apple-system"/>
                <a:ea typeface="-apple-system"/>
                <a:cs typeface="-apple-system"/>
              </a:rPr>
              <a:t>você</a:t>
            </a:r>
            <a:r>
              <a:rPr lang="en-US" sz="1600">
                <a:latin typeface="-apple-system"/>
                <a:ea typeface="-apple-system"/>
                <a:cs typeface="-apple-system"/>
              </a:rPr>
              <a:t> </a:t>
            </a:r>
            <a:r>
              <a:rPr lang="en-US" sz="1600" err="1">
                <a:latin typeface="-apple-system"/>
                <a:ea typeface="-apple-system"/>
                <a:cs typeface="-apple-system"/>
              </a:rPr>
              <a:t>pode</a:t>
            </a:r>
            <a:r>
              <a:rPr lang="en-US" sz="1600">
                <a:latin typeface="-apple-system"/>
                <a:ea typeface="-apple-system"/>
                <a:cs typeface="-apple-system"/>
              </a:rPr>
              <a:t> </a:t>
            </a:r>
            <a:r>
              <a:rPr lang="en-US" sz="1600" err="1">
                <a:latin typeface="-apple-system"/>
                <a:ea typeface="-apple-system"/>
                <a:cs typeface="-apple-system"/>
              </a:rPr>
              <a:t>simplesmente</a:t>
            </a:r>
            <a:r>
              <a:rPr lang="en-US" sz="1600">
                <a:latin typeface="-apple-system"/>
                <a:ea typeface="-apple-system"/>
                <a:cs typeface="-apple-system"/>
              </a:rPr>
              <a:t> </a:t>
            </a:r>
            <a:r>
              <a:rPr lang="en-US" sz="1600" err="1">
                <a:latin typeface="-apple-system"/>
                <a:ea typeface="-apple-system"/>
                <a:cs typeface="-apple-system"/>
              </a:rPr>
              <a:t>fazer</a:t>
            </a:r>
            <a:r>
              <a:rPr lang="en-US" sz="1600">
                <a:latin typeface="-apple-system"/>
                <a:ea typeface="-apple-system"/>
                <a:cs typeface="-apple-system"/>
              </a:rPr>
              <a:t> o upload do </a:t>
            </a:r>
            <a:r>
              <a:rPr lang="en-US" sz="1600" err="1">
                <a:latin typeface="-apple-system"/>
                <a:ea typeface="-apple-system"/>
                <a:cs typeface="-apple-system"/>
              </a:rPr>
              <a:t>desenho</a:t>
            </a:r>
            <a:r>
              <a:rPr lang="en-US" sz="1600">
                <a:latin typeface="-apple-system"/>
                <a:ea typeface="-apple-system"/>
                <a:cs typeface="-apple-system"/>
              </a:rPr>
              <a:t> da </a:t>
            </a:r>
            <a:r>
              <a:rPr lang="en-US" sz="1600" err="1">
                <a:latin typeface="-apple-system"/>
                <a:ea typeface="-apple-system"/>
                <a:cs typeface="-apple-system"/>
              </a:rPr>
              <a:t>sua</a:t>
            </a:r>
            <a:r>
              <a:rPr lang="en-US" sz="1600">
                <a:latin typeface="-apple-system"/>
                <a:ea typeface="-apple-system"/>
                <a:cs typeface="-apple-system"/>
              </a:rPr>
              <a:t> </a:t>
            </a:r>
            <a:r>
              <a:rPr lang="en-US" sz="1600" err="1">
                <a:latin typeface="-apple-system"/>
                <a:ea typeface="-apple-system"/>
                <a:cs typeface="-apple-system"/>
              </a:rPr>
              <a:t>poligonal</a:t>
            </a:r>
            <a:r>
              <a:rPr lang="en-US" sz="1600">
                <a:latin typeface="-apple-system"/>
                <a:ea typeface="-apple-system"/>
                <a:cs typeface="-apple-system"/>
              </a:rPr>
              <a:t> </a:t>
            </a:r>
            <a:r>
              <a:rPr lang="en-US" sz="1600" err="1">
                <a:latin typeface="-apple-system"/>
                <a:ea typeface="-apple-system"/>
                <a:cs typeface="-apple-system"/>
              </a:rPr>
              <a:t>ou</a:t>
            </a:r>
            <a:r>
              <a:rPr lang="en-US" sz="1600">
                <a:latin typeface="-apple-system"/>
                <a:ea typeface="-apple-system"/>
                <a:cs typeface="-apple-system"/>
              </a:rPr>
              <a:t> de um </a:t>
            </a:r>
            <a:r>
              <a:rPr lang="en-US" sz="1600" err="1">
                <a:latin typeface="-apple-system"/>
                <a:ea typeface="-apple-system"/>
                <a:cs typeface="-apple-system"/>
              </a:rPr>
              <a:t>arquivo</a:t>
            </a:r>
            <a:r>
              <a:rPr lang="en-US" sz="1600">
                <a:latin typeface="-apple-system"/>
                <a:ea typeface="-apple-system"/>
                <a:cs typeface="-apple-system"/>
              </a:rPr>
              <a:t> KMZ, e o site </a:t>
            </a:r>
            <a:r>
              <a:rPr lang="en-US" sz="1600" err="1">
                <a:latin typeface="-apple-system"/>
                <a:ea typeface="-apple-system"/>
                <a:cs typeface="-apple-system"/>
              </a:rPr>
              <a:t>gera</a:t>
            </a:r>
            <a:r>
              <a:rPr lang="en-US" sz="1600">
                <a:latin typeface="-apple-system"/>
                <a:ea typeface="-apple-system"/>
                <a:cs typeface="-apple-system"/>
              </a:rPr>
              <a:t> um </a:t>
            </a:r>
            <a:r>
              <a:rPr lang="en-US" sz="1600" err="1">
                <a:latin typeface="-apple-system"/>
                <a:ea typeface="-apple-system"/>
                <a:cs typeface="-apple-system"/>
              </a:rPr>
              <a:t>Relatório</a:t>
            </a:r>
            <a:r>
              <a:rPr lang="en-US" sz="1600">
                <a:latin typeface="-apple-system"/>
                <a:ea typeface="-apple-system"/>
                <a:cs typeface="-apple-system"/>
              </a:rPr>
              <a:t> de </a:t>
            </a:r>
            <a:r>
              <a:rPr lang="en-US" sz="1600" err="1">
                <a:latin typeface="-apple-system"/>
                <a:ea typeface="-apple-system"/>
                <a:cs typeface="-apple-system"/>
              </a:rPr>
              <a:t>Informações</a:t>
            </a:r>
            <a:r>
              <a:rPr lang="en-US" sz="1600">
                <a:latin typeface="-apple-system"/>
                <a:ea typeface="-apple-system"/>
                <a:cs typeface="-apple-system"/>
              </a:rPr>
              <a:t> </a:t>
            </a:r>
            <a:r>
              <a:rPr lang="en-US" sz="1600" err="1">
                <a:latin typeface="-apple-system"/>
                <a:ea typeface="-apple-system"/>
                <a:cs typeface="-apple-system"/>
              </a:rPr>
              <a:t>Geográficas</a:t>
            </a:r>
            <a:r>
              <a:rPr lang="en-US" sz="1600">
                <a:latin typeface="-apple-system"/>
                <a:ea typeface="-apple-system"/>
                <a:cs typeface="-apple-system"/>
              </a:rPr>
              <a:t> </a:t>
            </a:r>
            <a:r>
              <a:rPr lang="en-US" sz="1600" err="1">
                <a:latin typeface="-apple-system"/>
                <a:ea typeface="-apple-system"/>
                <a:cs typeface="-apple-system"/>
              </a:rPr>
              <a:t>utilizando</a:t>
            </a:r>
            <a:r>
              <a:rPr lang="en-US" sz="1600">
                <a:latin typeface="-apple-system"/>
                <a:ea typeface="-apple-system"/>
                <a:cs typeface="-apple-system"/>
              </a:rPr>
              <a:t> IA e dados </a:t>
            </a:r>
            <a:r>
              <a:rPr lang="en-US" sz="1600" err="1">
                <a:latin typeface="-apple-system"/>
                <a:ea typeface="-apple-system"/>
                <a:cs typeface="-apple-system"/>
              </a:rPr>
              <a:t>espaciais</a:t>
            </a:r>
            <a:r>
              <a:rPr lang="en-US" sz="1600">
                <a:latin typeface="-apple-system"/>
                <a:ea typeface="-apple-system"/>
                <a:cs typeface="-apple-system"/>
              </a:rPr>
              <a:t> </a:t>
            </a:r>
            <a:r>
              <a:rPr lang="en-US" sz="1600" err="1">
                <a:latin typeface="-apple-system"/>
                <a:ea typeface="-apple-system"/>
                <a:cs typeface="-apple-system"/>
              </a:rPr>
              <a:t>atualizados</a:t>
            </a:r>
            <a:r>
              <a:rPr lang="en-US" sz="1600">
                <a:latin typeface="-apple-system"/>
                <a:ea typeface="-apple-system"/>
                <a:cs typeface="-apple-system"/>
              </a:rPr>
              <a:t>. O </a:t>
            </a:r>
            <a:r>
              <a:rPr lang="en-US" sz="1600" err="1">
                <a:latin typeface="-apple-system"/>
                <a:ea typeface="-apple-system"/>
                <a:cs typeface="-apple-system"/>
              </a:rPr>
              <a:t>relatório</a:t>
            </a:r>
            <a:r>
              <a:rPr lang="en-US" sz="1600">
                <a:latin typeface="-apple-system"/>
                <a:ea typeface="-apple-system"/>
                <a:cs typeface="-apple-system"/>
              </a:rPr>
              <a:t> </a:t>
            </a:r>
            <a:r>
              <a:rPr lang="en-US" sz="1600" err="1">
                <a:latin typeface="-apple-system"/>
                <a:ea typeface="-apple-system"/>
                <a:cs typeface="-apple-system"/>
              </a:rPr>
              <a:t>inclui</a:t>
            </a:r>
            <a:r>
              <a:rPr lang="en-US" sz="1600">
                <a:latin typeface="-apple-system"/>
                <a:ea typeface="-apple-system"/>
                <a:cs typeface="-apple-system"/>
              </a:rPr>
              <a:t> </a:t>
            </a:r>
            <a:r>
              <a:rPr lang="en-US" sz="1600" err="1">
                <a:latin typeface="-apple-system"/>
                <a:ea typeface="-apple-system"/>
                <a:cs typeface="-apple-system"/>
              </a:rPr>
              <a:t>introdução</a:t>
            </a:r>
            <a:r>
              <a:rPr lang="en-US" sz="1600">
                <a:latin typeface="-apple-system"/>
                <a:ea typeface="-apple-system"/>
                <a:cs typeface="-apple-system"/>
              </a:rPr>
              <a:t> </a:t>
            </a:r>
            <a:r>
              <a:rPr lang="en-US" sz="1600" err="1">
                <a:latin typeface="-apple-system"/>
                <a:ea typeface="-apple-system"/>
                <a:cs typeface="-apple-system"/>
              </a:rPr>
              <a:t>ao</a:t>
            </a:r>
            <a:r>
              <a:rPr lang="en-US" sz="1600">
                <a:latin typeface="-apple-system"/>
                <a:ea typeface="-apple-system"/>
                <a:cs typeface="-apple-system"/>
              </a:rPr>
              <a:t> </a:t>
            </a:r>
            <a:r>
              <a:rPr lang="en-US" sz="1600" err="1">
                <a:latin typeface="-apple-system"/>
                <a:ea typeface="-apple-system"/>
                <a:cs typeface="-apple-system"/>
              </a:rPr>
              <a:t>tema</a:t>
            </a:r>
            <a:r>
              <a:rPr lang="en-US" sz="1600">
                <a:latin typeface="-apple-system"/>
                <a:ea typeface="-apple-system"/>
                <a:cs typeface="-apple-system"/>
              </a:rPr>
              <a:t>, </a:t>
            </a:r>
            <a:r>
              <a:rPr lang="en-US" sz="1600" err="1">
                <a:latin typeface="-apple-system"/>
                <a:ea typeface="-apple-system"/>
                <a:cs typeface="-apple-system"/>
              </a:rPr>
              <a:t>tabela</a:t>
            </a:r>
            <a:r>
              <a:rPr lang="en-US" sz="1600">
                <a:latin typeface="-apple-system"/>
                <a:ea typeface="-apple-system"/>
                <a:cs typeface="-apple-system"/>
              </a:rPr>
              <a:t> de </a:t>
            </a:r>
            <a:r>
              <a:rPr lang="en-US" sz="1600" err="1">
                <a:latin typeface="-apple-system"/>
                <a:ea typeface="-apple-system"/>
                <a:cs typeface="-apple-system"/>
              </a:rPr>
              <a:t>quantitativos</a:t>
            </a:r>
            <a:r>
              <a:rPr lang="en-US" sz="1600">
                <a:latin typeface="-apple-system"/>
                <a:ea typeface="-apple-system"/>
                <a:cs typeface="-apple-system"/>
              </a:rPr>
              <a:t>, </a:t>
            </a:r>
            <a:r>
              <a:rPr lang="en-US" sz="1600" err="1">
                <a:latin typeface="-apple-system"/>
                <a:ea typeface="-apple-system"/>
                <a:cs typeface="-apple-system"/>
              </a:rPr>
              <a:t>figuras</a:t>
            </a:r>
            <a:r>
              <a:rPr lang="en-US" sz="1600">
                <a:latin typeface="-apple-system"/>
                <a:ea typeface="-apple-system"/>
                <a:cs typeface="-apple-system"/>
              </a:rPr>
              <a:t> </a:t>
            </a:r>
            <a:r>
              <a:rPr lang="en-US" sz="1600" err="1">
                <a:latin typeface="-apple-system"/>
                <a:ea typeface="-apple-system"/>
                <a:cs typeface="-apple-system"/>
              </a:rPr>
              <a:t>temáticas</a:t>
            </a:r>
            <a:r>
              <a:rPr lang="en-US" sz="1600">
                <a:latin typeface="-apple-system"/>
                <a:ea typeface="-apple-system"/>
                <a:cs typeface="-apple-system"/>
              </a:rPr>
              <a:t> e </a:t>
            </a:r>
            <a:r>
              <a:rPr lang="en-US" sz="1600" err="1">
                <a:latin typeface="-apple-system"/>
                <a:ea typeface="-apple-system"/>
                <a:cs typeface="-apple-system"/>
              </a:rPr>
              <a:t>interpretações</a:t>
            </a:r>
            <a:r>
              <a:rPr lang="en-US" sz="1600">
                <a:latin typeface="-apple-system"/>
                <a:ea typeface="-apple-system"/>
                <a:cs typeface="-apple-system"/>
              </a:rPr>
              <a:t> </a:t>
            </a:r>
            <a:r>
              <a:rPr lang="en-US" sz="1600" err="1">
                <a:latin typeface="-apple-system"/>
                <a:ea typeface="-apple-system"/>
                <a:cs typeface="-apple-system"/>
              </a:rPr>
              <a:t>preliminares</a:t>
            </a:r>
            <a:r>
              <a:rPr lang="en-US" sz="1600">
                <a:latin typeface="-apple-system"/>
                <a:ea typeface="-apple-system"/>
                <a:cs typeface="-apple-system"/>
              </a:rPr>
              <a:t> </a:t>
            </a:r>
            <a:r>
              <a:rPr lang="en-US" sz="1600" err="1">
                <a:latin typeface="-apple-system"/>
                <a:ea typeface="-apple-system"/>
                <a:cs typeface="-apple-system"/>
              </a:rPr>
              <a:t>feitas</a:t>
            </a:r>
            <a:r>
              <a:rPr lang="en-US" sz="1600">
                <a:latin typeface="-apple-system"/>
                <a:ea typeface="-apple-system"/>
                <a:cs typeface="-apple-system"/>
              </a:rPr>
              <a:t> </a:t>
            </a:r>
            <a:r>
              <a:rPr lang="en-US" sz="1600" err="1">
                <a:latin typeface="-apple-system"/>
                <a:ea typeface="-apple-system"/>
                <a:cs typeface="-apple-system"/>
              </a:rPr>
              <a:t>por</a:t>
            </a:r>
            <a:r>
              <a:rPr lang="en-US" sz="1600">
                <a:latin typeface="-apple-system"/>
                <a:ea typeface="-apple-system"/>
                <a:cs typeface="-apple-system"/>
              </a:rPr>
              <a:t> IA para </a:t>
            </a:r>
            <a:r>
              <a:rPr lang="en-US" sz="1600" err="1">
                <a:latin typeface="-apple-system"/>
                <a:ea typeface="-apple-system"/>
                <a:cs typeface="-apple-system"/>
              </a:rPr>
              <a:t>apoiar</a:t>
            </a:r>
            <a:r>
              <a:rPr lang="en-US" sz="1600">
                <a:latin typeface="-apple-system"/>
                <a:ea typeface="-apple-system"/>
                <a:cs typeface="-apple-system"/>
              </a:rPr>
              <a:t> </a:t>
            </a:r>
            <a:r>
              <a:rPr lang="en-US" sz="1600" err="1">
                <a:latin typeface="-apple-system"/>
                <a:ea typeface="-apple-system"/>
                <a:cs typeface="-apple-system"/>
              </a:rPr>
              <a:t>seu</a:t>
            </a:r>
            <a:r>
              <a:rPr lang="en-US" sz="1600">
                <a:latin typeface="-apple-system"/>
                <a:ea typeface="-apple-system"/>
                <a:cs typeface="-apple-system"/>
              </a:rPr>
              <a:t> </a:t>
            </a:r>
            <a:r>
              <a:rPr lang="en-US" sz="1600" err="1">
                <a:latin typeface="-apple-system"/>
                <a:ea typeface="-apple-system"/>
                <a:cs typeface="-apple-system"/>
              </a:rPr>
              <a:t>estudo</a:t>
            </a:r>
            <a:r>
              <a:rPr lang="en-US" sz="1600">
                <a:latin typeface="-apple-system"/>
                <a:ea typeface="-apple-system"/>
                <a:cs typeface="-apple-system"/>
              </a:rPr>
              <a:t> </a:t>
            </a:r>
            <a:r>
              <a:rPr lang="en-US" sz="1600" err="1">
                <a:latin typeface="-apple-system"/>
                <a:ea typeface="-apple-system"/>
                <a:cs typeface="-apple-system"/>
              </a:rPr>
              <a:t>ambiental</a:t>
            </a:r>
            <a:r>
              <a:rPr lang="en-US" sz="1600">
                <a:latin typeface="-apple-system"/>
                <a:ea typeface="-apple-system"/>
                <a:cs typeface="-apple-system"/>
              </a:rPr>
              <a:t>.</a:t>
            </a:r>
            <a:br>
              <a:rPr lang="en-US" sz="1600">
                <a:latin typeface="-apple-system"/>
                <a:ea typeface="-apple-system"/>
                <a:cs typeface="-apple-system"/>
              </a:rPr>
            </a:br>
            <a:br>
              <a:rPr lang="en-US" sz="1600">
                <a:latin typeface="-apple-system"/>
                <a:ea typeface="-apple-system"/>
                <a:cs typeface="-apple-system"/>
              </a:rPr>
            </a:br>
            <a:r>
              <a:rPr lang="en-US" sz="1600">
                <a:latin typeface="-apple-system"/>
                <a:ea typeface="-apple-system"/>
                <a:cs typeface="-apple-system"/>
              </a:rPr>
              <a:t>O </a:t>
            </a:r>
            <a:r>
              <a:rPr lang="en-US" sz="1600" err="1">
                <a:latin typeface="-apple-system"/>
                <a:ea typeface="-apple-system"/>
                <a:cs typeface="-apple-system"/>
              </a:rPr>
              <a:t>relatório</a:t>
            </a:r>
            <a:r>
              <a:rPr lang="en-US" sz="1600">
                <a:latin typeface="-apple-system"/>
                <a:ea typeface="-apple-system"/>
                <a:cs typeface="-apple-system"/>
              </a:rPr>
              <a:t> </a:t>
            </a:r>
            <a:r>
              <a:rPr lang="en-US" sz="1600" err="1">
                <a:latin typeface="-apple-system"/>
                <a:ea typeface="-apple-system"/>
                <a:cs typeface="-apple-system"/>
              </a:rPr>
              <a:t>costuma</a:t>
            </a:r>
            <a:r>
              <a:rPr lang="en-US" sz="1600">
                <a:latin typeface="-apple-system"/>
                <a:ea typeface="-apple-system"/>
                <a:cs typeface="-apple-system"/>
              </a:rPr>
              <a:t> ser </a:t>
            </a:r>
            <a:r>
              <a:rPr lang="en-US" sz="1600" err="1">
                <a:latin typeface="-apple-system"/>
                <a:ea typeface="-apple-system"/>
                <a:cs typeface="-apple-system"/>
              </a:rPr>
              <a:t>entregue</a:t>
            </a:r>
            <a:r>
              <a:rPr lang="en-US" sz="1600">
                <a:latin typeface="-apple-system"/>
                <a:ea typeface="-apple-system"/>
                <a:cs typeface="-apple-system"/>
              </a:rPr>
              <a:t> </a:t>
            </a:r>
            <a:r>
              <a:rPr lang="en-US" sz="1600" err="1">
                <a:latin typeface="-apple-system"/>
                <a:ea typeface="-apple-system"/>
                <a:cs typeface="-apple-system"/>
              </a:rPr>
              <a:t>por</a:t>
            </a:r>
            <a:r>
              <a:rPr lang="en-US" sz="1600">
                <a:latin typeface="-apple-system"/>
                <a:ea typeface="-apple-system"/>
                <a:cs typeface="-apple-system"/>
              </a:rPr>
              <a:t> e-mail </a:t>
            </a:r>
            <a:r>
              <a:rPr lang="en-US" sz="1600" err="1">
                <a:latin typeface="-apple-system"/>
                <a:ea typeface="-apple-system"/>
                <a:cs typeface="-apple-system"/>
              </a:rPr>
              <a:t>em</a:t>
            </a:r>
            <a:r>
              <a:rPr lang="en-US" sz="1600">
                <a:latin typeface="-apple-system"/>
                <a:ea typeface="-apple-system"/>
                <a:cs typeface="-apple-system"/>
              </a:rPr>
              <a:t> </a:t>
            </a:r>
            <a:r>
              <a:rPr lang="en-US" sz="1600" err="1">
                <a:latin typeface="-apple-system"/>
                <a:ea typeface="-apple-system"/>
                <a:cs typeface="-apple-system"/>
              </a:rPr>
              <a:t>cerca</a:t>
            </a:r>
            <a:r>
              <a:rPr lang="en-US" sz="1600">
                <a:latin typeface="-apple-system"/>
                <a:ea typeface="-apple-system"/>
                <a:cs typeface="-apple-system"/>
              </a:rPr>
              <a:t> de 10 </a:t>
            </a:r>
            <a:r>
              <a:rPr lang="en-US" sz="1600" err="1">
                <a:latin typeface="-apple-system"/>
                <a:ea typeface="-apple-system"/>
                <a:cs typeface="-apple-system"/>
              </a:rPr>
              <a:t>minutos</a:t>
            </a:r>
            <a:r>
              <a:rPr lang="en-US" sz="1600">
                <a:latin typeface="-apple-system"/>
                <a:ea typeface="-apple-system"/>
                <a:cs typeface="-apple-system"/>
              </a:rPr>
              <a:t>, </a:t>
            </a:r>
            <a:r>
              <a:rPr lang="en-US" sz="1600" err="1">
                <a:latin typeface="-apple-system"/>
                <a:ea typeface="-apple-system"/>
                <a:cs typeface="-apple-system"/>
              </a:rPr>
              <a:t>dependendo</a:t>
            </a:r>
            <a:r>
              <a:rPr lang="en-US" sz="1600">
                <a:latin typeface="-apple-system"/>
                <a:ea typeface="-apple-system"/>
                <a:cs typeface="-apple-system"/>
              </a:rPr>
              <a:t> da fila.</a:t>
            </a:r>
            <a:br>
              <a:rPr lang="en-US" sz="1600">
                <a:latin typeface="-apple-system"/>
                <a:ea typeface="-apple-system"/>
                <a:cs typeface="-apple-system"/>
              </a:rPr>
            </a:br>
            <a:br>
              <a:rPr lang="en-US" sz="1600">
                <a:latin typeface="-apple-system"/>
                <a:ea typeface="-apple-system"/>
                <a:cs typeface="-apple-system"/>
              </a:rPr>
            </a:br>
            <a:r>
              <a:rPr lang="en-US" sz="1600" err="1">
                <a:latin typeface="-apple-system"/>
                <a:ea typeface="-apple-system"/>
                <a:cs typeface="-apple-system"/>
              </a:rPr>
              <a:t>Atenção</a:t>
            </a:r>
            <a:r>
              <a:rPr lang="en-US" sz="1600">
                <a:latin typeface="-apple-system"/>
                <a:ea typeface="-apple-system"/>
                <a:cs typeface="-apple-system"/>
              </a:rPr>
              <a:t>: </a:t>
            </a:r>
            <a:r>
              <a:rPr lang="en-US" sz="1600" err="1">
                <a:latin typeface="-apple-system"/>
                <a:ea typeface="-apple-system"/>
                <a:cs typeface="-apple-system"/>
              </a:rPr>
              <a:t>Verifique</a:t>
            </a:r>
            <a:r>
              <a:rPr lang="en-US" sz="1600">
                <a:latin typeface="-apple-system"/>
                <a:ea typeface="-apple-system"/>
                <a:cs typeface="-apple-system"/>
              </a:rPr>
              <a:t> </a:t>
            </a:r>
            <a:r>
              <a:rPr lang="en-US" sz="1600" err="1">
                <a:latin typeface="-apple-system"/>
                <a:ea typeface="-apple-system"/>
                <a:cs typeface="-apple-system"/>
              </a:rPr>
              <a:t>também</a:t>
            </a:r>
            <a:r>
              <a:rPr lang="en-US" sz="1600">
                <a:latin typeface="-apple-system"/>
                <a:ea typeface="-apple-system"/>
                <a:cs typeface="-apple-system"/>
              </a:rPr>
              <a:t> a pasta de </a:t>
            </a:r>
            <a:r>
              <a:rPr lang="en-US" sz="1600" err="1">
                <a:latin typeface="-apple-system"/>
                <a:ea typeface="-apple-system"/>
                <a:cs typeface="-apple-system"/>
              </a:rPr>
              <a:t>lixo</a:t>
            </a:r>
            <a:r>
              <a:rPr lang="en-US" sz="1600">
                <a:latin typeface="-apple-system"/>
                <a:ea typeface="-apple-system"/>
                <a:cs typeface="-apple-system"/>
              </a:rPr>
              <a:t> </a:t>
            </a:r>
            <a:r>
              <a:rPr lang="en-US" sz="1600" err="1">
                <a:latin typeface="-apple-system"/>
                <a:ea typeface="-apple-system"/>
                <a:cs typeface="-apple-system"/>
              </a:rPr>
              <a:t>eletrônico</a:t>
            </a:r>
            <a:r>
              <a:rPr lang="en-US" sz="1600">
                <a:latin typeface="-apple-system"/>
                <a:ea typeface="-apple-system"/>
                <a:cs typeface="-apple-system"/>
              </a:rPr>
              <a:t>/spam, </a:t>
            </a:r>
            <a:r>
              <a:rPr lang="en-US" sz="1600" err="1">
                <a:latin typeface="-apple-system"/>
                <a:ea typeface="-apple-system"/>
                <a:cs typeface="-apple-system"/>
              </a:rPr>
              <a:t>caso</a:t>
            </a:r>
            <a:r>
              <a:rPr lang="en-US" sz="1600">
                <a:latin typeface="-apple-system"/>
                <a:ea typeface="-apple-system"/>
                <a:cs typeface="-apple-system"/>
              </a:rPr>
              <a:t> </a:t>
            </a:r>
            <a:r>
              <a:rPr lang="en-US" sz="1600" err="1">
                <a:latin typeface="-apple-system"/>
                <a:ea typeface="-apple-system"/>
                <a:cs typeface="-apple-system"/>
              </a:rPr>
              <a:t>não</a:t>
            </a:r>
            <a:r>
              <a:rPr lang="en-US" sz="1600">
                <a:latin typeface="-apple-system"/>
                <a:ea typeface="-apple-system"/>
                <a:cs typeface="-apple-system"/>
              </a:rPr>
              <a:t> </a:t>
            </a:r>
            <a:r>
              <a:rPr lang="en-US" sz="1600" err="1">
                <a:latin typeface="-apple-system"/>
                <a:ea typeface="-apple-system"/>
                <a:cs typeface="-apple-system"/>
              </a:rPr>
              <a:t>encontre</a:t>
            </a:r>
            <a:r>
              <a:rPr lang="en-US" sz="1600">
                <a:latin typeface="-apple-system"/>
                <a:ea typeface="-apple-system"/>
                <a:cs typeface="-apple-system"/>
              </a:rPr>
              <a:t> o e-mail </a:t>
            </a:r>
            <a:r>
              <a:rPr lang="en-US" sz="1600" err="1">
                <a:latin typeface="-apple-system"/>
                <a:ea typeface="-apple-system"/>
                <a:cs typeface="-apple-system"/>
              </a:rPr>
              <a:t>na</a:t>
            </a:r>
            <a:r>
              <a:rPr lang="en-US" sz="1600">
                <a:latin typeface="-apple-system"/>
                <a:ea typeface="-apple-system"/>
                <a:cs typeface="-apple-system"/>
              </a:rPr>
              <a:t> </a:t>
            </a:r>
            <a:r>
              <a:rPr lang="en-US" sz="1600" err="1">
                <a:latin typeface="-apple-system"/>
                <a:ea typeface="-apple-system"/>
                <a:cs typeface="-apple-system"/>
              </a:rPr>
              <a:t>sua</a:t>
            </a:r>
            <a:r>
              <a:rPr lang="en-US" sz="1600">
                <a:latin typeface="-apple-system"/>
                <a:ea typeface="-apple-system"/>
                <a:cs typeface="-apple-system"/>
              </a:rPr>
              <a:t> </a:t>
            </a:r>
            <a:r>
              <a:rPr lang="en-US" sz="1600" err="1">
                <a:latin typeface="-apple-system"/>
                <a:ea typeface="-apple-system"/>
                <a:cs typeface="-apple-system"/>
              </a:rPr>
              <a:t>caixa</a:t>
            </a:r>
            <a:r>
              <a:rPr lang="en-US" sz="1600">
                <a:latin typeface="-apple-system"/>
                <a:ea typeface="-apple-system"/>
                <a:cs typeface="-apple-system"/>
              </a:rPr>
              <a:t> de entrada.</a:t>
            </a:r>
            <a:br>
              <a:rPr lang="en-US" sz="1600">
                <a:latin typeface="-apple-system"/>
                <a:ea typeface="-apple-system"/>
                <a:cs typeface="-apple-system"/>
              </a:rPr>
            </a:br>
            <a:br>
              <a:rPr lang="en-US" sz="1600">
                <a:latin typeface="-apple-system"/>
                <a:ea typeface="-apple-system"/>
                <a:cs typeface="-apple-system"/>
              </a:rPr>
            </a:br>
            <a:r>
              <a:rPr lang="en-US" sz="1600">
                <a:latin typeface="-apple-system"/>
                <a:ea typeface="-apple-system"/>
                <a:cs typeface="-apple-system"/>
              </a:rPr>
              <a:t>Nas </a:t>
            </a:r>
            <a:r>
              <a:rPr lang="en-US" sz="1600" err="1">
                <a:latin typeface="-apple-system"/>
                <a:ea typeface="-apple-system"/>
                <a:cs typeface="-apple-system"/>
              </a:rPr>
              <a:t>próximas</a:t>
            </a:r>
            <a:r>
              <a:rPr lang="en-US" sz="1600">
                <a:latin typeface="-apple-system"/>
                <a:ea typeface="-apple-system"/>
                <a:cs typeface="-apple-system"/>
              </a:rPr>
              <a:t> </a:t>
            </a:r>
            <a:r>
              <a:rPr lang="en-US" sz="1600" err="1">
                <a:latin typeface="-apple-system"/>
                <a:ea typeface="-apple-system"/>
                <a:cs typeface="-apple-system"/>
              </a:rPr>
              <a:t>semanas</a:t>
            </a:r>
            <a:r>
              <a:rPr lang="en-US" sz="1600">
                <a:latin typeface="-apple-system"/>
                <a:ea typeface="-apple-system"/>
                <a:cs typeface="-apple-system"/>
              </a:rPr>
              <a:t> </a:t>
            </a:r>
            <a:r>
              <a:rPr lang="en-US" sz="1600" err="1">
                <a:latin typeface="-apple-system"/>
                <a:ea typeface="-apple-system"/>
                <a:cs typeface="-apple-system"/>
              </a:rPr>
              <a:t>serão</a:t>
            </a:r>
            <a:r>
              <a:rPr lang="en-US" sz="1600">
                <a:latin typeface="-apple-system"/>
                <a:ea typeface="-apple-system"/>
                <a:cs typeface="-apple-system"/>
              </a:rPr>
              <a:t> </a:t>
            </a:r>
            <a:r>
              <a:rPr lang="en-US" sz="1600" err="1">
                <a:latin typeface="-apple-system"/>
                <a:ea typeface="-apple-system"/>
                <a:cs typeface="-apple-system"/>
              </a:rPr>
              <a:t>adicionados</a:t>
            </a:r>
            <a:r>
              <a:rPr lang="en-US" sz="1600">
                <a:latin typeface="-apple-system"/>
                <a:ea typeface="-apple-system"/>
                <a:cs typeface="-apple-system"/>
              </a:rPr>
              <a:t> </a:t>
            </a:r>
            <a:r>
              <a:rPr lang="en-US" sz="1600" err="1">
                <a:latin typeface="-apple-system"/>
                <a:ea typeface="-apple-system"/>
                <a:cs typeface="-apple-system"/>
              </a:rPr>
              <a:t>mais</a:t>
            </a:r>
            <a:r>
              <a:rPr lang="en-US" sz="1600">
                <a:latin typeface="-apple-system"/>
                <a:ea typeface="-apple-system"/>
                <a:cs typeface="-apple-system"/>
              </a:rPr>
              <a:t> de 30 </a:t>
            </a:r>
            <a:r>
              <a:rPr lang="en-US" sz="1600" err="1">
                <a:latin typeface="-apple-system"/>
                <a:ea typeface="-apple-system"/>
                <a:cs typeface="-apple-system"/>
              </a:rPr>
              <a:t>camadas</a:t>
            </a:r>
            <a:r>
              <a:rPr lang="en-US" sz="1600">
                <a:latin typeface="-apple-system"/>
                <a:ea typeface="-apple-system"/>
                <a:cs typeface="-apple-system"/>
              </a:rPr>
              <a:t> </a:t>
            </a:r>
            <a:r>
              <a:rPr lang="en-US" sz="1600" err="1">
                <a:latin typeface="-apple-system"/>
                <a:ea typeface="-apple-system"/>
                <a:cs typeface="-apple-system"/>
              </a:rPr>
              <a:t>socioambientais</a:t>
            </a:r>
            <a:r>
              <a:rPr lang="en-US" sz="1600">
                <a:latin typeface="-apple-system"/>
                <a:ea typeface="-apple-system"/>
                <a:cs typeface="-apple-system"/>
              </a:rPr>
              <a:t> </a:t>
            </a:r>
            <a:r>
              <a:rPr lang="en-US" sz="1600" err="1">
                <a:latin typeface="-apple-system"/>
                <a:ea typeface="-apple-system"/>
                <a:cs typeface="-apple-system"/>
              </a:rPr>
              <a:t>que</a:t>
            </a:r>
            <a:r>
              <a:rPr lang="en-US" sz="1600">
                <a:latin typeface="-apple-system"/>
                <a:ea typeface="-apple-system"/>
                <a:cs typeface="-apple-system"/>
              </a:rPr>
              <a:t> </a:t>
            </a:r>
            <a:r>
              <a:rPr lang="en-US" sz="1600" err="1">
                <a:latin typeface="-apple-system"/>
                <a:ea typeface="-apple-system"/>
                <a:cs typeface="-apple-system"/>
              </a:rPr>
              <a:t>estarão</a:t>
            </a:r>
            <a:r>
              <a:rPr lang="en-US" sz="1600">
                <a:latin typeface="-apple-system"/>
                <a:ea typeface="-apple-system"/>
                <a:cs typeface="-apple-system"/>
              </a:rPr>
              <a:t> </a:t>
            </a:r>
            <a:r>
              <a:rPr lang="en-US" sz="1600" err="1">
                <a:latin typeface="-apple-system"/>
                <a:ea typeface="-apple-system"/>
                <a:cs typeface="-apple-system"/>
              </a:rPr>
              <a:t>disponíveis</a:t>
            </a:r>
            <a:r>
              <a:rPr lang="en-US" sz="1600">
                <a:latin typeface="-apple-system"/>
                <a:ea typeface="-apple-system"/>
                <a:cs typeface="-apple-system"/>
              </a:rPr>
              <a:t> para </a:t>
            </a:r>
            <a:r>
              <a:rPr lang="en-US" sz="1600" err="1">
                <a:latin typeface="-apple-system"/>
                <a:ea typeface="-apple-system"/>
                <a:cs typeface="-apple-system"/>
              </a:rPr>
              <a:t>análise</a:t>
            </a:r>
            <a:r>
              <a:rPr lang="en-US" sz="1600">
                <a:latin typeface="-apple-system"/>
                <a:ea typeface="-apple-system"/>
                <a:cs typeface="-apple-system"/>
              </a:rPr>
              <a:t>.</a:t>
            </a:r>
            <a:br>
              <a:rPr lang="en-US" sz="1600">
                <a:latin typeface="-apple-system"/>
                <a:ea typeface="-apple-system"/>
                <a:cs typeface="-apple-system"/>
              </a:rPr>
            </a:br>
            <a:br>
              <a:rPr lang="en-US" sz="1600">
                <a:latin typeface="-apple-system"/>
                <a:ea typeface="-apple-system"/>
                <a:cs typeface="-apple-system"/>
              </a:rPr>
            </a:br>
            <a:r>
              <a:rPr lang="en-US" sz="1600">
                <a:latin typeface="-apple-system"/>
                <a:ea typeface="-apple-system"/>
                <a:cs typeface="-apple-system"/>
              </a:rPr>
              <a:t>Nos </a:t>
            </a:r>
            <a:r>
              <a:rPr lang="en-US" sz="1600" err="1">
                <a:latin typeface="-apple-system"/>
                <a:ea typeface="-apple-system"/>
                <a:cs typeface="-apple-system"/>
              </a:rPr>
              <a:t>comentários</a:t>
            </a:r>
            <a:r>
              <a:rPr lang="en-US" sz="1600">
                <a:latin typeface="-apple-system"/>
                <a:ea typeface="-apple-system"/>
                <a:cs typeface="-apple-system"/>
              </a:rPr>
              <a:t> </a:t>
            </a:r>
            <a:r>
              <a:rPr lang="en-US" sz="1600" err="1">
                <a:latin typeface="-apple-system"/>
                <a:ea typeface="-apple-system"/>
                <a:cs typeface="-apple-system"/>
              </a:rPr>
              <a:t>vou</a:t>
            </a:r>
            <a:r>
              <a:rPr lang="en-US" sz="1600">
                <a:latin typeface="-apple-system"/>
                <a:ea typeface="-apple-system"/>
                <a:cs typeface="-apple-system"/>
              </a:rPr>
              <a:t> </a:t>
            </a:r>
            <a:r>
              <a:rPr lang="en-US" sz="1600" err="1">
                <a:latin typeface="-apple-system"/>
                <a:ea typeface="-apple-system"/>
                <a:cs typeface="-apple-system"/>
              </a:rPr>
              <a:t>deixar</a:t>
            </a:r>
            <a:r>
              <a:rPr lang="en-US" sz="1600">
                <a:latin typeface="-apple-system"/>
                <a:ea typeface="-apple-system"/>
                <a:cs typeface="-apple-system"/>
              </a:rPr>
              <a:t> </a:t>
            </a:r>
            <a:r>
              <a:rPr lang="en-US" sz="1600" err="1">
                <a:latin typeface="-apple-system"/>
                <a:ea typeface="-apple-system"/>
                <a:cs typeface="-apple-system"/>
              </a:rPr>
              <a:t>anexado</a:t>
            </a:r>
            <a:r>
              <a:rPr lang="en-US" sz="1600">
                <a:latin typeface="-apple-system"/>
                <a:ea typeface="-apple-system"/>
                <a:cs typeface="-apple-system"/>
              </a:rPr>
              <a:t> um </a:t>
            </a:r>
            <a:r>
              <a:rPr lang="en-US" sz="1600" err="1">
                <a:latin typeface="-apple-system"/>
                <a:ea typeface="-apple-system"/>
                <a:cs typeface="-apple-system"/>
              </a:rPr>
              <a:t>relatório</a:t>
            </a:r>
            <a:r>
              <a:rPr lang="en-US" sz="1600">
                <a:latin typeface="-apple-system"/>
                <a:ea typeface="-apple-system"/>
                <a:cs typeface="-apple-system"/>
              </a:rPr>
              <a:t> </a:t>
            </a:r>
            <a:r>
              <a:rPr lang="en-US" sz="1600" err="1">
                <a:latin typeface="-apple-system"/>
                <a:ea typeface="-apple-system"/>
                <a:cs typeface="-apple-system"/>
              </a:rPr>
              <a:t>gerado</a:t>
            </a:r>
            <a:r>
              <a:rPr lang="en-US" sz="1600">
                <a:latin typeface="-apple-system"/>
                <a:ea typeface="-apple-system"/>
                <a:cs typeface="-apple-system"/>
              </a:rPr>
              <a:t> </a:t>
            </a:r>
            <a:r>
              <a:rPr lang="en-US" sz="1600" err="1">
                <a:latin typeface="-apple-system"/>
                <a:ea typeface="-apple-system"/>
                <a:cs typeface="-apple-system"/>
              </a:rPr>
              <a:t>pelo</a:t>
            </a:r>
            <a:r>
              <a:rPr lang="en-US" sz="1600">
                <a:latin typeface="-apple-system"/>
                <a:ea typeface="-apple-system"/>
                <a:cs typeface="-apple-system"/>
              </a:rPr>
              <a:t> ILOVEGIS.</a:t>
            </a:r>
            <a:endParaRPr lang="en-US" sz="1600"/>
          </a:p>
          <a:p>
            <a:pPr algn="ctr"/>
            <a:endParaRPr lang="pt-BR"/>
          </a:p>
        </p:txBody>
      </p:sp>
      <p:pic>
        <p:nvPicPr>
          <p:cNvPr id="5" name="Imagem 4" descr="Não foi fornecido texto alternativo para esta imagem">
            <a:extLst>
              <a:ext uri="{FF2B5EF4-FFF2-40B4-BE49-F238E27FC236}">
                <a16:creationId xmlns:a16="http://schemas.microsoft.com/office/drawing/2014/main" id="{760F4D09-FC41-A26D-B8F1-4AAF9355153F}"/>
              </a:ext>
            </a:extLst>
          </p:cNvPr>
          <p:cNvPicPr>
            <a:picLocks noChangeAspect="1"/>
          </p:cNvPicPr>
          <p:nvPr/>
        </p:nvPicPr>
        <p:blipFill>
          <a:blip r:embed="rId3"/>
          <a:stretch>
            <a:fillRect/>
          </a:stretch>
        </p:blipFill>
        <p:spPr>
          <a:xfrm>
            <a:off x="529266" y="534299"/>
            <a:ext cx="4821807" cy="4193517"/>
          </a:xfrm>
          <a:prstGeom prst="rect">
            <a:avLst/>
          </a:prstGeom>
        </p:spPr>
      </p:pic>
      <p:sp>
        <p:nvSpPr>
          <p:cNvPr id="6" name="CaixaDeTexto 5">
            <a:extLst>
              <a:ext uri="{FF2B5EF4-FFF2-40B4-BE49-F238E27FC236}">
                <a16:creationId xmlns:a16="http://schemas.microsoft.com/office/drawing/2014/main" id="{83F245E0-07D3-2207-F523-08BC53AD8DAA}"/>
              </a:ext>
            </a:extLst>
          </p:cNvPr>
          <p:cNvSpPr txBox="1"/>
          <p:nvPr/>
        </p:nvSpPr>
        <p:spPr>
          <a:xfrm>
            <a:off x="388189" y="5068019"/>
            <a:ext cx="5592792"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https://www.linkedin.com/posts/anderson-stolfi-50263b1b0_estou-muito-contente-em-apresentar-o-ilovegis-activity-7239301650891325440-sfhs?utm_source=share&amp;utm_medium=member_desktop&amp;rcm=ACoAAAMQtAUB5UouXqdBJgo_gWpNVZ7Imay_2Tg</a:t>
            </a:r>
          </a:p>
          <a:p>
            <a:pPr algn="ctr"/>
            <a:endParaRPr lang="pt-BR"/>
          </a:p>
        </p:txBody>
      </p:sp>
    </p:spTree>
    <p:extLst>
      <p:ext uri="{BB962C8B-B14F-4D97-AF65-F5344CB8AC3E}">
        <p14:creationId xmlns:p14="http://schemas.microsoft.com/office/powerpoint/2010/main" val="52720371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38C86F8D-ACBB-5FE5-EB64-97BBD1FB9000}"/>
              </a:ext>
            </a:extLst>
          </p:cNvPr>
          <p:cNvSpPr txBox="1"/>
          <p:nvPr/>
        </p:nvSpPr>
        <p:spPr>
          <a:xfrm>
            <a:off x="5837208" y="2221302"/>
            <a:ext cx="609600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A66C2"/>
                </a:solidFill>
                <a:latin typeface="-apple-system"/>
                <a:ea typeface="-apple-system"/>
                <a:cs typeface="-apple-system"/>
                <a:hlinkClick r:id="rId2"/>
              </a:rPr>
              <a:t>#ArcGIS</a:t>
            </a:r>
            <a:r>
              <a:rPr lang="en-US">
                <a:latin typeface="-apple-system"/>
                <a:ea typeface="-apple-system"/>
                <a:cs typeface="-apple-system"/>
              </a:rPr>
              <a:t> Utility Network has saved </a:t>
            </a:r>
            <a:r>
              <a:rPr lang="en-US" b="1">
                <a:solidFill>
                  <a:srgbClr val="0A66C2"/>
                </a:solidFill>
                <a:latin typeface="-apple-system"/>
                <a:ea typeface="-apple-system"/>
                <a:cs typeface="-apple-system"/>
                <a:hlinkClick r:id="rId3"/>
              </a:rPr>
              <a:t>Brabant Water N.V.</a:t>
            </a:r>
            <a:r>
              <a:rPr lang="en-US">
                <a:latin typeface="-apple-system"/>
                <a:ea typeface="-apple-system"/>
                <a:cs typeface="-apple-system"/>
              </a:rPr>
              <a:t> a lot of time. One example is the workflow tracking rehabilitated pipeline. It used to consume 208 hours a year and now takes a push of a button. Check out this article to learn more. </a:t>
            </a:r>
            <a:r>
              <a:rPr lang="en-US" b="1">
                <a:solidFill>
                  <a:srgbClr val="0A66C2"/>
                </a:solidFill>
                <a:latin typeface="-apple-system"/>
                <a:ea typeface="-apple-system"/>
                <a:cs typeface="-apple-system"/>
                <a:hlinkClick r:id="rId4"/>
              </a:rPr>
              <a:t>hashtag#EsriWater</a:t>
            </a:r>
            <a:r>
              <a:rPr lang="en-US">
                <a:latin typeface="-apple-system"/>
                <a:ea typeface="-apple-system"/>
                <a:cs typeface="-apple-system"/>
              </a:rPr>
              <a:t> </a:t>
            </a:r>
            <a:r>
              <a:rPr lang="en-US" b="1">
                <a:solidFill>
                  <a:srgbClr val="0A66C2"/>
                </a:solidFill>
                <a:latin typeface="-apple-system"/>
                <a:ea typeface="-apple-system"/>
                <a:cs typeface="-apple-system"/>
                <a:hlinkClick r:id="rId5"/>
              </a:rPr>
              <a:t>https://lnkd.in/gNr6Khpg</a:t>
            </a:r>
            <a:r>
              <a:rPr lang="en-US">
                <a:latin typeface="-apple-system"/>
                <a:ea typeface="-apple-system"/>
                <a:cs typeface="-apple-system"/>
              </a:rPr>
              <a:t> </a:t>
            </a:r>
            <a:r>
              <a:rPr lang="en-US" b="1">
                <a:solidFill>
                  <a:srgbClr val="0A66C2"/>
                </a:solidFill>
                <a:latin typeface="-apple-system"/>
                <a:ea typeface="-apple-system"/>
                <a:cs typeface="-apple-system"/>
                <a:hlinkClick r:id="rId6"/>
              </a:rPr>
              <a:t>Esri Nederland</a:t>
            </a:r>
            <a:endParaRPr lang="en-US"/>
          </a:p>
          <a:p>
            <a:pPr algn="ctr"/>
            <a:endParaRPr lang="pt-BR"/>
          </a:p>
        </p:txBody>
      </p:sp>
      <p:pic>
        <p:nvPicPr>
          <p:cNvPr id="5" name="Imagem 4" descr="Não foi fornecido texto alternativo para esta imagem">
            <a:extLst>
              <a:ext uri="{FF2B5EF4-FFF2-40B4-BE49-F238E27FC236}">
                <a16:creationId xmlns:a16="http://schemas.microsoft.com/office/drawing/2014/main" id="{79926ACD-E491-086F-E7BB-2E32D156755B}"/>
              </a:ext>
            </a:extLst>
          </p:cNvPr>
          <p:cNvPicPr>
            <a:picLocks noChangeAspect="1"/>
          </p:cNvPicPr>
          <p:nvPr/>
        </p:nvPicPr>
        <p:blipFill>
          <a:blip r:embed="rId7"/>
          <a:stretch>
            <a:fillRect/>
          </a:stretch>
        </p:blipFill>
        <p:spPr>
          <a:xfrm>
            <a:off x="869470" y="397445"/>
            <a:ext cx="4630229" cy="4639754"/>
          </a:xfrm>
          <a:prstGeom prst="rect">
            <a:avLst/>
          </a:prstGeom>
        </p:spPr>
      </p:pic>
      <p:sp>
        <p:nvSpPr>
          <p:cNvPr id="6" name="CaixaDeTexto 5">
            <a:extLst>
              <a:ext uri="{FF2B5EF4-FFF2-40B4-BE49-F238E27FC236}">
                <a16:creationId xmlns:a16="http://schemas.microsoft.com/office/drawing/2014/main" id="{FA895559-EE0E-E659-70A4-EE3CBB148D02}"/>
              </a:ext>
            </a:extLst>
          </p:cNvPr>
          <p:cNvSpPr txBox="1"/>
          <p:nvPr/>
        </p:nvSpPr>
        <p:spPr>
          <a:xfrm>
            <a:off x="733245" y="5269302"/>
            <a:ext cx="6455433"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https://www.linkedin.com/posts/crstacampbell_arcgis-esriwater-activity-7241506385371267072-aCv4?utm_source=share&amp;utm_medium=member_desktop&amp;rcm=ACoAAAMQtAUB5UouXqdBJgo_gWpNVZ7Imay_2Tg</a:t>
            </a:r>
          </a:p>
          <a:p>
            <a:pPr algn="ctr"/>
            <a:endParaRPr lang="pt-BR"/>
          </a:p>
        </p:txBody>
      </p:sp>
    </p:spTree>
    <p:extLst>
      <p:ext uri="{BB962C8B-B14F-4D97-AF65-F5344CB8AC3E}">
        <p14:creationId xmlns:p14="http://schemas.microsoft.com/office/powerpoint/2010/main" val="283000377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a:extLst>
              <a:ext uri="{FF2B5EF4-FFF2-40B4-BE49-F238E27FC236}">
                <a16:creationId xmlns:a16="http://schemas.microsoft.com/office/drawing/2014/main" id="{9F30D856-7FFA-9AA7-1239-31C3A83F51E5}"/>
              </a:ext>
            </a:extLst>
          </p:cNvPr>
          <p:cNvSpPr txBox="1"/>
          <p:nvPr/>
        </p:nvSpPr>
        <p:spPr>
          <a:xfrm>
            <a:off x="0" y="7188"/>
            <a:ext cx="5851585" cy="69597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apple-system"/>
                <a:ea typeface="-apple-system"/>
                <a:cs typeface="-apple-system"/>
              </a:rPr>
              <a:t>𝟕 𝐢𝐧𝐬𝐢𝐠𝐡𝐭𝐬 𝐩𝐚𝐫𝐚 𝐮𝐦𝐚 𝐠𝐞𝐬𝐭ã𝐨 𝐞𝐟𝐢𝐜𝐢𝐞𝐧𝐭𝐞 𝐝𝐞 𝐥𝐢𝐜𝐞𝐧ç𝐚𝐬 𝐀𝐫𝐜𝐆𝐈𝐒</a:t>
            </a:r>
            <a:br>
              <a:rPr lang="en-US" sz="1600">
                <a:latin typeface="-apple-system"/>
                <a:ea typeface="-apple-system"/>
                <a:cs typeface="-apple-system"/>
              </a:rPr>
            </a:br>
            <a:br>
              <a:rPr lang="en-US" sz="1600">
                <a:latin typeface="-apple-system"/>
                <a:ea typeface="-apple-system"/>
                <a:cs typeface="-apple-system"/>
              </a:rPr>
            </a:br>
            <a:r>
              <a:rPr lang="en-US" sz="1600">
                <a:latin typeface="-apple-system"/>
                <a:ea typeface="-apple-system"/>
                <a:cs typeface="-apple-system"/>
              </a:rPr>
              <a:t>Quanto </a:t>
            </a:r>
            <a:r>
              <a:rPr lang="en-US" sz="1600" err="1">
                <a:latin typeface="-apple-system"/>
                <a:ea typeface="-apple-system"/>
                <a:cs typeface="-apple-system"/>
              </a:rPr>
              <a:t>maior</a:t>
            </a:r>
            <a:r>
              <a:rPr lang="en-US" sz="1600">
                <a:latin typeface="-apple-system"/>
                <a:ea typeface="-apple-system"/>
                <a:cs typeface="-apple-system"/>
              </a:rPr>
              <a:t> o </a:t>
            </a:r>
            <a:r>
              <a:rPr lang="en-US" sz="1600" err="1">
                <a:latin typeface="-apple-system"/>
                <a:ea typeface="-apple-system"/>
                <a:cs typeface="-apple-system"/>
              </a:rPr>
              <a:t>negócio</a:t>
            </a:r>
            <a:r>
              <a:rPr lang="en-US" sz="1600">
                <a:latin typeface="-apple-system"/>
                <a:ea typeface="-apple-system"/>
                <a:cs typeface="-apple-system"/>
              </a:rPr>
              <a:t> </a:t>
            </a:r>
            <a:r>
              <a:rPr lang="en-US" sz="1600" err="1">
                <a:latin typeface="-apple-system"/>
                <a:ea typeface="-apple-system"/>
                <a:cs typeface="-apple-system"/>
              </a:rPr>
              <a:t>ou</a:t>
            </a:r>
            <a:r>
              <a:rPr lang="en-US" sz="1600">
                <a:latin typeface="-apple-system"/>
                <a:ea typeface="-apple-system"/>
                <a:cs typeface="-apple-system"/>
              </a:rPr>
              <a:t> </a:t>
            </a:r>
            <a:r>
              <a:rPr lang="en-US" sz="1600" err="1">
                <a:latin typeface="-apple-system"/>
                <a:ea typeface="-apple-system"/>
                <a:cs typeface="-apple-system"/>
              </a:rPr>
              <a:t>organização</a:t>
            </a:r>
            <a:r>
              <a:rPr lang="en-US" sz="1600">
                <a:latin typeface="-apple-system"/>
                <a:ea typeface="-apple-system"/>
                <a:cs typeface="-apple-system"/>
              </a:rPr>
              <a:t>, </a:t>
            </a:r>
            <a:r>
              <a:rPr lang="en-US" sz="1600" err="1">
                <a:latin typeface="-apple-system"/>
                <a:ea typeface="-apple-system"/>
                <a:cs typeface="-apple-system"/>
              </a:rPr>
              <a:t>maiores</a:t>
            </a:r>
            <a:r>
              <a:rPr lang="en-US" sz="1600">
                <a:latin typeface="-apple-system"/>
                <a:ea typeface="-apple-system"/>
                <a:cs typeface="-apple-system"/>
              </a:rPr>
              <a:t> </a:t>
            </a:r>
            <a:r>
              <a:rPr lang="en-US" sz="1600" err="1">
                <a:latin typeface="-apple-system"/>
                <a:ea typeface="-apple-system"/>
                <a:cs typeface="-apple-system"/>
              </a:rPr>
              <a:t>são</a:t>
            </a:r>
            <a:r>
              <a:rPr lang="en-US" sz="1600">
                <a:latin typeface="-apple-system"/>
                <a:ea typeface="-apple-system"/>
                <a:cs typeface="-apple-system"/>
              </a:rPr>
              <a:t> </a:t>
            </a:r>
            <a:r>
              <a:rPr lang="en-US" sz="1600" err="1">
                <a:latin typeface="-apple-system"/>
                <a:ea typeface="-apple-system"/>
                <a:cs typeface="-apple-system"/>
              </a:rPr>
              <a:t>os</a:t>
            </a:r>
            <a:r>
              <a:rPr lang="en-US" sz="1600">
                <a:latin typeface="-apple-system"/>
                <a:ea typeface="-apple-system"/>
                <a:cs typeface="-apple-system"/>
              </a:rPr>
              <a:t> </a:t>
            </a:r>
            <a:r>
              <a:rPr lang="en-US" sz="1600" err="1">
                <a:latin typeface="-apple-system"/>
                <a:ea typeface="-apple-system"/>
                <a:cs typeface="-apple-system"/>
              </a:rPr>
              <a:t>desafios</a:t>
            </a:r>
            <a:r>
              <a:rPr lang="en-US" sz="1600">
                <a:latin typeface="-apple-system"/>
                <a:ea typeface="-apple-system"/>
                <a:cs typeface="-apple-system"/>
              </a:rPr>
              <a:t> </a:t>
            </a:r>
            <a:r>
              <a:rPr lang="en-US" sz="1600" err="1">
                <a:latin typeface="-apple-system"/>
                <a:ea typeface="-apple-system"/>
                <a:cs typeface="-apple-system"/>
              </a:rPr>
              <a:t>enfrentados</a:t>
            </a:r>
            <a:r>
              <a:rPr lang="en-US" sz="1600">
                <a:latin typeface="-apple-system"/>
                <a:ea typeface="-apple-system"/>
                <a:cs typeface="-apple-system"/>
              </a:rPr>
              <a:t> para </a:t>
            </a:r>
            <a:r>
              <a:rPr lang="en-US" sz="1600" err="1">
                <a:latin typeface="-apple-system"/>
                <a:ea typeface="-apple-system"/>
                <a:cs typeface="-apple-system"/>
              </a:rPr>
              <a:t>manter</a:t>
            </a:r>
            <a:r>
              <a:rPr lang="en-US" sz="1600">
                <a:latin typeface="-apple-system"/>
                <a:ea typeface="-apple-system"/>
                <a:cs typeface="-apple-system"/>
              </a:rPr>
              <a:t> </a:t>
            </a:r>
            <a:r>
              <a:rPr lang="en-US" sz="1600" err="1">
                <a:latin typeface="-apple-system"/>
                <a:ea typeface="-apple-system"/>
                <a:cs typeface="-apple-system"/>
              </a:rPr>
              <a:t>eficiência</a:t>
            </a:r>
            <a:r>
              <a:rPr lang="en-US" sz="1600">
                <a:latin typeface="-apple-system"/>
                <a:ea typeface="-apple-system"/>
                <a:cs typeface="-apple-system"/>
              </a:rPr>
              <a:t> no </a:t>
            </a:r>
            <a:r>
              <a:rPr lang="en-US" sz="1600" err="1">
                <a:latin typeface="-apple-system"/>
                <a:ea typeface="-apple-system"/>
                <a:cs typeface="-apple-system"/>
              </a:rPr>
              <a:t>uso</a:t>
            </a:r>
            <a:r>
              <a:rPr lang="en-US" sz="1600">
                <a:latin typeface="-apple-system"/>
                <a:ea typeface="-apple-system"/>
                <a:cs typeface="-apple-system"/>
              </a:rPr>
              <a:t> dos </a:t>
            </a:r>
            <a:r>
              <a:rPr lang="en-US" sz="1600" err="1">
                <a:latin typeface="-apple-system"/>
                <a:ea typeface="-apple-system"/>
                <a:cs typeface="-apple-system"/>
              </a:rPr>
              <a:t>recursos</a:t>
            </a:r>
            <a:r>
              <a:rPr lang="en-US" sz="1600">
                <a:latin typeface="-apple-system"/>
                <a:ea typeface="-apple-system"/>
                <a:cs typeface="-apple-system"/>
              </a:rPr>
              <a:t>. </a:t>
            </a:r>
            <a:r>
              <a:rPr lang="en-US" sz="1600" err="1">
                <a:latin typeface="-apple-system"/>
                <a:ea typeface="-apple-system"/>
                <a:cs typeface="-apple-system"/>
              </a:rPr>
              <a:t>Abaixo</a:t>
            </a:r>
            <a:r>
              <a:rPr lang="en-US" sz="1600">
                <a:latin typeface="-apple-system"/>
                <a:ea typeface="-apple-system"/>
                <a:cs typeface="-apple-system"/>
              </a:rPr>
              <a:t>, </a:t>
            </a:r>
            <a:r>
              <a:rPr lang="en-US" sz="1600" err="1">
                <a:latin typeface="-apple-system"/>
                <a:ea typeface="-apple-system"/>
                <a:cs typeface="-apple-system"/>
              </a:rPr>
              <a:t>deixo</a:t>
            </a:r>
            <a:r>
              <a:rPr lang="en-US" sz="1600">
                <a:latin typeface="-apple-system"/>
                <a:ea typeface="-apple-system"/>
                <a:cs typeface="-apple-system"/>
              </a:rPr>
              <a:t> </a:t>
            </a:r>
            <a:r>
              <a:rPr lang="en-US" sz="1600" err="1">
                <a:latin typeface="-apple-system"/>
                <a:ea typeface="-apple-system"/>
                <a:cs typeface="-apple-system"/>
              </a:rPr>
              <a:t>alguns</a:t>
            </a:r>
            <a:r>
              <a:rPr lang="en-US" sz="1600">
                <a:latin typeface="-apple-system"/>
                <a:ea typeface="-apple-system"/>
                <a:cs typeface="-apple-system"/>
              </a:rPr>
              <a:t> </a:t>
            </a:r>
            <a:r>
              <a:rPr lang="en-US" sz="1600" err="1">
                <a:latin typeface="-apple-system"/>
                <a:ea typeface="-apple-system"/>
                <a:cs typeface="-apple-system"/>
              </a:rPr>
              <a:t>pontos</a:t>
            </a:r>
            <a:r>
              <a:rPr lang="en-US" sz="1600">
                <a:latin typeface="-apple-system"/>
                <a:ea typeface="-apple-system"/>
                <a:cs typeface="-apple-system"/>
              </a:rPr>
              <a:t> a </a:t>
            </a:r>
            <a:r>
              <a:rPr lang="en-US" sz="1600" err="1">
                <a:latin typeface="-apple-system"/>
                <a:ea typeface="-apple-system"/>
                <a:cs typeface="-apple-system"/>
              </a:rPr>
              <a:t>considerar</a:t>
            </a:r>
            <a:r>
              <a:rPr lang="en-US" sz="1600">
                <a:latin typeface="-apple-system"/>
                <a:ea typeface="-apple-system"/>
                <a:cs typeface="-apple-system"/>
              </a:rPr>
              <a:t> </a:t>
            </a:r>
            <a:r>
              <a:rPr lang="en-US" sz="1600" err="1">
                <a:latin typeface="-apple-system"/>
                <a:ea typeface="-apple-system"/>
                <a:cs typeface="-apple-system"/>
              </a:rPr>
              <a:t>nessa</a:t>
            </a:r>
            <a:r>
              <a:rPr lang="en-US" sz="1600">
                <a:latin typeface="-apple-system"/>
                <a:ea typeface="-apple-system"/>
                <a:cs typeface="-apple-system"/>
              </a:rPr>
              <a:t> </a:t>
            </a:r>
            <a:r>
              <a:rPr lang="en-US" sz="1600" err="1">
                <a:latin typeface="-apple-system"/>
                <a:ea typeface="-apple-system"/>
                <a:cs typeface="-apple-system"/>
              </a:rPr>
              <a:t>gestão</a:t>
            </a:r>
            <a:r>
              <a:rPr lang="en-US" sz="1600">
                <a:latin typeface="-apple-system"/>
                <a:ea typeface="-apple-system"/>
                <a:cs typeface="-apple-system"/>
              </a:rPr>
              <a:t>:</a:t>
            </a:r>
            <a:br>
              <a:rPr lang="en-US" sz="1600">
                <a:latin typeface="-apple-system"/>
                <a:ea typeface="-apple-system"/>
                <a:cs typeface="-apple-system"/>
              </a:rPr>
            </a:br>
            <a:br>
              <a:rPr lang="en-US" sz="1600">
                <a:latin typeface="-apple-system"/>
                <a:ea typeface="-apple-system"/>
                <a:cs typeface="-apple-system"/>
              </a:rPr>
            </a:br>
            <a:r>
              <a:rPr lang="en-US" sz="1600">
                <a:latin typeface="-apple-system"/>
                <a:ea typeface="-apple-system"/>
                <a:cs typeface="-apple-system"/>
              </a:rPr>
              <a:t>1. </a:t>
            </a:r>
            <a:r>
              <a:rPr lang="en-US" sz="1600" err="1">
                <a:latin typeface="-apple-system"/>
                <a:ea typeface="-apple-system"/>
                <a:cs typeface="-apple-system"/>
              </a:rPr>
              <a:t>Mapeamento</a:t>
            </a:r>
            <a:r>
              <a:rPr lang="en-US" sz="1600">
                <a:latin typeface="-apple-system"/>
                <a:ea typeface="-apple-system"/>
                <a:cs typeface="-apple-system"/>
              </a:rPr>
              <a:t> do </a:t>
            </a:r>
            <a:r>
              <a:rPr lang="en-US" sz="1600" err="1">
                <a:latin typeface="-apple-system"/>
                <a:ea typeface="-apple-system"/>
                <a:cs typeface="-apple-system"/>
              </a:rPr>
              <a:t>uso</a:t>
            </a:r>
            <a:r>
              <a:rPr lang="en-US" sz="1600">
                <a:latin typeface="-apple-system"/>
                <a:ea typeface="-apple-system"/>
                <a:cs typeface="-apple-system"/>
              </a:rPr>
              <a:t> das equipes 🗺: </a:t>
            </a:r>
            <a:br>
              <a:rPr lang="en-US" sz="1600">
                <a:latin typeface="-apple-system"/>
                <a:ea typeface="-apple-system"/>
                <a:cs typeface="-apple-system"/>
              </a:rPr>
            </a:br>
            <a:r>
              <a:rPr lang="en-US" sz="1600" err="1">
                <a:latin typeface="-apple-system"/>
                <a:ea typeface="-apple-system"/>
                <a:cs typeface="-apple-system"/>
              </a:rPr>
              <a:t>Entender</a:t>
            </a:r>
            <a:r>
              <a:rPr lang="en-US" sz="1600">
                <a:latin typeface="-apple-system"/>
                <a:ea typeface="-apple-system"/>
                <a:cs typeface="-apple-system"/>
              </a:rPr>
              <a:t> </a:t>
            </a:r>
            <a:r>
              <a:rPr lang="en-US" sz="1600" err="1">
                <a:latin typeface="-apple-system"/>
                <a:ea typeface="-apple-system"/>
                <a:cs typeface="-apple-system"/>
              </a:rPr>
              <a:t>os</a:t>
            </a:r>
            <a:r>
              <a:rPr lang="en-US" sz="1600">
                <a:latin typeface="-apple-system"/>
                <a:ea typeface="-apple-system"/>
                <a:cs typeface="-apple-system"/>
              </a:rPr>
              <a:t> </a:t>
            </a:r>
            <a:r>
              <a:rPr lang="en-US" sz="1600" err="1">
                <a:latin typeface="-apple-system"/>
                <a:ea typeface="-apple-system"/>
                <a:cs typeface="-apple-system"/>
              </a:rPr>
              <a:t>tipos</a:t>
            </a:r>
            <a:r>
              <a:rPr lang="en-US" sz="1600">
                <a:latin typeface="-apple-system"/>
                <a:ea typeface="-apple-system"/>
                <a:cs typeface="-apple-system"/>
              </a:rPr>
              <a:t> de </a:t>
            </a:r>
            <a:r>
              <a:rPr lang="en-US" sz="1600" err="1">
                <a:latin typeface="-apple-system"/>
                <a:ea typeface="-apple-system"/>
                <a:cs typeface="-apple-system"/>
              </a:rPr>
              <a:t>demandas</a:t>
            </a:r>
            <a:r>
              <a:rPr lang="en-US" sz="1600">
                <a:latin typeface="-apple-system"/>
                <a:ea typeface="-apple-system"/>
                <a:cs typeface="-apple-system"/>
              </a:rPr>
              <a:t> </a:t>
            </a:r>
            <a:r>
              <a:rPr lang="en-US" sz="1600" err="1">
                <a:latin typeface="-apple-system"/>
                <a:ea typeface="-apple-system"/>
                <a:cs typeface="-apple-system"/>
              </a:rPr>
              <a:t>executadas</a:t>
            </a:r>
            <a:r>
              <a:rPr lang="en-US" sz="1600">
                <a:latin typeface="-apple-system"/>
                <a:ea typeface="-apple-system"/>
                <a:cs typeface="-apple-system"/>
              </a:rPr>
              <a:t> com o </a:t>
            </a:r>
            <a:r>
              <a:rPr lang="en-US" sz="1600" err="1">
                <a:latin typeface="-apple-system"/>
                <a:ea typeface="-apple-system"/>
                <a:cs typeface="-apple-system"/>
              </a:rPr>
              <a:t>sistema</a:t>
            </a:r>
            <a:r>
              <a:rPr lang="en-US" sz="1600">
                <a:latin typeface="-apple-system"/>
                <a:ea typeface="-apple-system"/>
                <a:cs typeface="-apple-system"/>
              </a:rPr>
              <a:t> ArcGIS, </a:t>
            </a:r>
            <a:r>
              <a:rPr lang="en-US" sz="1600" err="1">
                <a:latin typeface="-apple-system"/>
                <a:ea typeface="-apple-system"/>
                <a:cs typeface="-apple-system"/>
              </a:rPr>
              <a:t>permitirá</a:t>
            </a:r>
            <a:r>
              <a:rPr lang="en-US" sz="1600">
                <a:latin typeface="-apple-system"/>
                <a:ea typeface="-apple-system"/>
                <a:cs typeface="-apple-system"/>
              </a:rPr>
              <a:t> </a:t>
            </a:r>
            <a:r>
              <a:rPr lang="en-US" sz="1600" err="1">
                <a:latin typeface="-apple-system"/>
                <a:ea typeface="-apple-system"/>
                <a:cs typeface="-apple-system"/>
              </a:rPr>
              <a:t>identificar</a:t>
            </a:r>
            <a:r>
              <a:rPr lang="en-US" sz="1600">
                <a:latin typeface="-apple-system"/>
                <a:ea typeface="-apple-system"/>
                <a:cs typeface="-apple-system"/>
              </a:rPr>
              <a:t> a </a:t>
            </a:r>
            <a:r>
              <a:rPr lang="en-US" sz="1600" err="1">
                <a:latin typeface="-apple-system"/>
                <a:ea typeface="-apple-system"/>
                <a:cs typeface="-apple-system"/>
              </a:rPr>
              <a:t>subutilização</a:t>
            </a:r>
            <a:r>
              <a:rPr lang="en-US" sz="1600">
                <a:latin typeface="-apple-system"/>
                <a:ea typeface="-apple-system"/>
                <a:cs typeface="-apple-system"/>
              </a:rPr>
              <a:t> de </a:t>
            </a:r>
            <a:r>
              <a:rPr lang="en-US" sz="1600" err="1">
                <a:latin typeface="-apple-system"/>
                <a:ea typeface="-apple-system"/>
                <a:cs typeface="-apple-system"/>
              </a:rPr>
              <a:t>recursos</a:t>
            </a:r>
            <a:r>
              <a:rPr lang="en-US" sz="1600">
                <a:latin typeface="-apple-system"/>
                <a:ea typeface="-apple-system"/>
                <a:cs typeface="-apple-system"/>
              </a:rPr>
              <a:t> </a:t>
            </a:r>
            <a:r>
              <a:rPr lang="en-US" sz="1600" err="1">
                <a:latin typeface="-apple-system"/>
                <a:ea typeface="-apple-system"/>
                <a:cs typeface="-apple-system"/>
              </a:rPr>
              <a:t>já</a:t>
            </a:r>
            <a:r>
              <a:rPr lang="en-US" sz="1600">
                <a:latin typeface="-apple-system"/>
                <a:ea typeface="-apple-system"/>
                <a:cs typeface="-apple-system"/>
              </a:rPr>
              <a:t> </a:t>
            </a:r>
            <a:r>
              <a:rPr lang="en-US" sz="1600" err="1">
                <a:latin typeface="-apple-system"/>
                <a:ea typeface="-apple-system"/>
                <a:cs typeface="-apple-system"/>
              </a:rPr>
              <a:t>contratados</a:t>
            </a:r>
            <a:r>
              <a:rPr lang="en-US" sz="1600">
                <a:latin typeface="-apple-system"/>
                <a:ea typeface="-apple-system"/>
                <a:cs typeface="-apple-system"/>
              </a:rPr>
              <a:t> e </a:t>
            </a:r>
            <a:r>
              <a:rPr lang="en-US" sz="1600" err="1">
                <a:latin typeface="-apple-system"/>
                <a:ea typeface="-apple-system"/>
                <a:cs typeface="-apple-system"/>
              </a:rPr>
              <a:t>disponíveis</a:t>
            </a:r>
            <a:r>
              <a:rPr lang="en-US" sz="1600">
                <a:latin typeface="-apple-system"/>
                <a:ea typeface="-apple-system"/>
                <a:cs typeface="-apple-system"/>
              </a:rPr>
              <a:t>, e a </a:t>
            </a:r>
            <a:r>
              <a:rPr lang="en-US" sz="1600" err="1">
                <a:latin typeface="-apple-system"/>
                <a:ea typeface="-apple-system"/>
                <a:cs typeface="-apple-system"/>
              </a:rPr>
              <a:t>necessidade</a:t>
            </a:r>
            <a:r>
              <a:rPr lang="en-US" sz="1600">
                <a:latin typeface="-apple-system"/>
                <a:ea typeface="-apple-system"/>
                <a:cs typeface="-apple-system"/>
              </a:rPr>
              <a:t> de upgrades </a:t>
            </a:r>
            <a:r>
              <a:rPr lang="en-US" sz="1600" err="1">
                <a:latin typeface="-apple-system"/>
                <a:ea typeface="-apple-system"/>
                <a:cs typeface="-apple-system"/>
              </a:rPr>
              <a:t>em</a:t>
            </a:r>
            <a:r>
              <a:rPr lang="en-US" sz="1600">
                <a:latin typeface="-apple-system"/>
                <a:ea typeface="-apple-system"/>
                <a:cs typeface="-apple-system"/>
              </a:rPr>
              <a:t> </a:t>
            </a:r>
            <a:r>
              <a:rPr lang="en-US" sz="1600" err="1">
                <a:latin typeface="-apple-system"/>
                <a:ea typeface="-apple-system"/>
                <a:cs typeface="-apple-system"/>
              </a:rPr>
              <a:t>recursos</a:t>
            </a:r>
            <a:r>
              <a:rPr lang="en-US" sz="1600">
                <a:latin typeface="-apple-system"/>
                <a:ea typeface="-apple-system"/>
                <a:cs typeface="-apple-system"/>
              </a:rPr>
              <a:t> online, </a:t>
            </a:r>
            <a:r>
              <a:rPr lang="en-US" sz="1600" err="1">
                <a:latin typeface="-apple-system"/>
                <a:ea typeface="-apple-system"/>
                <a:cs typeface="-apple-system"/>
              </a:rPr>
              <a:t>extensões</a:t>
            </a:r>
            <a:r>
              <a:rPr lang="en-US" sz="1600">
                <a:latin typeface="-apple-system"/>
                <a:ea typeface="-apple-system"/>
                <a:cs typeface="-apple-system"/>
              </a:rPr>
              <a:t> e </a:t>
            </a:r>
            <a:r>
              <a:rPr lang="en-US" sz="1600" err="1">
                <a:latin typeface="-apple-system"/>
                <a:ea typeface="-apple-system"/>
                <a:cs typeface="-apple-system"/>
              </a:rPr>
              <a:t>níveis</a:t>
            </a:r>
            <a:r>
              <a:rPr lang="en-US" sz="1600">
                <a:latin typeface="-apple-system"/>
                <a:ea typeface="-apple-system"/>
                <a:cs typeface="-apple-system"/>
              </a:rPr>
              <a:t> de </a:t>
            </a:r>
            <a:r>
              <a:rPr lang="en-US" sz="1600" err="1">
                <a:latin typeface="-apple-system"/>
                <a:ea typeface="-apple-system"/>
                <a:cs typeface="-apple-system"/>
              </a:rPr>
              <a:t>licença</a:t>
            </a:r>
            <a:r>
              <a:rPr lang="en-US" sz="1600">
                <a:latin typeface="-apple-system"/>
                <a:ea typeface="-apple-system"/>
                <a:cs typeface="-apple-system"/>
              </a:rPr>
              <a:t> do ArcGIS Pro.</a:t>
            </a:r>
            <a:br>
              <a:rPr lang="en-US" sz="1600">
                <a:latin typeface="-apple-system"/>
                <a:ea typeface="-apple-system"/>
                <a:cs typeface="-apple-system"/>
              </a:rPr>
            </a:br>
            <a:br>
              <a:rPr lang="en-US" sz="1600">
                <a:latin typeface="-apple-system"/>
                <a:ea typeface="-apple-system"/>
                <a:cs typeface="-apple-system"/>
              </a:rPr>
            </a:br>
            <a:r>
              <a:rPr lang="en-US" sz="1600">
                <a:latin typeface="-apple-system"/>
                <a:ea typeface="-apple-system"/>
                <a:cs typeface="-apple-system"/>
              </a:rPr>
              <a:t>2. </a:t>
            </a:r>
            <a:r>
              <a:rPr lang="en-US" sz="1600" err="1">
                <a:latin typeface="-apple-system"/>
                <a:ea typeface="-apple-system"/>
                <a:cs typeface="-apple-system"/>
              </a:rPr>
              <a:t>Limpeza</a:t>
            </a:r>
            <a:r>
              <a:rPr lang="en-US" sz="1600">
                <a:latin typeface="-apple-system"/>
                <a:ea typeface="-apple-system"/>
                <a:cs typeface="-apple-system"/>
              </a:rPr>
              <a:t> de </a:t>
            </a:r>
            <a:r>
              <a:rPr lang="en-US" sz="1600" err="1">
                <a:latin typeface="-apple-system"/>
                <a:ea typeface="-apple-system"/>
                <a:cs typeface="-apple-system"/>
              </a:rPr>
              <a:t>usuários</a:t>
            </a:r>
            <a:r>
              <a:rPr lang="en-US" sz="1600">
                <a:latin typeface="-apple-system"/>
                <a:ea typeface="-apple-system"/>
                <a:cs typeface="-apple-system"/>
              </a:rPr>
              <a:t> 🗑:</a:t>
            </a:r>
            <a:br>
              <a:rPr lang="en-US" sz="1600">
                <a:latin typeface="-apple-system"/>
                <a:ea typeface="-apple-system"/>
                <a:cs typeface="-apple-system"/>
              </a:rPr>
            </a:br>
            <a:r>
              <a:rPr lang="en-US" sz="1600" err="1">
                <a:latin typeface="-apple-system"/>
                <a:ea typeface="-apple-system"/>
                <a:cs typeface="-apple-system"/>
              </a:rPr>
              <a:t>Verificar</a:t>
            </a:r>
            <a:r>
              <a:rPr lang="en-US" sz="1600">
                <a:latin typeface="-apple-system"/>
                <a:ea typeface="-apple-system"/>
                <a:cs typeface="-apple-system"/>
              </a:rPr>
              <a:t> e </a:t>
            </a:r>
            <a:r>
              <a:rPr lang="en-US" sz="1600" err="1">
                <a:latin typeface="-apple-system"/>
                <a:ea typeface="-apple-system"/>
                <a:cs typeface="-apple-system"/>
              </a:rPr>
              <a:t>investigar</a:t>
            </a:r>
            <a:r>
              <a:rPr lang="en-US" sz="1600">
                <a:latin typeface="-apple-system"/>
                <a:ea typeface="-apple-system"/>
                <a:cs typeface="-apple-system"/>
              </a:rPr>
              <a:t> </a:t>
            </a:r>
            <a:r>
              <a:rPr lang="en-US" sz="1600" err="1">
                <a:latin typeface="-apple-system"/>
                <a:ea typeface="-apple-system"/>
                <a:cs typeface="-apple-system"/>
              </a:rPr>
              <a:t>acessos</a:t>
            </a:r>
            <a:r>
              <a:rPr lang="en-US" sz="1600">
                <a:latin typeface="-apple-system"/>
                <a:ea typeface="-apple-system"/>
                <a:cs typeface="-apple-system"/>
              </a:rPr>
              <a:t> </a:t>
            </a:r>
            <a:r>
              <a:rPr lang="en-US" sz="1600" err="1">
                <a:latin typeface="-apple-system"/>
                <a:ea typeface="-apple-system"/>
                <a:cs typeface="-apple-system"/>
              </a:rPr>
              <a:t>realizados</a:t>
            </a:r>
            <a:r>
              <a:rPr lang="en-US" sz="1600">
                <a:latin typeface="-apple-system"/>
                <a:ea typeface="-apple-system"/>
                <a:cs typeface="-apple-system"/>
              </a:rPr>
              <a:t> </a:t>
            </a:r>
            <a:r>
              <a:rPr lang="en-US" sz="1600" err="1">
                <a:latin typeface="-apple-system"/>
                <a:ea typeface="-apple-system"/>
                <a:cs typeface="-apple-system"/>
              </a:rPr>
              <a:t>há</a:t>
            </a:r>
            <a:r>
              <a:rPr lang="en-US" sz="1600">
                <a:latin typeface="-apple-system"/>
                <a:ea typeface="-apple-system"/>
                <a:cs typeface="-apple-system"/>
              </a:rPr>
              <a:t> </a:t>
            </a:r>
            <a:r>
              <a:rPr lang="en-US" sz="1600" err="1">
                <a:latin typeface="-apple-system"/>
                <a:ea typeface="-apple-system"/>
                <a:cs typeface="-apple-system"/>
              </a:rPr>
              <a:t>muito</a:t>
            </a:r>
            <a:r>
              <a:rPr lang="en-US" sz="1600">
                <a:latin typeface="-apple-system"/>
                <a:ea typeface="-apple-system"/>
                <a:cs typeface="-apple-system"/>
              </a:rPr>
              <a:t> tempo, </a:t>
            </a:r>
            <a:r>
              <a:rPr lang="en-US" sz="1600" err="1">
                <a:latin typeface="-apple-system"/>
                <a:ea typeface="-apple-system"/>
                <a:cs typeface="-apple-system"/>
              </a:rPr>
              <a:t>pode</a:t>
            </a:r>
            <a:r>
              <a:rPr lang="en-US" sz="1600">
                <a:latin typeface="-apple-system"/>
                <a:ea typeface="-apple-system"/>
                <a:cs typeface="-apple-system"/>
              </a:rPr>
              <a:t> </a:t>
            </a:r>
            <a:r>
              <a:rPr lang="en-US" sz="1600" err="1">
                <a:latin typeface="-apple-system"/>
                <a:ea typeface="-apple-system"/>
                <a:cs typeface="-apple-system"/>
              </a:rPr>
              <a:t>liberar</a:t>
            </a:r>
            <a:r>
              <a:rPr lang="en-US" sz="1600">
                <a:latin typeface="-apple-system"/>
                <a:ea typeface="-apple-system"/>
                <a:cs typeface="-apple-system"/>
              </a:rPr>
              <a:t> </a:t>
            </a:r>
            <a:r>
              <a:rPr lang="en-US" sz="1600" err="1">
                <a:latin typeface="-apple-system"/>
                <a:ea typeface="-apple-system"/>
                <a:cs typeface="-apple-system"/>
              </a:rPr>
              <a:t>licenças</a:t>
            </a:r>
            <a:r>
              <a:rPr lang="en-US" sz="1600">
                <a:latin typeface="-apple-system"/>
                <a:ea typeface="-apple-system"/>
                <a:cs typeface="-apple-system"/>
              </a:rPr>
              <a:t>, </a:t>
            </a:r>
            <a:r>
              <a:rPr lang="en-US" sz="1600" err="1">
                <a:latin typeface="-apple-system"/>
                <a:ea typeface="-apple-system"/>
                <a:cs typeface="-apple-system"/>
              </a:rPr>
              <a:t>permitindo</a:t>
            </a:r>
            <a:r>
              <a:rPr lang="en-US" sz="1600">
                <a:latin typeface="-apple-system"/>
                <a:ea typeface="-apple-system"/>
                <a:cs typeface="-apple-system"/>
              </a:rPr>
              <a:t> </a:t>
            </a:r>
            <a:r>
              <a:rPr lang="en-US" sz="1600" err="1">
                <a:latin typeface="-apple-system"/>
                <a:ea typeface="-apple-system"/>
                <a:cs typeface="-apple-system"/>
              </a:rPr>
              <a:t>realocação</a:t>
            </a:r>
            <a:r>
              <a:rPr lang="en-US" sz="1600">
                <a:latin typeface="-apple-system"/>
                <a:ea typeface="-apple-system"/>
                <a:cs typeface="-apple-system"/>
              </a:rPr>
              <a:t> e </a:t>
            </a:r>
            <a:r>
              <a:rPr lang="en-US" sz="1600" err="1">
                <a:latin typeface="-apple-system"/>
                <a:ea typeface="-apple-system"/>
                <a:cs typeface="-apple-system"/>
              </a:rPr>
              <a:t>criação</a:t>
            </a:r>
            <a:r>
              <a:rPr lang="en-US" sz="1600">
                <a:latin typeface="-apple-system"/>
                <a:ea typeface="-apple-system"/>
                <a:cs typeface="-apple-system"/>
              </a:rPr>
              <a:t> de </a:t>
            </a:r>
            <a:r>
              <a:rPr lang="en-US" sz="1600" err="1">
                <a:latin typeface="-apple-system"/>
                <a:ea typeface="-apple-system"/>
                <a:cs typeface="-apple-system"/>
              </a:rPr>
              <a:t>novos</a:t>
            </a:r>
            <a:r>
              <a:rPr lang="en-US" sz="1600">
                <a:latin typeface="-apple-system"/>
                <a:ea typeface="-apple-system"/>
                <a:cs typeface="-apple-system"/>
              </a:rPr>
              <a:t> </a:t>
            </a:r>
            <a:r>
              <a:rPr lang="en-US" sz="1600" err="1">
                <a:latin typeface="-apple-system"/>
                <a:ea typeface="-apple-system"/>
                <a:cs typeface="-apple-system"/>
              </a:rPr>
              <a:t>usuários</a:t>
            </a:r>
            <a:r>
              <a:rPr lang="en-US" sz="1600">
                <a:latin typeface="-apple-system"/>
                <a:ea typeface="-apple-system"/>
                <a:cs typeface="-apple-system"/>
              </a:rPr>
              <a:t>.</a:t>
            </a:r>
            <a:br>
              <a:rPr lang="en-US" sz="1600">
                <a:latin typeface="-apple-system"/>
                <a:ea typeface="-apple-system"/>
                <a:cs typeface="-apple-system"/>
              </a:rPr>
            </a:br>
            <a:br>
              <a:rPr lang="en-US" sz="1600">
                <a:latin typeface="-apple-system"/>
                <a:ea typeface="-apple-system"/>
                <a:cs typeface="-apple-system"/>
              </a:rPr>
            </a:br>
            <a:r>
              <a:rPr lang="en-US" sz="1600">
                <a:latin typeface="-apple-system"/>
                <a:ea typeface="-apple-system"/>
                <a:cs typeface="-apple-system"/>
              </a:rPr>
              <a:t>3. </a:t>
            </a:r>
            <a:r>
              <a:rPr lang="en-US" sz="1600" err="1">
                <a:latin typeface="-apple-system"/>
                <a:ea typeface="-apple-system"/>
                <a:cs typeface="-apple-system"/>
              </a:rPr>
              <a:t>Centralização</a:t>
            </a:r>
            <a:r>
              <a:rPr lang="en-US" sz="1600">
                <a:latin typeface="-apple-system"/>
                <a:ea typeface="-apple-system"/>
                <a:cs typeface="-apple-system"/>
              </a:rPr>
              <a:t> da </a:t>
            </a:r>
            <a:r>
              <a:rPr lang="en-US" sz="1600" err="1">
                <a:latin typeface="-apple-system"/>
                <a:ea typeface="-apple-system"/>
                <a:cs typeface="-apple-system"/>
              </a:rPr>
              <a:t>gestão</a:t>
            </a:r>
            <a:r>
              <a:rPr lang="en-US" sz="1600">
                <a:latin typeface="-apple-system"/>
                <a:ea typeface="-apple-system"/>
                <a:cs typeface="-apple-system"/>
              </a:rPr>
              <a:t> 📑: </a:t>
            </a:r>
            <a:br>
              <a:rPr lang="en-US" sz="1600">
                <a:latin typeface="-apple-system"/>
                <a:ea typeface="-apple-system"/>
                <a:cs typeface="-apple-system"/>
              </a:rPr>
            </a:br>
            <a:r>
              <a:rPr lang="en-US" sz="1600" err="1">
                <a:latin typeface="-apple-system"/>
                <a:ea typeface="-apple-system"/>
                <a:cs typeface="-apple-system"/>
              </a:rPr>
              <a:t>Possuir</a:t>
            </a:r>
            <a:r>
              <a:rPr lang="en-US" sz="1600">
                <a:latin typeface="-apple-system"/>
                <a:ea typeface="-apple-system"/>
                <a:cs typeface="-apple-system"/>
              </a:rPr>
              <a:t> </a:t>
            </a:r>
            <a:r>
              <a:rPr lang="en-US" sz="1600" err="1">
                <a:latin typeface="-apple-system"/>
                <a:ea typeface="-apple-system"/>
                <a:cs typeface="-apple-system"/>
              </a:rPr>
              <a:t>uma</a:t>
            </a:r>
            <a:r>
              <a:rPr lang="en-US" sz="1600">
                <a:latin typeface="-apple-system"/>
                <a:ea typeface="-apple-system"/>
                <a:cs typeface="-apple-system"/>
              </a:rPr>
              <a:t> equipe </a:t>
            </a:r>
            <a:r>
              <a:rPr lang="en-US" sz="1600" err="1">
                <a:latin typeface="-apple-system"/>
                <a:ea typeface="-apple-system"/>
                <a:cs typeface="-apple-system"/>
              </a:rPr>
              <a:t>gestora</a:t>
            </a:r>
            <a:r>
              <a:rPr lang="en-US" sz="1600">
                <a:latin typeface="-apple-system"/>
                <a:ea typeface="-apple-system"/>
                <a:cs typeface="-apple-system"/>
              </a:rPr>
              <a:t>/gestor </a:t>
            </a:r>
            <a:r>
              <a:rPr lang="en-US" sz="1600" err="1">
                <a:latin typeface="-apple-system"/>
                <a:ea typeface="-apple-system"/>
                <a:cs typeface="-apple-system"/>
              </a:rPr>
              <a:t>único</a:t>
            </a:r>
            <a:r>
              <a:rPr lang="en-US" sz="1600">
                <a:latin typeface="-apple-system"/>
                <a:ea typeface="-apple-system"/>
                <a:cs typeface="-apple-system"/>
              </a:rPr>
              <a:t> </a:t>
            </a:r>
            <a:r>
              <a:rPr lang="en-US" sz="1600" err="1">
                <a:latin typeface="-apple-system"/>
                <a:ea typeface="-apple-system"/>
                <a:cs typeface="-apple-system"/>
              </a:rPr>
              <a:t>na</a:t>
            </a:r>
            <a:r>
              <a:rPr lang="en-US" sz="1600">
                <a:latin typeface="-apple-system"/>
                <a:ea typeface="-apple-system"/>
                <a:cs typeface="-apple-system"/>
              </a:rPr>
              <a:t> </a:t>
            </a:r>
            <a:r>
              <a:rPr lang="en-US" sz="1600" err="1">
                <a:latin typeface="-apple-system"/>
                <a:ea typeface="-apple-system"/>
                <a:cs typeface="-apple-system"/>
              </a:rPr>
              <a:t>organização</a:t>
            </a:r>
            <a:r>
              <a:rPr lang="en-US" sz="1600">
                <a:latin typeface="-apple-system"/>
                <a:ea typeface="-apple-system"/>
                <a:cs typeface="-apple-system"/>
              </a:rPr>
              <a:t>, </a:t>
            </a:r>
            <a:r>
              <a:rPr lang="en-US" sz="1600" err="1">
                <a:latin typeface="-apple-system"/>
                <a:ea typeface="-apple-system"/>
                <a:cs typeface="-apple-system"/>
              </a:rPr>
              <a:t>permite</a:t>
            </a:r>
            <a:r>
              <a:rPr lang="en-US" sz="1600">
                <a:latin typeface="-apple-system"/>
                <a:ea typeface="-apple-system"/>
                <a:cs typeface="-apple-system"/>
              </a:rPr>
              <a:t> </a:t>
            </a:r>
            <a:r>
              <a:rPr lang="en-US" sz="1600" err="1">
                <a:latin typeface="-apple-system"/>
                <a:ea typeface="-apple-system"/>
                <a:cs typeface="-apple-system"/>
              </a:rPr>
              <a:t>uma</a:t>
            </a:r>
            <a:r>
              <a:rPr lang="en-US" sz="1600">
                <a:latin typeface="-apple-system"/>
                <a:ea typeface="-apple-system"/>
                <a:cs typeface="-apple-system"/>
              </a:rPr>
              <a:t> </a:t>
            </a:r>
            <a:r>
              <a:rPr lang="en-US" sz="1600" err="1">
                <a:latin typeface="-apple-system"/>
                <a:ea typeface="-apple-system"/>
                <a:cs typeface="-apple-system"/>
              </a:rPr>
              <a:t>visão</a:t>
            </a:r>
            <a:r>
              <a:rPr lang="en-US" sz="1600">
                <a:latin typeface="-apple-system"/>
                <a:ea typeface="-apple-system"/>
                <a:cs typeface="-apple-system"/>
              </a:rPr>
              <a:t> global da </a:t>
            </a:r>
            <a:r>
              <a:rPr lang="en-US" sz="1600" err="1">
                <a:latin typeface="-apple-system"/>
                <a:ea typeface="-apple-system"/>
                <a:cs typeface="-apple-system"/>
              </a:rPr>
              <a:t>distribuição</a:t>
            </a:r>
            <a:r>
              <a:rPr lang="en-US" sz="1600">
                <a:latin typeface="-apple-system"/>
                <a:ea typeface="-apple-system"/>
                <a:cs typeface="-apple-system"/>
              </a:rPr>
              <a:t> dos </a:t>
            </a:r>
            <a:r>
              <a:rPr lang="en-US" sz="1600" err="1">
                <a:latin typeface="-apple-system"/>
                <a:ea typeface="-apple-system"/>
                <a:cs typeface="-apple-system"/>
              </a:rPr>
              <a:t>recursos</a:t>
            </a:r>
            <a:r>
              <a:rPr lang="en-US" sz="1600">
                <a:latin typeface="-apple-system"/>
                <a:ea typeface="-apple-system"/>
                <a:cs typeface="-apple-system"/>
              </a:rPr>
              <a:t>, </a:t>
            </a:r>
            <a:r>
              <a:rPr lang="en-US" sz="1600" err="1">
                <a:latin typeface="-apple-system"/>
                <a:ea typeface="-apple-system"/>
                <a:cs typeface="-apple-system"/>
              </a:rPr>
              <a:t>gargalos</a:t>
            </a:r>
            <a:r>
              <a:rPr lang="en-US" sz="1600">
                <a:latin typeface="-apple-system"/>
                <a:ea typeface="-apple-system"/>
                <a:cs typeface="-apple-system"/>
              </a:rPr>
              <a:t> e </a:t>
            </a:r>
            <a:r>
              <a:rPr lang="en-US" sz="1600" err="1">
                <a:latin typeface="-apple-system"/>
                <a:ea typeface="-apple-system"/>
                <a:cs typeface="-apple-system"/>
              </a:rPr>
              <a:t>oportunidades</a:t>
            </a:r>
            <a:r>
              <a:rPr lang="en-US" sz="1600">
                <a:latin typeface="-apple-system"/>
                <a:ea typeface="-apple-system"/>
                <a:cs typeface="-apple-system"/>
              </a:rPr>
              <a:t>, </a:t>
            </a:r>
            <a:r>
              <a:rPr lang="en-US" sz="1600" err="1">
                <a:latin typeface="-apple-system"/>
                <a:ea typeface="-apple-system"/>
                <a:cs typeface="-apple-system"/>
              </a:rPr>
              <a:t>facilitando</a:t>
            </a:r>
            <a:r>
              <a:rPr lang="en-US" sz="1600">
                <a:latin typeface="-apple-system"/>
                <a:ea typeface="-apple-system"/>
                <a:cs typeface="-apple-system"/>
              </a:rPr>
              <a:t> o </a:t>
            </a:r>
            <a:r>
              <a:rPr lang="en-US" sz="1600" err="1">
                <a:latin typeface="-apple-system"/>
                <a:ea typeface="-apple-system"/>
                <a:cs typeface="-apple-system"/>
              </a:rPr>
              <a:t>uso</a:t>
            </a:r>
            <a:r>
              <a:rPr lang="en-US" sz="1600">
                <a:latin typeface="-apple-system"/>
                <a:ea typeface="-apple-system"/>
                <a:cs typeface="-apple-system"/>
              </a:rPr>
              <a:t> </a:t>
            </a:r>
            <a:r>
              <a:rPr lang="en-US" sz="1600" err="1">
                <a:latin typeface="-apple-system"/>
                <a:ea typeface="-apple-system"/>
                <a:cs typeface="-apple-system"/>
              </a:rPr>
              <a:t>otimizado</a:t>
            </a:r>
            <a:r>
              <a:rPr lang="en-US" sz="1600">
                <a:latin typeface="-apple-system"/>
                <a:ea typeface="-apple-system"/>
                <a:cs typeface="-apple-system"/>
              </a:rPr>
              <a:t> dos </a:t>
            </a:r>
            <a:r>
              <a:rPr lang="en-US" sz="1600" err="1">
                <a:latin typeface="-apple-system"/>
                <a:ea typeface="-apple-system"/>
                <a:cs typeface="-apple-system"/>
              </a:rPr>
              <a:t>produtos</a:t>
            </a:r>
            <a:r>
              <a:rPr lang="en-US" sz="1600">
                <a:latin typeface="-apple-system"/>
                <a:ea typeface="-apple-system"/>
                <a:cs typeface="-apple-system"/>
              </a:rPr>
              <a:t> e </a:t>
            </a:r>
            <a:r>
              <a:rPr lang="en-US" sz="1600" err="1">
                <a:latin typeface="-apple-system"/>
                <a:ea typeface="-apple-system"/>
                <a:cs typeface="-apple-system"/>
              </a:rPr>
              <a:t>soluções</a:t>
            </a:r>
            <a:r>
              <a:rPr lang="en-US" sz="1600">
                <a:latin typeface="-apple-system"/>
                <a:ea typeface="-apple-system"/>
                <a:cs typeface="-apple-system"/>
              </a:rPr>
              <a:t>. A </a:t>
            </a:r>
            <a:r>
              <a:rPr lang="en-US" sz="1600" err="1">
                <a:latin typeface="-apple-system"/>
                <a:ea typeface="-apple-system"/>
                <a:cs typeface="-apple-system"/>
              </a:rPr>
              <a:t>descentralização</a:t>
            </a:r>
            <a:r>
              <a:rPr lang="en-US" sz="1600">
                <a:latin typeface="-apple-system"/>
                <a:ea typeface="-apple-system"/>
                <a:cs typeface="-apple-system"/>
              </a:rPr>
              <a:t> </a:t>
            </a:r>
            <a:r>
              <a:rPr lang="en-US" sz="1600" err="1">
                <a:latin typeface="-apple-system"/>
                <a:ea typeface="-apple-system"/>
                <a:cs typeface="-apple-system"/>
              </a:rPr>
              <a:t>pode</a:t>
            </a:r>
            <a:r>
              <a:rPr lang="en-US" sz="1600">
                <a:latin typeface="-apple-system"/>
                <a:ea typeface="-apple-system"/>
                <a:cs typeface="-apple-system"/>
              </a:rPr>
              <a:t>, inclusive, </a:t>
            </a:r>
            <a:r>
              <a:rPr lang="en-US" sz="1600" err="1">
                <a:latin typeface="-apple-system"/>
                <a:ea typeface="-apple-system"/>
                <a:cs typeface="-apple-system"/>
              </a:rPr>
              <a:t>gerar</a:t>
            </a:r>
            <a:r>
              <a:rPr lang="en-US" sz="1600">
                <a:latin typeface="-apple-system"/>
                <a:ea typeface="-apple-system"/>
                <a:cs typeface="-apple-system"/>
              </a:rPr>
              <a:t> custos </a:t>
            </a:r>
            <a:r>
              <a:rPr lang="en-US" sz="1600" err="1">
                <a:latin typeface="-apple-system"/>
                <a:ea typeface="-apple-system"/>
                <a:cs typeface="-apple-system"/>
              </a:rPr>
              <a:t>desnecessários</a:t>
            </a:r>
            <a:r>
              <a:rPr lang="en-US" sz="1600">
                <a:latin typeface="-apple-system"/>
                <a:ea typeface="-apple-system"/>
                <a:cs typeface="-apple-system"/>
              </a:rPr>
              <a:t>.</a:t>
            </a:r>
            <a:br>
              <a:rPr lang="en-US" sz="1600">
                <a:latin typeface="-apple-system"/>
                <a:ea typeface="-apple-system"/>
                <a:cs typeface="-apple-system"/>
              </a:rPr>
            </a:br>
            <a:br>
              <a:rPr lang="en-US" sz="1600">
                <a:latin typeface="-apple-system"/>
                <a:ea typeface="-apple-system"/>
                <a:cs typeface="-apple-system"/>
              </a:rPr>
            </a:br>
            <a:r>
              <a:rPr lang="en-US" sz="1600">
                <a:latin typeface="-apple-system"/>
                <a:ea typeface="-apple-system"/>
                <a:cs typeface="-apple-system"/>
              </a:rPr>
              <a:t>4. </a:t>
            </a:r>
            <a:r>
              <a:rPr lang="en-US" sz="1600" err="1">
                <a:latin typeface="-apple-system"/>
                <a:ea typeface="-apple-system"/>
                <a:cs typeface="-apple-system"/>
              </a:rPr>
              <a:t>Domínio</a:t>
            </a:r>
            <a:r>
              <a:rPr lang="en-US" sz="1600">
                <a:latin typeface="-apple-system"/>
                <a:ea typeface="-apple-system"/>
                <a:cs typeface="-apple-system"/>
              </a:rPr>
              <a:t> </a:t>
            </a:r>
            <a:r>
              <a:rPr lang="en-US" sz="1600" err="1">
                <a:latin typeface="-apple-system"/>
                <a:ea typeface="-apple-system"/>
                <a:cs typeface="-apple-system"/>
              </a:rPr>
              <a:t>técnico</a:t>
            </a:r>
            <a:r>
              <a:rPr lang="en-US" sz="1600">
                <a:latin typeface="-apple-system"/>
                <a:ea typeface="-apple-system"/>
                <a:cs typeface="-apple-system"/>
              </a:rPr>
              <a:t> do software 💻:</a:t>
            </a:r>
            <a:br>
              <a:rPr lang="en-US" sz="1600">
                <a:latin typeface="-apple-system"/>
                <a:ea typeface="-apple-system"/>
                <a:cs typeface="-apple-system"/>
              </a:rPr>
            </a:br>
            <a:r>
              <a:rPr lang="en-US" sz="1600">
                <a:latin typeface="-apple-system"/>
                <a:ea typeface="-apple-system"/>
                <a:cs typeface="-apple-system"/>
              </a:rPr>
              <a:t>Quanto </a:t>
            </a:r>
            <a:r>
              <a:rPr lang="en-US" sz="1600" err="1">
                <a:latin typeface="-apple-system"/>
                <a:ea typeface="-apple-system"/>
                <a:cs typeface="-apple-system"/>
              </a:rPr>
              <a:t>mais</a:t>
            </a:r>
            <a:r>
              <a:rPr lang="en-US" sz="1600">
                <a:latin typeface="-apple-system"/>
                <a:ea typeface="-apple-system"/>
                <a:cs typeface="-apple-system"/>
              </a:rPr>
              <a:t> </a:t>
            </a:r>
            <a:r>
              <a:rPr lang="en-US" sz="1600" err="1">
                <a:latin typeface="-apple-system"/>
                <a:ea typeface="-apple-system"/>
                <a:cs typeface="-apple-system"/>
              </a:rPr>
              <a:t>souber</a:t>
            </a:r>
            <a:r>
              <a:rPr lang="en-US" sz="1600">
                <a:latin typeface="-apple-system"/>
                <a:ea typeface="-apple-system"/>
                <a:cs typeface="-apple-system"/>
              </a:rPr>
              <a:t> dos </a:t>
            </a:r>
            <a:r>
              <a:rPr lang="en-US" sz="1600" err="1">
                <a:latin typeface="-apple-system"/>
                <a:ea typeface="-apple-system"/>
                <a:cs typeface="-apple-system"/>
              </a:rPr>
              <a:t>recursos</a:t>
            </a:r>
            <a:r>
              <a:rPr lang="en-US" sz="1600">
                <a:latin typeface="-apple-system"/>
                <a:ea typeface="-apple-system"/>
                <a:cs typeface="-apple-system"/>
              </a:rPr>
              <a:t> e ferramentas </a:t>
            </a:r>
            <a:r>
              <a:rPr lang="en-US" sz="1600" err="1">
                <a:latin typeface="-apple-system"/>
                <a:ea typeface="-apple-system"/>
                <a:cs typeface="-apple-system"/>
              </a:rPr>
              <a:t>disponíveis</a:t>
            </a:r>
            <a:r>
              <a:rPr lang="en-US" sz="1600">
                <a:latin typeface="-apple-system"/>
                <a:ea typeface="-apple-system"/>
                <a:cs typeface="-apple-system"/>
              </a:rPr>
              <a:t> </a:t>
            </a:r>
            <a:r>
              <a:rPr lang="en-US" sz="1600" err="1">
                <a:latin typeface="-apple-system"/>
                <a:ea typeface="-apple-system"/>
                <a:cs typeface="-apple-system"/>
              </a:rPr>
              <a:t>em</a:t>
            </a:r>
            <a:r>
              <a:rPr lang="en-US" sz="1600">
                <a:latin typeface="-apple-system"/>
                <a:ea typeface="-apple-system"/>
                <a:cs typeface="-apple-system"/>
              </a:rPr>
              <a:t> </a:t>
            </a:r>
            <a:r>
              <a:rPr lang="en-US" sz="1600" err="1">
                <a:latin typeface="-apple-system"/>
                <a:ea typeface="-apple-system"/>
                <a:cs typeface="-apple-system"/>
              </a:rPr>
              <a:t>cada</a:t>
            </a:r>
            <a:r>
              <a:rPr lang="en-US" sz="1600">
                <a:latin typeface="-apple-system"/>
                <a:ea typeface="-apple-system"/>
                <a:cs typeface="-apple-system"/>
              </a:rPr>
              <a:t> </a:t>
            </a:r>
            <a:r>
              <a:rPr lang="en-US" sz="1600" err="1">
                <a:latin typeface="-apple-system"/>
                <a:ea typeface="-apple-system"/>
                <a:cs typeface="-apple-system"/>
              </a:rPr>
              <a:t>extensão</a:t>
            </a:r>
            <a:r>
              <a:rPr lang="en-US" sz="1600">
                <a:latin typeface="-apple-system"/>
                <a:ea typeface="-apple-system"/>
                <a:cs typeface="-apple-system"/>
              </a:rPr>
              <a:t> e para </a:t>
            </a:r>
            <a:r>
              <a:rPr lang="en-US" sz="1600" err="1">
                <a:latin typeface="-apple-system"/>
                <a:ea typeface="-apple-system"/>
                <a:cs typeface="-apple-system"/>
              </a:rPr>
              <a:t>que</a:t>
            </a:r>
            <a:r>
              <a:rPr lang="en-US" sz="1600">
                <a:latin typeface="-apple-system"/>
                <a:ea typeface="-apple-system"/>
                <a:cs typeface="-apple-system"/>
              </a:rPr>
              <a:t> </a:t>
            </a:r>
            <a:r>
              <a:rPr lang="en-US" sz="1600" err="1">
                <a:latin typeface="-apple-system"/>
                <a:ea typeface="-apple-system"/>
                <a:cs typeface="-apple-system"/>
              </a:rPr>
              <a:t>elas</a:t>
            </a:r>
            <a:r>
              <a:rPr lang="en-US" sz="1600">
                <a:latin typeface="-apple-system"/>
                <a:ea typeface="-apple-system"/>
                <a:cs typeface="-apple-system"/>
              </a:rPr>
              <a:t> </a:t>
            </a:r>
            <a:r>
              <a:rPr lang="en-US" sz="1600" err="1">
                <a:latin typeface="-apple-system"/>
                <a:ea typeface="-apple-system"/>
                <a:cs typeface="-apple-system"/>
              </a:rPr>
              <a:t>servem</a:t>
            </a:r>
            <a:r>
              <a:rPr lang="en-US" sz="1600">
                <a:latin typeface="-apple-system"/>
                <a:ea typeface="-apple-system"/>
                <a:cs typeface="-apple-system"/>
              </a:rPr>
              <a:t>, </a:t>
            </a:r>
            <a:r>
              <a:rPr lang="en-US" sz="1600" err="1">
                <a:latin typeface="-apple-system"/>
                <a:ea typeface="-apple-system"/>
                <a:cs typeface="-apple-system"/>
              </a:rPr>
              <a:t>mais</a:t>
            </a:r>
            <a:r>
              <a:rPr lang="en-US" sz="1600">
                <a:latin typeface="-apple-system"/>
                <a:ea typeface="-apple-system"/>
                <a:cs typeface="-apple-system"/>
              </a:rPr>
              <a:t> </a:t>
            </a:r>
            <a:r>
              <a:rPr lang="en-US" sz="1600" err="1">
                <a:latin typeface="-apple-system"/>
                <a:ea typeface="-apple-system"/>
                <a:cs typeface="-apple-system"/>
              </a:rPr>
              <a:t>otimização</a:t>
            </a:r>
            <a:r>
              <a:rPr lang="en-US" sz="1600">
                <a:latin typeface="-apple-system"/>
                <a:ea typeface="-apple-system"/>
                <a:cs typeface="-apple-system"/>
              </a:rPr>
              <a:t> </a:t>
            </a:r>
            <a:r>
              <a:rPr lang="en-US" sz="1600" err="1">
                <a:latin typeface="-apple-system"/>
                <a:ea typeface="-apple-system"/>
                <a:cs typeface="-apple-system"/>
              </a:rPr>
              <a:t>poderá</a:t>
            </a:r>
            <a:r>
              <a:rPr lang="en-US" sz="1600">
                <a:latin typeface="-apple-system"/>
                <a:ea typeface="-apple-system"/>
                <a:cs typeface="-apple-system"/>
              </a:rPr>
              <a:t> </a:t>
            </a:r>
            <a:r>
              <a:rPr lang="en-US" sz="1600" err="1">
                <a:latin typeface="-apple-system"/>
                <a:ea typeface="-apple-system"/>
                <a:cs typeface="-apple-system"/>
              </a:rPr>
              <a:t>implementar</a:t>
            </a:r>
            <a:r>
              <a:rPr lang="en-US" sz="1600">
                <a:latin typeface="-apple-system"/>
                <a:ea typeface="-apple-system"/>
                <a:cs typeface="-apple-system"/>
              </a:rPr>
              <a:t>. </a:t>
            </a:r>
            <a:r>
              <a:rPr lang="en-US" sz="1600" err="1">
                <a:latin typeface="-apple-system"/>
                <a:ea typeface="-apple-system"/>
                <a:cs typeface="-apple-system"/>
              </a:rPr>
              <a:t>Às</a:t>
            </a:r>
            <a:r>
              <a:rPr lang="en-US" sz="1600">
                <a:latin typeface="-apple-system"/>
                <a:ea typeface="-apple-system"/>
                <a:cs typeface="-apple-system"/>
              </a:rPr>
              <a:t> </a:t>
            </a:r>
            <a:r>
              <a:rPr lang="en-US" sz="1600" err="1">
                <a:latin typeface="-apple-system"/>
                <a:ea typeface="-apple-system"/>
                <a:cs typeface="-apple-system"/>
              </a:rPr>
              <a:t>vezes</a:t>
            </a:r>
            <a:r>
              <a:rPr lang="en-US" sz="1600">
                <a:latin typeface="-apple-system"/>
                <a:ea typeface="-apple-system"/>
                <a:cs typeface="-apple-system"/>
              </a:rPr>
              <a:t>, </a:t>
            </a:r>
            <a:r>
              <a:rPr lang="en-US" sz="1600" err="1">
                <a:latin typeface="-apple-system"/>
                <a:ea typeface="-apple-system"/>
                <a:cs typeface="-apple-system"/>
              </a:rPr>
              <a:t>uma</a:t>
            </a:r>
            <a:r>
              <a:rPr lang="en-US" sz="1600">
                <a:latin typeface="-apple-system"/>
                <a:ea typeface="-apple-system"/>
                <a:cs typeface="-apple-system"/>
              </a:rPr>
              <a:t> </a:t>
            </a:r>
            <a:r>
              <a:rPr lang="en-US" sz="1600" err="1">
                <a:latin typeface="-apple-system"/>
                <a:ea typeface="-apple-system"/>
                <a:cs typeface="-apple-system"/>
              </a:rPr>
              <a:t>extensão</a:t>
            </a:r>
            <a:r>
              <a:rPr lang="en-US" sz="1600">
                <a:latin typeface="-apple-system"/>
                <a:ea typeface="-apple-system"/>
                <a:cs typeface="-apple-system"/>
              </a:rPr>
              <a:t> </a:t>
            </a:r>
            <a:r>
              <a:rPr lang="en-US" sz="1600" err="1">
                <a:latin typeface="-apple-system"/>
                <a:ea typeface="-apple-system"/>
                <a:cs typeface="-apple-system"/>
              </a:rPr>
              <a:t>pode</a:t>
            </a:r>
            <a:r>
              <a:rPr lang="en-US" sz="1600">
                <a:latin typeface="-apple-system"/>
                <a:ea typeface="-apple-system"/>
                <a:cs typeface="-apple-system"/>
              </a:rPr>
              <a:t> ser </a:t>
            </a:r>
            <a:r>
              <a:rPr lang="en-US" sz="1600" err="1">
                <a:latin typeface="-apple-system"/>
                <a:ea typeface="-apple-system"/>
                <a:cs typeface="-apple-system"/>
              </a:rPr>
              <a:t>suficiente</a:t>
            </a:r>
            <a:r>
              <a:rPr lang="en-US" sz="1600">
                <a:latin typeface="-apple-system"/>
                <a:ea typeface="-apple-system"/>
                <a:cs typeface="-apple-system"/>
              </a:rPr>
              <a:t> para </a:t>
            </a:r>
            <a:r>
              <a:rPr lang="en-US" sz="1600" err="1">
                <a:latin typeface="-apple-system"/>
                <a:ea typeface="-apple-system"/>
                <a:cs typeface="-apple-system"/>
              </a:rPr>
              <a:t>realizar</a:t>
            </a:r>
            <a:r>
              <a:rPr lang="en-US" sz="1600">
                <a:latin typeface="-apple-system"/>
                <a:ea typeface="-apple-system"/>
                <a:cs typeface="-apple-system"/>
              </a:rPr>
              <a:t> </a:t>
            </a:r>
            <a:r>
              <a:rPr lang="en-US" sz="1600" err="1">
                <a:latin typeface="-apple-system"/>
                <a:ea typeface="-apple-system"/>
                <a:cs typeface="-apple-system"/>
              </a:rPr>
              <a:t>operações</a:t>
            </a:r>
            <a:r>
              <a:rPr lang="en-US" sz="1600">
                <a:latin typeface="-apple-system"/>
                <a:ea typeface="-apple-system"/>
                <a:cs typeface="-apple-system"/>
              </a:rPr>
              <a:t> </a:t>
            </a:r>
            <a:r>
              <a:rPr lang="en-US" sz="1600" err="1">
                <a:latin typeface="-apple-system"/>
                <a:ea typeface="-apple-system"/>
                <a:cs typeface="-apple-system"/>
              </a:rPr>
              <a:t>que</a:t>
            </a:r>
            <a:r>
              <a:rPr lang="en-US" sz="1600">
                <a:latin typeface="-apple-system"/>
                <a:ea typeface="-apple-system"/>
                <a:cs typeface="-apple-system"/>
              </a:rPr>
              <a:t>, </a:t>
            </a:r>
            <a:r>
              <a:rPr lang="en-US" sz="1600" err="1">
                <a:latin typeface="-apple-system"/>
                <a:ea typeface="-apple-system"/>
                <a:cs typeface="-apple-system"/>
              </a:rPr>
              <a:t>inicialmente</a:t>
            </a:r>
            <a:r>
              <a:rPr lang="en-US" sz="1600">
                <a:latin typeface="-apple-system"/>
                <a:ea typeface="-apple-system"/>
                <a:cs typeface="-apple-system"/>
              </a:rPr>
              <a:t>, se </a:t>
            </a:r>
            <a:r>
              <a:rPr lang="en-US" sz="1600" err="1">
                <a:latin typeface="-apple-system"/>
                <a:ea typeface="-apple-system"/>
                <a:cs typeface="-apple-system"/>
              </a:rPr>
              <a:t>pensaria</a:t>
            </a:r>
            <a:r>
              <a:rPr lang="en-US" sz="1600">
                <a:latin typeface="-apple-system"/>
                <a:ea typeface="-apple-system"/>
                <a:cs typeface="-apple-system"/>
              </a:rPr>
              <a:t> com duas.</a:t>
            </a:r>
            <a:endParaRPr lang="en-US" sz="1600">
              <a:ea typeface="Calibri"/>
              <a:cs typeface="Calibri"/>
            </a:endParaRPr>
          </a:p>
          <a:p>
            <a:pPr algn="ctr"/>
            <a:endParaRPr lang="pt-BR"/>
          </a:p>
        </p:txBody>
      </p:sp>
      <p:sp>
        <p:nvSpPr>
          <p:cNvPr id="6" name="CaixaDeTexto 5">
            <a:extLst>
              <a:ext uri="{FF2B5EF4-FFF2-40B4-BE49-F238E27FC236}">
                <a16:creationId xmlns:a16="http://schemas.microsoft.com/office/drawing/2014/main" id="{D69F54DA-B11B-2D72-B8D3-BF89A221B859}"/>
              </a:ext>
            </a:extLst>
          </p:cNvPr>
          <p:cNvSpPr txBox="1"/>
          <p:nvPr/>
        </p:nvSpPr>
        <p:spPr>
          <a:xfrm>
            <a:off x="6096000" y="-7187"/>
            <a:ext cx="5851585" cy="60016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apple-system"/>
                <a:ea typeface="-apple-system"/>
                <a:cs typeface="-apple-system"/>
              </a:rPr>
              <a:t>4. </a:t>
            </a:r>
            <a:r>
              <a:rPr lang="en-US" sz="1600" err="1">
                <a:latin typeface="-apple-system"/>
                <a:ea typeface="-apple-system"/>
                <a:cs typeface="-apple-system"/>
              </a:rPr>
              <a:t>Domínio</a:t>
            </a:r>
            <a:r>
              <a:rPr lang="en-US" sz="1600">
                <a:latin typeface="-apple-system"/>
                <a:ea typeface="-apple-system"/>
                <a:cs typeface="-apple-system"/>
              </a:rPr>
              <a:t> </a:t>
            </a:r>
            <a:r>
              <a:rPr lang="en-US" sz="1600" err="1">
                <a:latin typeface="-apple-system"/>
                <a:ea typeface="-apple-system"/>
                <a:cs typeface="-apple-system"/>
              </a:rPr>
              <a:t>técnico</a:t>
            </a:r>
            <a:r>
              <a:rPr lang="en-US" sz="1600">
                <a:latin typeface="-apple-system"/>
                <a:ea typeface="-apple-system"/>
                <a:cs typeface="-apple-system"/>
              </a:rPr>
              <a:t> do software 💻:</a:t>
            </a:r>
            <a:br>
              <a:rPr lang="en-US" sz="1600">
                <a:latin typeface="-apple-system"/>
                <a:ea typeface="-apple-system"/>
                <a:cs typeface="-apple-system"/>
              </a:rPr>
            </a:br>
            <a:r>
              <a:rPr lang="en-US" sz="1600">
                <a:latin typeface="-apple-system"/>
                <a:ea typeface="-apple-system"/>
                <a:cs typeface="-apple-system"/>
              </a:rPr>
              <a:t>Quanto </a:t>
            </a:r>
            <a:r>
              <a:rPr lang="en-US" sz="1600" err="1">
                <a:latin typeface="-apple-system"/>
                <a:ea typeface="-apple-system"/>
                <a:cs typeface="-apple-system"/>
              </a:rPr>
              <a:t>mais</a:t>
            </a:r>
            <a:r>
              <a:rPr lang="en-US" sz="1600">
                <a:latin typeface="-apple-system"/>
                <a:ea typeface="-apple-system"/>
                <a:cs typeface="-apple-system"/>
              </a:rPr>
              <a:t> </a:t>
            </a:r>
            <a:r>
              <a:rPr lang="en-US" sz="1600" err="1">
                <a:latin typeface="-apple-system"/>
                <a:ea typeface="-apple-system"/>
                <a:cs typeface="-apple-system"/>
              </a:rPr>
              <a:t>souber</a:t>
            </a:r>
            <a:r>
              <a:rPr lang="en-US" sz="1600">
                <a:latin typeface="-apple-system"/>
                <a:ea typeface="-apple-system"/>
                <a:cs typeface="-apple-system"/>
              </a:rPr>
              <a:t> dos </a:t>
            </a:r>
            <a:r>
              <a:rPr lang="en-US" sz="1600" err="1">
                <a:latin typeface="-apple-system"/>
                <a:ea typeface="-apple-system"/>
                <a:cs typeface="-apple-system"/>
              </a:rPr>
              <a:t>recursos</a:t>
            </a:r>
            <a:r>
              <a:rPr lang="en-US" sz="1600">
                <a:latin typeface="-apple-system"/>
                <a:ea typeface="-apple-system"/>
                <a:cs typeface="-apple-system"/>
              </a:rPr>
              <a:t> e ferramentas </a:t>
            </a:r>
            <a:r>
              <a:rPr lang="en-US" sz="1600" err="1">
                <a:latin typeface="-apple-system"/>
                <a:ea typeface="-apple-system"/>
                <a:cs typeface="-apple-system"/>
              </a:rPr>
              <a:t>disponíveis</a:t>
            </a:r>
            <a:r>
              <a:rPr lang="en-US" sz="1600">
                <a:latin typeface="-apple-system"/>
                <a:ea typeface="-apple-system"/>
                <a:cs typeface="-apple-system"/>
              </a:rPr>
              <a:t> </a:t>
            </a:r>
            <a:r>
              <a:rPr lang="en-US" sz="1600" err="1">
                <a:latin typeface="-apple-system"/>
                <a:ea typeface="-apple-system"/>
                <a:cs typeface="-apple-system"/>
              </a:rPr>
              <a:t>em</a:t>
            </a:r>
            <a:r>
              <a:rPr lang="en-US" sz="1600">
                <a:latin typeface="-apple-system"/>
                <a:ea typeface="-apple-system"/>
                <a:cs typeface="-apple-system"/>
              </a:rPr>
              <a:t> </a:t>
            </a:r>
            <a:r>
              <a:rPr lang="en-US" sz="1600" err="1">
                <a:latin typeface="-apple-system"/>
                <a:ea typeface="-apple-system"/>
                <a:cs typeface="-apple-system"/>
              </a:rPr>
              <a:t>cada</a:t>
            </a:r>
            <a:r>
              <a:rPr lang="en-US" sz="1600">
                <a:latin typeface="-apple-system"/>
                <a:ea typeface="-apple-system"/>
                <a:cs typeface="-apple-system"/>
              </a:rPr>
              <a:t> </a:t>
            </a:r>
            <a:r>
              <a:rPr lang="en-US" sz="1600" err="1">
                <a:latin typeface="-apple-system"/>
                <a:ea typeface="-apple-system"/>
                <a:cs typeface="-apple-system"/>
              </a:rPr>
              <a:t>extensão</a:t>
            </a:r>
            <a:r>
              <a:rPr lang="en-US" sz="1600">
                <a:latin typeface="-apple-system"/>
                <a:ea typeface="-apple-system"/>
                <a:cs typeface="-apple-system"/>
              </a:rPr>
              <a:t> e para </a:t>
            </a:r>
            <a:r>
              <a:rPr lang="en-US" sz="1600" err="1">
                <a:latin typeface="-apple-system"/>
                <a:ea typeface="-apple-system"/>
                <a:cs typeface="-apple-system"/>
              </a:rPr>
              <a:t>que</a:t>
            </a:r>
            <a:r>
              <a:rPr lang="en-US" sz="1600">
                <a:latin typeface="-apple-system"/>
                <a:ea typeface="-apple-system"/>
                <a:cs typeface="-apple-system"/>
              </a:rPr>
              <a:t> </a:t>
            </a:r>
            <a:r>
              <a:rPr lang="en-US" sz="1600" err="1">
                <a:latin typeface="-apple-system"/>
                <a:ea typeface="-apple-system"/>
                <a:cs typeface="-apple-system"/>
              </a:rPr>
              <a:t>elas</a:t>
            </a:r>
            <a:r>
              <a:rPr lang="en-US" sz="1600">
                <a:latin typeface="-apple-system"/>
                <a:ea typeface="-apple-system"/>
                <a:cs typeface="-apple-system"/>
              </a:rPr>
              <a:t> </a:t>
            </a:r>
            <a:r>
              <a:rPr lang="en-US" sz="1600" err="1">
                <a:latin typeface="-apple-system"/>
                <a:ea typeface="-apple-system"/>
                <a:cs typeface="-apple-system"/>
              </a:rPr>
              <a:t>servem</a:t>
            </a:r>
            <a:r>
              <a:rPr lang="en-US" sz="1600">
                <a:latin typeface="-apple-system"/>
                <a:ea typeface="-apple-system"/>
                <a:cs typeface="-apple-system"/>
              </a:rPr>
              <a:t>, </a:t>
            </a:r>
            <a:r>
              <a:rPr lang="en-US" sz="1600" err="1">
                <a:latin typeface="-apple-system"/>
                <a:ea typeface="-apple-system"/>
                <a:cs typeface="-apple-system"/>
              </a:rPr>
              <a:t>mais</a:t>
            </a:r>
            <a:r>
              <a:rPr lang="en-US" sz="1600">
                <a:latin typeface="-apple-system"/>
                <a:ea typeface="-apple-system"/>
                <a:cs typeface="-apple-system"/>
              </a:rPr>
              <a:t> </a:t>
            </a:r>
            <a:r>
              <a:rPr lang="en-US" sz="1600" err="1">
                <a:latin typeface="-apple-system"/>
                <a:ea typeface="-apple-system"/>
                <a:cs typeface="-apple-system"/>
              </a:rPr>
              <a:t>otimização</a:t>
            </a:r>
            <a:r>
              <a:rPr lang="en-US" sz="1600">
                <a:latin typeface="-apple-system"/>
                <a:ea typeface="-apple-system"/>
                <a:cs typeface="-apple-system"/>
              </a:rPr>
              <a:t> </a:t>
            </a:r>
            <a:r>
              <a:rPr lang="en-US" sz="1600" err="1">
                <a:latin typeface="-apple-system"/>
                <a:ea typeface="-apple-system"/>
                <a:cs typeface="-apple-system"/>
              </a:rPr>
              <a:t>poderá</a:t>
            </a:r>
            <a:r>
              <a:rPr lang="en-US" sz="1600">
                <a:latin typeface="-apple-system"/>
                <a:ea typeface="-apple-system"/>
                <a:cs typeface="-apple-system"/>
              </a:rPr>
              <a:t> </a:t>
            </a:r>
            <a:r>
              <a:rPr lang="en-US" sz="1600" err="1">
                <a:latin typeface="-apple-system"/>
                <a:ea typeface="-apple-system"/>
                <a:cs typeface="-apple-system"/>
              </a:rPr>
              <a:t>implementar</a:t>
            </a:r>
            <a:r>
              <a:rPr lang="en-US" sz="1600">
                <a:latin typeface="-apple-system"/>
                <a:ea typeface="-apple-system"/>
                <a:cs typeface="-apple-system"/>
              </a:rPr>
              <a:t>. </a:t>
            </a:r>
            <a:r>
              <a:rPr lang="en-US" sz="1600" err="1">
                <a:latin typeface="-apple-system"/>
                <a:ea typeface="-apple-system"/>
                <a:cs typeface="-apple-system"/>
              </a:rPr>
              <a:t>Às</a:t>
            </a:r>
            <a:r>
              <a:rPr lang="en-US" sz="1600">
                <a:latin typeface="-apple-system"/>
                <a:ea typeface="-apple-system"/>
                <a:cs typeface="-apple-system"/>
              </a:rPr>
              <a:t> </a:t>
            </a:r>
            <a:r>
              <a:rPr lang="en-US" sz="1600" err="1">
                <a:latin typeface="-apple-system"/>
                <a:ea typeface="-apple-system"/>
                <a:cs typeface="-apple-system"/>
              </a:rPr>
              <a:t>vezes</a:t>
            </a:r>
            <a:r>
              <a:rPr lang="en-US" sz="1600">
                <a:latin typeface="-apple-system"/>
                <a:ea typeface="-apple-system"/>
                <a:cs typeface="-apple-system"/>
              </a:rPr>
              <a:t>, </a:t>
            </a:r>
            <a:r>
              <a:rPr lang="en-US" sz="1600" err="1">
                <a:latin typeface="-apple-system"/>
                <a:ea typeface="-apple-system"/>
                <a:cs typeface="-apple-system"/>
              </a:rPr>
              <a:t>uma</a:t>
            </a:r>
            <a:r>
              <a:rPr lang="en-US" sz="1600">
                <a:latin typeface="-apple-system"/>
                <a:ea typeface="-apple-system"/>
                <a:cs typeface="-apple-system"/>
              </a:rPr>
              <a:t> </a:t>
            </a:r>
            <a:r>
              <a:rPr lang="en-US" sz="1600" err="1">
                <a:latin typeface="-apple-system"/>
                <a:ea typeface="-apple-system"/>
                <a:cs typeface="-apple-system"/>
              </a:rPr>
              <a:t>extensão</a:t>
            </a:r>
            <a:r>
              <a:rPr lang="en-US" sz="1600">
                <a:latin typeface="-apple-system"/>
                <a:ea typeface="-apple-system"/>
                <a:cs typeface="-apple-system"/>
              </a:rPr>
              <a:t> </a:t>
            </a:r>
            <a:r>
              <a:rPr lang="en-US" sz="1600" err="1">
                <a:latin typeface="-apple-system"/>
                <a:ea typeface="-apple-system"/>
                <a:cs typeface="-apple-system"/>
              </a:rPr>
              <a:t>pode</a:t>
            </a:r>
            <a:r>
              <a:rPr lang="en-US" sz="1600">
                <a:latin typeface="-apple-system"/>
                <a:ea typeface="-apple-system"/>
                <a:cs typeface="-apple-system"/>
              </a:rPr>
              <a:t> ser </a:t>
            </a:r>
            <a:r>
              <a:rPr lang="en-US" sz="1600" err="1">
                <a:latin typeface="-apple-system"/>
                <a:ea typeface="-apple-system"/>
                <a:cs typeface="-apple-system"/>
              </a:rPr>
              <a:t>suficiente</a:t>
            </a:r>
            <a:r>
              <a:rPr lang="en-US" sz="1600">
                <a:latin typeface="-apple-system"/>
                <a:ea typeface="-apple-system"/>
                <a:cs typeface="-apple-system"/>
              </a:rPr>
              <a:t> para </a:t>
            </a:r>
            <a:r>
              <a:rPr lang="en-US" sz="1600" err="1">
                <a:latin typeface="-apple-system"/>
                <a:ea typeface="-apple-system"/>
                <a:cs typeface="-apple-system"/>
              </a:rPr>
              <a:t>realizar</a:t>
            </a:r>
            <a:r>
              <a:rPr lang="en-US" sz="1600">
                <a:latin typeface="-apple-system"/>
                <a:ea typeface="-apple-system"/>
                <a:cs typeface="-apple-system"/>
              </a:rPr>
              <a:t> </a:t>
            </a:r>
            <a:r>
              <a:rPr lang="en-US" sz="1600" err="1">
                <a:latin typeface="-apple-system"/>
                <a:ea typeface="-apple-system"/>
                <a:cs typeface="-apple-system"/>
              </a:rPr>
              <a:t>operações</a:t>
            </a:r>
            <a:r>
              <a:rPr lang="en-US" sz="1600">
                <a:latin typeface="-apple-system"/>
                <a:ea typeface="-apple-system"/>
                <a:cs typeface="-apple-system"/>
              </a:rPr>
              <a:t> </a:t>
            </a:r>
            <a:r>
              <a:rPr lang="en-US" sz="1600" err="1">
                <a:latin typeface="-apple-system"/>
                <a:ea typeface="-apple-system"/>
                <a:cs typeface="-apple-system"/>
              </a:rPr>
              <a:t>que</a:t>
            </a:r>
            <a:r>
              <a:rPr lang="en-US" sz="1600">
                <a:latin typeface="-apple-system"/>
                <a:ea typeface="-apple-system"/>
                <a:cs typeface="-apple-system"/>
              </a:rPr>
              <a:t>, </a:t>
            </a:r>
            <a:r>
              <a:rPr lang="en-US" sz="1600" err="1">
                <a:latin typeface="-apple-system"/>
                <a:ea typeface="-apple-system"/>
                <a:cs typeface="-apple-system"/>
              </a:rPr>
              <a:t>inicialmente</a:t>
            </a:r>
            <a:r>
              <a:rPr lang="en-US" sz="1600">
                <a:latin typeface="-apple-system"/>
                <a:ea typeface="-apple-system"/>
                <a:cs typeface="-apple-system"/>
              </a:rPr>
              <a:t>, se </a:t>
            </a:r>
            <a:r>
              <a:rPr lang="en-US" sz="1600" err="1">
                <a:latin typeface="-apple-system"/>
                <a:ea typeface="-apple-system"/>
                <a:cs typeface="-apple-system"/>
              </a:rPr>
              <a:t>pensaria</a:t>
            </a:r>
            <a:r>
              <a:rPr lang="en-US" sz="1600">
                <a:latin typeface="-apple-system"/>
                <a:ea typeface="-apple-system"/>
                <a:cs typeface="-apple-system"/>
              </a:rPr>
              <a:t> com duas.</a:t>
            </a:r>
            <a:br>
              <a:rPr lang="en-US" sz="1600">
                <a:latin typeface="-apple-system"/>
                <a:ea typeface="-apple-system"/>
                <a:cs typeface="-apple-system"/>
              </a:rPr>
            </a:br>
            <a:br>
              <a:rPr lang="en-US" sz="1600">
                <a:latin typeface="-apple-system"/>
                <a:ea typeface="-apple-system"/>
                <a:cs typeface="-apple-system"/>
              </a:rPr>
            </a:br>
            <a:r>
              <a:rPr lang="en-US" sz="1600">
                <a:latin typeface="-apple-system"/>
                <a:ea typeface="-apple-system"/>
                <a:cs typeface="-apple-system"/>
              </a:rPr>
              <a:t>5. Saber as </a:t>
            </a:r>
            <a:r>
              <a:rPr lang="en-US" sz="1600" err="1">
                <a:latin typeface="-apple-system"/>
                <a:ea typeface="-apple-system"/>
                <a:cs typeface="-apple-system"/>
              </a:rPr>
              <a:t>minúcias</a:t>
            </a:r>
            <a:r>
              <a:rPr lang="en-US" sz="1600">
                <a:latin typeface="-apple-system"/>
                <a:ea typeface="-apple-system"/>
                <a:cs typeface="-apple-system"/>
              </a:rPr>
              <a:t> do </a:t>
            </a:r>
            <a:r>
              <a:rPr lang="en-US" sz="1600" err="1">
                <a:latin typeface="-apple-system"/>
                <a:ea typeface="-apple-system"/>
                <a:cs typeface="-apple-system"/>
              </a:rPr>
              <a:t>sistema</a:t>
            </a:r>
            <a:r>
              <a:rPr lang="en-US" sz="1600">
                <a:latin typeface="-apple-system"/>
                <a:ea typeface="-apple-system"/>
                <a:cs typeface="-apple-system"/>
              </a:rPr>
              <a:t> de </a:t>
            </a:r>
            <a:r>
              <a:rPr lang="en-US" sz="1600" err="1">
                <a:latin typeface="-apple-system"/>
                <a:ea typeface="-apple-system"/>
                <a:cs typeface="-apple-system"/>
              </a:rPr>
              <a:t>licenciamento</a:t>
            </a:r>
            <a:r>
              <a:rPr lang="en-US" sz="1600">
                <a:latin typeface="-apple-system"/>
                <a:ea typeface="-apple-system"/>
                <a:cs typeface="-apple-system"/>
              </a:rPr>
              <a:t> 🔍:</a:t>
            </a:r>
            <a:br>
              <a:rPr lang="en-US" sz="1600">
                <a:latin typeface="-apple-system"/>
                <a:ea typeface="-apple-system"/>
                <a:cs typeface="-apple-system"/>
              </a:rPr>
            </a:br>
            <a:r>
              <a:rPr lang="en-US" sz="1600" err="1">
                <a:latin typeface="-apple-system"/>
                <a:ea typeface="-apple-system"/>
                <a:cs typeface="-apple-system"/>
              </a:rPr>
              <a:t>Tipos</a:t>
            </a:r>
            <a:r>
              <a:rPr lang="en-US" sz="1600">
                <a:latin typeface="-apple-system"/>
                <a:ea typeface="-apple-system"/>
                <a:cs typeface="-apple-system"/>
              </a:rPr>
              <a:t> de </a:t>
            </a:r>
            <a:r>
              <a:rPr lang="en-US" sz="1600" err="1">
                <a:latin typeface="-apple-system"/>
                <a:ea typeface="-apple-system"/>
                <a:cs typeface="-apple-system"/>
              </a:rPr>
              <a:t>usuário</a:t>
            </a:r>
            <a:r>
              <a:rPr lang="en-US" sz="1600">
                <a:latin typeface="-apple-system"/>
                <a:ea typeface="-apple-system"/>
                <a:cs typeface="-apple-system"/>
              </a:rPr>
              <a:t>, </a:t>
            </a:r>
            <a:r>
              <a:rPr lang="en-US" sz="1600" err="1">
                <a:latin typeface="-apple-system"/>
                <a:ea typeface="-apple-system"/>
                <a:cs typeface="-apple-system"/>
              </a:rPr>
              <a:t>permissões</a:t>
            </a:r>
            <a:r>
              <a:rPr lang="en-US" sz="1600">
                <a:latin typeface="-apple-system"/>
                <a:ea typeface="-apple-system"/>
                <a:cs typeface="-apple-system"/>
              </a:rPr>
              <a:t>, </a:t>
            </a:r>
            <a:r>
              <a:rPr lang="en-US" sz="1600" err="1">
                <a:latin typeface="-apple-system"/>
                <a:ea typeface="-apple-system"/>
                <a:cs typeface="-apple-system"/>
              </a:rPr>
              <a:t>tipos</a:t>
            </a:r>
            <a:r>
              <a:rPr lang="en-US" sz="1600">
                <a:latin typeface="-apple-system"/>
                <a:ea typeface="-apple-system"/>
                <a:cs typeface="-apple-system"/>
              </a:rPr>
              <a:t> de </a:t>
            </a:r>
            <a:r>
              <a:rPr lang="en-US" sz="1600" err="1">
                <a:latin typeface="-apple-system"/>
                <a:ea typeface="-apple-system"/>
                <a:cs typeface="-apple-system"/>
              </a:rPr>
              <a:t>contas</a:t>
            </a:r>
            <a:r>
              <a:rPr lang="en-US" sz="1600">
                <a:latin typeface="-apple-system"/>
                <a:ea typeface="-apple-system"/>
                <a:cs typeface="-apple-system"/>
              </a:rPr>
              <a:t>, </a:t>
            </a:r>
            <a:r>
              <a:rPr lang="en-US" sz="1600" err="1">
                <a:latin typeface="-apple-system"/>
                <a:ea typeface="-apple-system"/>
                <a:cs typeface="-apple-system"/>
              </a:rPr>
              <a:t>níveis</a:t>
            </a:r>
            <a:r>
              <a:rPr lang="en-US" sz="1600">
                <a:latin typeface="-apple-system"/>
                <a:ea typeface="-apple-system"/>
                <a:cs typeface="-apple-system"/>
              </a:rPr>
              <a:t> de </a:t>
            </a:r>
            <a:r>
              <a:rPr lang="en-US" sz="1600" err="1">
                <a:latin typeface="-apple-system"/>
                <a:ea typeface="-apple-system"/>
                <a:cs typeface="-apple-system"/>
              </a:rPr>
              <a:t>licenças</a:t>
            </a:r>
            <a:r>
              <a:rPr lang="en-US" sz="1600">
                <a:latin typeface="-apple-system"/>
                <a:ea typeface="-apple-system"/>
                <a:cs typeface="-apple-system"/>
              </a:rPr>
              <a:t>. </a:t>
            </a:r>
            <a:r>
              <a:rPr lang="en-US" sz="1600" err="1">
                <a:latin typeface="-apple-system"/>
                <a:ea typeface="-apple-system"/>
                <a:cs typeface="-apple-system"/>
              </a:rPr>
              <a:t>Entender</a:t>
            </a:r>
            <a:r>
              <a:rPr lang="en-US" sz="1600">
                <a:latin typeface="-apple-system"/>
                <a:ea typeface="-apple-system"/>
                <a:cs typeface="-apple-system"/>
              </a:rPr>
              <a:t> esse </a:t>
            </a:r>
            <a:r>
              <a:rPr lang="en-US" sz="1600" err="1">
                <a:latin typeface="-apple-system"/>
                <a:ea typeface="-apple-system"/>
                <a:cs typeface="-apple-system"/>
              </a:rPr>
              <a:t>sistema</a:t>
            </a:r>
            <a:r>
              <a:rPr lang="en-US" sz="1600">
                <a:latin typeface="-apple-system"/>
                <a:ea typeface="-apple-system"/>
                <a:cs typeface="-apple-system"/>
              </a:rPr>
              <a:t>, </a:t>
            </a:r>
            <a:r>
              <a:rPr lang="en-US" sz="1600" err="1">
                <a:latin typeface="-apple-system"/>
                <a:ea typeface="-apple-system"/>
                <a:cs typeface="-apple-system"/>
              </a:rPr>
              <a:t>ajudará</a:t>
            </a:r>
            <a:r>
              <a:rPr lang="en-US" sz="1600">
                <a:latin typeface="-apple-system"/>
                <a:ea typeface="-apple-system"/>
                <a:cs typeface="-apple-system"/>
              </a:rPr>
              <a:t> a </a:t>
            </a:r>
            <a:r>
              <a:rPr lang="en-US" sz="1600" err="1">
                <a:latin typeface="-apple-system"/>
                <a:ea typeface="-apple-system"/>
                <a:cs typeface="-apple-system"/>
              </a:rPr>
              <a:t>fornecer</a:t>
            </a:r>
            <a:r>
              <a:rPr lang="en-US" sz="1600">
                <a:latin typeface="-apple-system"/>
                <a:ea typeface="-apple-system"/>
                <a:cs typeface="-apple-system"/>
              </a:rPr>
              <a:t> </a:t>
            </a:r>
            <a:r>
              <a:rPr lang="en-US" sz="1600" err="1">
                <a:latin typeface="-apple-system"/>
                <a:ea typeface="-apple-system"/>
                <a:cs typeface="-apple-system"/>
              </a:rPr>
              <a:t>os</a:t>
            </a:r>
            <a:r>
              <a:rPr lang="en-US" sz="1600">
                <a:latin typeface="-apple-system"/>
                <a:ea typeface="-apple-system"/>
                <a:cs typeface="-apple-system"/>
              </a:rPr>
              <a:t> </a:t>
            </a:r>
            <a:r>
              <a:rPr lang="en-US" sz="1600" err="1">
                <a:latin typeface="-apple-system"/>
                <a:ea typeface="-apple-system"/>
                <a:cs typeface="-apple-system"/>
              </a:rPr>
              <a:t>acessos</a:t>
            </a:r>
            <a:r>
              <a:rPr lang="en-US" sz="1600">
                <a:latin typeface="-apple-system"/>
                <a:ea typeface="-apple-system"/>
                <a:cs typeface="-apple-system"/>
              </a:rPr>
              <a:t> </a:t>
            </a:r>
            <a:r>
              <a:rPr lang="en-US" sz="1600" err="1">
                <a:latin typeface="-apple-system"/>
                <a:ea typeface="-apple-system"/>
                <a:cs typeface="-apple-system"/>
              </a:rPr>
              <a:t>que</a:t>
            </a:r>
            <a:r>
              <a:rPr lang="en-US" sz="1600">
                <a:latin typeface="-apple-system"/>
                <a:ea typeface="-apple-system"/>
                <a:cs typeface="-apple-system"/>
              </a:rPr>
              <a:t> </a:t>
            </a:r>
            <a:r>
              <a:rPr lang="en-US" sz="1600" err="1">
                <a:latin typeface="-apple-system"/>
                <a:ea typeface="-apple-system"/>
                <a:cs typeface="-apple-system"/>
              </a:rPr>
              <a:t>o</a:t>
            </a:r>
            <a:r>
              <a:rPr lang="en-US" sz="1600">
                <a:latin typeface="-apple-system"/>
                <a:ea typeface="-apple-system"/>
                <a:cs typeface="-apple-system"/>
              </a:rPr>
              <a:t> </a:t>
            </a:r>
            <a:r>
              <a:rPr lang="en-US" sz="1600" err="1">
                <a:latin typeface="-apple-system"/>
                <a:ea typeface="-apple-system"/>
                <a:cs typeface="-apple-system"/>
              </a:rPr>
              <a:t>usuário</a:t>
            </a:r>
            <a:r>
              <a:rPr lang="en-US" sz="1600">
                <a:latin typeface="-apple-system"/>
                <a:ea typeface="-apple-system"/>
                <a:cs typeface="-apple-system"/>
              </a:rPr>
              <a:t> </a:t>
            </a:r>
            <a:r>
              <a:rPr lang="en-US" sz="1600" err="1">
                <a:latin typeface="-apple-system"/>
                <a:ea typeface="-apple-system"/>
                <a:cs typeface="-apple-system"/>
              </a:rPr>
              <a:t>precisa</a:t>
            </a:r>
            <a:r>
              <a:rPr lang="en-US" sz="1600">
                <a:latin typeface="-apple-system"/>
                <a:ea typeface="-apple-system"/>
                <a:cs typeface="-apple-system"/>
              </a:rPr>
              <a:t>. Nada se </a:t>
            </a:r>
            <a:r>
              <a:rPr lang="en-US" sz="1600" err="1">
                <a:latin typeface="-apple-system"/>
                <a:ea typeface="-apple-system"/>
                <a:cs typeface="-apple-system"/>
              </a:rPr>
              <a:t>perde</a:t>
            </a:r>
            <a:r>
              <a:rPr lang="en-US" sz="1600">
                <a:latin typeface="-apple-system"/>
                <a:ea typeface="-apple-system"/>
                <a:cs typeface="-apple-system"/>
              </a:rPr>
              <a:t>.</a:t>
            </a:r>
            <a:br>
              <a:rPr lang="en-US" sz="1600">
                <a:latin typeface="-apple-system"/>
                <a:ea typeface="-apple-system"/>
                <a:cs typeface="-apple-system"/>
              </a:rPr>
            </a:br>
            <a:br>
              <a:rPr lang="en-US" sz="1600">
                <a:latin typeface="-apple-system"/>
                <a:ea typeface="-apple-system"/>
                <a:cs typeface="-apple-system"/>
              </a:rPr>
            </a:br>
            <a:r>
              <a:rPr lang="en-US" sz="1600">
                <a:latin typeface="-apple-system"/>
                <a:ea typeface="-apple-system"/>
                <a:cs typeface="-apple-system"/>
              </a:rPr>
              <a:t>6. </a:t>
            </a:r>
            <a:r>
              <a:rPr lang="en-US" sz="1600" err="1">
                <a:latin typeface="-apple-system"/>
                <a:ea typeface="-apple-system"/>
                <a:cs typeface="-apple-system"/>
              </a:rPr>
              <a:t>Compartilhamento</a:t>
            </a:r>
            <a:r>
              <a:rPr lang="en-US" sz="1600">
                <a:latin typeface="-apple-system"/>
                <a:ea typeface="-apple-system"/>
                <a:cs typeface="-apple-system"/>
              </a:rPr>
              <a:t> de </a:t>
            </a:r>
            <a:r>
              <a:rPr lang="en-US" sz="1600" err="1">
                <a:latin typeface="-apple-system"/>
                <a:ea typeface="-apple-system"/>
                <a:cs typeface="-apple-system"/>
              </a:rPr>
              <a:t>extensões</a:t>
            </a:r>
            <a:r>
              <a:rPr lang="en-US" sz="1600">
                <a:latin typeface="-apple-system"/>
                <a:ea typeface="-apple-system"/>
                <a:cs typeface="-apple-system"/>
              </a:rPr>
              <a:t> 🤝:</a:t>
            </a:r>
            <a:br>
              <a:rPr lang="en-US" sz="1600">
                <a:latin typeface="-apple-system"/>
                <a:ea typeface="-apple-system"/>
                <a:cs typeface="-apple-system"/>
              </a:rPr>
            </a:br>
            <a:r>
              <a:rPr lang="en-US" sz="1600">
                <a:latin typeface="-apple-system"/>
                <a:ea typeface="-apple-system"/>
                <a:cs typeface="-apple-system"/>
              </a:rPr>
              <a:t>Nem sempre </a:t>
            </a:r>
            <a:r>
              <a:rPr lang="en-US" sz="1600" err="1">
                <a:latin typeface="-apple-system"/>
                <a:ea typeface="-apple-system"/>
                <a:cs typeface="-apple-system"/>
              </a:rPr>
              <a:t>será</a:t>
            </a:r>
            <a:r>
              <a:rPr lang="en-US" sz="1600">
                <a:latin typeface="-apple-system"/>
                <a:ea typeface="-apple-system"/>
                <a:cs typeface="-apple-system"/>
              </a:rPr>
              <a:t> </a:t>
            </a:r>
            <a:r>
              <a:rPr lang="en-US" sz="1600" err="1">
                <a:latin typeface="-apple-system"/>
                <a:ea typeface="-apple-system"/>
                <a:cs typeface="-apple-system"/>
              </a:rPr>
              <a:t>necessário</a:t>
            </a:r>
            <a:r>
              <a:rPr lang="en-US" sz="1600">
                <a:latin typeface="-apple-system"/>
                <a:ea typeface="-apple-system"/>
                <a:cs typeface="-apple-system"/>
              </a:rPr>
              <a:t> </a:t>
            </a:r>
            <a:r>
              <a:rPr lang="en-US" sz="1600" err="1">
                <a:latin typeface="-apple-system"/>
                <a:ea typeface="-apple-system"/>
                <a:cs typeface="-apple-system"/>
              </a:rPr>
              <a:t>possuir</a:t>
            </a:r>
            <a:r>
              <a:rPr lang="en-US" sz="1600">
                <a:latin typeface="-apple-system"/>
                <a:ea typeface="-apple-system"/>
                <a:cs typeface="-apple-system"/>
              </a:rPr>
              <a:t> </a:t>
            </a:r>
            <a:r>
              <a:rPr lang="en-US" sz="1600" err="1">
                <a:latin typeface="-apple-system"/>
                <a:ea typeface="-apple-system"/>
                <a:cs typeface="-apple-system"/>
              </a:rPr>
              <a:t>uma</a:t>
            </a:r>
            <a:r>
              <a:rPr lang="en-US" sz="1600">
                <a:latin typeface="-apple-system"/>
                <a:ea typeface="-apple-system"/>
                <a:cs typeface="-apple-system"/>
              </a:rPr>
              <a:t> </a:t>
            </a:r>
            <a:r>
              <a:rPr lang="en-US" sz="1600" err="1">
                <a:latin typeface="-apple-system"/>
                <a:ea typeface="-apple-system"/>
                <a:cs typeface="-apple-system"/>
              </a:rPr>
              <a:t>licença</a:t>
            </a:r>
            <a:r>
              <a:rPr lang="en-US" sz="1600">
                <a:latin typeface="-apple-system"/>
                <a:ea typeface="-apple-system"/>
                <a:cs typeface="-apple-system"/>
              </a:rPr>
              <a:t> para </a:t>
            </a:r>
            <a:r>
              <a:rPr lang="en-US" sz="1600" err="1">
                <a:latin typeface="-apple-system"/>
                <a:ea typeface="-apple-system"/>
                <a:cs typeface="-apple-system"/>
              </a:rPr>
              <a:t>cada</a:t>
            </a:r>
            <a:r>
              <a:rPr lang="en-US" sz="1600">
                <a:latin typeface="-apple-system"/>
                <a:ea typeface="-apple-system"/>
                <a:cs typeface="-apple-system"/>
              </a:rPr>
              <a:t> </a:t>
            </a:r>
            <a:r>
              <a:rPr lang="en-US" sz="1600" err="1">
                <a:latin typeface="-apple-system"/>
                <a:ea typeface="-apple-system"/>
                <a:cs typeface="-apple-system"/>
              </a:rPr>
              <a:t>usuário</a:t>
            </a:r>
            <a:r>
              <a:rPr lang="en-US" sz="1600">
                <a:latin typeface="-apple-system"/>
                <a:ea typeface="-apple-system"/>
                <a:cs typeface="-apple-system"/>
              </a:rPr>
              <a:t> </a:t>
            </a:r>
            <a:r>
              <a:rPr lang="en-US" sz="1600" err="1">
                <a:latin typeface="-apple-system"/>
                <a:ea typeface="-apple-system"/>
                <a:cs typeface="-apple-system"/>
              </a:rPr>
              <a:t>nomeado</a:t>
            </a:r>
            <a:r>
              <a:rPr lang="en-US" sz="1600">
                <a:latin typeface="-apple-system"/>
                <a:ea typeface="-apple-system"/>
                <a:cs typeface="-apple-system"/>
              </a:rPr>
              <a:t> (</a:t>
            </a:r>
            <a:r>
              <a:rPr lang="en-US" sz="1600" err="1">
                <a:latin typeface="-apple-system"/>
                <a:ea typeface="-apple-system"/>
                <a:cs typeface="-apple-system"/>
              </a:rPr>
              <a:t>tópico</a:t>
            </a:r>
            <a:r>
              <a:rPr lang="en-US" sz="1600">
                <a:latin typeface="-apple-system"/>
                <a:ea typeface="-apple-system"/>
                <a:cs typeface="-apple-system"/>
              </a:rPr>
              <a:t> 5). O </a:t>
            </a:r>
            <a:r>
              <a:rPr lang="en-US" sz="1600" err="1">
                <a:latin typeface="-apple-system"/>
                <a:ea typeface="-apple-system"/>
                <a:cs typeface="-apple-system"/>
              </a:rPr>
              <a:t>bom</a:t>
            </a:r>
            <a:r>
              <a:rPr lang="en-US" sz="1600">
                <a:latin typeface="-apple-system"/>
                <a:ea typeface="-apple-system"/>
                <a:cs typeface="-apple-system"/>
              </a:rPr>
              <a:t> </a:t>
            </a:r>
            <a:r>
              <a:rPr lang="en-US" sz="1600" err="1">
                <a:latin typeface="-apple-system"/>
                <a:ea typeface="-apple-system"/>
                <a:cs typeface="-apple-system"/>
              </a:rPr>
              <a:t>entendimento</a:t>
            </a:r>
            <a:r>
              <a:rPr lang="en-US" sz="1600">
                <a:latin typeface="-apple-system"/>
                <a:ea typeface="-apple-system"/>
                <a:cs typeface="-apple-system"/>
              </a:rPr>
              <a:t> dos </a:t>
            </a:r>
            <a:r>
              <a:rPr lang="en-US" sz="1600" err="1">
                <a:latin typeface="-apple-system"/>
                <a:ea typeface="-apple-system"/>
                <a:cs typeface="-apple-system"/>
              </a:rPr>
              <a:t>tópico</a:t>
            </a:r>
            <a:r>
              <a:rPr lang="en-US" sz="1600">
                <a:latin typeface="-apple-system"/>
                <a:ea typeface="-apple-system"/>
                <a:cs typeface="-apple-system"/>
              </a:rPr>
              <a:t> 1 e 4, </a:t>
            </a:r>
            <a:r>
              <a:rPr lang="en-US" sz="1600" err="1">
                <a:latin typeface="-apple-system"/>
                <a:ea typeface="-apple-system"/>
                <a:cs typeface="-apple-system"/>
              </a:rPr>
              <a:t>pode</a:t>
            </a:r>
            <a:r>
              <a:rPr lang="en-US" sz="1600">
                <a:latin typeface="-apple-system"/>
                <a:ea typeface="-apple-system"/>
                <a:cs typeface="-apple-system"/>
              </a:rPr>
              <a:t> </a:t>
            </a:r>
            <a:r>
              <a:rPr lang="en-US" sz="1600" err="1">
                <a:latin typeface="-apple-system"/>
                <a:ea typeface="-apple-system"/>
                <a:cs typeface="-apple-system"/>
              </a:rPr>
              <a:t>ajudar</a:t>
            </a:r>
            <a:r>
              <a:rPr lang="en-US" sz="1600">
                <a:latin typeface="-apple-system"/>
                <a:ea typeface="-apple-system"/>
                <a:cs typeface="-apple-system"/>
              </a:rPr>
              <a:t> </a:t>
            </a:r>
            <a:r>
              <a:rPr lang="en-US" sz="1600" err="1">
                <a:latin typeface="-apple-system"/>
                <a:ea typeface="-apple-system"/>
                <a:cs typeface="-apple-system"/>
              </a:rPr>
              <a:t>na</a:t>
            </a:r>
            <a:r>
              <a:rPr lang="en-US" sz="1600">
                <a:latin typeface="-apple-system"/>
                <a:ea typeface="-apple-system"/>
                <a:cs typeface="-apple-system"/>
              </a:rPr>
              <a:t> </a:t>
            </a:r>
            <a:r>
              <a:rPr lang="en-US" sz="1600" err="1">
                <a:latin typeface="-apple-system"/>
                <a:ea typeface="-apple-system"/>
                <a:cs typeface="-apple-system"/>
              </a:rPr>
              <a:t>sistematização</a:t>
            </a:r>
            <a:r>
              <a:rPr lang="en-US" sz="1600">
                <a:latin typeface="-apple-system"/>
                <a:ea typeface="-apple-system"/>
                <a:cs typeface="-apple-system"/>
              </a:rPr>
              <a:t> de </a:t>
            </a:r>
            <a:r>
              <a:rPr lang="en-US" sz="1600" err="1">
                <a:latin typeface="-apple-system"/>
                <a:ea typeface="-apple-system"/>
                <a:cs typeface="-apple-system"/>
              </a:rPr>
              <a:t>compartilhamentos</a:t>
            </a:r>
            <a:r>
              <a:rPr lang="en-US" sz="1600">
                <a:latin typeface="-apple-system"/>
                <a:ea typeface="-apple-system"/>
                <a:cs typeface="-apple-system"/>
              </a:rPr>
              <a:t>, </a:t>
            </a:r>
            <a:r>
              <a:rPr lang="en-US" sz="1600" err="1">
                <a:latin typeface="-apple-system"/>
                <a:ea typeface="-apple-system"/>
                <a:cs typeface="-apple-system"/>
              </a:rPr>
              <a:t>aumentando</a:t>
            </a:r>
            <a:r>
              <a:rPr lang="en-US" sz="1600">
                <a:latin typeface="-apple-system"/>
                <a:ea typeface="-apple-system"/>
                <a:cs typeface="-apple-system"/>
              </a:rPr>
              <a:t> a </a:t>
            </a:r>
            <a:r>
              <a:rPr lang="en-US" sz="1600" err="1">
                <a:latin typeface="-apple-system"/>
                <a:ea typeface="-apple-system"/>
                <a:cs typeface="-apple-system"/>
              </a:rPr>
              <a:t>capacidade</a:t>
            </a:r>
            <a:r>
              <a:rPr lang="en-US" sz="1600">
                <a:latin typeface="-apple-system"/>
                <a:ea typeface="-apple-system"/>
                <a:cs typeface="-apple-system"/>
              </a:rPr>
              <a:t> de </a:t>
            </a:r>
            <a:r>
              <a:rPr lang="en-US" sz="1600" err="1">
                <a:latin typeface="-apple-system"/>
                <a:ea typeface="-apple-system"/>
                <a:cs typeface="-apple-system"/>
              </a:rPr>
              <a:t>uso</a:t>
            </a:r>
            <a:r>
              <a:rPr lang="en-US" sz="1600">
                <a:latin typeface="-apple-system"/>
                <a:ea typeface="-apple-system"/>
                <a:cs typeface="-apple-system"/>
              </a:rPr>
              <a:t>, </a:t>
            </a:r>
            <a:r>
              <a:rPr lang="en-US" sz="1600" err="1">
                <a:latin typeface="-apple-system"/>
                <a:ea typeface="-apple-system"/>
                <a:cs typeface="-apple-system"/>
              </a:rPr>
              <a:t>sem</a:t>
            </a:r>
            <a:r>
              <a:rPr lang="en-US" sz="1600">
                <a:latin typeface="-apple-system"/>
                <a:ea typeface="-apple-system"/>
                <a:cs typeface="-apple-system"/>
              </a:rPr>
              <a:t> </a:t>
            </a:r>
            <a:r>
              <a:rPr lang="en-US" sz="1600" err="1">
                <a:latin typeface="-apple-system"/>
                <a:ea typeface="-apple-system"/>
                <a:cs typeface="-apple-system"/>
              </a:rPr>
              <a:t>aumentar</a:t>
            </a:r>
            <a:r>
              <a:rPr lang="en-US" sz="1600">
                <a:latin typeface="-apple-system"/>
                <a:ea typeface="-apple-system"/>
                <a:cs typeface="-apple-system"/>
              </a:rPr>
              <a:t> custos.</a:t>
            </a:r>
            <a:br>
              <a:rPr lang="en-US" sz="1600">
                <a:latin typeface="-apple-system"/>
                <a:ea typeface="-apple-system"/>
                <a:cs typeface="-apple-system"/>
              </a:rPr>
            </a:br>
            <a:br>
              <a:rPr lang="en-US" sz="1600">
                <a:latin typeface="-apple-system"/>
                <a:ea typeface="-apple-system"/>
                <a:cs typeface="-apple-system"/>
              </a:rPr>
            </a:br>
            <a:r>
              <a:rPr lang="en-US" sz="1600">
                <a:latin typeface="-apple-system"/>
                <a:ea typeface="-apple-system"/>
                <a:cs typeface="-apple-system"/>
              </a:rPr>
              <a:t>7. </a:t>
            </a:r>
            <a:r>
              <a:rPr lang="en-US" sz="1600" err="1">
                <a:latin typeface="-apple-system"/>
                <a:ea typeface="-apple-system"/>
                <a:cs typeface="-apple-system"/>
              </a:rPr>
              <a:t>Comunicação</a:t>
            </a:r>
            <a:r>
              <a:rPr lang="en-US" sz="1600">
                <a:latin typeface="-apple-system"/>
                <a:ea typeface="-apple-system"/>
                <a:cs typeface="-apple-system"/>
              </a:rPr>
              <a:t> </a:t>
            </a:r>
            <a:r>
              <a:rPr lang="en-US" sz="1600" err="1">
                <a:latin typeface="-apple-system"/>
                <a:ea typeface="-apple-system"/>
                <a:cs typeface="-apple-system"/>
              </a:rPr>
              <a:t>eficiente</a:t>
            </a:r>
            <a:r>
              <a:rPr lang="en-US" sz="1600">
                <a:latin typeface="-apple-system"/>
                <a:ea typeface="-apple-system"/>
                <a:cs typeface="-apple-system"/>
              </a:rPr>
              <a:t> 🎯:</a:t>
            </a:r>
            <a:br>
              <a:rPr lang="en-US" sz="1600">
                <a:latin typeface="-apple-system"/>
                <a:ea typeface="-apple-system"/>
                <a:cs typeface="-apple-system"/>
              </a:rPr>
            </a:br>
            <a:r>
              <a:rPr lang="en-US" sz="1600">
                <a:latin typeface="-apple-system"/>
                <a:ea typeface="-apple-system"/>
                <a:cs typeface="-apple-system"/>
              </a:rPr>
              <a:t>Um dos, </a:t>
            </a:r>
            <a:r>
              <a:rPr lang="en-US" sz="1600" err="1">
                <a:latin typeface="-apple-system"/>
                <a:ea typeface="-apple-system"/>
                <a:cs typeface="-apple-system"/>
              </a:rPr>
              <a:t>senão</a:t>
            </a:r>
            <a:r>
              <a:rPr lang="en-US" sz="1600">
                <a:latin typeface="-apple-system"/>
                <a:ea typeface="-apple-system"/>
                <a:cs typeface="-apple-system"/>
              </a:rPr>
              <a:t> o </a:t>
            </a:r>
            <a:r>
              <a:rPr lang="en-US" sz="1600" err="1">
                <a:latin typeface="-apple-system"/>
                <a:ea typeface="-apple-system"/>
                <a:cs typeface="-apple-system"/>
              </a:rPr>
              <a:t>mais</a:t>
            </a:r>
            <a:r>
              <a:rPr lang="en-US" sz="1600">
                <a:latin typeface="-apple-system"/>
                <a:ea typeface="-apple-system"/>
                <a:cs typeface="-apple-system"/>
              </a:rPr>
              <a:t> </a:t>
            </a:r>
            <a:r>
              <a:rPr lang="en-US" sz="1600" err="1">
                <a:latin typeface="-apple-system"/>
                <a:ea typeface="-apple-system"/>
                <a:cs typeface="-apple-system"/>
              </a:rPr>
              <a:t>importante</a:t>
            </a:r>
            <a:r>
              <a:rPr lang="en-US" sz="1600">
                <a:latin typeface="-apple-system"/>
                <a:ea typeface="-apple-system"/>
                <a:cs typeface="-apple-system"/>
              </a:rPr>
              <a:t> dos </a:t>
            </a:r>
            <a:r>
              <a:rPr lang="en-US" sz="1600" err="1">
                <a:latin typeface="-apple-system"/>
                <a:ea typeface="-apple-system"/>
                <a:cs typeface="-apple-system"/>
              </a:rPr>
              <a:t>temas</a:t>
            </a:r>
            <a:r>
              <a:rPr lang="en-US" sz="1600">
                <a:latin typeface="-apple-system"/>
                <a:ea typeface="-apple-system"/>
                <a:cs typeface="-apple-system"/>
              </a:rPr>
              <a:t>. De nada adianta </a:t>
            </a:r>
            <a:r>
              <a:rPr lang="en-US" sz="1600" err="1">
                <a:latin typeface="-apple-system"/>
                <a:ea typeface="-apple-system"/>
                <a:cs typeface="-apple-system"/>
              </a:rPr>
              <a:t>conhecer</a:t>
            </a:r>
            <a:r>
              <a:rPr lang="en-US" sz="1600">
                <a:latin typeface="-apple-system"/>
                <a:ea typeface="-apple-system"/>
                <a:cs typeface="-apple-system"/>
              </a:rPr>
              <a:t> e </a:t>
            </a:r>
            <a:r>
              <a:rPr lang="en-US" sz="1600" err="1">
                <a:latin typeface="-apple-system"/>
                <a:ea typeface="-apple-system"/>
                <a:cs typeface="-apple-system"/>
              </a:rPr>
              <a:t>buscar</a:t>
            </a:r>
            <a:r>
              <a:rPr lang="en-US" sz="1600">
                <a:latin typeface="-apple-system"/>
                <a:ea typeface="-apple-system"/>
                <a:cs typeface="-apple-system"/>
              </a:rPr>
              <a:t> </a:t>
            </a:r>
            <a:r>
              <a:rPr lang="en-US" sz="1600" err="1">
                <a:latin typeface="-apple-system"/>
                <a:ea typeface="-apple-system"/>
                <a:cs typeface="-apple-system"/>
              </a:rPr>
              <a:t>implementar</a:t>
            </a:r>
            <a:r>
              <a:rPr lang="en-US" sz="1600">
                <a:latin typeface="-apple-system"/>
                <a:ea typeface="-apple-system"/>
                <a:cs typeface="-apple-system"/>
              </a:rPr>
              <a:t> esses </a:t>
            </a:r>
            <a:r>
              <a:rPr lang="en-US" sz="1600" err="1">
                <a:latin typeface="-apple-system"/>
                <a:ea typeface="-apple-system"/>
                <a:cs typeface="-apple-system"/>
              </a:rPr>
              <a:t>tópicos</a:t>
            </a:r>
            <a:r>
              <a:rPr lang="en-US" sz="1600">
                <a:latin typeface="-apple-system"/>
                <a:ea typeface="-apple-system"/>
                <a:cs typeface="-apple-system"/>
              </a:rPr>
              <a:t> se </a:t>
            </a:r>
            <a:r>
              <a:rPr lang="en-US" sz="1600" err="1">
                <a:latin typeface="-apple-system"/>
                <a:ea typeface="-apple-system"/>
                <a:cs typeface="-apple-system"/>
              </a:rPr>
              <a:t>não</a:t>
            </a:r>
            <a:r>
              <a:rPr lang="en-US" sz="1600">
                <a:latin typeface="-apple-system"/>
                <a:ea typeface="-apple-system"/>
                <a:cs typeface="-apple-system"/>
              </a:rPr>
              <a:t> </a:t>
            </a:r>
            <a:r>
              <a:rPr lang="en-US" sz="1600" err="1">
                <a:latin typeface="-apple-system"/>
                <a:ea typeface="-apple-system"/>
                <a:cs typeface="-apple-system"/>
              </a:rPr>
              <a:t>existir</a:t>
            </a:r>
            <a:r>
              <a:rPr lang="en-US" sz="1600">
                <a:latin typeface="-apple-system"/>
                <a:ea typeface="-apple-system"/>
                <a:cs typeface="-apple-system"/>
              </a:rPr>
              <a:t> </a:t>
            </a:r>
            <a:r>
              <a:rPr lang="en-US" sz="1600" err="1">
                <a:latin typeface="-apple-system"/>
                <a:ea typeface="-apple-system"/>
                <a:cs typeface="-apple-system"/>
              </a:rPr>
              <a:t>comunicação</a:t>
            </a:r>
            <a:r>
              <a:rPr lang="en-US" sz="1600">
                <a:latin typeface="-apple-system"/>
                <a:ea typeface="-apple-system"/>
                <a:cs typeface="-apple-system"/>
              </a:rPr>
              <a:t> </a:t>
            </a:r>
            <a:r>
              <a:rPr lang="en-US" sz="1600" err="1">
                <a:latin typeface="-apple-system"/>
                <a:ea typeface="-apple-system"/>
                <a:cs typeface="-apple-system"/>
              </a:rPr>
              <a:t>assertiva</a:t>
            </a:r>
            <a:r>
              <a:rPr lang="en-US" sz="1600">
                <a:latin typeface="-apple-system"/>
                <a:ea typeface="-apple-system"/>
                <a:cs typeface="-apple-system"/>
              </a:rPr>
              <a:t> e </a:t>
            </a:r>
            <a:r>
              <a:rPr lang="en-US" sz="1600" err="1">
                <a:latin typeface="-apple-system"/>
                <a:ea typeface="-apple-system"/>
                <a:cs typeface="-apple-system"/>
              </a:rPr>
              <a:t>efetiva</a:t>
            </a:r>
            <a:r>
              <a:rPr lang="en-US" sz="1600">
                <a:latin typeface="-apple-system"/>
                <a:ea typeface="-apple-system"/>
                <a:cs typeface="-apple-system"/>
              </a:rPr>
              <a:t> com </a:t>
            </a:r>
            <a:r>
              <a:rPr lang="en-US" sz="1600" err="1">
                <a:latin typeface="-apple-system"/>
                <a:ea typeface="-apple-system"/>
                <a:cs typeface="-apple-system"/>
              </a:rPr>
              <a:t>os</a:t>
            </a:r>
            <a:r>
              <a:rPr lang="en-US" sz="1600">
                <a:latin typeface="-apple-system"/>
                <a:ea typeface="-apple-system"/>
                <a:cs typeface="-apple-system"/>
              </a:rPr>
              <a:t> </a:t>
            </a:r>
            <a:r>
              <a:rPr lang="en-US" sz="1600" err="1">
                <a:latin typeface="-apple-system"/>
                <a:ea typeface="-apple-system"/>
                <a:cs typeface="-apple-system"/>
              </a:rPr>
              <a:t>envolvidos</a:t>
            </a:r>
            <a:r>
              <a:rPr lang="en-US" sz="1600">
                <a:latin typeface="-apple-system"/>
                <a:ea typeface="-apple-system"/>
                <a:cs typeface="-apple-system"/>
              </a:rPr>
              <a:t>. </a:t>
            </a:r>
            <a:r>
              <a:rPr lang="en-US" sz="1600" err="1">
                <a:latin typeface="-apple-system"/>
                <a:ea typeface="-apple-system"/>
                <a:cs typeface="-apple-system"/>
              </a:rPr>
              <a:t>Entender</a:t>
            </a:r>
            <a:r>
              <a:rPr lang="en-US" sz="1600">
                <a:latin typeface="-apple-system"/>
                <a:ea typeface="-apple-system"/>
                <a:cs typeface="-apple-system"/>
              </a:rPr>
              <a:t> as </a:t>
            </a:r>
            <a:r>
              <a:rPr lang="en-US" sz="1600" err="1">
                <a:latin typeface="-apple-system"/>
                <a:ea typeface="-apple-system"/>
                <a:cs typeface="-apple-system"/>
              </a:rPr>
              <a:t>necessidades</a:t>
            </a:r>
            <a:r>
              <a:rPr lang="en-US" sz="1600">
                <a:latin typeface="-apple-system"/>
                <a:ea typeface="-apple-system"/>
                <a:cs typeface="-apple-system"/>
              </a:rPr>
              <a:t> das equipes, vender </a:t>
            </a:r>
            <a:r>
              <a:rPr lang="en-US" sz="1600" err="1">
                <a:latin typeface="-apple-system"/>
                <a:ea typeface="-apple-system"/>
                <a:cs typeface="-apple-system"/>
              </a:rPr>
              <a:t>a</a:t>
            </a:r>
            <a:r>
              <a:rPr lang="en-US" sz="1600">
                <a:latin typeface="-apple-system"/>
                <a:ea typeface="-apple-system"/>
                <a:cs typeface="-apple-system"/>
              </a:rPr>
              <a:t> </a:t>
            </a:r>
            <a:r>
              <a:rPr lang="en-US" sz="1600" err="1">
                <a:latin typeface="-apple-system"/>
                <a:ea typeface="-apple-system"/>
                <a:cs typeface="-apple-system"/>
              </a:rPr>
              <a:t>ideia</a:t>
            </a:r>
            <a:r>
              <a:rPr lang="en-US" sz="1600">
                <a:latin typeface="-apple-system"/>
                <a:ea typeface="-apple-system"/>
                <a:cs typeface="-apple-system"/>
              </a:rPr>
              <a:t> de </a:t>
            </a:r>
            <a:r>
              <a:rPr lang="en-US" sz="1600" err="1">
                <a:latin typeface="-apple-system"/>
                <a:ea typeface="-apple-system"/>
                <a:cs typeface="-apple-system"/>
              </a:rPr>
              <a:t>centralização</a:t>
            </a:r>
            <a:r>
              <a:rPr lang="en-US" sz="1600">
                <a:latin typeface="-apple-system"/>
                <a:ea typeface="-apple-system"/>
                <a:cs typeface="-apple-system"/>
              </a:rPr>
              <a:t>, </a:t>
            </a:r>
            <a:r>
              <a:rPr lang="en-US" sz="1600" err="1">
                <a:latin typeface="-apple-system"/>
                <a:ea typeface="-apple-system"/>
                <a:cs typeface="-apple-system"/>
              </a:rPr>
              <a:t>caso</a:t>
            </a:r>
            <a:r>
              <a:rPr lang="en-US" sz="1600">
                <a:latin typeface="-apple-system"/>
                <a:ea typeface="-apple-system"/>
                <a:cs typeface="-apple-system"/>
              </a:rPr>
              <a:t> </a:t>
            </a:r>
            <a:r>
              <a:rPr lang="en-US" sz="1600" err="1">
                <a:latin typeface="-apple-system"/>
                <a:ea typeface="-apple-system"/>
                <a:cs typeface="-apple-system"/>
              </a:rPr>
              <a:t>não</a:t>
            </a:r>
            <a:r>
              <a:rPr lang="en-US" sz="1600">
                <a:latin typeface="-apple-system"/>
                <a:ea typeface="-apple-system"/>
                <a:cs typeface="-apple-system"/>
              </a:rPr>
              <a:t> </a:t>
            </a:r>
            <a:r>
              <a:rPr lang="en-US" sz="1600" err="1">
                <a:latin typeface="-apple-system"/>
                <a:ea typeface="-apple-system"/>
                <a:cs typeface="-apple-system"/>
              </a:rPr>
              <a:t>exista</a:t>
            </a:r>
            <a:r>
              <a:rPr lang="en-US" sz="1600">
                <a:latin typeface="-apple-system"/>
                <a:ea typeface="-apple-system"/>
                <a:cs typeface="-apple-system"/>
              </a:rPr>
              <a:t>, e </a:t>
            </a:r>
            <a:r>
              <a:rPr lang="en-US" sz="1600" err="1">
                <a:latin typeface="-apple-system"/>
                <a:ea typeface="-apple-system"/>
                <a:cs typeface="-apple-system"/>
              </a:rPr>
              <a:t>organizar</a:t>
            </a:r>
            <a:r>
              <a:rPr lang="en-US" sz="1600">
                <a:latin typeface="-apple-system"/>
                <a:ea typeface="-apple-system"/>
                <a:cs typeface="-apple-system"/>
              </a:rPr>
              <a:t> o </a:t>
            </a:r>
            <a:r>
              <a:rPr lang="en-US" sz="1600" err="1">
                <a:latin typeface="-apple-system"/>
                <a:ea typeface="-apple-system"/>
                <a:cs typeface="-apple-system"/>
              </a:rPr>
              <a:t>compartilhamento</a:t>
            </a:r>
            <a:r>
              <a:rPr lang="en-US" sz="1600">
                <a:latin typeface="-apple-system"/>
                <a:ea typeface="-apple-system"/>
                <a:cs typeface="-apple-system"/>
              </a:rPr>
              <a:t>.</a:t>
            </a:r>
            <a:endParaRPr lang="en-US" sz="1600">
              <a:ea typeface="Calibri"/>
              <a:cs typeface="Calibri"/>
            </a:endParaRPr>
          </a:p>
          <a:p>
            <a:pPr algn="ctr"/>
            <a:endParaRPr lang="pt-BR" sz="1600">
              <a:ea typeface="Calibri"/>
              <a:cs typeface="Calibri"/>
            </a:endParaRPr>
          </a:p>
        </p:txBody>
      </p:sp>
      <p:sp>
        <p:nvSpPr>
          <p:cNvPr id="7" name="CaixaDeTexto 6">
            <a:extLst>
              <a:ext uri="{FF2B5EF4-FFF2-40B4-BE49-F238E27FC236}">
                <a16:creationId xmlns:a16="http://schemas.microsoft.com/office/drawing/2014/main" id="{00D86875-0E88-A876-67BE-C7AA3652D0A7}"/>
              </a:ext>
            </a:extLst>
          </p:cNvPr>
          <p:cNvSpPr txBox="1"/>
          <p:nvPr/>
        </p:nvSpPr>
        <p:spPr>
          <a:xfrm>
            <a:off x="6096000" y="5988170"/>
            <a:ext cx="6096000" cy="12311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Link: https://www.linkedin.com/posts/vitorgeo_arcgis-esri-arcgispro-activity-7240112183760588800-pzIN?utm_source=share&amp;utm_medium=member_desktop&amp;rcm=ACoAAAMQtAUB5UouXqdBJgo_gWpNVZ7Imay_2Tg</a:t>
            </a:r>
          </a:p>
          <a:p>
            <a:pPr algn="ctr"/>
            <a:endParaRPr lang="pt-BR"/>
          </a:p>
        </p:txBody>
      </p:sp>
      <mc:AlternateContent xmlns:mc="http://schemas.openxmlformats.org/markup-compatibility/2006" xmlns:p14="http://schemas.microsoft.com/office/powerpoint/2010/main">
        <mc:Choice Requires="p14">
          <p:contentPart p14:bwMode="auto" r:id="rId2">
            <p14:nvContentPartPr>
              <p14:cNvPr id="8" name="Tinta 7">
                <a:extLst>
                  <a:ext uri="{FF2B5EF4-FFF2-40B4-BE49-F238E27FC236}">
                    <a16:creationId xmlns:a16="http://schemas.microsoft.com/office/drawing/2014/main" id="{BFA33B88-DF31-1F0E-2A4C-6B88D1551E55}"/>
                  </a:ext>
                </a:extLst>
              </p14:cNvPr>
              <p14:cNvContentPartPr/>
              <p14:nvPr/>
            </p14:nvContentPartPr>
            <p14:xfrm>
              <a:off x="6086561" y="5936973"/>
              <a:ext cx="15551" cy="945558"/>
            </p14:xfrm>
          </p:contentPart>
        </mc:Choice>
        <mc:Fallback xmlns="">
          <p:pic>
            <p:nvPicPr>
              <p:cNvPr id="8" name="Tinta 7">
                <a:extLst>
                  <a:ext uri="{FF2B5EF4-FFF2-40B4-BE49-F238E27FC236}">
                    <a16:creationId xmlns:a16="http://schemas.microsoft.com/office/drawing/2014/main" id="{BFA33B88-DF31-1F0E-2A4C-6B88D1551E55}"/>
                  </a:ext>
                </a:extLst>
              </p:cNvPr>
              <p:cNvPicPr/>
              <p:nvPr/>
            </p:nvPicPr>
            <p:blipFill>
              <a:blip r:embed="rId3"/>
              <a:stretch>
                <a:fillRect/>
              </a:stretch>
            </p:blipFill>
            <p:spPr>
              <a:xfrm>
                <a:off x="5309011" y="5918976"/>
                <a:ext cx="1555100" cy="981192"/>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9" name="Tinta 8">
                <a:extLst>
                  <a:ext uri="{FF2B5EF4-FFF2-40B4-BE49-F238E27FC236}">
                    <a16:creationId xmlns:a16="http://schemas.microsoft.com/office/drawing/2014/main" id="{8C2BCEF5-A175-6227-7569-0C45563B763B}"/>
                  </a:ext>
                </a:extLst>
              </p14:cNvPr>
              <p14:cNvContentPartPr/>
              <p14:nvPr/>
            </p14:nvContentPartPr>
            <p14:xfrm>
              <a:off x="6204856" y="5856620"/>
              <a:ext cx="15551" cy="15551"/>
            </p14:xfrm>
          </p:contentPart>
        </mc:Choice>
        <mc:Fallback xmlns="">
          <p:pic>
            <p:nvPicPr>
              <p:cNvPr id="9" name="Tinta 8">
                <a:extLst>
                  <a:ext uri="{FF2B5EF4-FFF2-40B4-BE49-F238E27FC236}">
                    <a16:creationId xmlns:a16="http://schemas.microsoft.com/office/drawing/2014/main" id="{8C2BCEF5-A175-6227-7569-0C45563B763B}"/>
                  </a:ext>
                </a:extLst>
              </p:cNvPr>
              <p:cNvPicPr/>
              <p:nvPr/>
            </p:nvPicPr>
            <p:blipFill>
              <a:blip r:embed="rId5"/>
              <a:stretch>
                <a:fillRect/>
              </a:stretch>
            </p:blipFill>
            <p:spPr>
              <a:xfrm>
                <a:off x="5427306" y="5079070"/>
                <a:ext cx="1555100" cy="15551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0" name="Tinta 9">
                <a:extLst>
                  <a:ext uri="{FF2B5EF4-FFF2-40B4-BE49-F238E27FC236}">
                    <a16:creationId xmlns:a16="http://schemas.microsoft.com/office/drawing/2014/main" id="{3EC82905-7AA8-2CEA-C92B-BD68BAD44B10}"/>
                  </a:ext>
                </a:extLst>
              </p14:cNvPr>
              <p14:cNvContentPartPr/>
              <p14:nvPr/>
            </p14:nvContentPartPr>
            <p14:xfrm>
              <a:off x="6204857" y="5856620"/>
              <a:ext cx="5173180" cy="15551"/>
            </p14:xfrm>
          </p:contentPart>
        </mc:Choice>
        <mc:Fallback xmlns="">
          <p:pic>
            <p:nvPicPr>
              <p:cNvPr id="10" name="Tinta 9">
                <a:extLst>
                  <a:ext uri="{FF2B5EF4-FFF2-40B4-BE49-F238E27FC236}">
                    <a16:creationId xmlns:a16="http://schemas.microsoft.com/office/drawing/2014/main" id="{3EC82905-7AA8-2CEA-C92B-BD68BAD44B10}"/>
                  </a:ext>
                </a:extLst>
              </p:cNvPr>
              <p:cNvPicPr/>
              <p:nvPr/>
            </p:nvPicPr>
            <p:blipFill>
              <a:blip r:embed="rId7"/>
              <a:stretch>
                <a:fillRect/>
              </a:stretch>
            </p:blipFill>
            <p:spPr>
              <a:xfrm>
                <a:off x="6186858" y="5079070"/>
                <a:ext cx="5208817" cy="15551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1" name="Tinta 10">
                <a:extLst>
                  <a:ext uri="{FF2B5EF4-FFF2-40B4-BE49-F238E27FC236}">
                    <a16:creationId xmlns:a16="http://schemas.microsoft.com/office/drawing/2014/main" id="{63C775C1-C001-2A90-2E03-AC8BC83AD24E}"/>
                  </a:ext>
                </a:extLst>
              </p14:cNvPr>
              <p14:cNvContentPartPr/>
              <p14:nvPr/>
            </p14:nvContentPartPr>
            <p14:xfrm>
              <a:off x="6080448" y="5856620"/>
              <a:ext cx="263731" cy="15551"/>
            </p14:xfrm>
          </p:contentPart>
        </mc:Choice>
        <mc:Fallback xmlns="">
          <p:pic>
            <p:nvPicPr>
              <p:cNvPr id="11" name="Tinta 10">
                <a:extLst>
                  <a:ext uri="{FF2B5EF4-FFF2-40B4-BE49-F238E27FC236}">
                    <a16:creationId xmlns:a16="http://schemas.microsoft.com/office/drawing/2014/main" id="{63C775C1-C001-2A90-2E03-AC8BC83AD24E}"/>
                  </a:ext>
                </a:extLst>
              </p:cNvPr>
              <p:cNvPicPr/>
              <p:nvPr/>
            </p:nvPicPr>
            <p:blipFill>
              <a:blip r:embed="rId9"/>
              <a:stretch>
                <a:fillRect/>
              </a:stretch>
            </p:blipFill>
            <p:spPr>
              <a:xfrm>
                <a:off x="6062483" y="5079070"/>
                <a:ext cx="299302" cy="15551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2" name="Tinta 11">
                <a:extLst>
                  <a:ext uri="{FF2B5EF4-FFF2-40B4-BE49-F238E27FC236}">
                    <a16:creationId xmlns:a16="http://schemas.microsoft.com/office/drawing/2014/main" id="{5EA491FC-4AAC-DBC3-1387-4ACF7AB4FB07}"/>
                  </a:ext>
                </a:extLst>
              </p14:cNvPr>
              <p14:cNvContentPartPr/>
              <p14:nvPr/>
            </p14:nvContentPartPr>
            <p14:xfrm>
              <a:off x="6049347" y="5856620"/>
              <a:ext cx="64276" cy="15551"/>
            </p14:xfrm>
          </p:contentPart>
        </mc:Choice>
        <mc:Fallback xmlns="">
          <p:pic>
            <p:nvPicPr>
              <p:cNvPr id="12" name="Tinta 11">
                <a:extLst>
                  <a:ext uri="{FF2B5EF4-FFF2-40B4-BE49-F238E27FC236}">
                    <a16:creationId xmlns:a16="http://schemas.microsoft.com/office/drawing/2014/main" id="{5EA491FC-4AAC-DBC3-1387-4ACF7AB4FB07}"/>
                  </a:ext>
                </a:extLst>
              </p:cNvPr>
              <p:cNvPicPr/>
              <p:nvPr/>
            </p:nvPicPr>
            <p:blipFill>
              <a:blip r:embed="rId11"/>
              <a:stretch>
                <a:fillRect/>
              </a:stretch>
            </p:blipFill>
            <p:spPr>
              <a:xfrm>
                <a:off x="6031493" y="5079070"/>
                <a:ext cx="99628" cy="15551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4" name="Tinta 13">
                <a:extLst>
                  <a:ext uri="{FF2B5EF4-FFF2-40B4-BE49-F238E27FC236}">
                    <a16:creationId xmlns:a16="http://schemas.microsoft.com/office/drawing/2014/main" id="{DBD25EC8-DDC5-89AC-5988-B0B3289BBF72}"/>
                  </a:ext>
                </a:extLst>
              </p14:cNvPr>
              <p14:cNvContentPartPr/>
              <p14:nvPr/>
            </p14:nvContentPartPr>
            <p14:xfrm>
              <a:off x="513183" y="1104121"/>
              <a:ext cx="15551" cy="15551"/>
            </p14:xfrm>
          </p:contentPart>
        </mc:Choice>
        <mc:Fallback xmlns="">
          <p:pic>
            <p:nvPicPr>
              <p:cNvPr id="14" name="Tinta 13">
                <a:extLst>
                  <a:ext uri="{FF2B5EF4-FFF2-40B4-BE49-F238E27FC236}">
                    <a16:creationId xmlns:a16="http://schemas.microsoft.com/office/drawing/2014/main" id="{DBD25EC8-DDC5-89AC-5988-B0B3289BBF72}"/>
                  </a:ext>
                </a:extLst>
              </p:cNvPr>
              <p:cNvPicPr/>
              <p:nvPr/>
            </p:nvPicPr>
            <p:blipFill>
              <a:blip r:embed="rId5"/>
              <a:stretch>
                <a:fillRect/>
              </a:stretch>
            </p:blipFill>
            <p:spPr>
              <a:xfrm>
                <a:off x="-264367" y="326571"/>
                <a:ext cx="1555100" cy="1555100"/>
              </a:xfrm>
              <a:prstGeom prst="rect">
                <a:avLst/>
              </a:prstGeom>
            </p:spPr>
          </p:pic>
        </mc:Fallback>
      </mc:AlternateContent>
    </p:spTree>
    <p:extLst>
      <p:ext uri="{BB962C8B-B14F-4D97-AF65-F5344CB8AC3E}">
        <p14:creationId xmlns:p14="http://schemas.microsoft.com/office/powerpoint/2010/main" val="227706601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99A4756A-8317-6172-5177-7F2ABA928DB3}"/>
              </a:ext>
            </a:extLst>
          </p:cNvPr>
          <p:cNvSpPr txBox="1"/>
          <p:nvPr/>
        </p:nvSpPr>
        <p:spPr>
          <a:xfrm>
            <a:off x="5765321" y="-7189"/>
            <a:ext cx="6096000" cy="64633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..Mobile Dashboard!!</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We are in the final stage of our new project that enables live tracking of energy outages through the integration of ArcGIS Utility Network and SAP-PM. With this system, we can monitor current outages in real time and perform estimated analyses of undelivered energy amounts.(kWh)</a:t>
            </a:r>
            <a:br>
              <a:rPr lang="en-US">
                <a:latin typeface="-apple-system"/>
                <a:ea typeface="-apple-system"/>
                <a:cs typeface="-apple-system"/>
              </a:rPr>
            </a:br>
            <a:r>
              <a:rPr lang="en-US">
                <a:latin typeface="-apple-system"/>
                <a:ea typeface="-apple-system"/>
                <a:cs typeface="-apple-system"/>
              </a:rPr>
              <a:t>Additionally, the entire process can be seamlessly monitored through the ArcGIS Mobile Dashboard. </a:t>
            </a:r>
            <a:br>
              <a:rPr lang="en-US">
                <a:latin typeface="-apple-system"/>
                <a:ea typeface="-apple-system"/>
                <a:cs typeface="-apple-system"/>
              </a:rPr>
            </a:br>
            <a:r>
              <a:rPr lang="en-US">
                <a:latin typeface="-apple-system"/>
                <a:ea typeface="-apple-system"/>
                <a:cs typeface="-apple-system"/>
              </a:rPr>
              <a:t>Some of the systems we are using in this project include ArcGIS Utility Network, SAP-PM, FME Form-Flow, and ArcGIS Dashboard...</a:t>
            </a:r>
            <a:br>
              <a:rPr lang="en-US">
                <a:latin typeface="-apple-system"/>
                <a:ea typeface="-apple-system"/>
                <a:cs typeface="-apple-system"/>
              </a:rPr>
            </a:br>
            <a:r>
              <a:rPr lang="en-US">
                <a:latin typeface="-apple-system"/>
                <a:ea typeface="-apple-system"/>
                <a:cs typeface="-apple-system"/>
              </a:rPr>
              <a:t>--------------------------------------------------------------</a:t>
            </a:r>
            <a:br>
              <a:rPr lang="en-US">
                <a:latin typeface="-apple-system"/>
                <a:ea typeface="-apple-system"/>
                <a:cs typeface="-apple-system"/>
              </a:rPr>
            </a:br>
            <a:r>
              <a:rPr lang="en-US">
                <a:latin typeface="-apple-system"/>
                <a:ea typeface="-apple-system"/>
                <a:cs typeface="-apple-system"/>
              </a:rPr>
              <a:t>ArcGIS Utility Network ve SAP-PM arasında gerçekleştirdiğimiz entegrasyon ile enerji kesintilerinin canlı takibini sağlayan yeni projemizde son aşamadayız. Bu sistem sayesinde mevcut kesintileri anlık olarak izleyip örneğin dağıtılamayan enerji miktarını tahmini olarak analiz edebiliyoruz.(kWh)</a:t>
            </a:r>
            <a:br>
              <a:rPr lang="en-US">
                <a:latin typeface="-apple-system"/>
                <a:ea typeface="-apple-system"/>
                <a:cs typeface="-apple-system"/>
              </a:rPr>
            </a:br>
            <a:r>
              <a:rPr lang="en-US">
                <a:latin typeface="-apple-system"/>
                <a:ea typeface="-apple-system"/>
                <a:cs typeface="-apple-system"/>
              </a:rPr>
              <a:t>Ayrıca bu sürecin tamamını ArcGIS Mobil Dashboard üzerinden de takip edilebiliyoruz. </a:t>
            </a:r>
            <a:br>
              <a:rPr lang="en-US">
                <a:latin typeface="-apple-system"/>
                <a:ea typeface="-apple-system"/>
                <a:cs typeface="-apple-system"/>
              </a:rPr>
            </a:br>
            <a:r>
              <a:rPr lang="en-US">
                <a:latin typeface="-apple-system"/>
                <a:ea typeface="-apple-system"/>
                <a:cs typeface="-apple-system"/>
              </a:rPr>
              <a:t>Bu projede kullandığımız sistemlerden bazıları; ArcGIS Utility Network &amp; SAP-PM &amp; FME Form-FLow &amp; ArcGIS Dashboard....</a:t>
            </a:r>
            <a:endParaRPr lang="en-US"/>
          </a:p>
          <a:p>
            <a:pPr algn="ctr"/>
            <a:endParaRPr lang="pt-BR"/>
          </a:p>
        </p:txBody>
      </p:sp>
      <p:pic>
        <p:nvPicPr>
          <p:cNvPr id="5" name="Imagem 4" descr="Interface gráfica do usuário&#10;&#10;O conteúdo gerado por IA pode estar incorreto.">
            <a:extLst>
              <a:ext uri="{FF2B5EF4-FFF2-40B4-BE49-F238E27FC236}">
                <a16:creationId xmlns:a16="http://schemas.microsoft.com/office/drawing/2014/main" id="{A7148F89-E048-C866-3A4D-8940981A6A40}"/>
              </a:ext>
            </a:extLst>
          </p:cNvPr>
          <p:cNvPicPr>
            <a:picLocks noChangeAspect="1"/>
          </p:cNvPicPr>
          <p:nvPr/>
        </p:nvPicPr>
        <p:blipFill>
          <a:blip r:embed="rId2"/>
          <a:stretch>
            <a:fillRect/>
          </a:stretch>
        </p:blipFill>
        <p:spPr>
          <a:xfrm>
            <a:off x="438150" y="354312"/>
            <a:ext cx="5219700" cy="5229225"/>
          </a:xfrm>
          <a:prstGeom prst="rect">
            <a:avLst/>
          </a:prstGeom>
        </p:spPr>
      </p:pic>
      <p:sp>
        <p:nvSpPr>
          <p:cNvPr id="6" name="CaixaDeTexto 5">
            <a:extLst>
              <a:ext uri="{FF2B5EF4-FFF2-40B4-BE49-F238E27FC236}">
                <a16:creationId xmlns:a16="http://schemas.microsoft.com/office/drawing/2014/main" id="{1CD97DE2-42DA-4672-25A5-2859087FAE4E}"/>
              </a:ext>
            </a:extLst>
          </p:cNvPr>
          <p:cNvSpPr txBox="1"/>
          <p:nvPr/>
        </p:nvSpPr>
        <p:spPr>
          <a:xfrm>
            <a:off x="143774" y="5844396"/>
            <a:ext cx="5520906" cy="12311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https://www.linkedin.com/posts/emin-saka-06816b76_utilitynetwork-fme-dashboard-activity-7242506762556194816-rag7?utm_source=share&amp;utm_medium=member_desktop&amp;rcm=ACoAAAMQtAUB5UouXqdBJgo_gWpNVZ7Imay_2Tg</a:t>
            </a:r>
          </a:p>
          <a:p>
            <a:pPr algn="ctr"/>
            <a:endParaRPr lang="pt-BR"/>
          </a:p>
        </p:txBody>
      </p:sp>
    </p:spTree>
    <p:extLst>
      <p:ext uri="{BB962C8B-B14F-4D97-AF65-F5344CB8AC3E}">
        <p14:creationId xmlns:p14="http://schemas.microsoft.com/office/powerpoint/2010/main" val="58031729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B34560B9-118C-2449-CEAD-69AC9735BAE6}"/>
              </a:ext>
            </a:extLst>
          </p:cNvPr>
          <p:cNvSpPr txBox="1"/>
          <p:nvPr/>
        </p:nvSpPr>
        <p:spPr>
          <a:xfrm>
            <a:off x="6096000" y="2853906"/>
            <a:ext cx="60960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 </a:t>
            </a:r>
            <a:r>
              <a:rPr lang="en-US" b="1">
                <a:solidFill>
                  <a:srgbClr val="0A66C2"/>
                </a:solidFill>
                <a:latin typeface="-apple-system"/>
                <a:ea typeface="-apple-system"/>
                <a:cs typeface="-apple-system"/>
                <a:hlinkClick r:id="rId2"/>
              </a:rPr>
              <a:t>Mashford Mahute</a:t>
            </a:r>
            <a:r>
              <a:rPr lang="en-US">
                <a:latin typeface="-apple-system"/>
                <a:ea typeface="-apple-system"/>
                <a:cs typeface="-apple-system"/>
              </a:rPr>
              <a:t> is creating some amazing content for the geospatial community recently. I definitely recommend giving him a follow and here is one of my personal favorite posts from him. Keep it up!</a:t>
            </a:r>
            <a:endParaRPr lang="en-US"/>
          </a:p>
          <a:p>
            <a:pPr algn="ctr"/>
            <a:endParaRPr lang="pt-BR"/>
          </a:p>
        </p:txBody>
      </p:sp>
      <p:pic>
        <p:nvPicPr>
          <p:cNvPr id="5" name="Imagem 4" descr="Não foi fornecido texto alternativo para esta imagem">
            <a:extLst>
              <a:ext uri="{FF2B5EF4-FFF2-40B4-BE49-F238E27FC236}">
                <a16:creationId xmlns:a16="http://schemas.microsoft.com/office/drawing/2014/main" id="{A375C57C-613B-35C5-340A-883377CEE584}"/>
              </a:ext>
            </a:extLst>
          </p:cNvPr>
          <p:cNvPicPr>
            <a:picLocks noChangeAspect="1"/>
          </p:cNvPicPr>
          <p:nvPr/>
        </p:nvPicPr>
        <p:blipFill>
          <a:blip r:embed="rId3"/>
          <a:stretch>
            <a:fillRect/>
          </a:stretch>
        </p:blipFill>
        <p:spPr>
          <a:xfrm>
            <a:off x="633234" y="800640"/>
            <a:ext cx="5203345" cy="4652871"/>
          </a:xfrm>
          <a:prstGeom prst="rect">
            <a:avLst/>
          </a:prstGeom>
        </p:spPr>
      </p:pic>
      <p:sp>
        <p:nvSpPr>
          <p:cNvPr id="6" name="CaixaDeTexto 5">
            <a:extLst>
              <a:ext uri="{FF2B5EF4-FFF2-40B4-BE49-F238E27FC236}">
                <a16:creationId xmlns:a16="http://schemas.microsoft.com/office/drawing/2014/main" id="{F95A26C7-62EF-7116-3B13-827D5EB17E59}"/>
              </a:ext>
            </a:extLst>
          </p:cNvPr>
          <p:cNvSpPr txBox="1"/>
          <p:nvPr/>
        </p:nvSpPr>
        <p:spPr>
          <a:xfrm>
            <a:off x="632604" y="5614359"/>
            <a:ext cx="6096000" cy="13542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https://www.linkedin.com/posts/mbforr_gis-moderngis-geospatial-activity-7242527033493262336-pjL_?utm_source=share&amp;utm_medium=member_desktop&amp;rcm=ACoAAAMQtAUB5UouXqdBJgo_gWpNVZ7Imay_2Tg</a:t>
            </a:r>
          </a:p>
          <a:p>
            <a:pPr algn="ctr"/>
            <a:endParaRPr lang="pt-BR"/>
          </a:p>
        </p:txBody>
      </p:sp>
    </p:spTree>
    <p:extLst>
      <p:ext uri="{BB962C8B-B14F-4D97-AF65-F5344CB8AC3E}">
        <p14:creationId xmlns:p14="http://schemas.microsoft.com/office/powerpoint/2010/main" val="39209723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9ED36430-F280-E33A-260F-0E4629B400CC}"/>
              </a:ext>
            </a:extLst>
          </p:cNvPr>
          <p:cNvSpPr txBox="1"/>
          <p:nvPr/>
        </p:nvSpPr>
        <p:spPr>
          <a:xfrm>
            <a:off x="5305245" y="898585"/>
            <a:ext cx="6096000"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The new ArcGIS Web Editor was released earlier this week! Read the announcement for a list of all the capabilities it has at launch: </a:t>
            </a:r>
            <a:r>
              <a:rPr lang="en-US" b="1">
                <a:solidFill>
                  <a:srgbClr val="0A66C2"/>
                </a:solidFill>
                <a:latin typeface="-apple-system"/>
                <a:ea typeface="-apple-system"/>
                <a:cs typeface="-apple-system"/>
                <a:hlinkClick r:id="rId2"/>
              </a:rPr>
              <a:t>https://lnkd.in/gxutgrHq</a:t>
            </a:r>
            <a:r>
              <a:rPr lang="en-US">
                <a:latin typeface="-apple-system"/>
                <a:ea typeface="-apple-system"/>
                <a:cs typeface="-apple-system"/>
              </a:rPr>
              <a:t> . I'm pretty impressed with how much functionality is included with this first release of the product!</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I've spent the past few days building a demo for the upcoming IMGIS conference (</a:t>
            </a:r>
            <a:r>
              <a:rPr lang="en-US" b="1">
                <a:solidFill>
                  <a:srgbClr val="0A66C2"/>
                </a:solidFill>
                <a:latin typeface="-apple-system"/>
                <a:ea typeface="-apple-system"/>
                <a:cs typeface="-apple-system"/>
                <a:hlinkClick r:id="rId3"/>
              </a:rPr>
              <a:t>https://lnkd.in/ecZSMU4i</a:t>
            </a:r>
            <a:r>
              <a:rPr lang="en-US">
                <a:latin typeface="-apple-system"/>
                <a:ea typeface="-apple-system"/>
                <a:cs typeface="-apple-system"/>
              </a:rPr>
              <a:t>) and I've been having a lot of fun with it. If you want to see my demo and are going to IMGIS you can either come to the presentation (</a:t>
            </a:r>
            <a:r>
              <a:rPr lang="en-US" b="1">
                <a:solidFill>
                  <a:srgbClr val="0A66C2"/>
                </a:solidFill>
                <a:latin typeface="-apple-system"/>
                <a:ea typeface="-apple-system"/>
                <a:cs typeface="-apple-system"/>
                <a:hlinkClick r:id="rId4"/>
              </a:rPr>
              <a:t>https://lnkd.in/gZWSa5Nb</a:t>
            </a:r>
            <a:r>
              <a:rPr lang="en-US">
                <a:latin typeface="-apple-system"/>
                <a:ea typeface="-apple-system"/>
                <a:cs typeface="-apple-system"/>
              </a:rPr>
              <a:t>) I'm doing with </a:t>
            </a:r>
            <a:r>
              <a:rPr lang="en-US" b="1">
                <a:solidFill>
                  <a:srgbClr val="0A66C2"/>
                </a:solidFill>
                <a:latin typeface="-apple-system"/>
                <a:ea typeface="-apple-system"/>
                <a:cs typeface="-apple-system"/>
                <a:hlinkClick r:id="rId5"/>
              </a:rPr>
              <a:t>Patrick Demer</a:t>
            </a:r>
            <a:r>
              <a:rPr lang="en-US">
                <a:latin typeface="-apple-system"/>
                <a:ea typeface="-apple-system"/>
                <a:cs typeface="-apple-system"/>
              </a:rPr>
              <a:t>, or you can come by the ArcGIS Utility Network booth.</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ArcGIS Web Editor - Utility Network: </a:t>
            </a:r>
            <a:r>
              <a:rPr lang="en-US" b="1">
                <a:solidFill>
                  <a:srgbClr val="0A66C2"/>
                </a:solidFill>
                <a:latin typeface="-apple-system"/>
                <a:ea typeface="-apple-system"/>
                <a:cs typeface="-apple-system"/>
                <a:hlinkClick r:id="rId6"/>
              </a:rPr>
              <a:t>https://lnkd.in/gKMaNxsd</a:t>
            </a:r>
            <a:endParaRPr lang="en-US"/>
          </a:p>
          <a:p>
            <a:pPr algn="ctr"/>
            <a:endParaRPr lang="pt-BR"/>
          </a:p>
        </p:txBody>
      </p:sp>
      <p:pic>
        <p:nvPicPr>
          <p:cNvPr id="5" name="Imagem 4">
            <a:extLst>
              <a:ext uri="{FF2B5EF4-FFF2-40B4-BE49-F238E27FC236}">
                <a16:creationId xmlns:a16="http://schemas.microsoft.com/office/drawing/2014/main" id="{181840E4-DF9D-6E41-522C-82356E3A9AC4}"/>
              </a:ext>
            </a:extLst>
          </p:cNvPr>
          <p:cNvPicPr>
            <a:picLocks noChangeAspect="1"/>
          </p:cNvPicPr>
          <p:nvPr/>
        </p:nvPicPr>
        <p:blipFill>
          <a:blip r:embed="rId7"/>
          <a:stretch>
            <a:fillRect/>
          </a:stretch>
        </p:blipFill>
        <p:spPr>
          <a:xfrm>
            <a:off x="259422" y="1950828"/>
            <a:ext cx="4772025" cy="2151212"/>
          </a:xfrm>
          <a:prstGeom prst="rect">
            <a:avLst/>
          </a:prstGeom>
        </p:spPr>
      </p:pic>
      <p:sp>
        <p:nvSpPr>
          <p:cNvPr id="6" name="CaixaDeTexto 5">
            <a:extLst>
              <a:ext uri="{FF2B5EF4-FFF2-40B4-BE49-F238E27FC236}">
                <a16:creationId xmlns:a16="http://schemas.microsoft.com/office/drawing/2014/main" id="{1E1FA60D-B608-2C89-9B17-05D7A8547B2E}"/>
              </a:ext>
            </a:extLst>
          </p:cNvPr>
          <p:cNvSpPr txBox="1"/>
          <p:nvPr/>
        </p:nvSpPr>
        <p:spPr>
          <a:xfrm>
            <a:off x="402566" y="4334774"/>
            <a:ext cx="4629510" cy="18466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https://www.linkedin.com/posts/robert-krisher-5a989438_arcgis-web-editor-utility-network-tools-activity-7242892825753747456-qGq3?utm_source=share&amp;utm_medium=member_desktop&amp;rcm=ACoAAAMQtAUB5UouXqdBJgo_gWpNVZ7Imay_2Tg</a:t>
            </a:r>
            <a:endParaRPr lang="en-US" sz="1600">
              <a:ea typeface="Calibri"/>
              <a:cs typeface="Calibri"/>
            </a:endParaRPr>
          </a:p>
          <a:p>
            <a:pPr algn="ctr"/>
            <a:endParaRPr lang="pt-BR"/>
          </a:p>
        </p:txBody>
      </p:sp>
    </p:spTree>
    <p:extLst>
      <p:ext uri="{BB962C8B-B14F-4D97-AF65-F5344CB8AC3E}">
        <p14:creationId xmlns:p14="http://schemas.microsoft.com/office/powerpoint/2010/main" val="140885233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192F158E-1DDD-6C6C-A742-4C367674D2C2}"/>
              </a:ext>
            </a:extLst>
          </p:cNvPr>
          <p:cNvSpPr txBox="1"/>
          <p:nvPr/>
        </p:nvSpPr>
        <p:spPr>
          <a:xfrm>
            <a:off x="5937849" y="2810774"/>
            <a:ext cx="60960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What do we need as GIS professionals to thrive nowadays? In my latest article I make the case for a balance of skillset, toolset and mindset.</a:t>
            </a:r>
            <a:endParaRPr lang="en-US"/>
          </a:p>
          <a:p>
            <a:pPr algn="ctr"/>
            <a:endParaRPr lang="pt-BR"/>
          </a:p>
        </p:txBody>
      </p:sp>
      <p:pic>
        <p:nvPicPr>
          <p:cNvPr id="5" name="Imagem 4" descr="Diagrama&#10;&#10;O conteúdo gerado por IA pode estar incorreto.">
            <a:extLst>
              <a:ext uri="{FF2B5EF4-FFF2-40B4-BE49-F238E27FC236}">
                <a16:creationId xmlns:a16="http://schemas.microsoft.com/office/drawing/2014/main" id="{CB5240C0-9CA6-9AD4-96A9-2BE795DFBDBE}"/>
              </a:ext>
            </a:extLst>
          </p:cNvPr>
          <p:cNvPicPr>
            <a:picLocks noChangeAspect="1"/>
          </p:cNvPicPr>
          <p:nvPr/>
        </p:nvPicPr>
        <p:blipFill>
          <a:blip r:embed="rId2"/>
          <a:stretch>
            <a:fillRect/>
          </a:stretch>
        </p:blipFill>
        <p:spPr>
          <a:xfrm>
            <a:off x="448573" y="833887"/>
            <a:ext cx="5486400" cy="4471359"/>
          </a:xfrm>
          <a:prstGeom prst="rect">
            <a:avLst/>
          </a:prstGeom>
        </p:spPr>
      </p:pic>
      <p:sp>
        <p:nvSpPr>
          <p:cNvPr id="6" name="CaixaDeTexto 5">
            <a:extLst>
              <a:ext uri="{FF2B5EF4-FFF2-40B4-BE49-F238E27FC236}">
                <a16:creationId xmlns:a16="http://schemas.microsoft.com/office/drawing/2014/main" id="{A41D15D6-5B15-571F-80A2-FE3A86EBE332}"/>
              </a:ext>
            </a:extLst>
          </p:cNvPr>
          <p:cNvSpPr txBox="1"/>
          <p:nvPr/>
        </p:nvSpPr>
        <p:spPr>
          <a:xfrm>
            <a:off x="632604" y="5484962"/>
            <a:ext cx="6096000" cy="13542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https://www.linkedin.com/posts/gisgeek_what-do-we-need-as-gis-professionals-to-thrive-activity-7245383092733952000-Lzzy?utm_source=share&amp;utm_medium=member_desktop&amp;rcm=ACoAAAMQtAUB5UouXqdBJgo_gWpNVZ7Imay_2Tg</a:t>
            </a:r>
            <a:endParaRPr lang="en-US" sz="1600">
              <a:ea typeface="Calibri"/>
              <a:cs typeface="Calibri"/>
            </a:endParaRPr>
          </a:p>
          <a:p>
            <a:pPr algn="ctr"/>
            <a:endParaRPr lang="pt-BR"/>
          </a:p>
        </p:txBody>
      </p:sp>
    </p:spTree>
    <p:extLst>
      <p:ext uri="{BB962C8B-B14F-4D97-AF65-F5344CB8AC3E}">
        <p14:creationId xmlns:p14="http://schemas.microsoft.com/office/powerpoint/2010/main" val="80351029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descr="Não foi fornecido texto alternativo para esta imagem">
            <a:extLst>
              <a:ext uri="{FF2B5EF4-FFF2-40B4-BE49-F238E27FC236}">
                <a16:creationId xmlns:a16="http://schemas.microsoft.com/office/drawing/2014/main" id="{F9453B14-2E77-BF86-0512-20FB3BB62C93}"/>
              </a:ext>
            </a:extLst>
          </p:cNvPr>
          <p:cNvPicPr>
            <a:picLocks noChangeAspect="1"/>
          </p:cNvPicPr>
          <p:nvPr/>
        </p:nvPicPr>
        <p:blipFill>
          <a:blip r:embed="rId2"/>
          <a:stretch>
            <a:fillRect/>
          </a:stretch>
        </p:blipFill>
        <p:spPr>
          <a:xfrm>
            <a:off x="961331" y="388188"/>
            <a:ext cx="3483226" cy="3968152"/>
          </a:xfrm>
          <a:prstGeom prst="rect">
            <a:avLst/>
          </a:prstGeom>
        </p:spPr>
      </p:pic>
      <p:sp>
        <p:nvSpPr>
          <p:cNvPr id="6" name="CaixaDeTexto 5">
            <a:extLst>
              <a:ext uri="{FF2B5EF4-FFF2-40B4-BE49-F238E27FC236}">
                <a16:creationId xmlns:a16="http://schemas.microsoft.com/office/drawing/2014/main" id="{5F8E2B2B-9450-A224-2B9E-AA918DE076B1}"/>
              </a:ext>
            </a:extLst>
          </p:cNvPr>
          <p:cNvSpPr txBox="1"/>
          <p:nvPr/>
        </p:nvSpPr>
        <p:spPr>
          <a:xfrm>
            <a:off x="546340" y="4521679"/>
            <a:ext cx="5276491" cy="252376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https://www.linkedin.com/posts/ahmed-yasser-ezzat_%D9%81%D9%8A-%D9%85%D8%AC%D8%A7%D9%84-%D9%86%D8%B8%D9%85-%D8%A7%D9%84%D9%85%D8%B9%D9%84%D9%88%D9%85%D8%A7%D8%AA-%D8%A7%D9%84%D8%AC%D8%BA%D8%B1%D8%A7%D9%81%D9%8A%D8%A9-gis-%D8%AA%D8%B3%D8%AA%D8%AE%D8%AF%D9%85-activity-7246106720458985473-4-__?utm_source=share&amp;utm_medium=member_desktop&amp;rcm=ACoAAAMQtAUB5UouXqdBJgo_gWpNVZ7Imay_2Tg</a:t>
            </a:r>
          </a:p>
          <a:p>
            <a:pPr algn="ctr"/>
            <a:endParaRPr lang="pt-BR"/>
          </a:p>
        </p:txBody>
      </p:sp>
      <p:pic>
        <p:nvPicPr>
          <p:cNvPr id="7" name="Imagem 6" descr="Texto, Carta&#10;&#10;O conteúdo gerado por IA pode estar incorreto.">
            <a:extLst>
              <a:ext uri="{FF2B5EF4-FFF2-40B4-BE49-F238E27FC236}">
                <a16:creationId xmlns:a16="http://schemas.microsoft.com/office/drawing/2014/main" id="{8119CF0F-73F6-6AF2-DC33-A6F8F35867FC}"/>
              </a:ext>
            </a:extLst>
          </p:cNvPr>
          <p:cNvPicPr>
            <a:picLocks noChangeAspect="1"/>
          </p:cNvPicPr>
          <p:nvPr/>
        </p:nvPicPr>
        <p:blipFill>
          <a:blip r:embed="rId3"/>
          <a:stretch>
            <a:fillRect/>
          </a:stretch>
        </p:blipFill>
        <p:spPr>
          <a:xfrm>
            <a:off x="6366027" y="-5121"/>
            <a:ext cx="5829118" cy="6868242"/>
          </a:xfrm>
          <a:prstGeom prst="rect">
            <a:avLst/>
          </a:prstGeom>
        </p:spPr>
      </p:pic>
    </p:spTree>
    <p:extLst>
      <p:ext uri="{BB962C8B-B14F-4D97-AF65-F5344CB8AC3E}">
        <p14:creationId xmlns:p14="http://schemas.microsoft.com/office/powerpoint/2010/main" val="112121127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59B41039-9241-A97D-17A6-190F61D0DE3E}"/>
              </a:ext>
            </a:extLst>
          </p:cNvPr>
          <p:cNvSpPr txBox="1"/>
          <p:nvPr/>
        </p:nvSpPr>
        <p:spPr>
          <a:xfrm>
            <a:off x="5520906" y="165339"/>
            <a:ext cx="6671094" cy="69865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latin typeface="-apple-system"/>
                <a:ea typeface="-apple-system"/>
                <a:cs typeface="-apple-system"/>
              </a:rPr>
              <a:t>⚖️ I have talked a lot about modern GIS and decided to update my comparison chart. Here are the key new developments in GIS over the last three years:</a:t>
            </a:r>
            <a:br>
              <a:rPr lang="en-US" sz="1400">
                <a:latin typeface="-apple-system"/>
                <a:ea typeface="-apple-system"/>
                <a:cs typeface="-apple-system"/>
              </a:rPr>
            </a:br>
            <a:br>
              <a:rPr lang="en-US" sz="1400">
                <a:latin typeface="-apple-system"/>
                <a:ea typeface="-apple-system"/>
                <a:cs typeface="-apple-system"/>
              </a:rPr>
            </a:br>
            <a:r>
              <a:rPr lang="en-US" sz="1400">
                <a:latin typeface="-apple-system"/>
                <a:ea typeface="-apple-system"/>
                <a:cs typeface="-apple-system"/>
              </a:rPr>
              <a:t>☁️ The rapid adoption of cloud platforms has allowed GIS professionals to store, process, and analyze large-scale spatial data efficiently. Modern GIS now seamlessly integrates with cloud services like AWS, Google Cloud, and Azure for on-demand scalability.</a:t>
            </a:r>
            <a:br>
              <a:rPr lang="en-US" sz="1400">
                <a:latin typeface="-apple-system"/>
                <a:ea typeface="-apple-system"/>
                <a:cs typeface="-apple-system"/>
              </a:rPr>
            </a:br>
            <a:br>
              <a:rPr lang="en-US" sz="1400">
                <a:latin typeface="-apple-system"/>
                <a:ea typeface="-apple-system"/>
                <a:cs typeface="-apple-system"/>
              </a:rPr>
            </a:br>
            <a:r>
              <a:rPr lang="en-US" sz="1400">
                <a:latin typeface="-apple-system"/>
                <a:ea typeface="-apple-system"/>
                <a:cs typeface="-apple-system"/>
              </a:rPr>
              <a:t>🔓 The emergence of open data formats like </a:t>
            </a:r>
            <a:r>
              <a:rPr lang="en-US" sz="1400" err="1">
                <a:latin typeface="-apple-system"/>
                <a:ea typeface="-apple-system"/>
                <a:cs typeface="-apple-system"/>
              </a:rPr>
              <a:t>GeoParquet</a:t>
            </a:r>
            <a:r>
              <a:rPr lang="en-US" sz="1400">
                <a:latin typeface="-apple-system"/>
                <a:ea typeface="-apple-system"/>
                <a:cs typeface="-apple-system"/>
              </a:rPr>
              <a:t> and COG (Cloud-Optimized </a:t>
            </a:r>
            <a:r>
              <a:rPr lang="en-US" sz="1400" err="1">
                <a:latin typeface="-apple-system"/>
                <a:ea typeface="-apple-system"/>
                <a:cs typeface="-apple-system"/>
              </a:rPr>
              <a:t>GeoTIFF</a:t>
            </a:r>
            <a:r>
              <a:rPr lang="en-US" sz="1400">
                <a:latin typeface="-apple-system"/>
                <a:ea typeface="-apple-system"/>
                <a:cs typeface="-apple-system"/>
              </a:rPr>
              <a:t>) has improved data sharing and interoperability, moving away from the limitations of traditional proprietary formats.</a:t>
            </a:r>
            <a:br>
              <a:rPr lang="en-US" sz="1400">
                <a:latin typeface="-apple-system"/>
                <a:ea typeface="-apple-system"/>
                <a:cs typeface="-apple-system"/>
              </a:rPr>
            </a:br>
            <a:br>
              <a:rPr lang="en-US" sz="1400">
                <a:latin typeface="-apple-system"/>
                <a:ea typeface="-apple-system"/>
                <a:cs typeface="-apple-system"/>
              </a:rPr>
            </a:br>
            <a:r>
              <a:rPr lang="en-US" sz="1400">
                <a:latin typeface="-apple-system"/>
                <a:ea typeface="-apple-system"/>
                <a:cs typeface="-apple-system"/>
              </a:rPr>
              <a:t>🕒 Integration with real-time data sources, including IoT devices, APIs, and Kafka streams, has transformed GIS from retrospective analysis to dynamic, real-time decision-making, especially in logistics, smart cities, and environmental monitoring.</a:t>
            </a:r>
            <a:br>
              <a:rPr lang="en-US" sz="1400">
                <a:latin typeface="-apple-system"/>
                <a:ea typeface="-apple-system"/>
                <a:cs typeface="-apple-system"/>
              </a:rPr>
            </a:br>
            <a:br>
              <a:rPr lang="en-US" sz="1400">
                <a:latin typeface="-apple-system"/>
                <a:ea typeface="-apple-system"/>
                <a:cs typeface="-apple-system"/>
              </a:rPr>
            </a:br>
            <a:r>
              <a:rPr lang="en-US" sz="1400">
                <a:latin typeface="-apple-system"/>
                <a:ea typeface="-apple-system"/>
                <a:cs typeface="-apple-system"/>
              </a:rPr>
              <a:t>🤝 The rise of open-source GIS tools (e.g., </a:t>
            </a:r>
            <a:r>
              <a:rPr lang="en-US" sz="1400" err="1">
                <a:latin typeface="-apple-system"/>
                <a:ea typeface="-apple-system"/>
                <a:cs typeface="-apple-system"/>
              </a:rPr>
              <a:t>GeoPandas</a:t>
            </a:r>
            <a:r>
              <a:rPr lang="en-US" sz="1400">
                <a:latin typeface="-apple-system"/>
                <a:ea typeface="-apple-system"/>
                <a:cs typeface="-apple-system"/>
              </a:rPr>
              <a:t>, </a:t>
            </a:r>
            <a:r>
              <a:rPr lang="en-US" sz="1400" err="1">
                <a:latin typeface="-apple-system"/>
                <a:ea typeface="-apple-system"/>
                <a:cs typeface="-apple-system"/>
              </a:rPr>
              <a:t>PostGIS</a:t>
            </a:r>
            <a:r>
              <a:rPr lang="en-US" sz="1400">
                <a:latin typeface="-apple-system"/>
                <a:ea typeface="-apple-system"/>
                <a:cs typeface="-apple-system"/>
              </a:rPr>
              <a:t>) and cloud-based collaboration has democratized access to spatial data processing, allowing for multi-user, version-controlled workflows.</a:t>
            </a:r>
            <a:br>
              <a:rPr lang="en-US" sz="1400">
                <a:latin typeface="-apple-system"/>
                <a:ea typeface="-apple-system"/>
                <a:cs typeface="-apple-system"/>
              </a:rPr>
            </a:br>
            <a:br>
              <a:rPr lang="en-US" sz="1400">
                <a:latin typeface="-apple-system"/>
                <a:ea typeface="-apple-system"/>
                <a:cs typeface="-apple-system"/>
              </a:rPr>
            </a:br>
            <a:r>
              <a:rPr lang="en-US" sz="1400">
                <a:latin typeface="-apple-system"/>
                <a:ea typeface="-apple-system"/>
                <a:cs typeface="-apple-system"/>
              </a:rPr>
              <a:t>💻 New GIS platforms now offer low-code/no-code solutions, simplifying spatial data analysis and visualization for non-developers, expanding GIS use cases across various industries.</a:t>
            </a:r>
            <a:br>
              <a:rPr lang="en-US" sz="1400">
                <a:latin typeface="-apple-system"/>
                <a:ea typeface="-apple-system"/>
                <a:cs typeface="-apple-system"/>
              </a:rPr>
            </a:br>
            <a:br>
              <a:rPr lang="en-US" sz="1400">
                <a:latin typeface="-apple-system"/>
                <a:ea typeface="-apple-system"/>
                <a:cs typeface="-apple-system"/>
              </a:rPr>
            </a:br>
            <a:r>
              <a:rPr lang="en-US" sz="1400">
                <a:latin typeface="-apple-system"/>
                <a:ea typeface="-apple-system"/>
                <a:cs typeface="-apple-system"/>
              </a:rPr>
              <a:t>💡 Enhanced support for SQL-based querying and Python libraries (e.g., </a:t>
            </a:r>
            <a:r>
              <a:rPr lang="en-US" sz="1400" err="1">
                <a:latin typeface="-apple-system"/>
                <a:ea typeface="-apple-system"/>
                <a:cs typeface="-apple-system"/>
              </a:rPr>
              <a:t>GeoPandas</a:t>
            </a:r>
            <a:r>
              <a:rPr lang="en-US" sz="1400">
                <a:latin typeface="-apple-system"/>
                <a:ea typeface="-apple-system"/>
                <a:cs typeface="-apple-system"/>
              </a:rPr>
              <a:t>, Apache Sedona) in modern GIS tools has streamlined data integration, making it easier to connect diverse datasets for analysis and visualization.</a:t>
            </a:r>
            <a:br>
              <a:rPr lang="en-US" sz="1400">
                <a:latin typeface="-apple-system"/>
                <a:ea typeface="-apple-system"/>
                <a:cs typeface="-apple-system"/>
              </a:rPr>
            </a:br>
            <a:br>
              <a:rPr lang="en-US" sz="1400">
                <a:latin typeface="-apple-system"/>
                <a:ea typeface="-apple-system"/>
                <a:cs typeface="-apple-system"/>
              </a:rPr>
            </a:br>
            <a:r>
              <a:rPr lang="en-US" sz="1400">
                <a:latin typeface="-apple-system"/>
                <a:ea typeface="-apple-system"/>
                <a:cs typeface="-apple-system"/>
              </a:rPr>
              <a:t>📈 The implementation of distributed processing with cloud-based architectures, including serverless functions and containerization, enables handling of large geospatial datasets more efficiently than ever.</a:t>
            </a:r>
            <a:endParaRPr lang="en-US" sz="1400">
              <a:ea typeface="Calibri"/>
              <a:cs typeface="Calibri"/>
            </a:endParaRPr>
          </a:p>
          <a:p>
            <a:pPr algn="ctr"/>
            <a:endParaRPr lang="pt-BR" sz="1400">
              <a:ea typeface="Calibri"/>
              <a:cs typeface="Calibri"/>
            </a:endParaRPr>
          </a:p>
        </p:txBody>
      </p:sp>
      <p:pic>
        <p:nvPicPr>
          <p:cNvPr id="5" name="Imagem 4" descr="Não foi fornecido texto alternativo para esta imagem">
            <a:extLst>
              <a:ext uri="{FF2B5EF4-FFF2-40B4-BE49-F238E27FC236}">
                <a16:creationId xmlns:a16="http://schemas.microsoft.com/office/drawing/2014/main" id="{A126E331-E42D-E530-9121-1884CBA7A6B4}"/>
              </a:ext>
            </a:extLst>
          </p:cNvPr>
          <p:cNvPicPr>
            <a:picLocks noChangeAspect="1"/>
          </p:cNvPicPr>
          <p:nvPr/>
        </p:nvPicPr>
        <p:blipFill>
          <a:blip r:embed="rId2"/>
          <a:stretch>
            <a:fillRect/>
          </a:stretch>
        </p:blipFill>
        <p:spPr>
          <a:xfrm>
            <a:off x="1055905" y="158151"/>
            <a:ext cx="3524115" cy="5103963"/>
          </a:xfrm>
          <a:prstGeom prst="rect">
            <a:avLst/>
          </a:prstGeom>
        </p:spPr>
      </p:pic>
      <p:sp>
        <p:nvSpPr>
          <p:cNvPr id="6" name="CaixaDeTexto 5">
            <a:extLst>
              <a:ext uri="{FF2B5EF4-FFF2-40B4-BE49-F238E27FC236}">
                <a16:creationId xmlns:a16="http://schemas.microsoft.com/office/drawing/2014/main" id="{91FF6263-2CD6-3F9A-FC31-7B193B37E12C}"/>
              </a:ext>
            </a:extLst>
          </p:cNvPr>
          <p:cNvSpPr txBox="1"/>
          <p:nvPr/>
        </p:nvSpPr>
        <p:spPr>
          <a:xfrm>
            <a:off x="301925" y="5456208"/>
            <a:ext cx="5218982" cy="12311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https://www.linkedin.com/posts/mbforr_gis-moderngis-geospatial-activity-7247270856039493632-4ybB?utm_source=share&amp;utm_medium=member_desktop&amp;rcm=ACoAAAMQtAUB5UouXqdBJgo_gWpNVZ7Imay_2Tg</a:t>
            </a:r>
          </a:p>
          <a:p>
            <a:pPr algn="ctr"/>
            <a:endParaRPr lang="pt-BR"/>
          </a:p>
        </p:txBody>
      </p:sp>
    </p:spTree>
    <p:extLst>
      <p:ext uri="{BB962C8B-B14F-4D97-AF65-F5344CB8AC3E}">
        <p14:creationId xmlns:p14="http://schemas.microsoft.com/office/powerpoint/2010/main" val="247137195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1B828431-5144-BC4F-1C24-E290300E8800}"/>
              </a:ext>
            </a:extLst>
          </p:cNvPr>
          <p:cNvSpPr txBox="1"/>
          <p:nvPr/>
        </p:nvSpPr>
        <p:spPr>
          <a:xfrm>
            <a:off x="5218982" y="-7188"/>
            <a:ext cx="6829245" cy="69865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apple-system"/>
                <a:ea typeface="-apple-system"/>
                <a:cs typeface="-apple-system"/>
              </a:rPr>
              <a:t>Da </a:t>
            </a:r>
            <a:r>
              <a:rPr lang="en-US" sz="1600" err="1">
                <a:latin typeface="-apple-system"/>
                <a:ea typeface="-apple-system"/>
                <a:cs typeface="-apple-system"/>
              </a:rPr>
              <a:t>série</a:t>
            </a:r>
            <a:r>
              <a:rPr lang="en-US" sz="1600">
                <a:latin typeface="-apple-system"/>
                <a:ea typeface="-apple-system"/>
                <a:cs typeface="-apple-system"/>
              </a:rPr>
              <a:t>: "</a:t>
            </a:r>
            <a:r>
              <a:rPr lang="en-US" sz="1600" err="1">
                <a:latin typeface="-apple-system"/>
                <a:ea typeface="-apple-system"/>
                <a:cs typeface="-apple-system"/>
              </a:rPr>
              <a:t>Trabalhos</a:t>
            </a:r>
            <a:r>
              <a:rPr lang="en-US" sz="1600">
                <a:latin typeface="-apple-system"/>
                <a:ea typeface="-apple-system"/>
                <a:cs typeface="-apple-system"/>
              </a:rPr>
              <a:t> com imagens de </a:t>
            </a:r>
            <a:r>
              <a:rPr lang="en-US" sz="1600" err="1">
                <a:latin typeface="-apple-system"/>
                <a:ea typeface="-apple-system"/>
                <a:cs typeface="-apple-system"/>
              </a:rPr>
              <a:t>alta</a:t>
            </a:r>
            <a:r>
              <a:rPr lang="en-US" sz="1600">
                <a:latin typeface="-apple-system"/>
                <a:ea typeface="-apple-system"/>
                <a:cs typeface="-apple-system"/>
              </a:rPr>
              <a:t> </a:t>
            </a:r>
            <a:r>
              <a:rPr lang="en-US" sz="1600" err="1">
                <a:latin typeface="-apple-system"/>
                <a:ea typeface="-apple-system"/>
                <a:cs typeface="-apple-system"/>
              </a:rPr>
              <a:t>resolução</a:t>
            </a:r>
            <a:r>
              <a:rPr lang="en-US" sz="1600">
                <a:latin typeface="-apple-system"/>
                <a:ea typeface="-apple-system"/>
                <a:cs typeface="-apple-system"/>
              </a:rPr>
              <a:t> e Deep Learning"</a:t>
            </a:r>
            <a:br>
              <a:rPr lang="en-US" sz="1600">
                <a:latin typeface="-apple-system"/>
                <a:ea typeface="-apple-system"/>
                <a:cs typeface="-apple-system"/>
              </a:rPr>
            </a:br>
            <a:r>
              <a:rPr lang="en-US" sz="1600">
                <a:latin typeface="-apple-system"/>
                <a:ea typeface="-apple-system"/>
                <a:cs typeface="-apple-system"/>
              </a:rPr>
              <a:t>Post: COMO UTILIZAR DEEP LEARNING PARA EXTRAÇÃO DE DADOS EM IMAGENS DO GOOGLE EARTH NO QGIS PARTE 2</a:t>
            </a:r>
            <a:br>
              <a:rPr lang="en-US" sz="1600">
                <a:latin typeface="-apple-system"/>
                <a:ea typeface="-apple-system"/>
                <a:cs typeface="-apple-system"/>
              </a:rPr>
            </a:br>
            <a:br>
              <a:rPr lang="en-US" sz="1600">
                <a:latin typeface="-apple-system"/>
                <a:ea typeface="-apple-system"/>
                <a:cs typeface="-apple-system"/>
              </a:rPr>
            </a:br>
            <a:r>
              <a:rPr lang="en-US" sz="1600">
                <a:latin typeface="-apple-system"/>
                <a:ea typeface="-apple-system"/>
                <a:cs typeface="-apple-system"/>
              </a:rPr>
              <a:t>No Post de </a:t>
            </a:r>
            <a:r>
              <a:rPr lang="en-US" sz="1600" err="1">
                <a:latin typeface="-apple-system"/>
                <a:ea typeface="-apple-system"/>
                <a:cs typeface="-apple-system"/>
              </a:rPr>
              <a:t>hoje</a:t>
            </a:r>
            <a:r>
              <a:rPr lang="en-US" sz="1600">
                <a:latin typeface="-apple-system"/>
                <a:ea typeface="-apple-system"/>
                <a:cs typeface="-apple-system"/>
              </a:rPr>
              <a:t>, </a:t>
            </a:r>
            <a:r>
              <a:rPr lang="en-US" sz="1600" err="1">
                <a:latin typeface="-apple-system"/>
                <a:ea typeface="-apple-system"/>
                <a:cs typeface="-apple-system"/>
              </a:rPr>
              <a:t>continuando</a:t>
            </a:r>
            <a:r>
              <a:rPr lang="en-US" sz="1600">
                <a:latin typeface="-apple-system"/>
                <a:ea typeface="-apple-system"/>
                <a:cs typeface="-apple-system"/>
              </a:rPr>
              <a:t> </a:t>
            </a:r>
            <a:r>
              <a:rPr lang="en-US" sz="1600" err="1">
                <a:latin typeface="-apple-system"/>
                <a:ea typeface="-apple-system"/>
                <a:cs typeface="-apple-system"/>
              </a:rPr>
              <a:t>nosso</a:t>
            </a:r>
            <a:r>
              <a:rPr lang="en-US" sz="1600">
                <a:latin typeface="-apple-system"/>
                <a:ea typeface="-apple-system"/>
                <a:cs typeface="-apple-system"/>
              </a:rPr>
              <a:t> tutorial, </a:t>
            </a:r>
            <a:r>
              <a:rPr lang="en-US" sz="1600" err="1">
                <a:latin typeface="-apple-system"/>
                <a:ea typeface="-apple-system"/>
                <a:cs typeface="-apple-system"/>
              </a:rPr>
              <a:t>mostro</a:t>
            </a:r>
            <a:r>
              <a:rPr lang="en-US" sz="1600">
                <a:latin typeface="-apple-system"/>
                <a:ea typeface="-apple-system"/>
                <a:cs typeface="-apple-system"/>
              </a:rPr>
              <a:t> </a:t>
            </a:r>
            <a:r>
              <a:rPr lang="en-US" sz="1600" err="1">
                <a:latin typeface="-apple-system"/>
                <a:ea typeface="-apple-system"/>
                <a:cs typeface="-apple-system"/>
              </a:rPr>
              <a:t>como</a:t>
            </a:r>
            <a:r>
              <a:rPr lang="en-US" sz="1600">
                <a:latin typeface="-apple-system"/>
                <a:ea typeface="-apple-system"/>
                <a:cs typeface="-apple-system"/>
              </a:rPr>
              <a:t> </a:t>
            </a:r>
            <a:r>
              <a:rPr lang="en-US" sz="1600" err="1">
                <a:latin typeface="-apple-system"/>
                <a:ea typeface="-apple-system"/>
                <a:cs typeface="-apple-system"/>
              </a:rPr>
              <a:t>criar</a:t>
            </a:r>
            <a:r>
              <a:rPr lang="en-US" sz="1600">
                <a:latin typeface="-apple-system"/>
                <a:ea typeface="-apple-system"/>
                <a:cs typeface="-apple-system"/>
              </a:rPr>
              <a:t> </a:t>
            </a:r>
            <a:r>
              <a:rPr lang="en-US" sz="1600" err="1">
                <a:latin typeface="-apple-system"/>
                <a:ea typeface="-apple-system"/>
                <a:cs typeface="-apple-system"/>
              </a:rPr>
              <a:t>uma</a:t>
            </a:r>
            <a:r>
              <a:rPr lang="en-US" sz="1600">
                <a:latin typeface="-apple-system"/>
                <a:ea typeface="-apple-system"/>
                <a:cs typeface="-apple-system"/>
              </a:rPr>
              <a:t> </a:t>
            </a:r>
            <a:r>
              <a:rPr lang="en-US" sz="1600" err="1">
                <a:latin typeface="-apple-system"/>
                <a:ea typeface="-apple-system"/>
                <a:cs typeface="-apple-system"/>
              </a:rPr>
              <a:t>conta</a:t>
            </a:r>
            <a:r>
              <a:rPr lang="en-US" sz="1600">
                <a:latin typeface="-apple-system"/>
                <a:ea typeface="-apple-system"/>
                <a:cs typeface="-apple-system"/>
              </a:rPr>
              <a:t> free no Plugin Map Flow, </a:t>
            </a:r>
            <a:r>
              <a:rPr lang="en-US" sz="1600" err="1">
                <a:latin typeface="-apple-system"/>
                <a:ea typeface="-apple-system"/>
                <a:cs typeface="-apple-system"/>
              </a:rPr>
              <a:t>explorar</a:t>
            </a:r>
            <a:r>
              <a:rPr lang="en-US" sz="1600">
                <a:latin typeface="-apple-system"/>
                <a:ea typeface="-apple-system"/>
                <a:cs typeface="-apple-system"/>
              </a:rPr>
              <a:t> </a:t>
            </a:r>
            <a:r>
              <a:rPr lang="en-US" sz="1600" err="1">
                <a:latin typeface="-apple-system"/>
                <a:ea typeface="-apple-system"/>
                <a:cs typeface="-apple-system"/>
              </a:rPr>
              <a:t>os</a:t>
            </a:r>
            <a:r>
              <a:rPr lang="en-US" sz="1600">
                <a:latin typeface="-apple-system"/>
                <a:ea typeface="-apple-system"/>
                <a:cs typeface="-apple-system"/>
              </a:rPr>
              <a:t> </a:t>
            </a:r>
            <a:r>
              <a:rPr lang="en-US" sz="1600" err="1">
                <a:latin typeface="-apple-system"/>
                <a:ea typeface="-apple-system"/>
                <a:cs typeface="-apple-system"/>
              </a:rPr>
              <a:t>tipos</a:t>
            </a:r>
            <a:r>
              <a:rPr lang="en-US" sz="1600">
                <a:latin typeface="-apple-system"/>
                <a:ea typeface="-apple-system"/>
                <a:cs typeface="-apple-system"/>
              </a:rPr>
              <a:t>, </a:t>
            </a:r>
            <a:r>
              <a:rPr lang="en-US" sz="1600" err="1">
                <a:latin typeface="-apple-system"/>
                <a:ea typeface="-apple-system"/>
                <a:cs typeface="-apple-system"/>
              </a:rPr>
              <a:t>funcionamentos</a:t>
            </a:r>
            <a:r>
              <a:rPr lang="en-US" sz="1600">
                <a:latin typeface="-apple-system"/>
                <a:ea typeface="-apple-system"/>
                <a:cs typeface="-apple-system"/>
              </a:rPr>
              <a:t> e </a:t>
            </a:r>
            <a:r>
              <a:rPr lang="en-US" sz="1600" err="1">
                <a:latin typeface="-apple-system"/>
                <a:ea typeface="-apple-system"/>
                <a:cs typeface="-apple-system"/>
              </a:rPr>
              <a:t>aplicações</a:t>
            </a:r>
            <a:r>
              <a:rPr lang="en-US" sz="1600">
                <a:latin typeface="-apple-system"/>
                <a:ea typeface="-apple-system"/>
                <a:cs typeface="-apple-system"/>
              </a:rPr>
              <a:t> dos </a:t>
            </a:r>
            <a:r>
              <a:rPr lang="en-US" sz="1600" err="1">
                <a:latin typeface="-apple-system"/>
                <a:ea typeface="-apple-system"/>
                <a:cs typeface="-apple-system"/>
              </a:rPr>
              <a:t>modelos</a:t>
            </a:r>
            <a:r>
              <a:rPr lang="en-US" sz="1600">
                <a:latin typeface="-apple-system"/>
                <a:ea typeface="-apple-system"/>
                <a:cs typeface="-apple-system"/>
              </a:rPr>
              <a:t> e </a:t>
            </a:r>
            <a:r>
              <a:rPr lang="en-US" sz="1600" err="1">
                <a:latin typeface="-apple-system"/>
                <a:ea typeface="-apple-system"/>
                <a:cs typeface="-apple-system"/>
              </a:rPr>
              <a:t>processar</a:t>
            </a:r>
            <a:r>
              <a:rPr lang="en-US" sz="1600">
                <a:latin typeface="-apple-system"/>
                <a:ea typeface="-apple-system"/>
                <a:cs typeface="-apple-system"/>
              </a:rPr>
              <a:t> </a:t>
            </a:r>
            <a:r>
              <a:rPr lang="en-US" sz="1600" err="1">
                <a:latin typeface="-apple-system"/>
                <a:ea typeface="-apple-system"/>
                <a:cs typeface="-apple-system"/>
              </a:rPr>
              <a:t>a</a:t>
            </a:r>
            <a:r>
              <a:rPr lang="en-US" sz="1600">
                <a:latin typeface="-apple-system"/>
                <a:ea typeface="-apple-system"/>
                <a:cs typeface="-apple-system"/>
              </a:rPr>
              <a:t> </a:t>
            </a:r>
            <a:r>
              <a:rPr lang="en-US" sz="1600" err="1">
                <a:latin typeface="-apple-system"/>
                <a:ea typeface="-apple-system"/>
                <a:cs typeface="-apple-system"/>
              </a:rPr>
              <a:t>imagem</a:t>
            </a:r>
            <a:r>
              <a:rPr lang="en-US" sz="1600">
                <a:latin typeface="-apple-system"/>
                <a:ea typeface="-apple-system"/>
                <a:cs typeface="-apple-system"/>
              </a:rPr>
              <a:t> </a:t>
            </a:r>
            <a:r>
              <a:rPr lang="en-US" sz="1600" err="1">
                <a:latin typeface="-apple-system"/>
                <a:ea typeface="-apple-system"/>
                <a:cs typeface="-apple-system"/>
              </a:rPr>
              <a:t>extraída</a:t>
            </a:r>
            <a:r>
              <a:rPr lang="en-US" sz="1600">
                <a:latin typeface="-apple-system"/>
                <a:ea typeface="-apple-system"/>
                <a:cs typeface="-apple-system"/>
              </a:rPr>
              <a:t> do Google earth para </a:t>
            </a:r>
            <a:r>
              <a:rPr lang="en-US" sz="1600" err="1">
                <a:latin typeface="-apple-system"/>
                <a:ea typeface="-apple-system"/>
                <a:cs typeface="-apple-system"/>
              </a:rPr>
              <a:t>ver</a:t>
            </a:r>
            <a:r>
              <a:rPr lang="en-US" sz="1600">
                <a:latin typeface="-apple-system"/>
                <a:ea typeface="-apple-system"/>
                <a:cs typeface="-apple-system"/>
              </a:rPr>
              <a:t> </a:t>
            </a:r>
            <a:r>
              <a:rPr lang="en-US" sz="1600" err="1">
                <a:latin typeface="-apple-system"/>
                <a:ea typeface="-apple-system"/>
                <a:cs typeface="-apple-system"/>
              </a:rPr>
              <a:t>como</a:t>
            </a:r>
            <a:r>
              <a:rPr lang="en-US" sz="1600">
                <a:latin typeface="-apple-system"/>
                <a:ea typeface="-apple-system"/>
                <a:cs typeface="-apple-system"/>
              </a:rPr>
              <a:t> se </a:t>
            </a:r>
            <a:r>
              <a:rPr lang="en-US" sz="1600" err="1">
                <a:latin typeface="-apple-system"/>
                <a:ea typeface="-apple-system"/>
                <a:cs typeface="-apple-system"/>
              </a:rPr>
              <a:t>comportam</a:t>
            </a:r>
            <a:r>
              <a:rPr lang="en-US" sz="1600">
                <a:latin typeface="-apple-system"/>
                <a:ea typeface="-apple-system"/>
                <a:cs typeface="-apple-system"/>
              </a:rPr>
              <a:t> </a:t>
            </a:r>
            <a:r>
              <a:rPr lang="en-US" sz="1600" err="1">
                <a:latin typeface="-apple-system"/>
                <a:ea typeface="-apple-system"/>
                <a:cs typeface="-apple-system"/>
              </a:rPr>
              <a:t>os</a:t>
            </a:r>
            <a:r>
              <a:rPr lang="en-US" sz="1600">
                <a:latin typeface="-apple-system"/>
                <a:ea typeface="-apple-system"/>
                <a:cs typeface="-apple-system"/>
              </a:rPr>
              <a:t> </a:t>
            </a:r>
            <a:r>
              <a:rPr lang="en-US" sz="1600" err="1">
                <a:latin typeface="-apple-system"/>
                <a:ea typeface="-apple-system"/>
                <a:cs typeface="-apple-system"/>
              </a:rPr>
              <a:t>modelos</a:t>
            </a:r>
            <a:r>
              <a:rPr lang="en-US" sz="1600">
                <a:latin typeface="-apple-system"/>
                <a:ea typeface="-apple-system"/>
                <a:cs typeface="-apple-system"/>
              </a:rPr>
              <a:t> para </a:t>
            </a:r>
            <a:r>
              <a:rPr lang="en-US" sz="1600" err="1">
                <a:latin typeface="-apple-system"/>
                <a:ea typeface="-apple-system"/>
                <a:cs typeface="-apple-system"/>
              </a:rPr>
              <a:t>detecção</a:t>
            </a:r>
            <a:r>
              <a:rPr lang="en-US" sz="1600">
                <a:latin typeface="-apple-system"/>
                <a:ea typeface="-apple-system"/>
                <a:cs typeface="-apple-system"/>
              </a:rPr>
              <a:t> de </a:t>
            </a:r>
            <a:r>
              <a:rPr lang="en-US" sz="1600" err="1">
                <a:latin typeface="-apple-system"/>
                <a:ea typeface="-apple-system"/>
                <a:cs typeface="-apple-system"/>
              </a:rPr>
              <a:t>construções</a:t>
            </a:r>
            <a:r>
              <a:rPr lang="en-US" sz="1600">
                <a:latin typeface="-apple-system"/>
                <a:ea typeface="-apple-system"/>
                <a:cs typeface="-apple-system"/>
              </a:rPr>
              <a:t>, </a:t>
            </a:r>
            <a:r>
              <a:rPr lang="en-US" sz="1600" err="1">
                <a:latin typeface="-apple-system"/>
                <a:ea typeface="-apple-system"/>
                <a:cs typeface="-apple-system"/>
              </a:rPr>
              <a:t>ruas</a:t>
            </a:r>
            <a:r>
              <a:rPr lang="en-US" sz="1600">
                <a:latin typeface="-apple-system"/>
                <a:ea typeface="-apple-system"/>
                <a:cs typeface="-apple-system"/>
              </a:rPr>
              <a:t> e </a:t>
            </a:r>
            <a:r>
              <a:rPr lang="en-US" sz="1600" err="1">
                <a:latin typeface="-apple-system"/>
                <a:ea typeface="-apple-system"/>
                <a:cs typeface="-apple-system"/>
              </a:rPr>
              <a:t>árvores</a:t>
            </a:r>
            <a:r>
              <a:rPr lang="en-US" sz="1600">
                <a:latin typeface="-apple-system"/>
                <a:ea typeface="-apple-system"/>
                <a:cs typeface="-apple-system"/>
              </a:rPr>
              <a:t>.</a:t>
            </a:r>
            <a:br>
              <a:rPr lang="en-US" sz="1600">
                <a:latin typeface="-apple-system"/>
                <a:ea typeface="-apple-system"/>
                <a:cs typeface="-apple-system"/>
              </a:rPr>
            </a:br>
            <a:br>
              <a:rPr lang="en-US" sz="1600">
                <a:latin typeface="-apple-system"/>
                <a:ea typeface="-apple-system"/>
                <a:cs typeface="-apple-system"/>
              </a:rPr>
            </a:br>
            <a:r>
              <a:rPr lang="en-US" sz="1600">
                <a:latin typeface="-apple-system"/>
                <a:ea typeface="-apple-system"/>
                <a:cs typeface="-apple-system"/>
              </a:rPr>
              <a:t>Se </a:t>
            </a:r>
            <a:r>
              <a:rPr lang="en-US" sz="1600" err="1">
                <a:latin typeface="-apple-system"/>
                <a:ea typeface="-apple-system"/>
                <a:cs typeface="-apple-system"/>
              </a:rPr>
              <a:t>você</a:t>
            </a:r>
            <a:r>
              <a:rPr lang="en-US" sz="1600">
                <a:latin typeface="-apple-system"/>
                <a:ea typeface="-apple-system"/>
                <a:cs typeface="-apple-system"/>
              </a:rPr>
              <a:t> </a:t>
            </a:r>
            <a:r>
              <a:rPr lang="en-US" sz="1600" err="1">
                <a:latin typeface="-apple-system"/>
                <a:ea typeface="-apple-system"/>
                <a:cs typeface="-apple-system"/>
              </a:rPr>
              <a:t>não</a:t>
            </a:r>
            <a:r>
              <a:rPr lang="en-US" sz="1600">
                <a:latin typeface="-apple-system"/>
                <a:ea typeface="-apple-system"/>
                <a:cs typeface="-apple-system"/>
              </a:rPr>
              <a:t> </a:t>
            </a:r>
            <a:r>
              <a:rPr lang="en-US" sz="1600" err="1">
                <a:latin typeface="-apple-system"/>
                <a:ea typeface="-apple-system"/>
                <a:cs typeface="-apple-system"/>
              </a:rPr>
              <a:t>viu</a:t>
            </a:r>
            <a:r>
              <a:rPr lang="en-US" sz="1600">
                <a:latin typeface="-apple-system"/>
                <a:ea typeface="-apple-system"/>
                <a:cs typeface="-apple-system"/>
              </a:rPr>
              <a:t> a </a:t>
            </a:r>
            <a:r>
              <a:rPr lang="en-US" sz="1600" err="1">
                <a:latin typeface="-apple-system"/>
                <a:ea typeface="-apple-system"/>
                <a:cs typeface="-apple-system"/>
              </a:rPr>
              <a:t>primeira</a:t>
            </a:r>
            <a:r>
              <a:rPr lang="en-US" sz="1600">
                <a:latin typeface="-apple-system"/>
                <a:ea typeface="-apple-system"/>
                <a:cs typeface="-apple-system"/>
              </a:rPr>
              <a:t> </a:t>
            </a:r>
            <a:r>
              <a:rPr lang="en-US" sz="1600" err="1">
                <a:latin typeface="-apple-system"/>
                <a:ea typeface="-apple-system"/>
                <a:cs typeface="-apple-system"/>
              </a:rPr>
              <a:t>parte</a:t>
            </a:r>
            <a:r>
              <a:rPr lang="en-US" sz="1600">
                <a:latin typeface="-apple-system"/>
                <a:ea typeface="-apple-system"/>
                <a:cs typeface="-apple-system"/>
              </a:rPr>
              <a:t>, procure </a:t>
            </a:r>
            <a:r>
              <a:rPr lang="en-US" sz="1600" err="1">
                <a:latin typeface="-apple-system"/>
                <a:ea typeface="-apple-system"/>
                <a:cs typeface="-apple-system"/>
              </a:rPr>
              <a:t>nos</a:t>
            </a:r>
            <a:r>
              <a:rPr lang="en-US" sz="1600">
                <a:latin typeface="-apple-system"/>
                <a:ea typeface="-apple-system"/>
                <a:cs typeface="-apple-system"/>
              </a:rPr>
              <a:t> post o video anterior e </a:t>
            </a:r>
            <a:r>
              <a:rPr lang="en-US" sz="1600" err="1">
                <a:latin typeface="-apple-system"/>
                <a:ea typeface="-apple-system"/>
                <a:cs typeface="-apple-system"/>
              </a:rPr>
              <a:t>assiste</a:t>
            </a:r>
            <a:r>
              <a:rPr lang="en-US" sz="1600">
                <a:latin typeface="-apple-system"/>
                <a:ea typeface="-apple-system"/>
                <a:cs typeface="-apple-system"/>
              </a:rPr>
              <a:t> </a:t>
            </a:r>
            <a:r>
              <a:rPr lang="en-US" sz="1600" err="1">
                <a:latin typeface="-apple-system"/>
                <a:ea typeface="-apple-system"/>
                <a:cs typeface="-apple-system"/>
              </a:rPr>
              <a:t>este</a:t>
            </a:r>
            <a:r>
              <a:rPr lang="en-US" sz="1600">
                <a:latin typeface="-apple-system"/>
                <a:ea typeface="-apple-system"/>
                <a:cs typeface="-apple-system"/>
              </a:rPr>
              <a:t> </a:t>
            </a:r>
            <a:r>
              <a:rPr lang="en-US" sz="1600" err="1">
                <a:latin typeface="-apple-system"/>
                <a:ea typeface="-apple-system"/>
                <a:cs typeface="-apple-system"/>
              </a:rPr>
              <a:t>em</a:t>
            </a:r>
            <a:r>
              <a:rPr lang="en-US" sz="1600">
                <a:latin typeface="-apple-system"/>
                <a:ea typeface="-apple-system"/>
                <a:cs typeface="-apple-system"/>
              </a:rPr>
              <a:t> </a:t>
            </a:r>
            <a:r>
              <a:rPr lang="en-US" sz="1600" err="1">
                <a:latin typeface="-apple-system"/>
                <a:ea typeface="-apple-system"/>
                <a:cs typeface="-apple-system"/>
              </a:rPr>
              <a:t>seguida</a:t>
            </a:r>
            <a:br>
              <a:rPr lang="en-US" sz="1600">
                <a:latin typeface="-apple-system"/>
                <a:ea typeface="-apple-system"/>
                <a:cs typeface="-apple-system"/>
              </a:rPr>
            </a:br>
            <a:br>
              <a:rPr lang="en-US" sz="1600">
                <a:latin typeface="-apple-system"/>
                <a:ea typeface="-apple-system"/>
                <a:cs typeface="-apple-system"/>
              </a:rPr>
            </a:br>
            <a:r>
              <a:rPr lang="en-US" sz="1600" err="1">
                <a:latin typeface="-apple-system"/>
                <a:ea typeface="-apple-system"/>
                <a:cs typeface="-apple-system"/>
              </a:rPr>
              <a:t>Comente</a:t>
            </a:r>
            <a:r>
              <a:rPr lang="en-US" sz="1600">
                <a:latin typeface="-apple-system"/>
                <a:ea typeface="-apple-system"/>
                <a:cs typeface="-apple-system"/>
              </a:rPr>
              <a:t> e </a:t>
            </a:r>
            <a:r>
              <a:rPr lang="en-US" sz="1600" err="1">
                <a:latin typeface="-apple-system"/>
                <a:ea typeface="-apple-system"/>
                <a:cs typeface="-apple-system"/>
              </a:rPr>
              <a:t>compartilhe</a:t>
            </a:r>
            <a:br>
              <a:rPr lang="en-US" sz="1600">
                <a:latin typeface="-apple-system"/>
                <a:ea typeface="-apple-system"/>
                <a:cs typeface="-apple-system"/>
              </a:rPr>
            </a:br>
            <a:r>
              <a:rPr lang="en-US" sz="1600">
                <a:latin typeface="-apple-system"/>
                <a:ea typeface="-apple-system"/>
                <a:cs typeface="-apple-system"/>
              </a:rPr>
              <a:t>--------------------------------</a:t>
            </a:r>
            <a:br>
              <a:rPr lang="en-US" sz="1600">
                <a:latin typeface="-apple-system"/>
                <a:ea typeface="-apple-system"/>
                <a:cs typeface="-apple-system"/>
              </a:rPr>
            </a:br>
            <a:r>
              <a:rPr lang="en-US" sz="1600">
                <a:latin typeface="-apple-system"/>
                <a:ea typeface="-apple-system"/>
                <a:cs typeface="-apple-system"/>
              </a:rPr>
              <a:t>HOW TO USE DEEP LEARNING TO EXTRACT DATA FROM GOOGLE EARTH IMAGES IN QGIS PART 2</a:t>
            </a:r>
            <a:br>
              <a:rPr lang="en-US" sz="1600">
                <a:latin typeface="-apple-system"/>
                <a:ea typeface="-apple-system"/>
                <a:cs typeface="-apple-system"/>
              </a:rPr>
            </a:br>
            <a:br>
              <a:rPr lang="en-US" sz="1600">
                <a:latin typeface="-apple-system"/>
                <a:ea typeface="-apple-system"/>
                <a:cs typeface="-apple-system"/>
              </a:rPr>
            </a:br>
            <a:r>
              <a:rPr lang="en-US" sz="1600">
                <a:latin typeface="-apple-system"/>
                <a:ea typeface="-apple-system"/>
                <a:cs typeface="-apple-system"/>
              </a:rPr>
              <a:t>In today's post, continuing our tutorial, I show how to create a free account on the Map Flow Plugin, explore the types, functions and applications of the models and process the image extracted from Google Earth to see how the models behave for detecting buildings, streets and trees.</a:t>
            </a:r>
            <a:br>
              <a:rPr lang="en-US" sz="1600">
                <a:latin typeface="-apple-system"/>
                <a:ea typeface="-apple-system"/>
                <a:cs typeface="-apple-system"/>
              </a:rPr>
            </a:br>
            <a:r>
              <a:rPr lang="en-US" sz="1600">
                <a:latin typeface="-apple-system"/>
                <a:ea typeface="-apple-system"/>
                <a:cs typeface="-apple-system"/>
              </a:rPr>
              <a:t>If you haven't seen the first part, look for the previous video in the post and watch this one next.</a:t>
            </a:r>
            <a:br>
              <a:rPr lang="en-US" sz="1600">
                <a:latin typeface="-apple-system"/>
                <a:ea typeface="-apple-system"/>
                <a:cs typeface="-apple-system"/>
              </a:rPr>
            </a:br>
            <a:br>
              <a:rPr lang="en-US" sz="1600">
                <a:latin typeface="-apple-system"/>
                <a:ea typeface="-apple-system"/>
                <a:cs typeface="-apple-system"/>
              </a:rPr>
            </a:br>
            <a:r>
              <a:rPr lang="en-US" sz="1600">
                <a:latin typeface="-apple-system"/>
                <a:ea typeface="-apple-system"/>
                <a:cs typeface="-apple-system"/>
              </a:rPr>
              <a:t>Comment and share</a:t>
            </a:r>
            <a:br>
              <a:rPr lang="en-US" sz="1600">
                <a:latin typeface="-apple-system"/>
                <a:ea typeface="-apple-system"/>
                <a:cs typeface="-apple-system"/>
              </a:rPr>
            </a:br>
            <a:br>
              <a:rPr lang="en-US" sz="1600">
                <a:latin typeface="-apple-system"/>
                <a:ea typeface="-apple-system"/>
                <a:cs typeface="-apple-system"/>
              </a:rPr>
            </a:br>
            <a:r>
              <a:rPr lang="en-US" sz="1600" b="1">
                <a:solidFill>
                  <a:srgbClr val="0A66C2"/>
                </a:solidFill>
                <a:latin typeface="-apple-system"/>
                <a:ea typeface="-apple-system"/>
                <a:cs typeface="-apple-system"/>
                <a:hlinkClick r:id="rId2"/>
              </a:rPr>
              <a:t>https://lnkd.in/deMtAuRf</a:t>
            </a:r>
            <a:endParaRPr lang="en-US" sz="1600">
              <a:ea typeface="Calibri"/>
              <a:cs typeface="Calibri"/>
            </a:endParaRPr>
          </a:p>
          <a:p>
            <a:pPr algn="ctr"/>
            <a:endParaRPr lang="pt-BR" sz="1600">
              <a:ea typeface="Calibri"/>
              <a:cs typeface="Calibri"/>
            </a:endParaRPr>
          </a:p>
        </p:txBody>
      </p:sp>
      <p:pic>
        <p:nvPicPr>
          <p:cNvPr id="6" name="Imagem 5" descr="Não foi fornecido texto alternativo para esta imagem">
            <a:extLst>
              <a:ext uri="{FF2B5EF4-FFF2-40B4-BE49-F238E27FC236}">
                <a16:creationId xmlns:a16="http://schemas.microsoft.com/office/drawing/2014/main" id="{DC28760F-8B1B-18EF-D9B6-9DE73058D1DD}"/>
              </a:ext>
            </a:extLst>
          </p:cNvPr>
          <p:cNvPicPr>
            <a:picLocks noChangeAspect="1"/>
          </p:cNvPicPr>
          <p:nvPr/>
        </p:nvPicPr>
        <p:blipFill>
          <a:blip r:embed="rId3"/>
          <a:stretch>
            <a:fillRect/>
          </a:stretch>
        </p:blipFill>
        <p:spPr>
          <a:xfrm>
            <a:off x="869000" y="345057"/>
            <a:ext cx="3869172" cy="4083171"/>
          </a:xfrm>
          <a:prstGeom prst="rect">
            <a:avLst/>
          </a:prstGeom>
        </p:spPr>
      </p:pic>
      <p:sp>
        <p:nvSpPr>
          <p:cNvPr id="7" name="CaixaDeTexto 6">
            <a:extLst>
              <a:ext uri="{FF2B5EF4-FFF2-40B4-BE49-F238E27FC236}">
                <a16:creationId xmlns:a16="http://schemas.microsoft.com/office/drawing/2014/main" id="{5299D919-972C-0B0F-86DD-922018A08C52}"/>
              </a:ext>
            </a:extLst>
          </p:cNvPr>
          <p:cNvSpPr txBox="1"/>
          <p:nvPr/>
        </p:nvSpPr>
        <p:spPr>
          <a:xfrm>
            <a:off x="646981" y="4636698"/>
            <a:ext cx="4097548" cy="18466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https://www.linkedin.com/posts/leandrogregoriogeo_googleearth-google-deeplearning-activity-7249011833003462658--bNO?utm_source=share&amp;utm_medium=member_desktop&amp;rcm=ACoAAAMQtAUB5UouXqdBJgo_gWpNVZ7Imay_2Tg</a:t>
            </a:r>
          </a:p>
          <a:p>
            <a:pPr algn="ctr"/>
            <a:endParaRPr lang="pt-BR"/>
          </a:p>
        </p:txBody>
      </p:sp>
    </p:spTree>
    <p:extLst>
      <p:ext uri="{BB962C8B-B14F-4D97-AF65-F5344CB8AC3E}">
        <p14:creationId xmlns:p14="http://schemas.microsoft.com/office/powerpoint/2010/main" val="41338313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5E332FB4-9487-4315-6DCD-6096E9D3DDE0}"/>
              </a:ext>
            </a:extLst>
          </p:cNvPr>
          <p:cNvSpPr txBox="1"/>
          <p:nvPr/>
        </p:nvSpPr>
        <p:spPr>
          <a:xfrm>
            <a:off x="5621547" y="467264"/>
            <a:ext cx="6096000" cy="59093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Adicione o Google Maps no ArcGIS Online</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Você sabia que é possível integrar o Google Maps diretamente no ArcGIS Online 🎯</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Se você trabalha com SIG, esta integração oferece uma excelente oportunidade para explorar novas fontes de dados e melhorar suas análises espaciais.</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🔗Copie a URL e adicione como mosaico para utilizar essa funcionalidade.</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Google Maps : </a:t>
            </a:r>
            <a:r>
              <a:rPr lang="en-US" b="1">
                <a:solidFill>
                  <a:srgbClr val="0A66C2"/>
                </a:solidFill>
                <a:latin typeface="-apple-system"/>
                <a:ea typeface="-apple-system"/>
                <a:cs typeface="-apple-system"/>
                <a:hlinkClick r:id="rId2"/>
              </a:rPr>
              <a:t>https://lnkd.in/dFvgfaE2</a:t>
            </a:r>
            <a:r>
              <a:rPr lang="en-US">
                <a:latin typeface="-apple-system"/>
                <a:ea typeface="-apple-system"/>
                <a:cs typeface="-apple-system"/>
              </a:rPr>
              <a:t> {col}&amp;y={linha}&amp;z={nível}</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Google Satellite : </a:t>
            </a:r>
            <a:r>
              <a:rPr lang="en-US" b="1">
                <a:solidFill>
                  <a:srgbClr val="0A66C2"/>
                </a:solidFill>
                <a:latin typeface="-apple-system"/>
                <a:ea typeface="-apple-system"/>
                <a:cs typeface="-apple-system"/>
                <a:hlinkClick r:id="rId3"/>
              </a:rPr>
              <a:t>https://lnkd.in/dq26DHak</a:t>
            </a:r>
            <a:r>
              <a:rPr lang="en-US">
                <a:latin typeface="-apple-system"/>
                <a:ea typeface="-apple-system"/>
                <a:cs typeface="-apple-system"/>
              </a:rPr>
              <a:t> {col}&amp;y={linha}&amp;z={nível}</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Google Satellite Hybrid : </a:t>
            </a:r>
            <a:r>
              <a:rPr lang="en-US" b="1">
                <a:solidFill>
                  <a:srgbClr val="0A66C2"/>
                </a:solidFill>
                <a:latin typeface="-apple-system"/>
                <a:ea typeface="-apple-system"/>
                <a:cs typeface="-apple-system"/>
                <a:hlinkClick r:id="rId4"/>
              </a:rPr>
              <a:t>https://lnkd.in/dWpTj55V</a:t>
            </a:r>
            <a:r>
              <a:rPr lang="en-US">
                <a:latin typeface="-apple-system"/>
                <a:ea typeface="-apple-system"/>
                <a:cs typeface="-apple-system"/>
              </a:rPr>
              <a:t> {col}&amp;y={linha}&amp;z={nível}</a:t>
            </a:r>
            <a:endParaRPr lang="en-US"/>
          </a:p>
          <a:p>
            <a:pPr algn="ctr"/>
            <a:endParaRPr lang="pt-BR"/>
          </a:p>
        </p:txBody>
      </p:sp>
      <p:pic>
        <p:nvPicPr>
          <p:cNvPr id="5" name="Imagem 4" descr="Interface gráfica do usuário, Mapa&#10;&#10;O conteúdo gerado por IA pode estar incorreto.">
            <a:extLst>
              <a:ext uri="{FF2B5EF4-FFF2-40B4-BE49-F238E27FC236}">
                <a16:creationId xmlns:a16="http://schemas.microsoft.com/office/drawing/2014/main" id="{24C8FC6F-7858-D53E-F92A-C768E112DE18}"/>
              </a:ext>
            </a:extLst>
          </p:cNvPr>
          <p:cNvPicPr>
            <a:picLocks noChangeAspect="1"/>
          </p:cNvPicPr>
          <p:nvPr/>
        </p:nvPicPr>
        <p:blipFill>
          <a:blip r:embed="rId5"/>
          <a:stretch>
            <a:fillRect/>
          </a:stretch>
        </p:blipFill>
        <p:spPr>
          <a:xfrm>
            <a:off x="252951" y="1322268"/>
            <a:ext cx="5374435" cy="3135161"/>
          </a:xfrm>
          <a:prstGeom prst="rect">
            <a:avLst/>
          </a:prstGeom>
        </p:spPr>
      </p:pic>
      <p:sp>
        <p:nvSpPr>
          <p:cNvPr id="6" name="CaixaDeTexto 5">
            <a:extLst>
              <a:ext uri="{FF2B5EF4-FFF2-40B4-BE49-F238E27FC236}">
                <a16:creationId xmlns:a16="http://schemas.microsoft.com/office/drawing/2014/main" id="{2C18A425-DEAC-ADE0-18B5-52B9C6095461}"/>
              </a:ext>
            </a:extLst>
          </p:cNvPr>
          <p:cNvSpPr txBox="1"/>
          <p:nvPr/>
        </p:nvSpPr>
        <p:spPr>
          <a:xfrm>
            <a:off x="704491" y="4622321"/>
            <a:ext cx="3867510"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https://www.linkedin.com/posts/lucas-cabral-analista-geoprocessamento_gis-arcgis-googlemaps-activity-7249830441476644865-7wHJ?utm_source=share&amp;utm_medium=member_desktop&amp;rcm=ACoAAAMQtAUB5UouXqdBJgo_gWpNVZ7Imay_2Tg</a:t>
            </a:r>
          </a:p>
          <a:p>
            <a:pPr algn="ctr"/>
            <a:endParaRPr lang="pt-BR"/>
          </a:p>
        </p:txBody>
      </p:sp>
    </p:spTree>
    <p:extLst>
      <p:ext uri="{BB962C8B-B14F-4D97-AF65-F5344CB8AC3E}">
        <p14:creationId xmlns:p14="http://schemas.microsoft.com/office/powerpoint/2010/main" val="54541434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84DDCA47-559D-C612-91B2-2A449EF13273}"/>
              </a:ext>
            </a:extLst>
          </p:cNvPr>
          <p:cNvSpPr txBox="1"/>
          <p:nvPr/>
        </p:nvSpPr>
        <p:spPr>
          <a:xfrm>
            <a:off x="5779698" y="194094"/>
            <a:ext cx="6096000" cy="66171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latin typeface="-apple-system"/>
                <a:ea typeface="-apple-system"/>
                <a:cs typeface="-apple-system"/>
              </a:rPr>
              <a:t>In Geographic Information Systems (GIS), data is primarily represented in two formats: Vector and Raster. </a:t>
            </a:r>
            <a:br>
              <a:rPr lang="en-US" sz="1400">
                <a:latin typeface="-apple-system"/>
                <a:ea typeface="-apple-system"/>
                <a:cs typeface="-apple-system"/>
              </a:rPr>
            </a:br>
            <a:br>
              <a:rPr lang="en-US" sz="1400">
                <a:latin typeface="-apple-system"/>
                <a:ea typeface="-apple-system"/>
                <a:cs typeface="-apple-system"/>
              </a:rPr>
            </a:br>
            <a:r>
              <a:rPr lang="en-US" sz="1400">
                <a:latin typeface="-apple-system"/>
                <a:ea typeface="-apple-system"/>
                <a:cs typeface="-apple-system"/>
              </a:rPr>
              <a:t>Understanding the differences between these two formats is crucial for choosing the right data structure for various applications. </a:t>
            </a:r>
            <a:br>
              <a:rPr lang="en-US" sz="1400">
                <a:latin typeface="-apple-system"/>
                <a:ea typeface="-apple-system"/>
                <a:cs typeface="-apple-system"/>
              </a:rPr>
            </a:br>
            <a:br>
              <a:rPr lang="en-US" sz="1400">
                <a:latin typeface="-apple-system"/>
                <a:ea typeface="-apple-system"/>
                <a:cs typeface="-apple-system"/>
              </a:rPr>
            </a:br>
            <a:r>
              <a:rPr lang="en-US" sz="1400">
                <a:latin typeface="-apple-system"/>
                <a:ea typeface="-apple-system"/>
                <a:cs typeface="-apple-system"/>
              </a:rPr>
              <a:t>The infographic highlights the key distinctions between vector and raster data to help guide your GIS projects, differentiating the two data types along the issues of: </a:t>
            </a:r>
            <a:br>
              <a:rPr lang="en-US" sz="1400">
                <a:latin typeface="-apple-system"/>
                <a:ea typeface="-apple-system"/>
                <a:cs typeface="-apple-system"/>
              </a:rPr>
            </a:br>
            <a:br>
              <a:rPr lang="en-US" sz="1400">
                <a:latin typeface="-apple-system"/>
                <a:ea typeface="-apple-system"/>
                <a:cs typeface="-apple-system"/>
              </a:rPr>
            </a:br>
            <a:r>
              <a:rPr lang="en-US" sz="1400">
                <a:latin typeface="-apple-system"/>
                <a:ea typeface="-apple-system"/>
                <a:cs typeface="-apple-system"/>
              </a:rPr>
              <a:t>➡️ File Size</a:t>
            </a:r>
            <a:br>
              <a:rPr lang="en-US" sz="1400">
                <a:latin typeface="-apple-system"/>
                <a:ea typeface="-apple-system"/>
                <a:cs typeface="-apple-system"/>
              </a:rPr>
            </a:br>
            <a:r>
              <a:rPr lang="en-US" sz="1400">
                <a:latin typeface="-apple-system"/>
                <a:ea typeface="-apple-system"/>
                <a:cs typeface="-apple-system"/>
              </a:rPr>
              <a:t>➡️ Rendering</a:t>
            </a:r>
            <a:br>
              <a:rPr lang="en-US" sz="1400">
                <a:latin typeface="-apple-system"/>
                <a:ea typeface="-apple-system"/>
                <a:cs typeface="-apple-system"/>
              </a:rPr>
            </a:br>
            <a:r>
              <a:rPr lang="en-US" sz="1400">
                <a:latin typeface="-apple-system"/>
                <a:ea typeface="-apple-system"/>
                <a:cs typeface="-apple-system"/>
              </a:rPr>
              <a:t>➡️ Scalability</a:t>
            </a:r>
            <a:br>
              <a:rPr lang="en-US" sz="1400">
                <a:latin typeface="-apple-system"/>
                <a:ea typeface="-apple-system"/>
                <a:cs typeface="-apple-system"/>
              </a:rPr>
            </a:br>
            <a:r>
              <a:rPr lang="en-US" sz="1400">
                <a:latin typeface="-apple-system"/>
                <a:ea typeface="-apple-system"/>
                <a:cs typeface="-apple-system"/>
              </a:rPr>
              <a:t>➡️ Data Attributes</a:t>
            </a:r>
            <a:br>
              <a:rPr lang="en-US" sz="1400">
                <a:latin typeface="-apple-system"/>
                <a:ea typeface="-apple-system"/>
                <a:cs typeface="-apple-system"/>
              </a:rPr>
            </a:br>
            <a:r>
              <a:rPr lang="en-US" sz="1400">
                <a:latin typeface="-apple-system"/>
                <a:ea typeface="-apple-system"/>
                <a:cs typeface="-apple-system"/>
              </a:rPr>
              <a:t>➡️ Best Use Cases</a:t>
            </a:r>
            <a:br>
              <a:rPr lang="en-US" sz="1400">
                <a:latin typeface="-apple-system"/>
                <a:ea typeface="-apple-system"/>
                <a:cs typeface="-apple-system"/>
              </a:rPr>
            </a:br>
            <a:r>
              <a:rPr lang="en-US" sz="1400">
                <a:latin typeface="-apple-system"/>
                <a:ea typeface="-apple-system"/>
                <a:cs typeface="-apple-system"/>
              </a:rPr>
              <a:t>➡️ Storage Formats</a:t>
            </a:r>
            <a:br>
              <a:rPr lang="en-US" sz="1400">
                <a:latin typeface="-apple-system"/>
                <a:ea typeface="-apple-system"/>
                <a:cs typeface="-apple-system"/>
              </a:rPr>
            </a:br>
            <a:r>
              <a:rPr lang="en-US" sz="1400">
                <a:latin typeface="-apple-system"/>
                <a:ea typeface="-apple-system"/>
                <a:cs typeface="-apple-system"/>
              </a:rPr>
              <a:t>➡️ Software Processing</a:t>
            </a:r>
            <a:br>
              <a:rPr lang="en-US" sz="1400">
                <a:latin typeface="-apple-system"/>
                <a:ea typeface="-apple-system"/>
                <a:cs typeface="-apple-system"/>
              </a:rPr>
            </a:br>
            <a:r>
              <a:rPr lang="en-US" sz="1400">
                <a:latin typeface="-apple-system"/>
                <a:ea typeface="-apple-system"/>
                <a:cs typeface="-apple-system"/>
              </a:rPr>
              <a:t>➡️ Data Representation</a:t>
            </a:r>
            <a:br>
              <a:rPr lang="en-US" sz="1400">
                <a:latin typeface="-apple-system"/>
                <a:ea typeface="-apple-system"/>
                <a:cs typeface="-apple-system"/>
              </a:rPr>
            </a:br>
            <a:r>
              <a:rPr lang="en-US" sz="1400">
                <a:latin typeface="-apple-system"/>
                <a:ea typeface="-apple-system"/>
                <a:cs typeface="-apple-system"/>
              </a:rPr>
              <a:t>➡️ Coordinate Precision</a:t>
            </a:r>
            <a:br>
              <a:rPr lang="en-US" sz="1400">
                <a:latin typeface="-apple-system"/>
                <a:ea typeface="-apple-system"/>
                <a:cs typeface="-apple-system"/>
              </a:rPr>
            </a:br>
            <a:r>
              <a:rPr lang="en-US" sz="1400">
                <a:latin typeface="-apple-system"/>
                <a:ea typeface="-apple-system"/>
                <a:cs typeface="-apple-system"/>
              </a:rPr>
              <a:t>➡️ Analysis Applications</a:t>
            </a:r>
            <a:br>
              <a:rPr lang="en-US" sz="1400">
                <a:latin typeface="-apple-system"/>
                <a:ea typeface="-apple-system"/>
                <a:cs typeface="-apple-system"/>
              </a:rPr>
            </a:br>
            <a:br>
              <a:rPr lang="en-US" sz="1400">
                <a:latin typeface="-apple-system"/>
                <a:ea typeface="-apple-system"/>
                <a:cs typeface="-apple-system"/>
              </a:rPr>
            </a:br>
            <a:r>
              <a:rPr lang="en-US" sz="1400">
                <a:latin typeface="-apple-system"/>
                <a:ea typeface="-apple-system"/>
                <a:cs typeface="-apple-system"/>
              </a:rPr>
              <a:t>Both vector and raster data play important roles in GIS. Vector data excels in representing discrete features with high precision, while raster data is ideal for modeling continuous phenomena. </a:t>
            </a:r>
            <a:br>
              <a:rPr lang="en-US" sz="1400">
                <a:latin typeface="-apple-system"/>
                <a:ea typeface="-apple-system"/>
                <a:cs typeface="-apple-system"/>
              </a:rPr>
            </a:br>
            <a:br>
              <a:rPr lang="en-US" sz="1400">
                <a:latin typeface="-apple-system"/>
                <a:ea typeface="-apple-system"/>
                <a:cs typeface="-apple-system"/>
              </a:rPr>
            </a:br>
            <a:r>
              <a:rPr lang="en-US" sz="1400">
                <a:latin typeface="-apple-system"/>
                <a:ea typeface="-apple-system"/>
                <a:cs typeface="-apple-system"/>
              </a:rPr>
              <a:t>Knowing when to use each type can significantly improve your GIS analysis and decision-making.</a:t>
            </a:r>
            <a:br>
              <a:rPr lang="en-US" sz="1400">
                <a:latin typeface="-apple-system"/>
                <a:ea typeface="-apple-system"/>
                <a:cs typeface="-apple-system"/>
              </a:rPr>
            </a:br>
            <a:br>
              <a:rPr lang="en-US" sz="1400">
                <a:latin typeface="-apple-system"/>
                <a:ea typeface="-apple-system"/>
                <a:cs typeface="-apple-system"/>
              </a:rPr>
            </a:br>
            <a:r>
              <a:rPr lang="en-US" sz="1400">
                <a:latin typeface="-apple-system"/>
                <a:ea typeface="-apple-system"/>
                <a:cs typeface="-apple-system"/>
              </a:rPr>
              <a:t>If you find this post insightful, kindly consider reposting.</a:t>
            </a:r>
            <a:endParaRPr lang="en-US" sz="1400"/>
          </a:p>
          <a:p>
            <a:pPr algn="ctr"/>
            <a:endParaRPr lang="pt-BR"/>
          </a:p>
        </p:txBody>
      </p:sp>
      <p:pic>
        <p:nvPicPr>
          <p:cNvPr id="5" name="Imagem 4" descr="Não foi fornecido texto alternativo para esta imagem">
            <a:extLst>
              <a:ext uri="{FF2B5EF4-FFF2-40B4-BE49-F238E27FC236}">
                <a16:creationId xmlns:a16="http://schemas.microsoft.com/office/drawing/2014/main" id="{3D4B588B-7910-7BA2-353D-1687AFA6E67B}"/>
              </a:ext>
            </a:extLst>
          </p:cNvPr>
          <p:cNvPicPr>
            <a:picLocks noChangeAspect="1"/>
          </p:cNvPicPr>
          <p:nvPr/>
        </p:nvPicPr>
        <p:blipFill>
          <a:blip r:embed="rId2"/>
          <a:stretch>
            <a:fillRect/>
          </a:stretch>
        </p:blipFill>
        <p:spPr>
          <a:xfrm>
            <a:off x="1283000" y="472566"/>
            <a:ext cx="3530001" cy="4547019"/>
          </a:xfrm>
          <a:prstGeom prst="rect">
            <a:avLst/>
          </a:prstGeom>
        </p:spPr>
      </p:pic>
      <p:sp>
        <p:nvSpPr>
          <p:cNvPr id="6" name="CaixaDeTexto 5">
            <a:extLst>
              <a:ext uri="{FF2B5EF4-FFF2-40B4-BE49-F238E27FC236}">
                <a16:creationId xmlns:a16="http://schemas.microsoft.com/office/drawing/2014/main" id="{41CCD1E2-4D8C-81BF-6BC2-437CDEB71A0E}"/>
              </a:ext>
            </a:extLst>
          </p:cNvPr>
          <p:cNvSpPr txBox="1"/>
          <p:nvPr/>
        </p:nvSpPr>
        <p:spPr>
          <a:xfrm>
            <a:off x="661358" y="5111151"/>
            <a:ext cx="5118340" cy="18466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https://www.linkedin.com/posts/mashford-mahute-012487178_gis-qgis-arcgispro-activity-7250429389731991552-chQW?utm_source=share&amp;utm_medium=member_desktop&amp;rcm=ACoAAAMQtAUB5UouXqdBJgo_gWpNVZ7Imay_2Tg</a:t>
            </a:r>
          </a:p>
          <a:p>
            <a:pPr algn="ctr"/>
            <a:endParaRPr lang="pt-BR"/>
          </a:p>
        </p:txBody>
      </p:sp>
    </p:spTree>
    <p:extLst>
      <p:ext uri="{BB962C8B-B14F-4D97-AF65-F5344CB8AC3E}">
        <p14:creationId xmlns:p14="http://schemas.microsoft.com/office/powerpoint/2010/main" val="123151545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5EF1E339-8C48-1861-810E-632B9FED4FD0}"/>
              </a:ext>
            </a:extLst>
          </p:cNvPr>
          <p:cNvSpPr txBox="1"/>
          <p:nvPr/>
        </p:nvSpPr>
        <p:spPr>
          <a:xfrm>
            <a:off x="4658266" y="237226"/>
            <a:ext cx="7533735" cy="66171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latin typeface="-apple-system"/>
                <a:ea typeface="-apple-system"/>
                <a:cs typeface="-apple-system"/>
              </a:rPr>
              <a:t>𝐃𝐞𝐞𝐩 𝐋𝐞𝐚𝐫𝐧𝐢𝐧𝐠 𝐢𝐧 𝐐𝐆𝐈𝐒</a:t>
            </a:r>
            <a:br>
              <a:rPr lang="en-US" sz="1400">
                <a:latin typeface="-apple-system"/>
                <a:ea typeface="-apple-system"/>
                <a:cs typeface="-apple-system"/>
              </a:rPr>
            </a:br>
            <a:r>
              <a:rPr lang="en-US" sz="1400">
                <a:latin typeface="-apple-system"/>
                <a:ea typeface="-apple-system"/>
                <a:cs typeface="-apple-system"/>
              </a:rPr>
              <a:t>𝐃𝐞𝐞𝐩𝐧𝐞𝐬𝐬: 𝐃𝐞𝐞𝐩 𝐍𝐞𝐮𝐫𝐚𝐥 𝐑𝐞𝐦𝐨𝐭𝐞 𝐒𝐞𝐧𝐬𝐢𝐧𝐠 : </a:t>
            </a:r>
            <a:br>
              <a:rPr lang="en-US" sz="1400">
                <a:latin typeface="-apple-system"/>
                <a:ea typeface="-apple-system"/>
                <a:cs typeface="-apple-system"/>
              </a:rPr>
            </a:br>
            <a:r>
              <a:rPr lang="en-US" sz="1400">
                <a:latin typeface="-apple-system"/>
                <a:ea typeface="-apple-system"/>
                <a:cs typeface="-apple-system"/>
              </a:rPr>
              <a:t>Inference of deep neural network models (ONNX) for segmentation, detection and regression</a:t>
            </a:r>
            <a:br>
              <a:rPr lang="en-US" sz="1400">
                <a:latin typeface="-apple-system"/>
                <a:ea typeface="-apple-system"/>
                <a:cs typeface="-apple-system"/>
              </a:rPr>
            </a:br>
            <a:r>
              <a:rPr lang="en-US" sz="1400">
                <a:latin typeface="-apple-system"/>
                <a:ea typeface="-apple-system"/>
                <a:cs typeface="-apple-system"/>
              </a:rPr>
              <a:t>Deepness plugin allows to easily perform segmentation, detection and regression on raster </a:t>
            </a:r>
            <a:r>
              <a:rPr lang="en-US" sz="1400" err="1">
                <a:latin typeface="-apple-system"/>
                <a:ea typeface="-apple-system"/>
                <a:cs typeface="-apple-system"/>
              </a:rPr>
              <a:t>ortophotos</a:t>
            </a:r>
            <a:r>
              <a:rPr lang="en-US" sz="1400">
                <a:latin typeface="-apple-system"/>
                <a:ea typeface="-apple-system"/>
                <a:cs typeface="-apple-system"/>
              </a:rPr>
              <a:t> with custom ONNX Neural Network models, bringing the power of deep learning to casual users.</a:t>
            </a:r>
            <a:br>
              <a:rPr lang="en-US" sz="1400">
                <a:latin typeface="-apple-system"/>
                <a:ea typeface="-apple-system"/>
                <a:cs typeface="-apple-system"/>
              </a:rPr>
            </a:br>
            <a:r>
              <a:rPr lang="en-US" sz="1400">
                <a:latin typeface="-apple-system"/>
                <a:ea typeface="-apple-system"/>
                <a:cs typeface="-apple-system"/>
              </a:rPr>
              <a:t>Features highlights:</a:t>
            </a:r>
            <a:br>
              <a:rPr lang="en-US" sz="1400">
                <a:latin typeface="-apple-system"/>
                <a:ea typeface="-apple-system"/>
                <a:cs typeface="-apple-system"/>
              </a:rPr>
            </a:br>
            <a:r>
              <a:rPr lang="en-US" sz="1400">
                <a:latin typeface="-apple-system"/>
                <a:ea typeface="-apple-system"/>
                <a:cs typeface="-apple-system"/>
              </a:rPr>
              <a:t>- processing any raster layer (custom </a:t>
            </a:r>
            <a:r>
              <a:rPr lang="en-US" sz="1400" err="1">
                <a:latin typeface="-apple-system"/>
                <a:ea typeface="-apple-system"/>
                <a:cs typeface="-apple-system"/>
              </a:rPr>
              <a:t>ortophoto</a:t>
            </a:r>
            <a:r>
              <a:rPr lang="en-US" sz="1400">
                <a:latin typeface="-apple-system"/>
                <a:ea typeface="-apple-system"/>
                <a:cs typeface="-apple-system"/>
              </a:rPr>
              <a:t> from file or layers from online providers, </a:t>
            </a:r>
            <a:r>
              <a:rPr lang="en-US" sz="1400" err="1">
                <a:latin typeface="-apple-system"/>
                <a:ea typeface="-apple-system"/>
                <a:cs typeface="-apple-system"/>
              </a:rPr>
              <a:t>e.g</a:t>
            </a:r>
            <a:r>
              <a:rPr lang="en-US" sz="1400">
                <a:latin typeface="-apple-system"/>
                <a:ea typeface="-apple-system"/>
                <a:cs typeface="-apple-system"/>
              </a:rPr>
              <a:t> Google Satellite)</a:t>
            </a:r>
            <a:br>
              <a:rPr lang="en-US" sz="1400">
                <a:latin typeface="-apple-system"/>
                <a:ea typeface="-apple-system"/>
                <a:cs typeface="-apple-system"/>
              </a:rPr>
            </a:br>
            <a:r>
              <a:rPr lang="en-US" sz="1400">
                <a:latin typeface="-apple-system"/>
                <a:ea typeface="-apple-system"/>
                <a:cs typeface="-apple-system"/>
              </a:rPr>
              <a:t>- limiting processing range to predefined area (visible part or area defined by vector layer polygons)</a:t>
            </a:r>
            <a:br>
              <a:rPr lang="en-US" sz="1400">
                <a:latin typeface="-apple-system"/>
                <a:ea typeface="-apple-system"/>
                <a:cs typeface="-apple-system"/>
              </a:rPr>
            </a:br>
            <a:r>
              <a:rPr lang="en-US" sz="1400">
                <a:latin typeface="-apple-system"/>
                <a:ea typeface="-apple-system"/>
                <a:cs typeface="-apple-system"/>
              </a:rPr>
              <a:t>- common types of models are supported: segmentation, regression, detection</a:t>
            </a:r>
            <a:br>
              <a:rPr lang="en-US" sz="1400">
                <a:latin typeface="-apple-system"/>
                <a:ea typeface="-apple-system"/>
                <a:cs typeface="-apple-system"/>
              </a:rPr>
            </a:br>
            <a:r>
              <a:rPr lang="en-US" sz="1400">
                <a:latin typeface="-apple-system"/>
                <a:ea typeface="-apple-system"/>
                <a:cs typeface="-apple-system"/>
              </a:rPr>
              <a:t>- integration with layers (both for input data and model output layers). Once an output layer is created, it can be saved as a file manually</a:t>
            </a:r>
            <a:br>
              <a:rPr lang="en-US" sz="1400">
                <a:latin typeface="-apple-system"/>
                <a:ea typeface="-apple-system"/>
                <a:cs typeface="-apple-system"/>
              </a:rPr>
            </a:br>
            <a:r>
              <a:rPr lang="en-US" sz="1400">
                <a:latin typeface="-apple-system"/>
                <a:ea typeface="-apple-system"/>
                <a:cs typeface="-apple-system"/>
              </a:rPr>
              <a:t>- model ZOO under development (planes detection on Bing Aerial, Corn field damage, Oil Storage tanks detection, cars detection, ...)</a:t>
            </a:r>
            <a:br>
              <a:rPr lang="en-US" sz="1400">
                <a:latin typeface="-apple-system"/>
                <a:ea typeface="-apple-system"/>
                <a:cs typeface="-apple-system"/>
              </a:rPr>
            </a:br>
            <a:r>
              <a:rPr lang="en-US" sz="1400">
                <a:latin typeface="-apple-system"/>
                <a:ea typeface="-apple-system"/>
                <a:cs typeface="-apple-system"/>
              </a:rPr>
              <a:t>- training data Export Tool - exporting raster and mask as small tiles</a:t>
            </a:r>
            <a:br>
              <a:rPr lang="en-US" sz="1400">
                <a:latin typeface="-apple-system"/>
                <a:ea typeface="-apple-system"/>
                <a:cs typeface="-apple-system"/>
              </a:rPr>
            </a:br>
            <a:r>
              <a:rPr lang="en-US" sz="1400">
                <a:latin typeface="-apple-system"/>
                <a:ea typeface="-apple-system"/>
                <a:cs typeface="-apple-system"/>
              </a:rPr>
              <a:t>- parametrization of the processing for advanced users (spatial resolution, overlap, postprocessing)</a:t>
            </a:r>
            <a:br>
              <a:rPr lang="en-US" sz="1400">
                <a:latin typeface="-apple-system"/>
                <a:ea typeface="-apple-system"/>
                <a:cs typeface="-apple-system"/>
              </a:rPr>
            </a:br>
            <a:r>
              <a:rPr lang="en-US" sz="1400">
                <a:latin typeface="-apple-system"/>
                <a:ea typeface="-apple-system"/>
                <a:cs typeface="-apple-system"/>
              </a:rPr>
              <a:t>Plugin requires external python packages to be installed. After the first plugin startup, a Dialog will show, to assist in this process.</a:t>
            </a:r>
            <a:br>
              <a:rPr lang="en-US" sz="1400">
                <a:latin typeface="-apple-system"/>
                <a:ea typeface="-apple-system"/>
                <a:cs typeface="-apple-system"/>
              </a:rPr>
            </a:br>
            <a:r>
              <a:rPr lang="en-US" sz="1400">
                <a:latin typeface="-apple-system"/>
                <a:ea typeface="-apple-system"/>
                <a:cs typeface="-apple-system"/>
              </a:rPr>
              <a:t>𝐋𝐢𝐧𝐤 𝐏𝐥𝐮𝐠𝐢𝐧𝐬 : </a:t>
            </a:r>
            <a:r>
              <a:rPr lang="en-US" sz="1400" b="1">
                <a:solidFill>
                  <a:srgbClr val="0A66C2"/>
                </a:solidFill>
                <a:latin typeface="-apple-system"/>
                <a:ea typeface="-apple-system"/>
                <a:cs typeface="-apple-system"/>
                <a:hlinkClick r:id="rId2"/>
              </a:rPr>
              <a:t>https://lnkd.in/dvN3Nyqk</a:t>
            </a:r>
            <a:br>
              <a:rPr lang="en-US" sz="1400">
                <a:latin typeface="-apple-system"/>
                <a:ea typeface="-apple-system"/>
                <a:cs typeface="-apple-system"/>
              </a:rPr>
            </a:br>
            <a:r>
              <a:rPr lang="en-US" sz="1400">
                <a:latin typeface="-apple-system"/>
                <a:ea typeface="-apple-system"/>
                <a:cs typeface="-apple-system"/>
              </a:rPr>
              <a:t>𝐋𝐢𝐧𝐤 𝐌𝐨𝐝𝐞𝐥𝐬 : </a:t>
            </a:r>
            <a:r>
              <a:rPr lang="en-US" sz="1400" b="1">
                <a:solidFill>
                  <a:srgbClr val="0A66C2"/>
                </a:solidFill>
                <a:latin typeface="-apple-system"/>
                <a:ea typeface="-apple-system"/>
                <a:cs typeface="-apple-system"/>
                <a:hlinkClick r:id="rId3"/>
              </a:rPr>
              <a:t>https://lnkd.in/dya9Z8Je</a:t>
            </a:r>
            <a:br>
              <a:rPr lang="en-US" sz="1400">
                <a:latin typeface="-apple-system"/>
                <a:ea typeface="-apple-system"/>
                <a:cs typeface="-apple-system"/>
              </a:rPr>
            </a:br>
            <a:r>
              <a:rPr lang="en-US" sz="1400">
                <a:latin typeface="-apple-system"/>
                <a:ea typeface="-apple-system"/>
                <a:cs typeface="-apple-system"/>
              </a:rPr>
              <a:t>𝐀𝐛𝐨𝐮𝐭 𝐟𝐨𝐫 𝐏𝐥𝐮𝐠𝐢𝐧𝐬 : </a:t>
            </a:r>
            <a:r>
              <a:rPr lang="en-US" sz="1400" b="1">
                <a:solidFill>
                  <a:srgbClr val="0A66C2"/>
                </a:solidFill>
                <a:latin typeface="-apple-system"/>
                <a:ea typeface="-apple-system"/>
                <a:cs typeface="-apple-system"/>
                <a:hlinkClick r:id="rId4"/>
              </a:rPr>
              <a:t>https://lnkd.in/dVhR7dCe</a:t>
            </a:r>
            <a:br>
              <a:rPr lang="en-US" sz="1400">
                <a:latin typeface="-apple-system"/>
                <a:ea typeface="-apple-system"/>
                <a:cs typeface="-apple-system"/>
              </a:rPr>
            </a:br>
            <a:r>
              <a:rPr lang="en-US" sz="1400">
                <a:latin typeface="-apple-system"/>
                <a:ea typeface="-apple-system"/>
                <a:cs typeface="-apple-system"/>
              </a:rPr>
              <a:t>Deep Learning is a field of Artificial Intelligence that focuses on teaching computer models to represent data in a way that supports prediction and classification. One important application of Deep Learning is extracting information from satellite images, where learning models can analyze these images accurately and extract objects and important information from them.</a:t>
            </a:r>
            <a:br>
              <a:rPr lang="en-US" sz="1400">
                <a:latin typeface="-apple-system"/>
                <a:ea typeface="-apple-system"/>
                <a:cs typeface="-apple-system"/>
              </a:rPr>
            </a:br>
            <a:r>
              <a:rPr lang="en-US" sz="1400">
                <a:latin typeface="-apple-system"/>
                <a:ea typeface="-apple-system"/>
                <a:cs typeface="-apple-system"/>
              </a:rPr>
              <a:t>When Deep Learning techniques are applied to extracting objects from satellite images, models can gradually and autonomously learn how to recognize patterns and distinctive features in these images and extract useful information accurately and effectively.</a:t>
            </a:r>
            <a:endParaRPr lang="en-US" sz="1400"/>
          </a:p>
          <a:p>
            <a:pPr algn="ctr"/>
            <a:endParaRPr lang="pt-BR"/>
          </a:p>
        </p:txBody>
      </p:sp>
      <p:pic>
        <p:nvPicPr>
          <p:cNvPr id="5" name="Imagem 4" descr="Interface gráfica do usuário, Texto&#10;&#10;O conteúdo gerado por IA pode estar incorreto.">
            <a:extLst>
              <a:ext uri="{FF2B5EF4-FFF2-40B4-BE49-F238E27FC236}">
                <a16:creationId xmlns:a16="http://schemas.microsoft.com/office/drawing/2014/main" id="{6091EF65-6859-2777-6480-14993551603A}"/>
              </a:ext>
            </a:extLst>
          </p:cNvPr>
          <p:cNvPicPr>
            <a:picLocks noChangeAspect="1"/>
          </p:cNvPicPr>
          <p:nvPr/>
        </p:nvPicPr>
        <p:blipFill>
          <a:blip r:embed="rId5"/>
          <a:stretch>
            <a:fillRect/>
          </a:stretch>
        </p:blipFill>
        <p:spPr>
          <a:xfrm>
            <a:off x="319717" y="975774"/>
            <a:ext cx="4191359" cy="3253057"/>
          </a:xfrm>
          <a:prstGeom prst="rect">
            <a:avLst/>
          </a:prstGeom>
        </p:spPr>
      </p:pic>
      <p:sp>
        <p:nvSpPr>
          <p:cNvPr id="6" name="CaixaDeTexto 5">
            <a:extLst>
              <a:ext uri="{FF2B5EF4-FFF2-40B4-BE49-F238E27FC236}">
                <a16:creationId xmlns:a16="http://schemas.microsoft.com/office/drawing/2014/main" id="{7B8C4BAB-12A8-36EA-1A39-F95E6B2F9EC4}"/>
              </a:ext>
            </a:extLst>
          </p:cNvPr>
          <p:cNvSpPr txBox="1"/>
          <p:nvPr/>
        </p:nvSpPr>
        <p:spPr>
          <a:xfrm>
            <a:off x="316302" y="4492925"/>
            <a:ext cx="4198190" cy="18466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https://www.linkedin.com/posts/mohamed-el-mahdi_deeplearning-qgis-openabrsource-activity-7250807440064008192-IFyS?utm_source=share&amp;utm_medium=member_desktop&amp;rcm=ACoAAAMQtAUB5UouXqdBJgo_gWpNVZ7Imay_2Tg</a:t>
            </a:r>
          </a:p>
          <a:p>
            <a:pPr algn="ctr"/>
            <a:endParaRPr lang="pt-BR"/>
          </a:p>
        </p:txBody>
      </p:sp>
    </p:spTree>
    <p:extLst>
      <p:ext uri="{BB962C8B-B14F-4D97-AF65-F5344CB8AC3E}">
        <p14:creationId xmlns:p14="http://schemas.microsoft.com/office/powerpoint/2010/main" val="318284558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CB5E6B13-E4F6-FC7C-33DE-F50CF30BD808}"/>
              </a:ext>
            </a:extLst>
          </p:cNvPr>
          <p:cNvSpPr txBox="1"/>
          <p:nvPr/>
        </p:nvSpPr>
        <p:spPr>
          <a:xfrm>
            <a:off x="5779698" y="7188"/>
            <a:ext cx="6096000" cy="69865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apple-system"/>
                <a:ea typeface="-apple-system"/>
                <a:cs typeface="-apple-system"/>
              </a:rPr>
              <a:t>Geographic Information Systems (GIS) have emerged as a powerful tool in spatial analysis, environmental monitoring, and decision-making across a variety of fields. </a:t>
            </a:r>
            <a:br>
              <a:rPr lang="en-US" sz="1600">
                <a:latin typeface="-apple-system"/>
                <a:ea typeface="-apple-system"/>
                <a:cs typeface="-apple-system"/>
              </a:rPr>
            </a:br>
            <a:br>
              <a:rPr lang="en-US" sz="1600">
                <a:latin typeface="-apple-system"/>
                <a:ea typeface="-apple-system"/>
                <a:cs typeface="-apple-system"/>
              </a:rPr>
            </a:br>
            <a:r>
              <a:rPr lang="en-US" sz="1600">
                <a:latin typeface="-apple-system"/>
                <a:ea typeface="-apple-system"/>
                <a:cs typeface="-apple-system"/>
              </a:rPr>
              <a:t>From urban planning to climate change studies, GIS enables researchers and professionals to collect, visualize, and analyze geographic data in ways that were previously unimaginable. </a:t>
            </a:r>
            <a:br>
              <a:rPr lang="en-US" sz="1600">
                <a:latin typeface="-apple-system"/>
                <a:ea typeface="-apple-system"/>
                <a:cs typeface="-apple-system"/>
              </a:rPr>
            </a:br>
            <a:br>
              <a:rPr lang="en-US" sz="1600">
                <a:latin typeface="-apple-system"/>
                <a:ea typeface="-apple-system"/>
                <a:cs typeface="-apple-system"/>
              </a:rPr>
            </a:br>
            <a:r>
              <a:rPr lang="en-US" sz="1600">
                <a:latin typeface="-apple-system"/>
                <a:ea typeface="-apple-system"/>
                <a:cs typeface="-apple-system"/>
              </a:rPr>
              <a:t>The integration of GIS with Machine Learning, and Artificial Intelligence opens new avenues for research and application. </a:t>
            </a:r>
            <a:br>
              <a:rPr lang="en-US" sz="1600">
                <a:latin typeface="-apple-system"/>
                <a:ea typeface="-apple-system"/>
                <a:cs typeface="-apple-system"/>
              </a:rPr>
            </a:br>
            <a:br>
              <a:rPr lang="en-US" sz="1600">
                <a:latin typeface="-apple-system"/>
                <a:ea typeface="-apple-system"/>
                <a:cs typeface="-apple-system"/>
              </a:rPr>
            </a:br>
            <a:r>
              <a:rPr lang="en-US" sz="1600">
                <a:latin typeface="-apple-system"/>
                <a:ea typeface="-apple-system"/>
                <a:cs typeface="-apple-system"/>
              </a:rPr>
              <a:t>This list of 40 GIS research topics provides a comprehensive overview of the vast potential GIS offers for solving real-world problems.</a:t>
            </a:r>
            <a:br>
              <a:rPr lang="en-US" sz="1600">
                <a:latin typeface="-apple-system"/>
                <a:ea typeface="-apple-system"/>
                <a:cs typeface="-apple-system"/>
              </a:rPr>
            </a:br>
            <a:br>
              <a:rPr lang="en-US" sz="1600">
                <a:latin typeface="-apple-system"/>
                <a:ea typeface="-apple-system"/>
                <a:cs typeface="-apple-system"/>
              </a:rPr>
            </a:br>
            <a:r>
              <a:rPr lang="en-US" sz="1600">
                <a:latin typeface="-apple-system"/>
                <a:ea typeface="-apple-system"/>
                <a:cs typeface="-apple-system"/>
              </a:rPr>
              <a:t>As the world continues to face challenges like climate change, urbanization, and resource management, the role of GIS becomes increasingly vital. </a:t>
            </a:r>
            <a:br>
              <a:rPr lang="en-US" sz="1600">
                <a:latin typeface="-apple-system"/>
                <a:ea typeface="-apple-system"/>
                <a:cs typeface="-apple-system"/>
              </a:rPr>
            </a:br>
            <a:br>
              <a:rPr lang="en-US" sz="1600">
                <a:latin typeface="-apple-system"/>
                <a:ea typeface="-apple-system"/>
                <a:cs typeface="-apple-system"/>
              </a:rPr>
            </a:br>
            <a:r>
              <a:rPr lang="en-US" sz="1600">
                <a:latin typeface="-apple-system"/>
                <a:ea typeface="-apple-system"/>
                <a:cs typeface="-apple-system"/>
              </a:rPr>
              <a:t>By addressing these 40 diverse research topics, GIS practitioners can contribute valuable insights to both global and local issues. </a:t>
            </a:r>
            <a:br>
              <a:rPr lang="en-US" sz="1600">
                <a:latin typeface="-apple-system"/>
                <a:ea typeface="-apple-system"/>
                <a:cs typeface="-apple-system"/>
              </a:rPr>
            </a:br>
            <a:br>
              <a:rPr lang="en-US" sz="1600">
                <a:latin typeface="-apple-system"/>
                <a:ea typeface="-apple-system"/>
                <a:cs typeface="-apple-system"/>
              </a:rPr>
            </a:br>
            <a:r>
              <a:rPr lang="en-US" sz="1600">
                <a:latin typeface="-apple-system"/>
                <a:ea typeface="-apple-system"/>
                <a:cs typeface="-apple-system"/>
              </a:rPr>
              <a:t>Whether in environmental conservation, disaster management, or public health, GIS-driven research has the capacity to improve decision-making, foster innovation, and drive sustainable development in multiple sectors.</a:t>
            </a:r>
            <a:br>
              <a:rPr lang="en-US" sz="1600">
                <a:latin typeface="-apple-system"/>
                <a:ea typeface="-apple-system"/>
                <a:cs typeface="-apple-system"/>
              </a:rPr>
            </a:br>
            <a:br>
              <a:rPr lang="en-US" sz="1600">
                <a:latin typeface="-apple-system"/>
                <a:ea typeface="-apple-system"/>
                <a:cs typeface="-apple-system"/>
              </a:rPr>
            </a:br>
            <a:r>
              <a:rPr lang="en-US" sz="1600">
                <a:latin typeface="-apple-system"/>
                <a:ea typeface="-apple-system"/>
                <a:cs typeface="-apple-system"/>
              </a:rPr>
              <a:t>If you find this post insightful, kindly consider reposting.</a:t>
            </a:r>
            <a:endParaRPr lang="en-US" sz="1600">
              <a:ea typeface="Calibri"/>
              <a:cs typeface="Calibri"/>
            </a:endParaRPr>
          </a:p>
          <a:p>
            <a:pPr algn="ctr"/>
            <a:endParaRPr lang="pt-BR" sz="1600">
              <a:ea typeface="Calibri"/>
              <a:cs typeface="Calibri"/>
            </a:endParaRPr>
          </a:p>
        </p:txBody>
      </p:sp>
      <p:pic>
        <p:nvPicPr>
          <p:cNvPr id="5" name="Imagem 4" descr="Não foi fornecido texto alternativo para esta imagem">
            <a:extLst>
              <a:ext uri="{FF2B5EF4-FFF2-40B4-BE49-F238E27FC236}">
                <a16:creationId xmlns:a16="http://schemas.microsoft.com/office/drawing/2014/main" id="{7A886B45-AA78-215E-56C8-E622F9E21065}"/>
              </a:ext>
            </a:extLst>
          </p:cNvPr>
          <p:cNvPicPr>
            <a:picLocks noChangeAspect="1"/>
          </p:cNvPicPr>
          <p:nvPr/>
        </p:nvPicPr>
        <p:blipFill>
          <a:blip r:embed="rId2"/>
          <a:stretch>
            <a:fillRect/>
          </a:stretch>
        </p:blipFill>
        <p:spPr>
          <a:xfrm>
            <a:off x="646981" y="313067"/>
            <a:ext cx="4802039" cy="4808508"/>
          </a:xfrm>
          <a:prstGeom prst="rect">
            <a:avLst/>
          </a:prstGeom>
        </p:spPr>
      </p:pic>
      <p:sp>
        <p:nvSpPr>
          <p:cNvPr id="6" name="CaixaDeTexto 5">
            <a:extLst>
              <a:ext uri="{FF2B5EF4-FFF2-40B4-BE49-F238E27FC236}">
                <a16:creationId xmlns:a16="http://schemas.microsoft.com/office/drawing/2014/main" id="{29A0EBF0-BF59-BE62-1856-3108F7FD7C5C}"/>
              </a:ext>
            </a:extLst>
          </p:cNvPr>
          <p:cNvSpPr txBox="1"/>
          <p:nvPr/>
        </p:nvSpPr>
        <p:spPr>
          <a:xfrm>
            <a:off x="488830" y="5254925"/>
            <a:ext cx="5103963"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https://www.linkedin.com/posts/mashford-mahute-012487178_gisresearch-geospatialanalysis-remotesensing-activity-7252974861294194688-OiIC?utm_source=share&amp;utm_medium=member_desktop&amp;rcm=ACoAAAMQtAUB5UouXqdBJgo_gWpNVZ7Imay_2Tg</a:t>
            </a:r>
          </a:p>
          <a:p>
            <a:pPr algn="ctr"/>
            <a:endParaRPr lang="pt-BR"/>
          </a:p>
        </p:txBody>
      </p:sp>
    </p:spTree>
    <p:extLst>
      <p:ext uri="{BB962C8B-B14F-4D97-AF65-F5344CB8AC3E}">
        <p14:creationId xmlns:p14="http://schemas.microsoft.com/office/powerpoint/2010/main" val="344517759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0D536676-0714-82FC-2BFF-A7D495AD8B06}"/>
              </a:ext>
            </a:extLst>
          </p:cNvPr>
          <p:cNvSpPr txBox="1"/>
          <p:nvPr/>
        </p:nvSpPr>
        <p:spPr>
          <a:xfrm>
            <a:off x="6096000" y="2408207"/>
            <a:ext cx="609600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We all live on our phones, and </a:t>
            </a:r>
            <a:r>
              <a:rPr lang="en-US" b="1">
                <a:solidFill>
                  <a:srgbClr val="0A66C2"/>
                </a:solidFill>
                <a:latin typeface="-apple-system"/>
                <a:ea typeface="-apple-system"/>
                <a:cs typeface="-apple-system"/>
                <a:hlinkClick r:id="rId2"/>
              </a:rPr>
              <a:t>hashtag#GIS</a:t>
            </a:r>
            <a:r>
              <a:rPr lang="en-US">
                <a:latin typeface="-apple-system"/>
                <a:ea typeface="-apple-system"/>
                <a:cs typeface="-apple-system"/>
              </a:rPr>
              <a:t> has evolved with them! 📱 </a:t>
            </a:r>
            <a:br>
              <a:rPr lang="en-US">
                <a:latin typeface="-apple-system"/>
                <a:ea typeface="-apple-system"/>
                <a:cs typeface="-apple-system"/>
              </a:rPr>
            </a:br>
            <a:r>
              <a:rPr lang="en-US">
                <a:latin typeface="-apple-system"/>
                <a:ea typeface="-apple-system"/>
                <a:cs typeface="-apple-system"/>
              </a:rPr>
              <a:t>.</a:t>
            </a:r>
            <a:br>
              <a:rPr lang="en-US">
                <a:latin typeface="-apple-system"/>
                <a:ea typeface="-apple-system"/>
                <a:cs typeface="-apple-system"/>
              </a:rPr>
            </a:br>
            <a:r>
              <a:rPr lang="en-US">
                <a:latin typeface="-apple-system"/>
                <a:ea typeface="-apple-system"/>
                <a:cs typeface="-apple-system"/>
              </a:rPr>
              <a:t>"Mobile GIS" is a key part of modern GIS. Here are resources to better integrate </a:t>
            </a:r>
            <a:r>
              <a:rPr lang="en-US" b="1">
                <a:solidFill>
                  <a:srgbClr val="0A66C2"/>
                </a:solidFill>
                <a:latin typeface="-apple-system"/>
                <a:ea typeface="-apple-system"/>
                <a:cs typeface="-apple-system"/>
                <a:hlinkClick r:id="rId3"/>
              </a:rPr>
              <a:t>hashtag#mobileGIS</a:t>
            </a:r>
            <a:r>
              <a:rPr lang="en-US">
                <a:latin typeface="-apple-system"/>
                <a:ea typeface="-apple-system"/>
                <a:cs typeface="-apple-system"/>
              </a:rPr>
              <a:t> into your courses 📖 </a:t>
            </a:r>
            <a:r>
              <a:rPr lang="en-US" b="1">
                <a:solidFill>
                  <a:srgbClr val="0A66C2"/>
                </a:solidFill>
                <a:latin typeface="-apple-system"/>
                <a:ea typeface="-apple-system"/>
                <a:cs typeface="-apple-system"/>
                <a:hlinkClick r:id="rId4"/>
              </a:rPr>
              <a:t>https://ow.ly/IU0450TPShZ</a:t>
            </a:r>
            <a:endParaRPr lang="en-US"/>
          </a:p>
          <a:p>
            <a:pPr algn="ctr"/>
            <a:endParaRPr lang="pt-BR"/>
          </a:p>
        </p:txBody>
      </p:sp>
      <p:pic>
        <p:nvPicPr>
          <p:cNvPr id="5" name="Imagem 4" descr="Não foi fornecido texto alternativo para esta imagem">
            <a:extLst>
              <a:ext uri="{FF2B5EF4-FFF2-40B4-BE49-F238E27FC236}">
                <a16:creationId xmlns:a16="http://schemas.microsoft.com/office/drawing/2014/main" id="{94EDE069-F1E5-234E-11C9-EBC948FCA5D5}"/>
              </a:ext>
            </a:extLst>
          </p:cNvPr>
          <p:cNvPicPr>
            <a:picLocks noChangeAspect="1"/>
          </p:cNvPicPr>
          <p:nvPr/>
        </p:nvPicPr>
        <p:blipFill>
          <a:blip r:embed="rId5"/>
          <a:stretch>
            <a:fillRect/>
          </a:stretch>
        </p:blipFill>
        <p:spPr>
          <a:xfrm>
            <a:off x="129396" y="1896824"/>
            <a:ext cx="5851585" cy="2676166"/>
          </a:xfrm>
          <a:prstGeom prst="rect">
            <a:avLst/>
          </a:prstGeom>
        </p:spPr>
      </p:pic>
      <p:sp>
        <p:nvSpPr>
          <p:cNvPr id="6" name="CaixaDeTexto 5">
            <a:extLst>
              <a:ext uri="{FF2B5EF4-FFF2-40B4-BE49-F238E27FC236}">
                <a16:creationId xmlns:a16="http://schemas.microsoft.com/office/drawing/2014/main" id="{F24CA1D6-98AD-6777-11DE-5FAD6D5C3A4D}"/>
              </a:ext>
            </a:extLst>
          </p:cNvPr>
          <p:cNvSpPr txBox="1"/>
          <p:nvPr/>
        </p:nvSpPr>
        <p:spPr>
          <a:xfrm>
            <a:off x="129396" y="5082397"/>
            <a:ext cx="60960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Link: https://www.linkedin.com/posts/jctarazona_gis-mobilegis-activity-7254160838800871424-QqCD?utm_source=share&amp;utm_medium=member_desktop&amp;rcm=ACoAAAMQtAUB5UouXqdBJgo_gWpNVZ7Imay_2Tg</a:t>
            </a:r>
          </a:p>
          <a:p>
            <a:pPr algn="ctr"/>
            <a:endParaRPr lang="pt-BR"/>
          </a:p>
        </p:txBody>
      </p:sp>
    </p:spTree>
    <p:extLst>
      <p:ext uri="{BB962C8B-B14F-4D97-AF65-F5344CB8AC3E}">
        <p14:creationId xmlns:p14="http://schemas.microsoft.com/office/powerpoint/2010/main" val="342175277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74C89739-36BE-9679-A556-8AF909D0E6DC}"/>
              </a:ext>
            </a:extLst>
          </p:cNvPr>
          <p:cNvSpPr txBox="1"/>
          <p:nvPr/>
        </p:nvSpPr>
        <p:spPr>
          <a:xfrm>
            <a:off x="575094" y="7188"/>
            <a:ext cx="6096000" cy="69865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err="1">
                <a:latin typeface="-apple-system"/>
                <a:ea typeface="-apple-system"/>
                <a:cs typeface="-apple-system"/>
              </a:rPr>
              <a:t>Recentemente</a:t>
            </a:r>
            <a:r>
              <a:rPr lang="en-US" sz="1600">
                <a:latin typeface="-apple-system"/>
                <a:ea typeface="-apple-system"/>
                <a:cs typeface="-apple-system"/>
              </a:rPr>
              <a:t>, me </a:t>
            </a:r>
            <a:r>
              <a:rPr lang="en-US" sz="1600" err="1">
                <a:latin typeface="-apple-system"/>
                <a:ea typeface="-apple-system"/>
                <a:cs typeface="-apple-system"/>
              </a:rPr>
              <a:t>perguntaram</a:t>
            </a:r>
            <a:r>
              <a:rPr lang="en-US" sz="1600">
                <a:latin typeface="-apple-system"/>
                <a:ea typeface="-apple-system"/>
                <a:cs typeface="-apple-system"/>
              </a:rPr>
              <a:t> </a:t>
            </a:r>
            <a:r>
              <a:rPr lang="en-US" sz="1600" err="1">
                <a:latin typeface="-apple-system"/>
                <a:ea typeface="-apple-system"/>
                <a:cs typeface="-apple-system"/>
              </a:rPr>
              <a:t>como</a:t>
            </a:r>
            <a:r>
              <a:rPr lang="en-US" sz="1600">
                <a:latin typeface="-apple-system"/>
                <a:ea typeface="-apple-system"/>
                <a:cs typeface="-apple-system"/>
              </a:rPr>
              <a:t> e para </a:t>
            </a:r>
            <a:r>
              <a:rPr lang="en-US" sz="1600" err="1">
                <a:latin typeface="-apple-system"/>
                <a:ea typeface="-apple-system"/>
                <a:cs typeface="-apple-system"/>
              </a:rPr>
              <a:t>quê</a:t>
            </a:r>
            <a:r>
              <a:rPr lang="en-US" sz="1600">
                <a:latin typeface="-apple-system"/>
                <a:ea typeface="-apple-system"/>
                <a:cs typeface="-apple-system"/>
              </a:rPr>
              <a:t> </a:t>
            </a:r>
            <a:r>
              <a:rPr lang="en-US" sz="1600" err="1">
                <a:latin typeface="-apple-system"/>
                <a:ea typeface="-apple-system"/>
                <a:cs typeface="-apple-system"/>
              </a:rPr>
              <a:t>eu</a:t>
            </a:r>
            <a:r>
              <a:rPr lang="en-US" sz="1600">
                <a:latin typeface="-apple-system"/>
                <a:ea typeface="-apple-system"/>
                <a:cs typeface="-apple-system"/>
              </a:rPr>
              <a:t> </a:t>
            </a:r>
            <a:r>
              <a:rPr lang="en-US" sz="1600" err="1">
                <a:latin typeface="-apple-system"/>
                <a:ea typeface="-apple-system"/>
                <a:cs typeface="-apple-system"/>
              </a:rPr>
              <a:t>uso</a:t>
            </a:r>
            <a:r>
              <a:rPr lang="en-US" sz="1600">
                <a:latin typeface="-apple-system"/>
                <a:ea typeface="-apple-system"/>
                <a:cs typeface="-apple-system"/>
              </a:rPr>
              <a:t> Python no </a:t>
            </a:r>
            <a:r>
              <a:rPr lang="en-US" sz="1600" err="1">
                <a:latin typeface="-apple-system"/>
                <a:ea typeface="-apple-system"/>
                <a:cs typeface="-apple-system"/>
              </a:rPr>
              <a:t>geoprocessamento</a:t>
            </a:r>
            <a:r>
              <a:rPr lang="en-US" sz="1600">
                <a:latin typeface="-apple-system"/>
                <a:ea typeface="-apple-system"/>
                <a:cs typeface="-apple-system"/>
              </a:rPr>
              <a:t>, tanto no QGIS </a:t>
            </a:r>
            <a:r>
              <a:rPr lang="en-US" sz="1600" err="1">
                <a:latin typeface="-apple-system"/>
                <a:ea typeface="-apple-system"/>
                <a:cs typeface="-apple-system"/>
              </a:rPr>
              <a:t>quanto</a:t>
            </a:r>
            <a:r>
              <a:rPr lang="en-US" sz="1600">
                <a:latin typeface="-apple-system"/>
                <a:ea typeface="-apple-system"/>
                <a:cs typeface="-apple-system"/>
              </a:rPr>
              <a:t> no ArcGIS. A </a:t>
            </a:r>
            <a:r>
              <a:rPr lang="en-US" sz="1600" err="1">
                <a:latin typeface="-apple-system"/>
                <a:ea typeface="-apple-system"/>
                <a:cs typeface="-apple-system"/>
              </a:rPr>
              <a:t>resposta</a:t>
            </a:r>
            <a:r>
              <a:rPr lang="en-US" sz="1600">
                <a:latin typeface="-apple-system"/>
                <a:ea typeface="-apple-system"/>
                <a:cs typeface="-apple-system"/>
              </a:rPr>
              <a:t> me fez </a:t>
            </a:r>
            <a:r>
              <a:rPr lang="en-US" sz="1600" err="1">
                <a:latin typeface="-apple-system"/>
                <a:ea typeface="-apple-system"/>
                <a:cs typeface="-apple-system"/>
              </a:rPr>
              <a:t>pensar</a:t>
            </a:r>
            <a:r>
              <a:rPr lang="en-US" sz="1600">
                <a:latin typeface="-apple-system"/>
                <a:ea typeface="-apple-system"/>
                <a:cs typeface="-apple-system"/>
              </a:rPr>
              <a:t> </a:t>
            </a:r>
            <a:r>
              <a:rPr lang="en-US" sz="1600" err="1">
                <a:latin typeface="-apple-system"/>
                <a:ea typeface="-apple-system"/>
                <a:cs typeface="-apple-system"/>
              </a:rPr>
              <a:t>sobre</a:t>
            </a:r>
            <a:r>
              <a:rPr lang="en-US" sz="1600">
                <a:latin typeface="-apple-system"/>
                <a:ea typeface="-apple-system"/>
                <a:cs typeface="-apple-system"/>
              </a:rPr>
              <a:t> o </a:t>
            </a:r>
            <a:r>
              <a:rPr lang="en-US" sz="1600" err="1">
                <a:latin typeface="-apple-system"/>
                <a:ea typeface="-apple-system"/>
                <a:cs typeface="-apple-system"/>
              </a:rPr>
              <a:t>quanto</a:t>
            </a:r>
            <a:r>
              <a:rPr lang="en-US" sz="1600">
                <a:latin typeface="-apple-system"/>
                <a:ea typeface="-apple-system"/>
                <a:cs typeface="-apple-system"/>
              </a:rPr>
              <a:t> </a:t>
            </a:r>
            <a:r>
              <a:rPr lang="en-US" sz="1600" err="1">
                <a:latin typeface="-apple-system"/>
                <a:ea typeface="-apple-system"/>
                <a:cs typeface="-apple-system"/>
              </a:rPr>
              <a:t>essa</a:t>
            </a:r>
            <a:r>
              <a:rPr lang="en-US" sz="1600">
                <a:latin typeface="-apple-system"/>
                <a:ea typeface="-apple-system"/>
                <a:cs typeface="-apple-system"/>
              </a:rPr>
              <a:t> </a:t>
            </a:r>
            <a:r>
              <a:rPr lang="en-US" sz="1600" err="1">
                <a:latin typeface="-apple-system"/>
                <a:ea typeface="-apple-system"/>
                <a:cs typeface="-apple-system"/>
              </a:rPr>
              <a:t>linguagem</a:t>
            </a:r>
            <a:r>
              <a:rPr lang="en-US" sz="1600">
                <a:latin typeface="-apple-system"/>
                <a:ea typeface="-apple-system"/>
                <a:cs typeface="-apple-system"/>
              </a:rPr>
              <a:t> </a:t>
            </a:r>
            <a:r>
              <a:rPr lang="en-US" sz="1600" err="1">
                <a:latin typeface="-apple-system"/>
                <a:ea typeface="-apple-system"/>
                <a:cs typeface="-apple-system"/>
              </a:rPr>
              <a:t>tem</a:t>
            </a:r>
            <a:r>
              <a:rPr lang="en-US" sz="1600">
                <a:latin typeface="-apple-system"/>
                <a:ea typeface="-apple-system"/>
                <a:cs typeface="-apple-system"/>
              </a:rPr>
              <a:t> </a:t>
            </a:r>
            <a:r>
              <a:rPr lang="en-US" sz="1600" err="1">
                <a:latin typeface="-apple-system"/>
                <a:ea typeface="-apple-system"/>
                <a:cs typeface="-apple-system"/>
              </a:rPr>
              <a:t>mudado</a:t>
            </a:r>
            <a:r>
              <a:rPr lang="en-US" sz="1600">
                <a:latin typeface="-apple-system"/>
                <a:ea typeface="-apple-system"/>
                <a:cs typeface="-apple-system"/>
              </a:rPr>
              <a:t> </a:t>
            </a:r>
            <a:r>
              <a:rPr lang="en-US" sz="1600" err="1">
                <a:latin typeface="-apple-system"/>
                <a:ea typeface="-apple-system"/>
                <a:cs typeface="-apple-system"/>
              </a:rPr>
              <a:t>minha</a:t>
            </a:r>
            <a:r>
              <a:rPr lang="en-US" sz="1600">
                <a:latin typeface="-apple-system"/>
                <a:ea typeface="-apple-system"/>
                <a:cs typeface="-apple-system"/>
              </a:rPr>
              <a:t> forma de </a:t>
            </a:r>
            <a:r>
              <a:rPr lang="en-US" sz="1600" err="1">
                <a:latin typeface="-apple-system"/>
                <a:ea typeface="-apple-system"/>
                <a:cs typeface="-apple-system"/>
              </a:rPr>
              <a:t>produzir</a:t>
            </a:r>
            <a:r>
              <a:rPr lang="en-US" sz="1600">
                <a:latin typeface="-apple-system"/>
                <a:ea typeface="-apple-system"/>
                <a:cs typeface="-apple-system"/>
              </a:rPr>
              <a:t> e </a:t>
            </a:r>
            <a:r>
              <a:rPr lang="en-US" sz="1600" err="1">
                <a:latin typeface="-apple-system"/>
                <a:ea typeface="-apple-system"/>
                <a:cs typeface="-apple-system"/>
              </a:rPr>
              <a:t>trabalhar</a:t>
            </a:r>
            <a:r>
              <a:rPr lang="en-US" sz="1600">
                <a:latin typeface="-apple-system"/>
                <a:ea typeface="-apple-system"/>
                <a:cs typeface="-apple-system"/>
              </a:rPr>
              <a:t>.</a:t>
            </a:r>
            <a:br>
              <a:rPr lang="en-US" sz="1600">
                <a:latin typeface="-apple-system"/>
                <a:ea typeface="-apple-system"/>
                <a:cs typeface="-apple-system"/>
              </a:rPr>
            </a:br>
            <a:br>
              <a:rPr lang="en-US" sz="1600">
                <a:latin typeface="-apple-system"/>
                <a:ea typeface="-apple-system"/>
                <a:cs typeface="-apple-system"/>
              </a:rPr>
            </a:br>
            <a:r>
              <a:rPr lang="en-US" sz="1600" err="1">
                <a:latin typeface="-apple-system"/>
                <a:ea typeface="-apple-system"/>
                <a:cs typeface="-apple-system"/>
              </a:rPr>
              <a:t>Comecei</a:t>
            </a:r>
            <a:r>
              <a:rPr lang="en-US" sz="1600">
                <a:latin typeface="-apple-system"/>
                <a:ea typeface="-apple-system"/>
                <a:cs typeface="-apple-system"/>
              </a:rPr>
              <a:t> </a:t>
            </a:r>
            <a:r>
              <a:rPr lang="en-US" sz="1600" err="1">
                <a:latin typeface="-apple-system"/>
                <a:ea typeface="-apple-system"/>
                <a:cs typeface="-apple-system"/>
              </a:rPr>
              <a:t>como</a:t>
            </a:r>
            <a:r>
              <a:rPr lang="en-US" sz="1600">
                <a:latin typeface="-apple-system"/>
                <a:ea typeface="-apple-system"/>
                <a:cs typeface="-apple-system"/>
              </a:rPr>
              <a:t> </a:t>
            </a:r>
            <a:r>
              <a:rPr lang="en-US" sz="1600" err="1">
                <a:latin typeface="-apple-system"/>
                <a:ea typeface="-apple-system"/>
                <a:cs typeface="-apple-system"/>
              </a:rPr>
              <a:t>muitos</a:t>
            </a:r>
            <a:r>
              <a:rPr lang="en-US" sz="1600">
                <a:latin typeface="-apple-system"/>
                <a:ea typeface="-apple-system"/>
                <a:cs typeface="-apple-system"/>
              </a:rPr>
              <a:t>, </a:t>
            </a:r>
            <a:r>
              <a:rPr lang="en-US" sz="1600" err="1">
                <a:latin typeface="-apple-system"/>
                <a:ea typeface="-apple-system"/>
                <a:cs typeface="-apple-system"/>
              </a:rPr>
              <a:t>automatizando</a:t>
            </a:r>
            <a:r>
              <a:rPr lang="en-US" sz="1600">
                <a:latin typeface="-apple-system"/>
                <a:ea typeface="-apple-system"/>
                <a:cs typeface="-apple-system"/>
              </a:rPr>
              <a:t> </a:t>
            </a:r>
            <a:r>
              <a:rPr lang="en-US" sz="1600" err="1">
                <a:latin typeface="-apple-system"/>
                <a:ea typeface="-apple-system"/>
                <a:cs typeface="-apple-system"/>
              </a:rPr>
              <a:t>tarefas</a:t>
            </a:r>
            <a:r>
              <a:rPr lang="en-US" sz="1600">
                <a:latin typeface="-apple-system"/>
                <a:ea typeface="-apple-system"/>
                <a:cs typeface="-apple-system"/>
              </a:rPr>
              <a:t> </a:t>
            </a:r>
            <a:r>
              <a:rPr lang="en-US" sz="1600" err="1">
                <a:latin typeface="-apple-system"/>
                <a:ea typeface="-apple-system"/>
                <a:cs typeface="-apple-system"/>
              </a:rPr>
              <a:t>repetitivas</a:t>
            </a:r>
            <a:r>
              <a:rPr lang="en-US" sz="1600">
                <a:latin typeface="-apple-system"/>
                <a:ea typeface="-apple-system"/>
                <a:cs typeface="-apple-system"/>
              </a:rPr>
              <a:t>: </a:t>
            </a:r>
            <a:r>
              <a:rPr lang="en-US" sz="1600" err="1">
                <a:latin typeface="-apple-system"/>
                <a:ea typeface="-apple-system"/>
                <a:cs typeface="-apple-system"/>
              </a:rPr>
              <a:t>criação</a:t>
            </a:r>
            <a:r>
              <a:rPr lang="en-US" sz="1600">
                <a:latin typeface="-apple-system"/>
                <a:ea typeface="-apple-system"/>
                <a:cs typeface="-apple-system"/>
              </a:rPr>
              <a:t> de layouts, </a:t>
            </a:r>
            <a:r>
              <a:rPr lang="en-US" sz="1600" err="1">
                <a:latin typeface="-apple-system"/>
                <a:ea typeface="-apple-system"/>
                <a:cs typeface="-apple-system"/>
              </a:rPr>
              <a:t>processamento</a:t>
            </a:r>
            <a:r>
              <a:rPr lang="en-US" sz="1600">
                <a:latin typeface="-apple-system"/>
                <a:ea typeface="-apple-system"/>
                <a:cs typeface="-apple-system"/>
              </a:rPr>
              <a:t> de </a:t>
            </a:r>
            <a:r>
              <a:rPr lang="en-US" sz="1600" err="1">
                <a:latin typeface="-apple-system"/>
                <a:ea typeface="-apple-system"/>
                <a:cs typeface="-apple-system"/>
              </a:rPr>
              <a:t>ortofotos</a:t>
            </a:r>
            <a:r>
              <a:rPr lang="en-US" sz="1600">
                <a:latin typeface="-apple-system"/>
                <a:ea typeface="-apple-system"/>
                <a:cs typeface="-apple-system"/>
              </a:rPr>
              <a:t> </a:t>
            </a:r>
            <a:r>
              <a:rPr lang="en-US" sz="1600" err="1">
                <a:latin typeface="-apple-system"/>
                <a:ea typeface="-apple-system"/>
                <a:cs typeface="-apple-system"/>
              </a:rPr>
              <a:t>em</a:t>
            </a:r>
            <a:r>
              <a:rPr lang="en-US" sz="1600">
                <a:latin typeface="-apple-system"/>
                <a:ea typeface="-apple-system"/>
                <a:cs typeface="-apple-system"/>
              </a:rPr>
              <a:t> </a:t>
            </a:r>
            <a:r>
              <a:rPr lang="en-US" sz="1600" err="1">
                <a:latin typeface="-apple-system"/>
                <a:ea typeface="-apple-system"/>
                <a:cs typeface="-apple-system"/>
              </a:rPr>
              <a:t>larga</a:t>
            </a:r>
            <a:r>
              <a:rPr lang="en-US" sz="1600">
                <a:latin typeface="-apple-system"/>
                <a:ea typeface="-apple-system"/>
                <a:cs typeface="-apple-system"/>
              </a:rPr>
              <a:t> </a:t>
            </a:r>
            <a:r>
              <a:rPr lang="en-US" sz="1600" err="1">
                <a:latin typeface="-apple-system"/>
                <a:ea typeface="-apple-system"/>
                <a:cs typeface="-apple-system"/>
              </a:rPr>
              <a:t>escala</a:t>
            </a:r>
            <a:r>
              <a:rPr lang="en-US" sz="1600">
                <a:latin typeface="-apple-system"/>
                <a:ea typeface="-apple-system"/>
                <a:cs typeface="-apple-system"/>
              </a:rPr>
              <a:t>, </a:t>
            </a:r>
            <a:r>
              <a:rPr lang="en-US" sz="1600" err="1">
                <a:latin typeface="-apple-system"/>
                <a:ea typeface="-apple-system"/>
                <a:cs typeface="-apple-system"/>
              </a:rPr>
              <a:t>aquelas</a:t>
            </a:r>
            <a:r>
              <a:rPr lang="en-US" sz="1600">
                <a:latin typeface="-apple-system"/>
                <a:ea typeface="-apple-system"/>
                <a:cs typeface="-apple-system"/>
              </a:rPr>
              <a:t> </a:t>
            </a:r>
            <a:r>
              <a:rPr lang="en-US" sz="1600" err="1">
                <a:latin typeface="-apple-system"/>
                <a:ea typeface="-apple-system"/>
                <a:cs typeface="-apple-system"/>
              </a:rPr>
              <a:t>rotinas</a:t>
            </a:r>
            <a:r>
              <a:rPr lang="en-US" sz="1600">
                <a:latin typeface="-apple-system"/>
                <a:ea typeface="-apple-system"/>
                <a:cs typeface="-apple-system"/>
              </a:rPr>
              <a:t> </a:t>
            </a:r>
            <a:r>
              <a:rPr lang="en-US" sz="1600" err="1">
                <a:latin typeface="-apple-system"/>
                <a:ea typeface="-apple-system"/>
                <a:cs typeface="-apple-system"/>
              </a:rPr>
              <a:t>que</a:t>
            </a:r>
            <a:r>
              <a:rPr lang="en-US" sz="1600">
                <a:latin typeface="-apple-system"/>
                <a:ea typeface="-apple-system"/>
                <a:cs typeface="-apple-system"/>
              </a:rPr>
              <a:t> </a:t>
            </a:r>
            <a:r>
              <a:rPr lang="en-US" sz="1600" err="1">
                <a:latin typeface="-apple-system"/>
                <a:ea typeface="-apple-system"/>
                <a:cs typeface="-apple-system"/>
              </a:rPr>
              <a:t>tomam</a:t>
            </a:r>
            <a:r>
              <a:rPr lang="en-US" sz="1600">
                <a:latin typeface="-apple-system"/>
                <a:ea typeface="-apple-system"/>
                <a:cs typeface="-apple-system"/>
              </a:rPr>
              <a:t> </a:t>
            </a:r>
            <a:r>
              <a:rPr lang="en-US" sz="1600" err="1">
                <a:latin typeface="-apple-system"/>
                <a:ea typeface="-apple-system"/>
                <a:cs typeface="-apple-system"/>
              </a:rPr>
              <a:t>muito</a:t>
            </a:r>
            <a:r>
              <a:rPr lang="en-US" sz="1600">
                <a:latin typeface="-apple-system"/>
                <a:ea typeface="-apple-system"/>
                <a:cs typeface="-apple-system"/>
              </a:rPr>
              <a:t> tempo e </a:t>
            </a:r>
            <a:r>
              <a:rPr lang="en-US" sz="1600" err="1">
                <a:latin typeface="-apple-system"/>
                <a:ea typeface="-apple-system"/>
                <a:cs typeface="-apple-system"/>
              </a:rPr>
              <a:t>são</a:t>
            </a:r>
            <a:r>
              <a:rPr lang="en-US" sz="1600">
                <a:latin typeface="-apple-system"/>
                <a:ea typeface="-apple-system"/>
                <a:cs typeface="-apple-system"/>
              </a:rPr>
              <a:t> </a:t>
            </a:r>
            <a:r>
              <a:rPr lang="en-US" sz="1600" err="1">
                <a:latin typeface="-apple-system"/>
                <a:ea typeface="-apple-system"/>
                <a:cs typeface="-apple-system"/>
              </a:rPr>
              <a:t>altamente</a:t>
            </a:r>
            <a:r>
              <a:rPr lang="en-US" sz="1600">
                <a:latin typeface="-apple-system"/>
                <a:ea typeface="-apple-system"/>
                <a:cs typeface="-apple-system"/>
              </a:rPr>
              <a:t> </a:t>
            </a:r>
            <a:r>
              <a:rPr lang="en-US" sz="1600" err="1">
                <a:latin typeface="-apple-system"/>
                <a:ea typeface="-apple-system"/>
                <a:cs typeface="-apple-system"/>
              </a:rPr>
              <a:t>repetitivas</a:t>
            </a:r>
            <a:r>
              <a:rPr lang="en-US" sz="1600">
                <a:latin typeface="-apple-system"/>
                <a:ea typeface="-apple-system"/>
                <a:cs typeface="-apple-system"/>
              </a:rPr>
              <a:t>. Mas </a:t>
            </a:r>
            <a:r>
              <a:rPr lang="en-US" sz="1600" err="1">
                <a:latin typeface="-apple-system"/>
                <a:ea typeface="-apple-system"/>
                <a:cs typeface="-apple-system"/>
              </a:rPr>
              <a:t>tudo</a:t>
            </a:r>
            <a:r>
              <a:rPr lang="en-US" sz="1600">
                <a:latin typeface="-apple-system"/>
                <a:ea typeface="-apple-system"/>
                <a:cs typeface="-apple-system"/>
              </a:rPr>
              <a:t> </a:t>
            </a:r>
            <a:r>
              <a:rPr lang="en-US" sz="1600" err="1">
                <a:latin typeface="-apple-system"/>
                <a:ea typeface="-apple-system"/>
                <a:cs typeface="-apple-system"/>
              </a:rPr>
              <a:t>mudou</a:t>
            </a:r>
            <a:r>
              <a:rPr lang="en-US" sz="1600">
                <a:latin typeface="-apple-system"/>
                <a:ea typeface="-apple-system"/>
                <a:cs typeface="-apple-system"/>
              </a:rPr>
              <a:t> </a:t>
            </a:r>
            <a:r>
              <a:rPr lang="en-US" sz="1600" err="1">
                <a:latin typeface="-apple-system"/>
                <a:ea typeface="-apple-system"/>
                <a:cs typeface="-apple-system"/>
              </a:rPr>
              <a:t>quando</a:t>
            </a:r>
            <a:r>
              <a:rPr lang="en-US" sz="1600">
                <a:latin typeface="-apple-system"/>
                <a:ea typeface="-apple-system"/>
                <a:cs typeface="-apple-system"/>
              </a:rPr>
              <a:t> </a:t>
            </a:r>
            <a:r>
              <a:rPr lang="en-US" sz="1600" err="1">
                <a:latin typeface="-apple-system"/>
                <a:ea typeface="-apple-system"/>
                <a:cs typeface="-apple-system"/>
              </a:rPr>
              <a:t>conheci</a:t>
            </a:r>
            <a:r>
              <a:rPr lang="en-US" sz="1600">
                <a:latin typeface="-apple-system"/>
                <a:ea typeface="-apple-system"/>
                <a:cs typeface="-apple-system"/>
              </a:rPr>
              <a:t> o Tree Detect (do </a:t>
            </a:r>
            <a:r>
              <a:rPr lang="en-US" sz="1600" err="1">
                <a:latin typeface="-apple-system"/>
                <a:ea typeface="-apple-system"/>
                <a:cs typeface="-apple-system"/>
              </a:rPr>
              <a:t>ArcGis</a:t>
            </a:r>
            <a:r>
              <a:rPr lang="en-US" sz="1600">
                <a:latin typeface="-apple-system"/>
                <a:ea typeface="-apple-system"/>
                <a:cs typeface="-apple-system"/>
              </a:rPr>
              <a:t>) , </a:t>
            </a:r>
            <a:r>
              <a:rPr lang="en-US" sz="1600" err="1">
                <a:latin typeface="-apple-system"/>
                <a:ea typeface="-apple-system"/>
                <a:cs typeface="-apple-system"/>
              </a:rPr>
              <a:t>uma</a:t>
            </a:r>
            <a:r>
              <a:rPr lang="en-US" sz="1600">
                <a:latin typeface="-apple-system"/>
                <a:ea typeface="-apple-system"/>
                <a:cs typeface="-apple-system"/>
              </a:rPr>
              <a:t> </a:t>
            </a:r>
            <a:r>
              <a:rPr lang="en-US" sz="1600" err="1">
                <a:latin typeface="-apple-system"/>
                <a:ea typeface="-apple-system"/>
                <a:cs typeface="-apple-system"/>
              </a:rPr>
              <a:t>aplicação</a:t>
            </a:r>
            <a:r>
              <a:rPr lang="en-US" sz="1600">
                <a:latin typeface="-apple-system"/>
                <a:ea typeface="-apple-system"/>
                <a:cs typeface="-apple-system"/>
              </a:rPr>
              <a:t> de machine learning </a:t>
            </a:r>
            <a:r>
              <a:rPr lang="en-US" sz="1600" err="1">
                <a:latin typeface="-apple-system"/>
                <a:ea typeface="-apple-system"/>
                <a:cs typeface="-apple-system"/>
              </a:rPr>
              <a:t>voltada</a:t>
            </a:r>
            <a:r>
              <a:rPr lang="en-US" sz="1600">
                <a:latin typeface="-apple-system"/>
                <a:ea typeface="-apple-system"/>
                <a:cs typeface="-apple-system"/>
              </a:rPr>
              <a:t> para </a:t>
            </a:r>
            <a:r>
              <a:rPr lang="en-US" sz="1600" err="1">
                <a:latin typeface="-apple-system"/>
                <a:ea typeface="-apple-system"/>
                <a:cs typeface="-apple-system"/>
              </a:rPr>
              <a:t>geoprocessamento</a:t>
            </a:r>
            <a:r>
              <a:rPr lang="en-US" sz="1600">
                <a:latin typeface="-apple-system"/>
                <a:ea typeface="-apple-system"/>
                <a:cs typeface="-apple-system"/>
              </a:rPr>
              <a:t>. Com </a:t>
            </a:r>
            <a:r>
              <a:rPr lang="en-US" sz="1600" err="1">
                <a:latin typeface="-apple-system"/>
                <a:ea typeface="-apple-system"/>
                <a:cs typeface="-apple-system"/>
              </a:rPr>
              <a:t>ele</a:t>
            </a:r>
            <a:r>
              <a:rPr lang="en-US" sz="1600">
                <a:latin typeface="-apple-system"/>
                <a:ea typeface="-apple-system"/>
                <a:cs typeface="-apple-system"/>
              </a:rPr>
              <a:t>, </a:t>
            </a:r>
            <a:r>
              <a:rPr lang="en-US" sz="1600" err="1">
                <a:latin typeface="-apple-system"/>
                <a:ea typeface="-apple-system"/>
                <a:cs typeface="-apple-system"/>
              </a:rPr>
              <a:t>treinamos</a:t>
            </a:r>
            <a:r>
              <a:rPr lang="en-US" sz="1600">
                <a:latin typeface="-apple-system"/>
                <a:ea typeface="-apple-system"/>
                <a:cs typeface="-apple-system"/>
              </a:rPr>
              <a:t> o </a:t>
            </a:r>
            <a:r>
              <a:rPr lang="en-US" sz="1600" err="1">
                <a:latin typeface="-apple-system"/>
                <a:ea typeface="-apple-system"/>
                <a:cs typeface="-apple-system"/>
              </a:rPr>
              <a:t>modelo</a:t>
            </a:r>
            <a:r>
              <a:rPr lang="en-US" sz="1600">
                <a:latin typeface="-apple-system"/>
                <a:ea typeface="-apple-system"/>
                <a:cs typeface="-apple-system"/>
              </a:rPr>
              <a:t> para </a:t>
            </a:r>
            <a:r>
              <a:rPr lang="en-US" sz="1600" err="1">
                <a:latin typeface="-apple-system"/>
                <a:ea typeface="-apple-system"/>
                <a:cs typeface="-apple-system"/>
              </a:rPr>
              <a:t>identificar</a:t>
            </a:r>
            <a:r>
              <a:rPr lang="en-US" sz="1600">
                <a:latin typeface="-apple-system"/>
                <a:ea typeface="-apple-system"/>
                <a:cs typeface="-apple-system"/>
              </a:rPr>
              <a:t> </a:t>
            </a:r>
            <a:r>
              <a:rPr lang="en-US" sz="1600" err="1">
                <a:latin typeface="-apple-system"/>
                <a:ea typeface="-apple-system"/>
                <a:cs typeface="-apple-system"/>
              </a:rPr>
              <a:t>indivíduos</a:t>
            </a:r>
            <a:r>
              <a:rPr lang="en-US" sz="1600">
                <a:latin typeface="-apple-system"/>
                <a:ea typeface="-apple-system"/>
                <a:cs typeface="-apple-system"/>
              </a:rPr>
              <a:t> </a:t>
            </a:r>
            <a:r>
              <a:rPr lang="en-US" sz="1600" err="1">
                <a:latin typeface="-apple-system"/>
                <a:ea typeface="-apple-system"/>
                <a:cs typeface="-apple-system"/>
              </a:rPr>
              <a:t>arbóreos</a:t>
            </a:r>
            <a:r>
              <a:rPr lang="en-US" sz="1600">
                <a:latin typeface="-apple-system"/>
                <a:ea typeface="-apple-system"/>
                <a:cs typeface="-apple-system"/>
              </a:rPr>
              <a:t> </a:t>
            </a:r>
            <a:r>
              <a:rPr lang="en-US" sz="1600" err="1">
                <a:latin typeface="-apple-system"/>
                <a:ea typeface="-apple-system"/>
                <a:cs typeface="-apple-system"/>
              </a:rPr>
              <a:t>em</a:t>
            </a:r>
            <a:r>
              <a:rPr lang="en-US" sz="1600">
                <a:latin typeface="-apple-system"/>
                <a:ea typeface="-apple-system"/>
                <a:cs typeface="-apple-system"/>
              </a:rPr>
              <a:t> </a:t>
            </a:r>
            <a:r>
              <a:rPr lang="en-US" sz="1600" err="1">
                <a:latin typeface="-apple-system"/>
                <a:ea typeface="-apple-system"/>
                <a:cs typeface="-apple-system"/>
              </a:rPr>
              <a:t>ortofotos</a:t>
            </a:r>
            <a:r>
              <a:rPr lang="en-US" sz="1600">
                <a:latin typeface="-apple-system"/>
                <a:ea typeface="-apple-system"/>
                <a:cs typeface="-apple-system"/>
              </a:rPr>
              <a:t> com um GSD </a:t>
            </a:r>
            <a:r>
              <a:rPr lang="en-US" sz="1600" err="1">
                <a:latin typeface="-apple-system"/>
                <a:ea typeface="-apple-system"/>
                <a:cs typeface="-apple-system"/>
              </a:rPr>
              <a:t>relativamente</a:t>
            </a:r>
            <a:r>
              <a:rPr lang="en-US" sz="1600">
                <a:latin typeface="-apple-system"/>
                <a:ea typeface="-apple-system"/>
                <a:cs typeface="-apple-system"/>
              </a:rPr>
              <a:t> </a:t>
            </a:r>
            <a:r>
              <a:rPr lang="en-US" sz="1600" err="1">
                <a:latin typeface="-apple-system"/>
                <a:ea typeface="-apple-system"/>
                <a:cs typeface="-apple-system"/>
              </a:rPr>
              <a:t>pequeno</a:t>
            </a:r>
            <a:r>
              <a:rPr lang="en-US" sz="1600">
                <a:latin typeface="-apple-system"/>
                <a:ea typeface="-apple-system"/>
                <a:cs typeface="-apple-system"/>
              </a:rPr>
              <a:t>.</a:t>
            </a:r>
            <a:br>
              <a:rPr lang="en-US" sz="1600">
                <a:latin typeface="-apple-system"/>
                <a:ea typeface="-apple-system"/>
                <a:cs typeface="-apple-system"/>
              </a:rPr>
            </a:br>
            <a:br>
              <a:rPr lang="en-US" sz="1600">
                <a:latin typeface="-apple-system"/>
                <a:ea typeface="-apple-system"/>
                <a:cs typeface="-apple-system"/>
              </a:rPr>
            </a:br>
            <a:r>
              <a:rPr lang="en-US" sz="1600">
                <a:latin typeface="-apple-system"/>
                <a:ea typeface="-apple-system"/>
                <a:cs typeface="-apple-system"/>
              </a:rPr>
              <a:t>O </a:t>
            </a:r>
            <a:r>
              <a:rPr lang="en-US" sz="1600" err="1">
                <a:latin typeface="-apple-system"/>
                <a:ea typeface="-apple-system"/>
                <a:cs typeface="-apple-system"/>
              </a:rPr>
              <a:t>impacto</a:t>
            </a:r>
            <a:r>
              <a:rPr lang="en-US" sz="1600">
                <a:latin typeface="-apple-system"/>
                <a:ea typeface="-apple-system"/>
                <a:cs typeface="-apple-system"/>
              </a:rPr>
              <a:t>? Imagine ter </a:t>
            </a:r>
            <a:r>
              <a:rPr lang="en-US" sz="1600" err="1">
                <a:latin typeface="-apple-system"/>
                <a:ea typeface="-apple-system"/>
                <a:cs typeface="-apple-system"/>
              </a:rPr>
              <a:t>uma</a:t>
            </a:r>
            <a:r>
              <a:rPr lang="en-US" sz="1600">
                <a:latin typeface="-apple-system"/>
                <a:ea typeface="-apple-system"/>
                <a:cs typeface="-apple-system"/>
              </a:rPr>
              <a:t> </a:t>
            </a:r>
            <a:r>
              <a:rPr lang="en-US" sz="1600" err="1">
                <a:latin typeface="-apple-system"/>
                <a:ea typeface="-apple-system"/>
                <a:cs typeface="-apple-system"/>
              </a:rPr>
              <a:t>área</a:t>
            </a:r>
            <a:r>
              <a:rPr lang="en-US" sz="1600">
                <a:latin typeface="-apple-system"/>
                <a:ea typeface="-apple-system"/>
                <a:cs typeface="-apple-system"/>
              </a:rPr>
              <a:t> </a:t>
            </a:r>
            <a:r>
              <a:rPr lang="en-US" sz="1600" err="1">
                <a:latin typeface="-apple-system"/>
                <a:ea typeface="-apple-system"/>
                <a:cs typeface="-apple-system"/>
              </a:rPr>
              <a:t>florestal</a:t>
            </a:r>
            <a:r>
              <a:rPr lang="en-US" sz="1600">
                <a:latin typeface="-apple-system"/>
                <a:ea typeface="-apple-system"/>
                <a:cs typeface="-apple-system"/>
              </a:rPr>
              <a:t> </a:t>
            </a:r>
            <a:r>
              <a:rPr lang="en-US" sz="1600" err="1">
                <a:latin typeface="-apple-system"/>
                <a:ea typeface="-apple-system"/>
                <a:cs typeface="-apple-system"/>
              </a:rPr>
              <a:t>digitalizada</a:t>
            </a:r>
            <a:r>
              <a:rPr lang="en-US" sz="1600">
                <a:latin typeface="-apple-system"/>
                <a:ea typeface="-apple-system"/>
                <a:cs typeface="-apple-system"/>
              </a:rPr>
              <a:t>, </a:t>
            </a:r>
            <a:r>
              <a:rPr lang="en-US" sz="1600" err="1">
                <a:latin typeface="-apple-system"/>
                <a:ea typeface="-apple-system"/>
                <a:cs typeface="-apple-system"/>
              </a:rPr>
              <a:t>onde</a:t>
            </a:r>
            <a:r>
              <a:rPr lang="en-US" sz="1600">
                <a:latin typeface="-apple-system"/>
                <a:ea typeface="-apple-system"/>
                <a:cs typeface="-apple-system"/>
              </a:rPr>
              <a:t> </a:t>
            </a:r>
            <a:r>
              <a:rPr lang="en-US" sz="1600" err="1">
                <a:latin typeface="-apple-system"/>
                <a:ea typeface="-apple-system"/>
                <a:cs typeface="-apple-system"/>
              </a:rPr>
              <a:t>cada</a:t>
            </a:r>
            <a:r>
              <a:rPr lang="en-US" sz="1600">
                <a:latin typeface="-apple-system"/>
                <a:ea typeface="-apple-system"/>
                <a:cs typeface="-apple-system"/>
              </a:rPr>
              <a:t> </a:t>
            </a:r>
            <a:r>
              <a:rPr lang="en-US" sz="1600" err="1">
                <a:latin typeface="-apple-system"/>
                <a:ea typeface="-apple-system"/>
                <a:cs typeface="-apple-system"/>
              </a:rPr>
              <a:t>árvore</a:t>
            </a:r>
            <a:r>
              <a:rPr lang="en-US" sz="1600">
                <a:latin typeface="-apple-system"/>
                <a:ea typeface="-apple-system"/>
                <a:cs typeface="-apple-system"/>
              </a:rPr>
              <a:t> é </a:t>
            </a:r>
            <a:r>
              <a:rPr lang="en-US" sz="1600" err="1">
                <a:latin typeface="-apple-system"/>
                <a:ea typeface="-apple-system"/>
                <a:cs typeface="-apple-system"/>
              </a:rPr>
              <a:t>identificada</a:t>
            </a:r>
            <a:r>
              <a:rPr lang="en-US" sz="1600">
                <a:latin typeface="-apple-system"/>
                <a:ea typeface="-apple-system"/>
                <a:cs typeface="-apple-system"/>
              </a:rPr>
              <a:t> de forma </a:t>
            </a:r>
            <a:r>
              <a:rPr lang="en-US" sz="1600" err="1">
                <a:latin typeface="-apple-system"/>
                <a:ea typeface="-apple-system"/>
                <a:cs typeface="-apple-system"/>
              </a:rPr>
              <a:t>precisa</a:t>
            </a:r>
            <a:r>
              <a:rPr lang="en-US" sz="1600">
                <a:latin typeface="-apple-system"/>
                <a:ea typeface="-apple-system"/>
                <a:cs typeface="-apple-system"/>
              </a:rPr>
              <a:t> e </a:t>
            </a:r>
            <a:r>
              <a:rPr lang="en-US" sz="1600" err="1">
                <a:latin typeface="-apple-system"/>
                <a:ea typeface="-apple-system"/>
                <a:cs typeface="-apple-system"/>
              </a:rPr>
              <a:t>rápida</a:t>
            </a:r>
            <a:r>
              <a:rPr lang="en-US" sz="1600">
                <a:latin typeface="-apple-system"/>
                <a:ea typeface="-apple-system"/>
                <a:cs typeface="-apple-system"/>
              </a:rPr>
              <a:t>, </a:t>
            </a:r>
            <a:r>
              <a:rPr lang="en-US" sz="1600" err="1">
                <a:latin typeface="-apple-system"/>
                <a:ea typeface="-apple-system"/>
                <a:cs typeface="-apple-system"/>
              </a:rPr>
              <a:t>pronta</a:t>
            </a:r>
            <a:r>
              <a:rPr lang="en-US" sz="1600">
                <a:latin typeface="-apple-system"/>
                <a:ea typeface="-apple-system"/>
                <a:cs typeface="-apple-system"/>
              </a:rPr>
              <a:t> para </a:t>
            </a:r>
            <a:r>
              <a:rPr lang="en-US" sz="1600" err="1">
                <a:latin typeface="-apple-system"/>
                <a:ea typeface="-apple-system"/>
                <a:cs typeface="-apple-system"/>
              </a:rPr>
              <a:t>análises</a:t>
            </a:r>
            <a:r>
              <a:rPr lang="en-US" sz="1600">
                <a:latin typeface="-apple-system"/>
                <a:ea typeface="-apple-system"/>
                <a:cs typeface="-apple-system"/>
              </a:rPr>
              <a:t> </a:t>
            </a:r>
            <a:r>
              <a:rPr lang="en-US" sz="1600" err="1">
                <a:latin typeface="-apple-system"/>
                <a:ea typeface="-apple-system"/>
                <a:cs typeface="-apple-system"/>
              </a:rPr>
              <a:t>ambientais</a:t>
            </a:r>
            <a:r>
              <a:rPr lang="en-US" sz="1600">
                <a:latin typeface="-apple-system"/>
                <a:ea typeface="-apple-system"/>
                <a:cs typeface="-apple-system"/>
              </a:rPr>
              <a:t> </a:t>
            </a:r>
            <a:r>
              <a:rPr lang="en-US" sz="1600" err="1">
                <a:latin typeface="-apple-system"/>
                <a:ea typeface="-apple-system"/>
                <a:cs typeface="-apple-system"/>
              </a:rPr>
              <a:t>detalhadas</a:t>
            </a:r>
            <a:r>
              <a:rPr lang="en-US" sz="1600">
                <a:latin typeface="-apple-system"/>
                <a:ea typeface="-apple-system"/>
                <a:cs typeface="-apple-system"/>
              </a:rPr>
              <a:t>!</a:t>
            </a:r>
            <a:br>
              <a:rPr lang="en-US" sz="1600">
                <a:latin typeface="-apple-system"/>
                <a:ea typeface="-apple-system"/>
                <a:cs typeface="-apple-system"/>
              </a:rPr>
            </a:br>
            <a:br>
              <a:rPr lang="en-US" sz="1600">
                <a:latin typeface="-apple-system"/>
                <a:ea typeface="-apple-system"/>
                <a:cs typeface="-apple-system"/>
              </a:rPr>
            </a:br>
            <a:r>
              <a:rPr lang="en-US" sz="1600">
                <a:latin typeface="-apple-system"/>
                <a:ea typeface="-apple-system"/>
                <a:cs typeface="-apple-system"/>
              </a:rPr>
              <a:t>Esse </a:t>
            </a:r>
            <a:r>
              <a:rPr lang="en-US" sz="1600" err="1">
                <a:latin typeface="-apple-system"/>
                <a:ea typeface="-apple-system"/>
                <a:cs typeface="-apple-system"/>
              </a:rPr>
              <a:t>exemplo</a:t>
            </a:r>
            <a:r>
              <a:rPr lang="en-US" sz="1600">
                <a:latin typeface="-apple-system"/>
                <a:ea typeface="-apple-system"/>
                <a:cs typeface="-apple-system"/>
              </a:rPr>
              <a:t> do Tree Detect me </a:t>
            </a:r>
            <a:r>
              <a:rPr lang="en-US" sz="1600" err="1">
                <a:latin typeface="-apple-system"/>
                <a:ea typeface="-apple-system"/>
                <a:cs typeface="-apple-system"/>
              </a:rPr>
              <a:t>mostrou</a:t>
            </a:r>
            <a:r>
              <a:rPr lang="en-US" sz="1600">
                <a:latin typeface="-apple-system"/>
                <a:ea typeface="-apple-system"/>
                <a:cs typeface="-apple-system"/>
              </a:rPr>
              <a:t> o </a:t>
            </a:r>
            <a:r>
              <a:rPr lang="en-US" sz="1600" err="1">
                <a:latin typeface="-apple-system"/>
                <a:ea typeface="-apple-system"/>
                <a:cs typeface="-apple-system"/>
              </a:rPr>
              <a:t>poder</a:t>
            </a:r>
            <a:r>
              <a:rPr lang="en-US" sz="1600">
                <a:latin typeface="-apple-system"/>
                <a:ea typeface="-apple-system"/>
                <a:cs typeface="-apple-system"/>
              </a:rPr>
              <a:t> de Python: de algo </a:t>
            </a:r>
            <a:r>
              <a:rPr lang="en-US" sz="1600" err="1">
                <a:latin typeface="-apple-system"/>
                <a:ea typeface="-apple-system"/>
                <a:cs typeface="-apple-system"/>
              </a:rPr>
              <a:t>que</a:t>
            </a:r>
            <a:r>
              <a:rPr lang="en-US" sz="1600">
                <a:latin typeface="-apple-system"/>
                <a:ea typeface="-apple-system"/>
                <a:cs typeface="-apple-system"/>
              </a:rPr>
              <a:t> </a:t>
            </a:r>
            <a:r>
              <a:rPr lang="en-US" sz="1600" err="1">
                <a:latin typeface="-apple-system"/>
                <a:ea typeface="-apple-system"/>
                <a:cs typeface="-apple-system"/>
              </a:rPr>
              <a:t>parecia</a:t>
            </a:r>
            <a:r>
              <a:rPr lang="en-US" sz="1600">
                <a:latin typeface="-apple-system"/>
                <a:ea typeface="-apple-system"/>
                <a:cs typeface="-apple-system"/>
              </a:rPr>
              <a:t> </a:t>
            </a:r>
            <a:r>
              <a:rPr lang="en-US" sz="1600" err="1">
                <a:latin typeface="-apple-system"/>
                <a:ea typeface="-apple-system"/>
                <a:cs typeface="-apple-system"/>
              </a:rPr>
              <a:t>apenas</a:t>
            </a:r>
            <a:r>
              <a:rPr lang="en-US" sz="1600">
                <a:latin typeface="-apple-system"/>
                <a:ea typeface="-apple-system"/>
                <a:cs typeface="-apple-system"/>
              </a:rPr>
              <a:t> para </a:t>
            </a:r>
            <a:r>
              <a:rPr lang="en-US" sz="1600" err="1">
                <a:latin typeface="-apple-system"/>
                <a:ea typeface="-apple-system"/>
                <a:cs typeface="-apple-system"/>
              </a:rPr>
              <a:t>agilizar</a:t>
            </a:r>
            <a:r>
              <a:rPr lang="en-US" sz="1600">
                <a:latin typeface="-apple-system"/>
                <a:ea typeface="-apple-system"/>
                <a:cs typeface="-apple-system"/>
              </a:rPr>
              <a:t> o </a:t>
            </a:r>
            <a:r>
              <a:rPr lang="en-US" sz="1600" err="1">
                <a:latin typeface="-apple-system"/>
                <a:ea typeface="-apple-system"/>
                <a:cs typeface="-apple-system"/>
              </a:rPr>
              <a:t>básico</a:t>
            </a:r>
            <a:r>
              <a:rPr lang="en-US" sz="1600">
                <a:latin typeface="-apple-system"/>
                <a:ea typeface="-apple-system"/>
                <a:cs typeface="-apple-system"/>
              </a:rPr>
              <a:t>, </a:t>
            </a:r>
            <a:r>
              <a:rPr lang="en-US" sz="1600" err="1">
                <a:latin typeface="-apple-system"/>
                <a:ea typeface="-apple-system"/>
                <a:cs typeface="-apple-system"/>
              </a:rPr>
              <a:t>passei</a:t>
            </a:r>
            <a:r>
              <a:rPr lang="en-US" sz="1600">
                <a:latin typeface="-apple-system"/>
                <a:ea typeface="-apple-system"/>
                <a:cs typeface="-apple-system"/>
              </a:rPr>
              <a:t> a </a:t>
            </a:r>
            <a:r>
              <a:rPr lang="en-US" sz="1600" err="1">
                <a:latin typeface="-apple-system"/>
                <a:ea typeface="-apple-system"/>
                <a:cs typeface="-apple-system"/>
              </a:rPr>
              <a:t>realizar</a:t>
            </a:r>
            <a:r>
              <a:rPr lang="en-US" sz="1600">
                <a:latin typeface="-apple-system"/>
                <a:ea typeface="-apple-system"/>
                <a:cs typeface="-apple-system"/>
              </a:rPr>
              <a:t> </a:t>
            </a:r>
            <a:r>
              <a:rPr lang="en-US" sz="1600" err="1">
                <a:latin typeface="-apple-system"/>
                <a:ea typeface="-apple-system"/>
                <a:cs typeface="-apple-system"/>
              </a:rPr>
              <a:t>análises</a:t>
            </a:r>
            <a:r>
              <a:rPr lang="en-US" sz="1600">
                <a:latin typeface="-apple-system"/>
                <a:ea typeface="-apple-system"/>
                <a:cs typeface="-apple-system"/>
              </a:rPr>
              <a:t> </a:t>
            </a:r>
            <a:r>
              <a:rPr lang="en-US" sz="1600" err="1">
                <a:latin typeface="-apple-system"/>
                <a:ea typeface="-apple-system"/>
                <a:cs typeface="-apple-system"/>
              </a:rPr>
              <a:t>complexas</a:t>
            </a:r>
            <a:r>
              <a:rPr lang="en-US" sz="1600">
                <a:latin typeface="-apple-system"/>
                <a:ea typeface="-apple-system"/>
                <a:cs typeface="-apple-system"/>
              </a:rPr>
              <a:t>, antes </a:t>
            </a:r>
            <a:r>
              <a:rPr lang="en-US" sz="1600" err="1">
                <a:latin typeface="-apple-system"/>
                <a:ea typeface="-apple-system"/>
                <a:cs typeface="-apple-system"/>
              </a:rPr>
              <a:t>quase</a:t>
            </a:r>
            <a:r>
              <a:rPr lang="en-US" sz="1600">
                <a:latin typeface="-apple-system"/>
                <a:ea typeface="-apple-system"/>
                <a:cs typeface="-apple-system"/>
              </a:rPr>
              <a:t> </a:t>
            </a:r>
            <a:r>
              <a:rPr lang="en-US" sz="1600" err="1">
                <a:latin typeface="-apple-system"/>
                <a:ea typeface="-apple-system"/>
                <a:cs typeface="-apple-system"/>
              </a:rPr>
              <a:t>impensáveis</a:t>
            </a:r>
            <a:r>
              <a:rPr lang="en-US" sz="1600">
                <a:latin typeface="-apple-system"/>
                <a:ea typeface="-apple-system"/>
                <a:cs typeface="-apple-system"/>
              </a:rPr>
              <a:t>. E é </a:t>
            </a:r>
            <a:r>
              <a:rPr lang="en-US" sz="1600" err="1">
                <a:latin typeface="-apple-system"/>
                <a:ea typeface="-apple-system"/>
                <a:cs typeface="-apple-system"/>
              </a:rPr>
              <a:t>assim</a:t>
            </a:r>
            <a:r>
              <a:rPr lang="en-US" sz="1600">
                <a:latin typeface="-apple-system"/>
                <a:ea typeface="-apple-system"/>
                <a:cs typeface="-apple-system"/>
              </a:rPr>
              <a:t> </a:t>
            </a:r>
            <a:r>
              <a:rPr lang="en-US" sz="1600" err="1">
                <a:latin typeface="-apple-system"/>
                <a:ea typeface="-apple-system"/>
                <a:cs typeface="-apple-system"/>
              </a:rPr>
              <a:t>que</a:t>
            </a:r>
            <a:r>
              <a:rPr lang="en-US" sz="1600">
                <a:latin typeface="-apple-system"/>
                <a:ea typeface="-apple-system"/>
                <a:cs typeface="-apple-system"/>
              </a:rPr>
              <a:t> </a:t>
            </a:r>
            <a:r>
              <a:rPr lang="en-US" sz="1600" err="1">
                <a:latin typeface="-apple-system"/>
                <a:ea typeface="-apple-system"/>
                <a:cs typeface="-apple-system"/>
              </a:rPr>
              <a:t>eu</a:t>
            </a:r>
            <a:r>
              <a:rPr lang="en-US" sz="1600">
                <a:latin typeface="-apple-system"/>
                <a:ea typeface="-apple-system"/>
                <a:cs typeface="-apple-system"/>
              </a:rPr>
              <a:t> </a:t>
            </a:r>
            <a:r>
              <a:rPr lang="en-US" sz="1600" err="1">
                <a:latin typeface="-apple-system"/>
                <a:ea typeface="-apple-system"/>
                <a:cs typeface="-apple-system"/>
              </a:rPr>
              <a:t>vejo</a:t>
            </a:r>
            <a:r>
              <a:rPr lang="en-US" sz="1600">
                <a:latin typeface="-apple-system"/>
                <a:ea typeface="-apple-system"/>
                <a:cs typeface="-apple-system"/>
              </a:rPr>
              <a:t> a </a:t>
            </a:r>
            <a:r>
              <a:rPr lang="en-US" sz="1600" err="1">
                <a:latin typeface="-apple-system"/>
                <a:ea typeface="-apple-system"/>
                <a:cs typeface="-apple-system"/>
              </a:rPr>
              <a:t>programação</a:t>
            </a:r>
            <a:r>
              <a:rPr lang="en-US" sz="1600">
                <a:latin typeface="-apple-system"/>
                <a:ea typeface="-apple-system"/>
                <a:cs typeface="-apple-system"/>
              </a:rPr>
              <a:t> </a:t>
            </a:r>
            <a:r>
              <a:rPr lang="en-US" sz="1600" err="1">
                <a:latin typeface="-apple-system"/>
                <a:ea typeface="-apple-system"/>
                <a:cs typeface="-apple-system"/>
              </a:rPr>
              <a:t>aplicada</a:t>
            </a:r>
            <a:r>
              <a:rPr lang="en-US" sz="1600">
                <a:latin typeface="-apple-system"/>
                <a:ea typeface="-apple-system"/>
                <a:cs typeface="-apple-system"/>
              </a:rPr>
              <a:t> </a:t>
            </a:r>
            <a:r>
              <a:rPr lang="en-US" sz="1600" err="1">
                <a:latin typeface="-apple-system"/>
                <a:ea typeface="-apple-system"/>
                <a:cs typeface="-apple-system"/>
              </a:rPr>
              <a:t>ao</a:t>
            </a:r>
            <a:r>
              <a:rPr lang="en-US" sz="1600">
                <a:latin typeface="-apple-system"/>
                <a:ea typeface="-apple-system"/>
                <a:cs typeface="-apple-system"/>
              </a:rPr>
              <a:t> </a:t>
            </a:r>
            <a:r>
              <a:rPr lang="en-US" sz="1600" err="1">
                <a:latin typeface="-apple-system"/>
                <a:ea typeface="-apple-system"/>
                <a:cs typeface="-apple-system"/>
              </a:rPr>
              <a:t>geoprocessamento</a:t>
            </a:r>
            <a:r>
              <a:rPr lang="en-US" sz="1600">
                <a:latin typeface="-apple-system"/>
                <a:ea typeface="-apple-system"/>
                <a:cs typeface="-apple-system"/>
              </a:rPr>
              <a:t>: </a:t>
            </a:r>
            <a:r>
              <a:rPr lang="en-US" sz="1600" err="1">
                <a:latin typeface="-apple-system"/>
                <a:ea typeface="-apple-system"/>
                <a:cs typeface="-apple-system"/>
              </a:rPr>
              <a:t>como</a:t>
            </a:r>
            <a:r>
              <a:rPr lang="en-US" sz="1600">
                <a:latin typeface="-apple-system"/>
                <a:ea typeface="-apple-system"/>
                <a:cs typeface="-apple-system"/>
              </a:rPr>
              <a:t> um </a:t>
            </a:r>
            <a:r>
              <a:rPr lang="en-US" sz="1600" err="1">
                <a:latin typeface="-apple-system"/>
                <a:ea typeface="-apple-system"/>
                <a:cs typeface="-apple-system"/>
              </a:rPr>
              <a:t>mundo</a:t>
            </a:r>
            <a:r>
              <a:rPr lang="en-US" sz="1600">
                <a:latin typeface="-apple-system"/>
                <a:ea typeface="-apple-system"/>
                <a:cs typeface="-apple-system"/>
              </a:rPr>
              <a:t> </a:t>
            </a:r>
            <a:r>
              <a:rPr lang="en-US" sz="1600" err="1">
                <a:latin typeface="-apple-system"/>
                <a:ea typeface="-apple-system"/>
                <a:cs typeface="-apple-system"/>
              </a:rPr>
              <a:t>em</a:t>
            </a:r>
            <a:r>
              <a:rPr lang="en-US" sz="1600">
                <a:latin typeface="-apple-system"/>
                <a:ea typeface="-apple-system"/>
                <a:cs typeface="-apple-system"/>
              </a:rPr>
              <a:t> </a:t>
            </a:r>
            <a:r>
              <a:rPr lang="en-US" sz="1600" err="1">
                <a:latin typeface="-apple-system"/>
                <a:ea typeface="-apple-system"/>
                <a:cs typeface="-apple-system"/>
              </a:rPr>
              <a:t>que</a:t>
            </a:r>
            <a:r>
              <a:rPr lang="en-US" sz="1600">
                <a:latin typeface="-apple-system"/>
                <a:ea typeface="-apple-system"/>
                <a:cs typeface="-apple-system"/>
              </a:rPr>
              <a:t> </a:t>
            </a:r>
            <a:r>
              <a:rPr lang="en-US" sz="1600" err="1">
                <a:latin typeface="-apple-system"/>
                <a:ea typeface="-apple-system"/>
                <a:cs typeface="-apple-system"/>
              </a:rPr>
              <a:t>criatividade</a:t>
            </a:r>
            <a:r>
              <a:rPr lang="en-US" sz="1600">
                <a:latin typeface="-apple-system"/>
                <a:ea typeface="-apple-system"/>
                <a:cs typeface="-apple-system"/>
              </a:rPr>
              <a:t> e </a:t>
            </a:r>
            <a:r>
              <a:rPr lang="en-US" sz="1600" err="1">
                <a:latin typeface="-apple-system"/>
                <a:ea typeface="-apple-system"/>
                <a:cs typeface="-apple-system"/>
              </a:rPr>
              <a:t>código</a:t>
            </a:r>
            <a:r>
              <a:rPr lang="en-US" sz="1600">
                <a:latin typeface="-apple-system"/>
                <a:ea typeface="-apple-system"/>
                <a:cs typeface="-apple-system"/>
              </a:rPr>
              <a:t> se </a:t>
            </a:r>
            <a:r>
              <a:rPr lang="en-US" sz="1600" err="1">
                <a:latin typeface="-apple-system"/>
                <a:ea typeface="-apple-system"/>
                <a:cs typeface="-apple-system"/>
              </a:rPr>
              <a:t>encontram</a:t>
            </a:r>
            <a:r>
              <a:rPr lang="en-US" sz="1600">
                <a:latin typeface="-apple-system"/>
                <a:ea typeface="-apple-system"/>
                <a:cs typeface="-apple-system"/>
              </a:rPr>
              <a:t>. "Engatinhar" </a:t>
            </a:r>
            <a:r>
              <a:rPr lang="en-US" sz="1600" err="1">
                <a:latin typeface="-apple-system"/>
                <a:ea typeface="-apple-system"/>
                <a:cs typeface="-apple-system"/>
              </a:rPr>
              <a:t>na</a:t>
            </a:r>
            <a:r>
              <a:rPr lang="en-US" sz="1600">
                <a:latin typeface="-apple-system"/>
                <a:ea typeface="-apple-system"/>
                <a:cs typeface="-apple-system"/>
              </a:rPr>
              <a:t> </a:t>
            </a:r>
            <a:r>
              <a:rPr lang="en-US" sz="1600" err="1">
                <a:latin typeface="-apple-system"/>
                <a:ea typeface="-apple-system"/>
                <a:cs typeface="-apple-system"/>
              </a:rPr>
              <a:t>programação</a:t>
            </a:r>
            <a:r>
              <a:rPr lang="en-US" sz="1600">
                <a:latin typeface="-apple-system"/>
                <a:ea typeface="-apple-system"/>
                <a:cs typeface="-apple-system"/>
              </a:rPr>
              <a:t> é, </a:t>
            </a:r>
            <a:r>
              <a:rPr lang="en-US" sz="1600" err="1">
                <a:latin typeface="-apple-system"/>
                <a:ea typeface="-apple-system"/>
                <a:cs typeface="-apple-system"/>
              </a:rPr>
              <a:t>sem</a:t>
            </a:r>
            <a:r>
              <a:rPr lang="en-US" sz="1600">
                <a:latin typeface="-apple-system"/>
                <a:ea typeface="-apple-system"/>
                <a:cs typeface="-apple-system"/>
              </a:rPr>
              <a:t> </a:t>
            </a:r>
            <a:r>
              <a:rPr lang="en-US" sz="1600" err="1">
                <a:latin typeface="-apple-system"/>
                <a:ea typeface="-apple-system"/>
                <a:cs typeface="-apple-system"/>
              </a:rPr>
              <a:t>dúvida</a:t>
            </a:r>
            <a:r>
              <a:rPr lang="en-US" sz="1600">
                <a:latin typeface="-apple-system"/>
                <a:ea typeface="-apple-system"/>
                <a:cs typeface="-apple-system"/>
              </a:rPr>
              <a:t>, o </a:t>
            </a:r>
            <a:r>
              <a:rPr lang="en-US" sz="1600" err="1">
                <a:latin typeface="-apple-system"/>
                <a:ea typeface="-apple-system"/>
                <a:cs typeface="-apple-system"/>
              </a:rPr>
              <a:t>passo</a:t>
            </a:r>
            <a:r>
              <a:rPr lang="en-US" sz="1600">
                <a:latin typeface="-apple-system"/>
                <a:ea typeface="-apple-system"/>
                <a:cs typeface="-apple-system"/>
              </a:rPr>
              <a:t> </a:t>
            </a:r>
            <a:r>
              <a:rPr lang="en-US" sz="1600" err="1">
                <a:latin typeface="-apple-system"/>
                <a:ea typeface="-apple-system"/>
                <a:cs typeface="-apple-system"/>
              </a:rPr>
              <a:t>mais</a:t>
            </a:r>
            <a:r>
              <a:rPr lang="en-US" sz="1600">
                <a:latin typeface="-apple-system"/>
                <a:ea typeface="-apple-system"/>
                <a:cs typeface="-apple-system"/>
              </a:rPr>
              <a:t> </a:t>
            </a:r>
            <a:r>
              <a:rPr lang="en-US" sz="1600" err="1">
                <a:latin typeface="-apple-system"/>
                <a:ea typeface="-apple-system"/>
                <a:cs typeface="-apple-system"/>
              </a:rPr>
              <a:t>importante</a:t>
            </a:r>
            <a:r>
              <a:rPr lang="en-US" sz="1600">
                <a:latin typeface="-apple-system"/>
                <a:ea typeface="-apple-system"/>
                <a:cs typeface="-apple-system"/>
              </a:rPr>
              <a:t>. Com Python e </a:t>
            </a:r>
            <a:r>
              <a:rPr lang="en-US" sz="1600" err="1">
                <a:latin typeface="-apple-system"/>
                <a:ea typeface="-apple-system"/>
                <a:cs typeface="-apple-system"/>
              </a:rPr>
              <a:t>várias</a:t>
            </a:r>
            <a:r>
              <a:rPr lang="en-US" sz="1600">
                <a:latin typeface="-apple-system"/>
                <a:ea typeface="-apple-system"/>
                <a:cs typeface="-apple-system"/>
              </a:rPr>
              <a:t> </a:t>
            </a:r>
            <a:r>
              <a:rPr lang="en-US" sz="1600" err="1">
                <a:latin typeface="-apple-system"/>
                <a:ea typeface="-apple-system"/>
                <a:cs typeface="-apple-system"/>
              </a:rPr>
              <a:t>bibliotecas</a:t>
            </a:r>
            <a:r>
              <a:rPr lang="en-US" sz="1600">
                <a:latin typeface="-apple-system"/>
                <a:ea typeface="-apple-system"/>
                <a:cs typeface="-apple-system"/>
              </a:rPr>
              <a:t> GIS, o </a:t>
            </a:r>
            <a:r>
              <a:rPr lang="en-US" sz="1600" err="1">
                <a:latin typeface="-apple-system"/>
                <a:ea typeface="-apple-system"/>
                <a:cs typeface="-apple-system"/>
              </a:rPr>
              <a:t>limite</a:t>
            </a:r>
            <a:r>
              <a:rPr lang="en-US" sz="1600">
                <a:latin typeface="-apple-system"/>
                <a:ea typeface="-apple-system"/>
                <a:cs typeface="-apple-system"/>
              </a:rPr>
              <a:t> é </a:t>
            </a:r>
            <a:r>
              <a:rPr lang="en-US" sz="1600" err="1">
                <a:latin typeface="-apple-system"/>
                <a:ea typeface="-apple-system"/>
                <a:cs typeface="-apple-system"/>
              </a:rPr>
              <a:t>sua</a:t>
            </a:r>
            <a:r>
              <a:rPr lang="en-US" sz="1600">
                <a:latin typeface="-apple-system"/>
                <a:ea typeface="-apple-system"/>
                <a:cs typeface="-apple-system"/>
              </a:rPr>
              <a:t> </a:t>
            </a:r>
            <a:r>
              <a:rPr lang="en-US" sz="1600" err="1">
                <a:latin typeface="-apple-system"/>
                <a:ea typeface="-apple-system"/>
                <a:cs typeface="-apple-system"/>
              </a:rPr>
              <a:t>imaginação</a:t>
            </a:r>
            <a:r>
              <a:rPr lang="en-US" sz="1600">
                <a:latin typeface="-apple-system"/>
                <a:ea typeface="-apple-system"/>
                <a:cs typeface="-apple-system"/>
              </a:rPr>
              <a:t> – e a </a:t>
            </a:r>
            <a:r>
              <a:rPr lang="en-US" sz="1600" err="1">
                <a:latin typeface="-apple-system"/>
                <a:ea typeface="-apple-system"/>
                <a:cs typeface="-apple-system"/>
              </a:rPr>
              <a:t>necessidade</a:t>
            </a:r>
            <a:r>
              <a:rPr lang="en-US" sz="1600">
                <a:latin typeface="-apple-system"/>
                <a:ea typeface="-apple-system"/>
                <a:cs typeface="-apple-system"/>
              </a:rPr>
              <a:t> de resolver </a:t>
            </a:r>
            <a:r>
              <a:rPr lang="en-US" sz="1600" err="1">
                <a:latin typeface="-apple-system"/>
                <a:ea typeface="-apple-system"/>
                <a:cs typeface="-apple-system"/>
              </a:rPr>
              <a:t>problemas</a:t>
            </a:r>
            <a:r>
              <a:rPr lang="en-US" sz="1600">
                <a:latin typeface="-apple-system"/>
                <a:ea typeface="-apple-system"/>
                <a:cs typeface="-apple-system"/>
              </a:rPr>
              <a:t> de </a:t>
            </a:r>
            <a:r>
              <a:rPr lang="en-US" sz="1600" err="1">
                <a:latin typeface="-apple-system"/>
                <a:ea typeface="-apple-system"/>
                <a:cs typeface="-apple-system"/>
              </a:rPr>
              <a:t>maneira</a:t>
            </a:r>
            <a:r>
              <a:rPr lang="en-US" sz="1600">
                <a:latin typeface="-apple-system"/>
                <a:ea typeface="-apple-system"/>
                <a:cs typeface="-apple-system"/>
              </a:rPr>
              <a:t> </a:t>
            </a:r>
            <a:r>
              <a:rPr lang="en-US" sz="1600" err="1">
                <a:latin typeface="-apple-system"/>
                <a:ea typeface="-apple-system"/>
                <a:cs typeface="-apple-system"/>
              </a:rPr>
              <a:t>inovadora</a:t>
            </a:r>
            <a:r>
              <a:rPr lang="en-US" sz="1600">
                <a:latin typeface="-apple-system"/>
                <a:ea typeface="-apple-system"/>
                <a:cs typeface="-apple-system"/>
              </a:rPr>
              <a:t>.</a:t>
            </a:r>
            <a:br>
              <a:rPr lang="en-US" sz="1600">
                <a:latin typeface="-apple-system"/>
                <a:ea typeface="-apple-system"/>
                <a:cs typeface="-apple-system"/>
              </a:rPr>
            </a:br>
            <a:br>
              <a:rPr lang="en-US" sz="1600">
                <a:latin typeface="-apple-system"/>
                <a:ea typeface="-apple-system"/>
                <a:cs typeface="-apple-system"/>
              </a:rPr>
            </a:br>
            <a:r>
              <a:rPr lang="en-US" sz="1600" err="1">
                <a:latin typeface="-apple-system"/>
                <a:ea typeface="-apple-system"/>
                <a:cs typeface="-apple-system"/>
              </a:rPr>
              <a:t>Hoje</a:t>
            </a:r>
            <a:r>
              <a:rPr lang="en-US" sz="1600">
                <a:latin typeface="-apple-system"/>
                <a:ea typeface="-apple-system"/>
                <a:cs typeface="-apple-system"/>
              </a:rPr>
              <a:t> é algo do meu </a:t>
            </a:r>
            <a:r>
              <a:rPr lang="en-US" sz="1600" err="1">
                <a:latin typeface="-apple-system"/>
                <a:ea typeface="-apple-system"/>
                <a:cs typeface="-apple-system"/>
              </a:rPr>
              <a:t>dia</a:t>
            </a:r>
            <a:r>
              <a:rPr lang="en-US" sz="1600">
                <a:latin typeface="-apple-system"/>
                <a:ea typeface="-apple-system"/>
                <a:cs typeface="-apple-system"/>
              </a:rPr>
              <a:t> a </a:t>
            </a:r>
            <a:r>
              <a:rPr lang="en-US" sz="1600" err="1">
                <a:latin typeface="-apple-system"/>
                <a:ea typeface="-apple-system"/>
                <a:cs typeface="-apple-system"/>
              </a:rPr>
              <a:t>dia</a:t>
            </a:r>
            <a:r>
              <a:rPr lang="en-US" sz="1600">
                <a:latin typeface="-apple-system"/>
                <a:ea typeface="-apple-system"/>
                <a:cs typeface="-apple-system"/>
              </a:rPr>
              <a:t>, o qual </a:t>
            </a:r>
            <a:r>
              <a:rPr lang="en-US" sz="1600" err="1">
                <a:latin typeface="-apple-system"/>
                <a:ea typeface="-apple-system"/>
                <a:cs typeface="-apple-system"/>
              </a:rPr>
              <a:t>não</a:t>
            </a:r>
            <a:r>
              <a:rPr lang="en-US" sz="1600">
                <a:latin typeface="-apple-system"/>
                <a:ea typeface="-apple-system"/>
                <a:cs typeface="-apple-system"/>
              </a:rPr>
              <a:t> </a:t>
            </a:r>
            <a:r>
              <a:rPr lang="en-US" sz="1600" err="1">
                <a:latin typeface="-apple-system"/>
                <a:ea typeface="-apple-system"/>
                <a:cs typeface="-apple-system"/>
              </a:rPr>
              <a:t>abro</a:t>
            </a:r>
            <a:r>
              <a:rPr lang="en-US" sz="1600">
                <a:latin typeface="-apple-system"/>
                <a:ea typeface="-apple-system"/>
                <a:cs typeface="-apple-system"/>
              </a:rPr>
              <a:t> mal.</a:t>
            </a:r>
            <a:endParaRPr lang="en-US" sz="1600">
              <a:ea typeface="Calibri"/>
              <a:cs typeface="Calibri"/>
            </a:endParaRPr>
          </a:p>
          <a:p>
            <a:pPr algn="ctr"/>
            <a:endParaRPr lang="pt-BR" sz="1600">
              <a:ea typeface="Calibri"/>
              <a:cs typeface="Calibri"/>
            </a:endParaRPr>
          </a:p>
        </p:txBody>
      </p:sp>
      <p:sp>
        <p:nvSpPr>
          <p:cNvPr id="5" name="CaixaDeTexto 4">
            <a:extLst>
              <a:ext uri="{FF2B5EF4-FFF2-40B4-BE49-F238E27FC236}">
                <a16:creationId xmlns:a16="http://schemas.microsoft.com/office/drawing/2014/main" id="{05BACA00-055B-9465-66E9-A2E4F62B0879}"/>
              </a:ext>
            </a:extLst>
          </p:cNvPr>
          <p:cNvSpPr txBox="1"/>
          <p:nvPr/>
        </p:nvSpPr>
        <p:spPr>
          <a:xfrm>
            <a:off x="7504981" y="4421038"/>
            <a:ext cx="4399472"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Link: https://www.linkedin.com/posts/luis-felipe-bispo-dos-santos-8a0ba1218_recentemente-me-perguntaram-como-e-para-activity-7255542089826877441-C_99?utm_source=share&amp;utm_medium=member_desktop&amp;rcm=ACoAAAMQtAUB5UouXqdBJgo_gWpNVZ7Imay_2Tg</a:t>
            </a:r>
          </a:p>
          <a:p>
            <a:pPr algn="ctr"/>
            <a:endParaRPr lang="pt-BR"/>
          </a:p>
        </p:txBody>
      </p:sp>
      <mc:AlternateContent xmlns:mc="http://schemas.openxmlformats.org/markup-compatibility/2006" xmlns:p14="http://schemas.microsoft.com/office/powerpoint/2010/main">
        <mc:Choice Requires="p14">
          <p:contentPart p14:bwMode="auto" r:id="rId2">
            <p14:nvContentPartPr>
              <p14:cNvPr id="6" name="Tinta 5">
                <a:extLst>
                  <a:ext uri="{FF2B5EF4-FFF2-40B4-BE49-F238E27FC236}">
                    <a16:creationId xmlns:a16="http://schemas.microsoft.com/office/drawing/2014/main" id="{BF0EDF68-A4C8-A840-D372-DC345AC5D7F4}"/>
                  </a:ext>
                </a:extLst>
              </p14:cNvPr>
              <p14:cNvContentPartPr/>
              <p14:nvPr/>
            </p14:nvContentPartPr>
            <p14:xfrm>
              <a:off x="7382652" y="4385388"/>
              <a:ext cx="15551" cy="2462058"/>
            </p14:xfrm>
          </p:contentPart>
        </mc:Choice>
        <mc:Fallback xmlns="">
          <p:pic>
            <p:nvPicPr>
              <p:cNvPr id="6" name="Tinta 5">
                <a:extLst>
                  <a:ext uri="{FF2B5EF4-FFF2-40B4-BE49-F238E27FC236}">
                    <a16:creationId xmlns:a16="http://schemas.microsoft.com/office/drawing/2014/main" id="{BF0EDF68-A4C8-A840-D372-DC345AC5D7F4}"/>
                  </a:ext>
                </a:extLst>
              </p:cNvPr>
              <p:cNvPicPr/>
              <p:nvPr/>
            </p:nvPicPr>
            <p:blipFill>
              <a:blip r:embed="rId3"/>
              <a:stretch>
                <a:fillRect/>
              </a:stretch>
            </p:blipFill>
            <p:spPr>
              <a:xfrm>
                <a:off x="6605102" y="4367390"/>
                <a:ext cx="1555100" cy="2497693"/>
              </a:xfrm>
              <a:prstGeom prst="rect">
                <a:avLst/>
              </a:prstGeom>
            </p:spPr>
          </p:pic>
        </mc:Fallback>
      </mc:AlternateContent>
    </p:spTree>
    <p:extLst>
      <p:ext uri="{BB962C8B-B14F-4D97-AF65-F5344CB8AC3E}">
        <p14:creationId xmlns:p14="http://schemas.microsoft.com/office/powerpoint/2010/main" val="393543430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90351BEE-7B58-A308-1B59-4EFA6C8E3E90}"/>
              </a:ext>
            </a:extLst>
          </p:cNvPr>
          <p:cNvSpPr txBox="1"/>
          <p:nvPr/>
        </p:nvSpPr>
        <p:spPr>
          <a:xfrm>
            <a:off x="5909095" y="467264"/>
            <a:ext cx="6096000" cy="59093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Choosing the right geospatial data format can significantly impact your workflow. </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While Shapefile has long been the industry standard for GIS professionals, GeoJSON has emerged as a more modern and web-friendly option. </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This infographic breaks down the key differences between these two formats, helping you decide which is best for your needs.</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Both Shapefile and GeoJSON offer unique advantages depending on your project requirements. </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Whether you prioritize compatibility and complexity or web integration and simplicity, understanding these differences will help you make informed decisions for efficient data management.</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If you find this post insightful, kindly consider reposting. </a:t>
            </a:r>
            <a:endParaRPr lang="en-US"/>
          </a:p>
          <a:p>
            <a:pPr algn="ctr"/>
            <a:endParaRPr lang="pt-BR"/>
          </a:p>
        </p:txBody>
      </p:sp>
      <p:pic>
        <p:nvPicPr>
          <p:cNvPr id="5" name="Imagem 4" descr="Não foi fornecido texto alternativo para esta imagem">
            <a:extLst>
              <a:ext uri="{FF2B5EF4-FFF2-40B4-BE49-F238E27FC236}">
                <a16:creationId xmlns:a16="http://schemas.microsoft.com/office/drawing/2014/main" id="{4EC259E4-31B4-4289-61A4-53E169B7387D}"/>
              </a:ext>
            </a:extLst>
          </p:cNvPr>
          <p:cNvPicPr>
            <a:picLocks noChangeAspect="1"/>
          </p:cNvPicPr>
          <p:nvPr/>
        </p:nvPicPr>
        <p:blipFill>
          <a:blip r:embed="rId2"/>
          <a:stretch>
            <a:fillRect/>
          </a:stretch>
        </p:blipFill>
        <p:spPr>
          <a:xfrm>
            <a:off x="690113" y="582374"/>
            <a:ext cx="4442604" cy="4097367"/>
          </a:xfrm>
          <a:prstGeom prst="rect">
            <a:avLst/>
          </a:prstGeom>
        </p:spPr>
      </p:pic>
      <p:sp>
        <p:nvSpPr>
          <p:cNvPr id="6" name="CaixaDeTexto 5">
            <a:extLst>
              <a:ext uri="{FF2B5EF4-FFF2-40B4-BE49-F238E27FC236}">
                <a16:creationId xmlns:a16="http://schemas.microsoft.com/office/drawing/2014/main" id="{70A114A2-10A7-EDCA-D1F7-0F7FFE230AB6}"/>
              </a:ext>
            </a:extLst>
          </p:cNvPr>
          <p:cNvSpPr txBox="1"/>
          <p:nvPr/>
        </p:nvSpPr>
        <p:spPr>
          <a:xfrm>
            <a:off x="186906" y="4881113"/>
            <a:ext cx="5722189" cy="13542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https://www.linkedin.com/posts/mashford-mahute-012487178_gis-geojson-shapefile-activity-7255195053726334976-8MXk?utm_source=share&amp;utm_medium=member_desktop&amp;rcm=ACoAAAMQtAUB5UouXqdBJgo_gWpNVZ7Imay_2Tg</a:t>
            </a:r>
            <a:endParaRPr lang="en-US" sz="1600">
              <a:ea typeface="Calibri"/>
              <a:cs typeface="Calibri"/>
            </a:endParaRPr>
          </a:p>
          <a:p>
            <a:pPr algn="ctr"/>
            <a:endParaRPr lang="pt-BR"/>
          </a:p>
        </p:txBody>
      </p:sp>
    </p:spTree>
    <p:extLst>
      <p:ext uri="{BB962C8B-B14F-4D97-AF65-F5344CB8AC3E}">
        <p14:creationId xmlns:p14="http://schemas.microsoft.com/office/powerpoint/2010/main" val="203842584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AFBE184D-3386-512B-B6D1-DAEFF3E5B5FF}"/>
              </a:ext>
            </a:extLst>
          </p:cNvPr>
          <p:cNvSpPr txBox="1"/>
          <p:nvPr/>
        </p:nvSpPr>
        <p:spPr>
          <a:xfrm>
            <a:off x="5506528" y="884207"/>
            <a:ext cx="6096000"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In GIS, technical skills are just one piece of the puzzle. </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To truly excel, GIS professionals need a blend of soft skills that empower them to communicate insights, solve problems, and work collaboratively across teams. </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Here are 8 essential soft skills that every GIS expert should hone.</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Strengthening these soft skills can make a significant impact on your career in GIS, allowing you to bridge the gap between data and decision-making. </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Invest in these abilities to become a more versatile, impactful, and valued GIS professional.</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If you find this post insightful, kindly consider reposting. </a:t>
            </a:r>
            <a:br>
              <a:rPr lang="en-US">
                <a:latin typeface="-apple-system"/>
                <a:ea typeface="-apple-system"/>
                <a:cs typeface="-apple-system"/>
              </a:rPr>
            </a:br>
            <a:endParaRPr lang="en-US">
              <a:latin typeface="-apple-system"/>
            </a:endParaRPr>
          </a:p>
        </p:txBody>
      </p:sp>
      <p:pic>
        <p:nvPicPr>
          <p:cNvPr id="5" name="Imagem 4" descr="Não foi fornecido texto alternativo para esta imagem">
            <a:extLst>
              <a:ext uri="{FF2B5EF4-FFF2-40B4-BE49-F238E27FC236}">
                <a16:creationId xmlns:a16="http://schemas.microsoft.com/office/drawing/2014/main" id="{DA6C75EC-90F2-6AA4-775A-146786239703}"/>
              </a:ext>
            </a:extLst>
          </p:cNvPr>
          <p:cNvPicPr>
            <a:picLocks noChangeAspect="1"/>
          </p:cNvPicPr>
          <p:nvPr/>
        </p:nvPicPr>
        <p:blipFill>
          <a:blip r:embed="rId2"/>
          <a:stretch>
            <a:fillRect/>
          </a:stretch>
        </p:blipFill>
        <p:spPr>
          <a:xfrm>
            <a:off x="990600" y="877018"/>
            <a:ext cx="4114800" cy="3867509"/>
          </a:xfrm>
          <a:prstGeom prst="rect">
            <a:avLst/>
          </a:prstGeom>
        </p:spPr>
      </p:pic>
      <p:sp>
        <p:nvSpPr>
          <p:cNvPr id="6" name="CaixaDeTexto 5">
            <a:extLst>
              <a:ext uri="{FF2B5EF4-FFF2-40B4-BE49-F238E27FC236}">
                <a16:creationId xmlns:a16="http://schemas.microsoft.com/office/drawing/2014/main" id="{FF589A2A-0D48-E28D-1849-D1C58FB11B6B}"/>
              </a:ext>
            </a:extLst>
          </p:cNvPr>
          <p:cNvSpPr txBox="1"/>
          <p:nvPr/>
        </p:nvSpPr>
        <p:spPr>
          <a:xfrm>
            <a:off x="877019" y="4981755"/>
            <a:ext cx="4111925" cy="16619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https://www.linkedin.com/posts/mashford-mahute-012487178_gis-geospatial-softskills-activity-7257748804144119809-4pVy?utm_source=share&amp;utm_medium=member_desktop&amp;rcm=ACoAAAMQtAUB5UouXqdBJgo_gWpNVZ7Imay_2Tg</a:t>
            </a:r>
          </a:p>
          <a:p>
            <a:pPr algn="ctr"/>
            <a:endParaRPr lang="pt-BR"/>
          </a:p>
        </p:txBody>
      </p:sp>
    </p:spTree>
    <p:extLst>
      <p:ext uri="{BB962C8B-B14F-4D97-AF65-F5344CB8AC3E}">
        <p14:creationId xmlns:p14="http://schemas.microsoft.com/office/powerpoint/2010/main" val="360570542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275AFB1C-F7CD-B233-6EB4-DC00E93CB469}"/>
              </a:ext>
            </a:extLst>
          </p:cNvPr>
          <p:cNvSpPr txBox="1"/>
          <p:nvPr/>
        </p:nvSpPr>
        <p:spPr>
          <a:xfrm>
            <a:off x="6096000" y="1847491"/>
            <a:ext cx="609600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This is how to use AI in ArcGIS Pro, It is like a magic wand that helps you find whatever you'r looking for. special thank to </a:t>
            </a:r>
            <a:r>
              <a:rPr lang="en-US" b="1">
                <a:solidFill>
                  <a:srgbClr val="0A66C2"/>
                </a:solidFill>
                <a:latin typeface="-apple-system"/>
                <a:ea typeface="-apple-system"/>
                <a:cs typeface="-apple-system"/>
                <a:hlinkClick r:id="rId2"/>
              </a:rPr>
              <a:t>Ahmed Noureldeen, PhD</a:t>
            </a:r>
            <a:r>
              <a:rPr lang="en-US">
                <a:latin typeface="-apple-system"/>
                <a:ea typeface="-apple-system"/>
                <a:cs typeface="-apple-system"/>
              </a:rPr>
              <a:t> </a:t>
            </a:r>
            <a:r>
              <a:rPr lang="en-US" b="1">
                <a:solidFill>
                  <a:srgbClr val="0A66C2"/>
                </a:solidFill>
                <a:latin typeface="-apple-system"/>
                <a:ea typeface="-apple-system"/>
                <a:cs typeface="-apple-system"/>
                <a:hlinkClick r:id="rId3"/>
              </a:rPr>
              <a:t>Rohit S.</a:t>
            </a:r>
            <a:r>
              <a:rPr lang="en-US">
                <a:latin typeface="-apple-system"/>
                <a:ea typeface="-apple-system"/>
                <a:cs typeface="-apple-system"/>
              </a:rPr>
              <a:t> </a:t>
            </a:r>
            <a:r>
              <a:rPr lang="en-US" b="1">
                <a:solidFill>
                  <a:srgbClr val="0A66C2"/>
                </a:solidFill>
                <a:latin typeface="-apple-system"/>
                <a:ea typeface="-apple-system"/>
                <a:cs typeface="-apple-system"/>
                <a:hlinkClick r:id="rId4"/>
              </a:rPr>
              <a:t>Vinay Viswambharan</a:t>
            </a:r>
            <a:r>
              <a:rPr lang="en-US">
                <a:latin typeface="-apple-system"/>
                <a:ea typeface="-apple-system"/>
                <a:cs typeface="-apple-system"/>
              </a:rPr>
              <a:t>. </a:t>
            </a:r>
            <a:br>
              <a:rPr lang="en-US">
                <a:latin typeface="-apple-system"/>
                <a:ea typeface="-apple-system"/>
                <a:cs typeface="-apple-system"/>
              </a:rPr>
            </a:br>
            <a:r>
              <a:rPr lang="en-US">
                <a:latin typeface="-apple-system"/>
                <a:ea typeface="-apple-system"/>
                <a:cs typeface="-apple-system"/>
              </a:rPr>
              <a:t>"</a:t>
            </a:r>
            <a:r>
              <a:rPr lang="en-US" b="1">
                <a:solidFill>
                  <a:srgbClr val="0A66C2"/>
                </a:solidFill>
                <a:latin typeface="-apple-system"/>
                <a:ea typeface="-apple-system"/>
                <a:cs typeface="-apple-system"/>
                <a:hlinkClick r:id="rId5"/>
              </a:rPr>
              <a:t>Ahmed Al Humaidi</a:t>
            </a:r>
            <a:r>
              <a:rPr lang="en-US">
                <a:latin typeface="-apple-system"/>
                <a:ea typeface="-apple-system"/>
                <a:cs typeface="-apple-system"/>
              </a:rPr>
              <a:t> it is a good idea to use it"</a:t>
            </a:r>
            <a:br>
              <a:rPr lang="en-US">
                <a:latin typeface="-apple-system"/>
                <a:ea typeface="-apple-system"/>
                <a:cs typeface="-apple-system"/>
              </a:rPr>
            </a:br>
            <a:br>
              <a:rPr lang="en-US">
                <a:latin typeface="-apple-system"/>
                <a:ea typeface="-apple-system"/>
                <a:cs typeface="-apple-system"/>
              </a:rPr>
            </a:br>
            <a:r>
              <a:rPr lang="en-US" b="1">
                <a:solidFill>
                  <a:srgbClr val="0A66C2"/>
                </a:solidFill>
                <a:latin typeface="-apple-system"/>
                <a:ea typeface="-apple-system"/>
                <a:cs typeface="-apple-system"/>
                <a:hlinkClick r:id="rId6"/>
              </a:rPr>
              <a:t>hashtag#esri</a:t>
            </a:r>
            <a:r>
              <a:rPr lang="en-US">
                <a:latin typeface="-apple-system"/>
                <a:ea typeface="-apple-system"/>
                <a:cs typeface="-apple-system"/>
              </a:rPr>
              <a:t> </a:t>
            </a:r>
            <a:r>
              <a:rPr lang="en-US" b="1">
                <a:solidFill>
                  <a:srgbClr val="0A66C2"/>
                </a:solidFill>
                <a:latin typeface="-apple-system"/>
                <a:ea typeface="-apple-system"/>
                <a:cs typeface="-apple-system"/>
                <a:hlinkClick r:id="rId7"/>
              </a:rPr>
              <a:t>hashtag#arcgis</a:t>
            </a:r>
            <a:r>
              <a:rPr lang="en-US">
                <a:latin typeface="-apple-system"/>
                <a:ea typeface="-apple-system"/>
                <a:cs typeface="-apple-system"/>
              </a:rPr>
              <a:t> </a:t>
            </a:r>
            <a:r>
              <a:rPr lang="en-US" b="1">
                <a:solidFill>
                  <a:srgbClr val="0A66C2"/>
                </a:solidFill>
                <a:latin typeface="-apple-system"/>
                <a:ea typeface="-apple-system"/>
                <a:cs typeface="-apple-system"/>
                <a:hlinkClick r:id="rId8"/>
              </a:rPr>
              <a:t>hashtag#pro</a:t>
            </a:r>
            <a:endParaRPr lang="en-US"/>
          </a:p>
          <a:p>
            <a:pPr algn="ctr"/>
            <a:endParaRPr lang="pt-BR"/>
          </a:p>
        </p:txBody>
      </p:sp>
      <p:pic>
        <p:nvPicPr>
          <p:cNvPr id="5" name="Imagem 4" descr="Tela de computador com texto preto sobre fundo branco&#10;&#10;O conteúdo gerado por IA pode estar incorreto.">
            <a:extLst>
              <a:ext uri="{FF2B5EF4-FFF2-40B4-BE49-F238E27FC236}">
                <a16:creationId xmlns:a16="http://schemas.microsoft.com/office/drawing/2014/main" id="{7A988F22-2BBD-0D4B-69B5-C3249C88445F}"/>
              </a:ext>
            </a:extLst>
          </p:cNvPr>
          <p:cNvPicPr>
            <a:picLocks noChangeAspect="1"/>
          </p:cNvPicPr>
          <p:nvPr/>
        </p:nvPicPr>
        <p:blipFill>
          <a:blip r:embed="rId9"/>
          <a:stretch>
            <a:fillRect/>
          </a:stretch>
        </p:blipFill>
        <p:spPr>
          <a:xfrm>
            <a:off x="343619" y="1222076"/>
            <a:ext cx="5423139" cy="3019245"/>
          </a:xfrm>
          <a:prstGeom prst="rect">
            <a:avLst/>
          </a:prstGeom>
        </p:spPr>
      </p:pic>
      <p:sp>
        <p:nvSpPr>
          <p:cNvPr id="6" name="CaixaDeTexto 5">
            <a:extLst>
              <a:ext uri="{FF2B5EF4-FFF2-40B4-BE49-F238E27FC236}">
                <a16:creationId xmlns:a16="http://schemas.microsoft.com/office/drawing/2014/main" id="{8232B2EE-6F68-90D0-88C5-544EE250E66E}"/>
              </a:ext>
            </a:extLst>
          </p:cNvPr>
          <p:cNvSpPr txBox="1"/>
          <p:nvPr/>
        </p:nvSpPr>
        <p:spPr>
          <a:xfrm>
            <a:off x="503208" y="4809226"/>
            <a:ext cx="5089585"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https://www.linkedin.com/posts/ali-al-duwaiki-793a6b20a_esri-arcgis-pro-activity-7258696535842963456-uHz-?utm_source=share&amp;utm_medium=member_desktop&amp;rcm=ACoAAAMQtAUB5UouXqdBJgo_gWpNVZ7Imay_2Tg</a:t>
            </a:r>
          </a:p>
          <a:p>
            <a:pPr algn="ctr"/>
            <a:endParaRPr lang="pt-BR"/>
          </a:p>
        </p:txBody>
      </p:sp>
    </p:spTree>
    <p:extLst>
      <p:ext uri="{BB962C8B-B14F-4D97-AF65-F5344CB8AC3E}">
        <p14:creationId xmlns:p14="http://schemas.microsoft.com/office/powerpoint/2010/main" val="298990090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3DDF1E61-75D8-D002-565D-492F85FD6386}"/>
              </a:ext>
            </a:extLst>
          </p:cNvPr>
          <p:cNvSpPr txBox="1"/>
          <p:nvPr/>
        </p:nvSpPr>
        <p:spPr>
          <a:xfrm>
            <a:off x="5822830" y="2278811"/>
            <a:ext cx="6096000"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Kaukauna implemented fresh overhead design capabilities that integrate with ArcGIS Utility Network. The new designs honor the Utility Network validation rules, resulting in very few manual spatial and attribute data manipulations. </a:t>
            </a:r>
            <a:r>
              <a:rPr lang="en-US" b="1">
                <a:solidFill>
                  <a:srgbClr val="0A66C2"/>
                </a:solidFill>
                <a:latin typeface="-apple-system"/>
                <a:ea typeface="-apple-system"/>
                <a:cs typeface="-apple-system"/>
                <a:hlinkClick r:id="rId2"/>
              </a:rPr>
              <a:t>https://ow.ly/mCoM50TYvAC</a:t>
            </a:r>
            <a:br>
              <a:rPr lang="en-US">
                <a:latin typeface="-apple-system"/>
                <a:ea typeface="-apple-system"/>
                <a:cs typeface="-apple-system"/>
              </a:rPr>
            </a:br>
            <a:r>
              <a:rPr lang="en-US" b="1">
                <a:solidFill>
                  <a:srgbClr val="0A66C2"/>
                </a:solidFill>
                <a:latin typeface="-apple-system"/>
                <a:ea typeface="-apple-system"/>
                <a:cs typeface="-apple-system"/>
                <a:hlinkClick r:id="rId3"/>
              </a:rPr>
              <a:t>hashtag#Arcgis</a:t>
            </a:r>
            <a:r>
              <a:rPr lang="en-US">
                <a:latin typeface="-apple-system"/>
                <a:ea typeface="-apple-system"/>
                <a:cs typeface="-apple-system"/>
              </a:rPr>
              <a:t> Utility Network </a:t>
            </a:r>
            <a:r>
              <a:rPr lang="en-US" b="1">
                <a:solidFill>
                  <a:srgbClr val="0A66C2"/>
                </a:solidFill>
                <a:latin typeface="-apple-system"/>
                <a:ea typeface="-apple-system"/>
                <a:cs typeface="-apple-system"/>
                <a:hlinkClick r:id="rId4"/>
              </a:rPr>
              <a:t>hashtag#Electric</a:t>
            </a:r>
            <a:r>
              <a:rPr lang="en-US">
                <a:latin typeface="-apple-system"/>
                <a:ea typeface="-apple-system"/>
                <a:cs typeface="-apple-system"/>
              </a:rPr>
              <a:t> </a:t>
            </a:r>
            <a:r>
              <a:rPr lang="en-US" b="1">
                <a:solidFill>
                  <a:srgbClr val="0A66C2"/>
                </a:solidFill>
                <a:latin typeface="-apple-system"/>
                <a:ea typeface="-apple-system"/>
                <a:cs typeface="-apple-system"/>
                <a:hlinkClick r:id="rId5"/>
              </a:rPr>
              <a:t>hashtag#Utilities</a:t>
            </a:r>
            <a:r>
              <a:rPr lang="en-US">
                <a:latin typeface="-apple-system"/>
                <a:ea typeface="-apple-system"/>
                <a:cs typeface="-apple-system"/>
              </a:rPr>
              <a:t> </a:t>
            </a:r>
            <a:r>
              <a:rPr lang="en-US" b="1">
                <a:solidFill>
                  <a:srgbClr val="0A66C2"/>
                </a:solidFill>
                <a:latin typeface="-apple-system"/>
                <a:ea typeface="-apple-system"/>
                <a:cs typeface="-apple-system"/>
                <a:hlinkClick r:id="rId6"/>
              </a:rPr>
              <a:t>Bill Meehan</a:t>
            </a:r>
            <a:r>
              <a:rPr lang="en-US">
                <a:latin typeface="-apple-system"/>
                <a:ea typeface="-apple-system"/>
                <a:cs typeface="-apple-system"/>
              </a:rPr>
              <a:t> </a:t>
            </a:r>
            <a:r>
              <a:rPr lang="en-US" b="1">
                <a:solidFill>
                  <a:srgbClr val="0A66C2"/>
                </a:solidFill>
                <a:latin typeface="-apple-system"/>
                <a:ea typeface="-apple-system"/>
                <a:cs typeface="-apple-system"/>
                <a:hlinkClick r:id="rId7"/>
              </a:rPr>
              <a:t>Tom Coolidge</a:t>
            </a:r>
            <a:r>
              <a:rPr lang="en-US">
                <a:latin typeface="-apple-system"/>
                <a:ea typeface="-apple-system"/>
                <a:cs typeface="-apple-system"/>
              </a:rPr>
              <a:t> </a:t>
            </a:r>
            <a:r>
              <a:rPr lang="en-US" b="1">
                <a:solidFill>
                  <a:srgbClr val="0A66C2"/>
                </a:solidFill>
                <a:latin typeface="-apple-system"/>
                <a:ea typeface="-apple-system"/>
                <a:cs typeface="-apple-system"/>
                <a:hlinkClick r:id="rId8"/>
              </a:rPr>
              <a:t>Matt Piper</a:t>
            </a:r>
            <a:r>
              <a:rPr lang="en-US">
                <a:latin typeface="-apple-system"/>
                <a:ea typeface="-apple-system"/>
                <a:cs typeface="-apple-system"/>
              </a:rPr>
              <a:t> </a:t>
            </a:r>
            <a:r>
              <a:rPr lang="en-US" b="1">
                <a:solidFill>
                  <a:srgbClr val="0A66C2"/>
                </a:solidFill>
                <a:latin typeface="-apple-system"/>
                <a:ea typeface="-apple-system"/>
                <a:cs typeface="-apple-system"/>
                <a:hlinkClick r:id="rId9"/>
              </a:rPr>
              <a:t>hashtag#UtilityNetwork</a:t>
            </a:r>
            <a:r>
              <a:rPr lang="en-US">
                <a:latin typeface="-apple-system"/>
                <a:ea typeface="-apple-system"/>
                <a:cs typeface="-apple-system"/>
              </a:rPr>
              <a:t> </a:t>
            </a:r>
            <a:r>
              <a:rPr lang="en-US" b="1">
                <a:solidFill>
                  <a:srgbClr val="0A66C2"/>
                </a:solidFill>
                <a:latin typeface="-apple-system"/>
                <a:ea typeface="-apple-system"/>
                <a:cs typeface="-apple-system"/>
                <a:hlinkClick r:id="rId10"/>
              </a:rPr>
              <a:t>hashtag#Kaukauna</a:t>
            </a:r>
            <a:endParaRPr lang="en-US"/>
          </a:p>
          <a:p>
            <a:pPr algn="ctr"/>
            <a:endParaRPr lang="pt-BR"/>
          </a:p>
        </p:txBody>
      </p:sp>
      <p:pic>
        <p:nvPicPr>
          <p:cNvPr id="5" name="Imagem 4" descr="Mapa&#10;&#10;O conteúdo gerado por IA pode estar incorreto.">
            <a:extLst>
              <a:ext uri="{FF2B5EF4-FFF2-40B4-BE49-F238E27FC236}">
                <a16:creationId xmlns:a16="http://schemas.microsoft.com/office/drawing/2014/main" id="{F48EC0D2-572F-B985-D674-DBCBA3A7EE7B}"/>
              </a:ext>
            </a:extLst>
          </p:cNvPr>
          <p:cNvPicPr>
            <a:picLocks noChangeAspect="1"/>
          </p:cNvPicPr>
          <p:nvPr/>
        </p:nvPicPr>
        <p:blipFill>
          <a:blip r:embed="rId11"/>
          <a:stretch>
            <a:fillRect/>
          </a:stretch>
        </p:blipFill>
        <p:spPr>
          <a:xfrm>
            <a:off x="276045" y="2386103"/>
            <a:ext cx="5543910" cy="2085795"/>
          </a:xfrm>
          <a:prstGeom prst="rect">
            <a:avLst/>
          </a:prstGeom>
        </p:spPr>
      </p:pic>
      <p:sp>
        <p:nvSpPr>
          <p:cNvPr id="6" name="CaixaDeTexto 5">
            <a:extLst>
              <a:ext uri="{FF2B5EF4-FFF2-40B4-BE49-F238E27FC236}">
                <a16:creationId xmlns:a16="http://schemas.microsoft.com/office/drawing/2014/main" id="{E84F1BDA-E0A2-69F5-ADB6-0DB14201E11B}"/>
              </a:ext>
            </a:extLst>
          </p:cNvPr>
          <p:cNvSpPr txBox="1"/>
          <p:nvPr/>
        </p:nvSpPr>
        <p:spPr>
          <a:xfrm>
            <a:off x="273170" y="4981755"/>
            <a:ext cx="5822831"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https://www.linkedin.com/posts/pat-hohl-pe-64a40821_kaukauna-utilities-case-study-activity-7259233304569159680-3yLW?utm_source=share&amp;utm_medium=member_desktop&amp;rcm=ACoAAAMQtAUB5UouXqdBJgo_gWpNVZ7Imay_2Tg</a:t>
            </a:r>
          </a:p>
          <a:p>
            <a:pPr algn="ctr"/>
            <a:endParaRPr lang="pt-BR"/>
          </a:p>
        </p:txBody>
      </p:sp>
    </p:spTree>
    <p:extLst>
      <p:ext uri="{BB962C8B-B14F-4D97-AF65-F5344CB8AC3E}">
        <p14:creationId xmlns:p14="http://schemas.microsoft.com/office/powerpoint/2010/main" val="177878077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4F9CBF43-F1C2-51D2-2C5F-91A213B3E690}"/>
              </a:ext>
            </a:extLst>
          </p:cNvPr>
          <p:cNvSpPr txBox="1"/>
          <p:nvPr/>
        </p:nvSpPr>
        <p:spPr>
          <a:xfrm>
            <a:off x="5851586" y="1488056"/>
            <a:ext cx="6096000"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Como Filtrar e Exportar Dados do Open Buildings no Formato SHP a partir de um CSV e GeoJSON</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Você já se deparou com grandes volumes de dados geoespaciais e a necessidade de filtrar informações específicas para a sua área de interesse? Compartilho como criei um script para filtrar e exportar dados do Open Buildings, utilizando um arquivo GeoJSON como referência e gerando um arquivo SHP, pronto para ser usado no ArcGIS Pro.</a:t>
            </a:r>
            <a:endParaRPr lang="en-US"/>
          </a:p>
          <a:p>
            <a:pPr algn="ctr"/>
            <a:endParaRPr lang="pt-BR"/>
          </a:p>
        </p:txBody>
      </p:sp>
      <p:pic>
        <p:nvPicPr>
          <p:cNvPr id="5" name="Imagem 4" descr="Uma imagem contendo Interface gráfica do usuário&#10;&#10;O conteúdo gerado por IA pode estar incorreto.">
            <a:extLst>
              <a:ext uri="{FF2B5EF4-FFF2-40B4-BE49-F238E27FC236}">
                <a16:creationId xmlns:a16="http://schemas.microsoft.com/office/drawing/2014/main" id="{94FBDC41-1DD4-C24A-08A6-8CD9AB51B027}"/>
              </a:ext>
            </a:extLst>
          </p:cNvPr>
          <p:cNvPicPr>
            <a:picLocks noChangeAspect="1"/>
          </p:cNvPicPr>
          <p:nvPr/>
        </p:nvPicPr>
        <p:blipFill>
          <a:blip r:embed="rId2"/>
          <a:stretch>
            <a:fillRect/>
          </a:stretch>
        </p:blipFill>
        <p:spPr>
          <a:xfrm>
            <a:off x="1339969" y="416944"/>
            <a:ext cx="3746740" cy="4687020"/>
          </a:xfrm>
          <a:prstGeom prst="rect">
            <a:avLst/>
          </a:prstGeom>
        </p:spPr>
      </p:pic>
      <p:sp>
        <p:nvSpPr>
          <p:cNvPr id="6" name="CaixaDeTexto 5">
            <a:extLst>
              <a:ext uri="{FF2B5EF4-FFF2-40B4-BE49-F238E27FC236}">
                <a16:creationId xmlns:a16="http://schemas.microsoft.com/office/drawing/2014/main" id="{2C0C5103-B952-55CE-94BC-FD540EDEBDDE}"/>
              </a:ext>
            </a:extLst>
          </p:cNvPr>
          <p:cNvSpPr txBox="1"/>
          <p:nvPr/>
        </p:nvSpPr>
        <p:spPr>
          <a:xfrm>
            <a:off x="920151" y="5298055"/>
            <a:ext cx="5894717"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Link: https://www.linkedin.com/posts/lucas-cabral-analista-geoprocessamento_gis-geoespacial-arcgispro-activity-7261821526616772608-nPS7?utm_source=share&amp;utm_medium=member_desktop&amp;rcm=ACoAAAMQtAUB5UouXqdBJgo_gWpNVZ7Imay_2Tg</a:t>
            </a:r>
          </a:p>
          <a:p>
            <a:pPr algn="ctr"/>
            <a:endParaRPr lang="pt-BR"/>
          </a:p>
        </p:txBody>
      </p:sp>
    </p:spTree>
    <p:extLst>
      <p:ext uri="{BB962C8B-B14F-4D97-AF65-F5344CB8AC3E}">
        <p14:creationId xmlns:p14="http://schemas.microsoft.com/office/powerpoint/2010/main" val="372448259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0852F64D-8DD5-B1EE-DE92-8792DF355DCD}"/>
              </a:ext>
            </a:extLst>
          </p:cNvPr>
          <p:cNvSpPr txBox="1"/>
          <p:nvPr/>
        </p:nvSpPr>
        <p:spPr>
          <a:xfrm>
            <a:off x="5779698" y="122208"/>
            <a:ext cx="6096000" cy="67403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GIS is an indispensable tool for solving complex spatial problems and making informed decisions. </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However, even seasoned professionals can encounter setbacks due to preventable mistakes. </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Whether you're just starting out or have years of experience, it’s crucial to recognize and avoid common errors that can compromise data quality, mislead analysis, or hinder project progress.</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From overlooking metadata to relying on outdated data or poorly organizing your layers, small oversights can have big consequences. </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By understanding these 16 mistakes and learning how to prevent them, you can streamline your workflows, improve accuracy, and ensure your GIS projects deliver maximum value. </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Remember, successful GIS work isn’t just about using the right tools—it’s about applying them thoughtfully and consistently.</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If you find this post insightful, kindly consider reposting.</a:t>
            </a:r>
            <a:endParaRPr lang="en-US"/>
          </a:p>
          <a:p>
            <a:pPr algn="ctr"/>
            <a:endParaRPr lang="pt-BR"/>
          </a:p>
        </p:txBody>
      </p:sp>
      <p:pic>
        <p:nvPicPr>
          <p:cNvPr id="5" name="Imagem 4" descr="Não foi fornecido texto alternativo para esta imagem">
            <a:extLst>
              <a:ext uri="{FF2B5EF4-FFF2-40B4-BE49-F238E27FC236}">
                <a16:creationId xmlns:a16="http://schemas.microsoft.com/office/drawing/2014/main" id="{0A939AAD-CFFC-9896-F791-25E6B1244E92}"/>
              </a:ext>
            </a:extLst>
          </p:cNvPr>
          <p:cNvPicPr>
            <a:picLocks noChangeAspect="1"/>
          </p:cNvPicPr>
          <p:nvPr/>
        </p:nvPicPr>
        <p:blipFill>
          <a:blip r:embed="rId2"/>
          <a:stretch>
            <a:fillRect/>
          </a:stretch>
        </p:blipFill>
        <p:spPr>
          <a:xfrm>
            <a:off x="957262" y="1015760"/>
            <a:ext cx="4181475" cy="3733800"/>
          </a:xfrm>
          <a:prstGeom prst="rect">
            <a:avLst/>
          </a:prstGeom>
        </p:spPr>
      </p:pic>
      <p:sp>
        <p:nvSpPr>
          <p:cNvPr id="6" name="CaixaDeTexto 5">
            <a:extLst>
              <a:ext uri="{FF2B5EF4-FFF2-40B4-BE49-F238E27FC236}">
                <a16:creationId xmlns:a16="http://schemas.microsoft.com/office/drawing/2014/main" id="{A450E2CA-D813-33C2-FB50-A2459F27F881}"/>
              </a:ext>
            </a:extLst>
          </p:cNvPr>
          <p:cNvSpPr txBox="1"/>
          <p:nvPr/>
        </p:nvSpPr>
        <p:spPr>
          <a:xfrm>
            <a:off x="618226" y="4996132"/>
            <a:ext cx="4845170" cy="18466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https://www.linkedin.com/posts/mashford-mahute-012487178_gis-geospatial-mapping-activity-7267222996749099009-qryo?utm_source=share&amp;utm_medium=member_desktop&amp;rcm=ACoAAAMQtAUB5UouXqdBJgo_gWpNVZ7Imay_2Tg</a:t>
            </a:r>
          </a:p>
          <a:p>
            <a:pPr algn="ctr"/>
            <a:endParaRPr lang="pt-BR"/>
          </a:p>
        </p:txBody>
      </p:sp>
    </p:spTree>
    <p:extLst>
      <p:ext uri="{BB962C8B-B14F-4D97-AF65-F5344CB8AC3E}">
        <p14:creationId xmlns:p14="http://schemas.microsoft.com/office/powerpoint/2010/main" val="314674382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3648DB82-BC89-3090-BB9B-3F99D5055C17}"/>
              </a:ext>
            </a:extLst>
          </p:cNvPr>
          <p:cNvSpPr txBox="1"/>
          <p:nvPr/>
        </p:nvSpPr>
        <p:spPr>
          <a:xfrm>
            <a:off x="5592792" y="107830"/>
            <a:ext cx="6096000" cy="70173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a:latin typeface="-apple-system"/>
                <a:ea typeface="-apple-system"/>
                <a:cs typeface="-apple-system"/>
              </a:rPr>
              <a:t>Digital Elevation Models (DEMs) are essential tools in Geographic Information Systems (GIS) and Remote Sensing, providing detailed representations of the Earth's surface. </a:t>
            </a:r>
            <a:br>
              <a:rPr lang="en-US" sz="1500">
                <a:latin typeface="-apple-system"/>
                <a:ea typeface="-apple-system"/>
                <a:cs typeface="-apple-system"/>
              </a:rPr>
            </a:br>
            <a:br>
              <a:rPr lang="en-US" sz="1500">
                <a:latin typeface="-apple-system"/>
                <a:ea typeface="-apple-system"/>
                <a:cs typeface="-apple-system"/>
              </a:rPr>
            </a:br>
            <a:r>
              <a:rPr lang="en-US" sz="1500">
                <a:latin typeface="-apple-system"/>
                <a:ea typeface="-apple-system"/>
                <a:cs typeface="-apple-system"/>
              </a:rPr>
              <a:t>They are widely used across various fields, including hydrology, geology, urban planning, and environmental monitoring. </a:t>
            </a:r>
            <a:br>
              <a:rPr lang="en-US" sz="1500">
                <a:latin typeface="-apple-system"/>
                <a:ea typeface="-apple-system"/>
                <a:cs typeface="-apple-system"/>
              </a:rPr>
            </a:br>
            <a:br>
              <a:rPr lang="en-US" sz="1500">
                <a:latin typeface="-apple-system"/>
                <a:ea typeface="-apple-system"/>
                <a:cs typeface="-apple-system"/>
              </a:rPr>
            </a:br>
            <a:r>
              <a:rPr lang="en-US" sz="1500">
                <a:latin typeface="-apple-system"/>
                <a:ea typeface="-apple-system"/>
                <a:cs typeface="-apple-system"/>
              </a:rPr>
              <a:t>However, not all DEMs are created equal.</a:t>
            </a:r>
            <a:br>
              <a:rPr lang="en-US" sz="1500">
                <a:latin typeface="-apple-system"/>
                <a:ea typeface="-apple-system"/>
                <a:cs typeface="-apple-system"/>
              </a:rPr>
            </a:br>
            <a:br>
              <a:rPr lang="en-US" sz="1500">
                <a:latin typeface="-apple-system"/>
                <a:ea typeface="-apple-system"/>
                <a:cs typeface="-apple-system"/>
              </a:rPr>
            </a:br>
            <a:r>
              <a:rPr lang="en-US" sz="1500">
                <a:latin typeface="-apple-system"/>
                <a:ea typeface="-apple-system"/>
                <a:cs typeface="-apple-system"/>
              </a:rPr>
              <a:t>Three of the most popular global DEMs—SRTM DEM, ASTER DEM, and Copernicus DEM—offer different levels of resolution, accuracy, and coverage.</a:t>
            </a:r>
            <a:br>
              <a:rPr lang="en-US" sz="1500">
                <a:latin typeface="-apple-system"/>
                <a:ea typeface="-apple-system"/>
                <a:cs typeface="-apple-system"/>
              </a:rPr>
            </a:br>
            <a:br>
              <a:rPr lang="en-US" sz="1500">
                <a:latin typeface="-apple-system"/>
                <a:ea typeface="-apple-system"/>
                <a:cs typeface="-apple-system"/>
              </a:rPr>
            </a:br>
            <a:r>
              <a:rPr lang="en-US" sz="1500">
                <a:latin typeface="-apple-system"/>
                <a:ea typeface="-apple-system"/>
                <a:cs typeface="-apple-system"/>
              </a:rPr>
              <a:t>Each is tailored for specific applications, from flood risk analysis and topographic mapping to geological studies and urban infrastructure planning.</a:t>
            </a:r>
            <a:br>
              <a:rPr lang="en-US" sz="1500">
                <a:latin typeface="-apple-system"/>
                <a:ea typeface="-apple-system"/>
                <a:cs typeface="-apple-system"/>
              </a:rPr>
            </a:br>
            <a:br>
              <a:rPr lang="en-US" sz="1500">
                <a:latin typeface="-apple-system"/>
                <a:ea typeface="-apple-system"/>
                <a:cs typeface="-apple-system"/>
              </a:rPr>
            </a:br>
            <a:r>
              <a:rPr lang="en-US" sz="1500">
                <a:latin typeface="-apple-system"/>
                <a:ea typeface="-apple-system"/>
                <a:cs typeface="-apple-system"/>
              </a:rPr>
              <a:t>Therefore, understanding the differences between these DEMs can significantly impact the accuracy and reliability of your spatial analysis. </a:t>
            </a:r>
            <a:br>
              <a:rPr lang="en-US" sz="1500">
                <a:latin typeface="-apple-system"/>
                <a:ea typeface="-apple-system"/>
                <a:cs typeface="-apple-system"/>
              </a:rPr>
            </a:br>
            <a:br>
              <a:rPr lang="en-US" sz="1500">
                <a:latin typeface="-apple-system"/>
                <a:ea typeface="-apple-system"/>
                <a:cs typeface="-apple-system"/>
              </a:rPr>
            </a:br>
            <a:r>
              <a:rPr lang="en-US" sz="1500">
                <a:latin typeface="-apple-system"/>
                <a:ea typeface="-apple-system"/>
                <a:cs typeface="-apple-system"/>
              </a:rPr>
              <a:t>This infographic breaks down the key characteristics of SRTM DEM, ASTER DEM, and Copernicus DEM, helping you make an informed decision based on your project’s needs and goals.</a:t>
            </a:r>
            <a:br>
              <a:rPr lang="en-US" sz="1500">
                <a:latin typeface="-apple-system"/>
                <a:ea typeface="-apple-system"/>
                <a:cs typeface="-apple-system"/>
              </a:rPr>
            </a:br>
            <a:br>
              <a:rPr lang="en-US" sz="1500">
                <a:latin typeface="-apple-system"/>
                <a:ea typeface="-apple-system"/>
                <a:cs typeface="-apple-system"/>
              </a:rPr>
            </a:br>
            <a:r>
              <a:rPr lang="en-US" sz="1500">
                <a:latin typeface="-apple-system"/>
                <a:ea typeface="-apple-system"/>
                <a:cs typeface="-apple-system"/>
              </a:rPr>
              <a:t>Selecting the right DEM is a critical step in producing high-quality spatial insights. Explore the comparison and discover which DEM aligns best with your requirements.</a:t>
            </a:r>
            <a:br>
              <a:rPr lang="en-US" sz="1500">
                <a:latin typeface="-apple-system"/>
                <a:ea typeface="-apple-system"/>
                <a:cs typeface="-apple-system"/>
              </a:rPr>
            </a:br>
            <a:br>
              <a:rPr lang="en-US" sz="1500">
                <a:latin typeface="-apple-system"/>
                <a:ea typeface="-apple-system"/>
                <a:cs typeface="-apple-system"/>
              </a:rPr>
            </a:br>
            <a:r>
              <a:rPr lang="en-US" sz="1500">
                <a:latin typeface="-apple-system"/>
                <a:ea typeface="-apple-system"/>
                <a:cs typeface="-apple-system"/>
              </a:rPr>
              <a:t>If you find this post valuable, kindly consider reposting.</a:t>
            </a:r>
            <a:endParaRPr lang="en-US" sz="1500">
              <a:ea typeface="Calibri"/>
              <a:cs typeface="Calibri"/>
            </a:endParaRPr>
          </a:p>
          <a:p>
            <a:pPr algn="ctr"/>
            <a:endParaRPr lang="pt-BR" sz="1500">
              <a:ea typeface="Calibri"/>
              <a:cs typeface="Calibri"/>
            </a:endParaRPr>
          </a:p>
        </p:txBody>
      </p:sp>
      <p:pic>
        <p:nvPicPr>
          <p:cNvPr id="5" name="Imagem 4" descr="Não foi fornecido texto alternativo para esta imagem">
            <a:extLst>
              <a:ext uri="{FF2B5EF4-FFF2-40B4-BE49-F238E27FC236}">
                <a16:creationId xmlns:a16="http://schemas.microsoft.com/office/drawing/2014/main" id="{6EDA2712-DE26-7235-50D1-7650D344AC15}"/>
              </a:ext>
            </a:extLst>
          </p:cNvPr>
          <p:cNvPicPr>
            <a:picLocks noChangeAspect="1"/>
          </p:cNvPicPr>
          <p:nvPr/>
        </p:nvPicPr>
        <p:blipFill>
          <a:blip r:embed="rId2"/>
          <a:stretch>
            <a:fillRect/>
          </a:stretch>
        </p:blipFill>
        <p:spPr>
          <a:xfrm>
            <a:off x="862012" y="400589"/>
            <a:ext cx="4371975" cy="4791614"/>
          </a:xfrm>
          <a:prstGeom prst="rect">
            <a:avLst/>
          </a:prstGeom>
        </p:spPr>
      </p:pic>
      <p:sp>
        <p:nvSpPr>
          <p:cNvPr id="6" name="CaixaDeTexto 5">
            <a:extLst>
              <a:ext uri="{FF2B5EF4-FFF2-40B4-BE49-F238E27FC236}">
                <a16:creationId xmlns:a16="http://schemas.microsoft.com/office/drawing/2014/main" id="{A862A254-2815-EF78-C106-228EE5930AA7}"/>
              </a:ext>
            </a:extLst>
          </p:cNvPr>
          <p:cNvSpPr txBox="1"/>
          <p:nvPr/>
        </p:nvSpPr>
        <p:spPr>
          <a:xfrm>
            <a:off x="388189" y="5355566"/>
            <a:ext cx="5305246"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https://www.linkedin.com/posts/mashford-mahute-012487178_gis-remotesensing-dem-activity-7268954596562096128-LDS-?utm_source=share&amp;utm_medium=member_desktop&amp;rcm=ACoAAAMQtAUB5UouXqdBJgo_gWpNVZ7Imay_2Tg</a:t>
            </a:r>
          </a:p>
          <a:p>
            <a:pPr algn="ctr"/>
            <a:endParaRPr lang="pt-BR"/>
          </a:p>
        </p:txBody>
      </p:sp>
    </p:spTree>
    <p:extLst>
      <p:ext uri="{BB962C8B-B14F-4D97-AF65-F5344CB8AC3E}">
        <p14:creationId xmlns:p14="http://schemas.microsoft.com/office/powerpoint/2010/main" val="338281358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EA155647-C393-66AF-3225-F6287561FA38}"/>
              </a:ext>
            </a:extLst>
          </p:cNvPr>
          <p:cNvSpPr txBox="1"/>
          <p:nvPr/>
        </p:nvSpPr>
        <p:spPr>
          <a:xfrm>
            <a:off x="5564038" y="2149415"/>
            <a:ext cx="6096000"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If you want to learn more about the new Triggering Fields functionality released in ArcGIS Pro 3.4, read this article written by </a:t>
            </a:r>
            <a:r>
              <a:rPr lang="en-US" b="1">
                <a:solidFill>
                  <a:srgbClr val="0A66C2"/>
                </a:solidFill>
                <a:latin typeface="-apple-system"/>
                <a:ea typeface="-apple-system"/>
                <a:cs typeface="-apple-system"/>
                <a:hlinkClick r:id="rId2"/>
              </a:rPr>
              <a:t>Hussein Nasser</a:t>
            </a:r>
            <a:r>
              <a:rPr lang="en-US">
                <a:latin typeface="-apple-system"/>
                <a:ea typeface="-apple-system"/>
                <a:cs typeface="-apple-system"/>
              </a:rPr>
              <a:t>. It includes several examples of how and why this new functionality is so important to so many customers.</a:t>
            </a:r>
            <a:br>
              <a:rPr lang="en-US">
                <a:latin typeface="-apple-system"/>
                <a:ea typeface="-apple-system"/>
                <a:cs typeface="-apple-system"/>
              </a:rPr>
            </a:br>
            <a:br>
              <a:rPr lang="en-US">
                <a:latin typeface="-apple-system"/>
                <a:ea typeface="-apple-system"/>
                <a:cs typeface="-apple-system"/>
              </a:rPr>
            </a:br>
            <a:r>
              <a:rPr lang="en-US" b="1">
                <a:solidFill>
                  <a:srgbClr val="0A66C2"/>
                </a:solidFill>
                <a:latin typeface="-apple-system"/>
                <a:ea typeface="-apple-system"/>
                <a:cs typeface="-apple-system"/>
                <a:hlinkClick r:id="rId3"/>
              </a:rPr>
              <a:t>https://lnkd.in/gzee2ccd</a:t>
            </a:r>
            <a:endParaRPr lang="en-US"/>
          </a:p>
          <a:p>
            <a:pPr algn="ctr"/>
            <a:endParaRPr lang="pt-BR"/>
          </a:p>
        </p:txBody>
      </p:sp>
      <p:pic>
        <p:nvPicPr>
          <p:cNvPr id="5" name="Imagem 4">
            <a:extLst>
              <a:ext uri="{FF2B5EF4-FFF2-40B4-BE49-F238E27FC236}">
                <a16:creationId xmlns:a16="http://schemas.microsoft.com/office/drawing/2014/main" id="{3EB00B6E-7A44-220F-BB8E-C96CF4260768}"/>
              </a:ext>
            </a:extLst>
          </p:cNvPr>
          <p:cNvPicPr>
            <a:picLocks noChangeAspect="1"/>
          </p:cNvPicPr>
          <p:nvPr/>
        </p:nvPicPr>
        <p:blipFill>
          <a:blip r:embed="rId4"/>
          <a:stretch>
            <a:fillRect/>
          </a:stretch>
        </p:blipFill>
        <p:spPr>
          <a:xfrm>
            <a:off x="862013" y="1708929"/>
            <a:ext cx="4371975" cy="3181350"/>
          </a:xfrm>
          <a:prstGeom prst="rect">
            <a:avLst/>
          </a:prstGeom>
        </p:spPr>
      </p:pic>
      <p:sp>
        <p:nvSpPr>
          <p:cNvPr id="6" name="CaixaDeTexto 5">
            <a:extLst>
              <a:ext uri="{FF2B5EF4-FFF2-40B4-BE49-F238E27FC236}">
                <a16:creationId xmlns:a16="http://schemas.microsoft.com/office/drawing/2014/main" id="{05C8B336-5542-F9F1-1D21-4F840357CB48}"/>
              </a:ext>
            </a:extLst>
          </p:cNvPr>
          <p:cNvSpPr txBox="1"/>
          <p:nvPr/>
        </p:nvSpPr>
        <p:spPr>
          <a:xfrm>
            <a:off x="862642" y="5111151"/>
            <a:ext cx="4974567" cy="18466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https://www.linkedin.com/posts/robert-krisher-5a989438_attribute-rules-triggering-fields-in-arcgis-activity-7272009948878807042-1E88?utm_source=share&amp;utm_medium=member_desktop&amp;rcm=ACoAAAMQtAUB5UouXqdBJgo_gWpNVZ7Imay_2Tg</a:t>
            </a:r>
          </a:p>
          <a:p>
            <a:pPr algn="ctr"/>
            <a:endParaRPr lang="pt-BR"/>
          </a:p>
        </p:txBody>
      </p:sp>
    </p:spTree>
    <p:extLst>
      <p:ext uri="{BB962C8B-B14F-4D97-AF65-F5344CB8AC3E}">
        <p14:creationId xmlns:p14="http://schemas.microsoft.com/office/powerpoint/2010/main" val="318218416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95FE3CD3-35FE-ED41-7F88-DBACE780500E}"/>
              </a:ext>
            </a:extLst>
          </p:cNvPr>
          <p:cNvSpPr txBox="1"/>
          <p:nvPr/>
        </p:nvSpPr>
        <p:spPr>
          <a:xfrm>
            <a:off x="5765321" y="122207"/>
            <a:ext cx="6096000" cy="67403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As we head into 2025, the world of Geographic Information Systems (GIS) is undergoing a significant transformation. </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The integration of cutting-edge technologies like artificial intelligence (AI), cloud computing, and big data is driving new possibilities for spatial analysis, data management, and decision-making. </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With a growing emphasis on sustainability, climate resilience, and biodiversity conservation, GIS is playing a critical role in tackling some of the most pressing global challenges. </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From enabling smarter cities to supporting carbon trading and monitoring environmental impacts, the trends shaping the GIS industry in 2025 promise to redefine the way we interact with the world around us. </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This year, GIS professionals, organizations, and researchers will need to stay ahead of the curve and adapt to these evolving trends to unlock new opportunities and create impactful, data-driven solutions.</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If you find this post insightful, kindly consider reposting. </a:t>
            </a:r>
            <a:endParaRPr lang="en-US"/>
          </a:p>
          <a:p>
            <a:pPr algn="ctr"/>
            <a:endParaRPr lang="pt-BR"/>
          </a:p>
        </p:txBody>
      </p:sp>
      <p:pic>
        <p:nvPicPr>
          <p:cNvPr id="5" name="Imagem 4" descr="Não foi fornecido texto alternativo para esta imagem">
            <a:extLst>
              <a:ext uri="{FF2B5EF4-FFF2-40B4-BE49-F238E27FC236}">
                <a16:creationId xmlns:a16="http://schemas.microsoft.com/office/drawing/2014/main" id="{D5D30113-9542-2D00-19B0-F09748164813}"/>
              </a:ext>
            </a:extLst>
          </p:cNvPr>
          <p:cNvPicPr>
            <a:picLocks noChangeAspect="1"/>
          </p:cNvPicPr>
          <p:nvPr/>
        </p:nvPicPr>
        <p:blipFill>
          <a:blip r:embed="rId2"/>
          <a:stretch>
            <a:fillRect/>
          </a:stretch>
        </p:blipFill>
        <p:spPr>
          <a:xfrm>
            <a:off x="900022" y="364286"/>
            <a:ext cx="3735238" cy="4691692"/>
          </a:xfrm>
          <a:prstGeom prst="rect">
            <a:avLst/>
          </a:prstGeom>
        </p:spPr>
      </p:pic>
      <p:sp>
        <p:nvSpPr>
          <p:cNvPr id="6" name="CaixaDeTexto 5">
            <a:extLst>
              <a:ext uri="{FF2B5EF4-FFF2-40B4-BE49-F238E27FC236}">
                <a16:creationId xmlns:a16="http://schemas.microsoft.com/office/drawing/2014/main" id="{1F454AEF-7ECE-90C2-C8CE-F30716CBCA76}"/>
              </a:ext>
            </a:extLst>
          </p:cNvPr>
          <p:cNvSpPr txBox="1"/>
          <p:nvPr/>
        </p:nvSpPr>
        <p:spPr>
          <a:xfrm>
            <a:off x="531963" y="5254925"/>
            <a:ext cx="5032076" cy="18466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https://www.linkedin.com/posts/mashford-mahute-012487178_gis-geospatialtrends-ai-activity-7273306451861733376-4Tbw?utm_source=share&amp;utm_medium=member_desktop&amp;rcm=ACoAAAMQtAUB5UouXqdBJgo_gWpNVZ7Imay_2Tg</a:t>
            </a:r>
            <a:endParaRPr lang="en-US" sz="1600">
              <a:ea typeface="Calibri"/>
              <a:cs typeface="Calibri"/>
            </a:endParaRPr>
          </a:p>
          <a:p>
            <a:pPr algn="ctr"/>
            <a:endParaRPr lang="pt-BR"/>
          </a:p>
        </p:txBody>
      </p:sp>
    </p:spTree>
    <p:extLst>
      <p:ext uri="{BB962C8B-B14F-4D97-AF65-F5344CB8AC3E}">
        <p14:creationId xmlns:p14="http://schemas.microsoft.com/office/powerpoint/2010/main" val="341328869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8B9E00E4-5F3E-7422-3960-542FF423A098}"/>
              </a:ext>
            </a:extLst>
          </p:cNvPr>
          <p:cNvSpPr txBox="1"/>
          <p:nvPr/>
        </p:nvSpPr>
        <p:spPr>
          <a:xfrm>
            <a:off x="5736566" y="309113"/>
            <a:ext cx="6096000" cy="65556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a:latin typeface="-apple-system"/>
                <a:ea typeface="-apple-system"/>
                <a:cs typeface="-apple-system"/>
              </a:rPr>
              <a:t>𝐀𝐫𝐜𝐆𝐈𝐒 𝐄𝐧𝐭𝐞𝐫𝐩𝐫𝐢𝐬𝐞 11.4 𝐟𝐮𝐧𝐜𝐭𝐢𝐨𝐧𝐚𝐥𝐢𝐭𝐲 𝐦𝐚𝐭𝐫𝐢𝐱</a:t>
            </a:r>
            <a:br>
              <a:rPr lang="en-US" sz="1500">
                <a:latin typeface="-apple-system"/>
                <a:ea typeface="-apple-system"/>
                <a:cs typeface="-apple-system"/>
              </a:rPr>
            </a:br>
            <a:br>
              <a:rPr lang="en-US" sz="1500">
                <a:latin typeface="-apple-system"/>
                <a:ea typeface="-apple-system"/>
                <a:cs typeface="-apple-system"/>
              </a:rPr>
            </a:br>
            <a:r>
              <a:rPr lang="en-US" sz="1500">
                <a:latin typeface="-apple-system"/>
                <a:ea typeface="-apple-system"/>
                <a:cs typeface="-apple-system"/>
              </a:rPr>
              <a:t>ArcGIS Enterprise is the foundational software for geographic information system (</a:t>
            </a:r>
            <a:r>
              <a:rPr lang="en-US" sz="1500" b="1" err="1">
                <a:solidFill>
                  <a:srgbClr val="0A66C2"/>
                </a:solidFill>
                <a:latin typeface="-apple-system"/>
                <a:ea typeface="-apple-system"/>
                <a:cs typeface="-apple-system"/>
                <a:hlinkClick r:id="rId2"/>
              </a:rPr>
              <a:t>hashtag#GIS</a:t>
            </a:r>
            <a:r>
              <a:rPr lang="en-US" sz="1500">
                <a:latin typeface="-apple-system"/>
                <a:ea typeface="-apple-system"/>
                <a:cs typeface="-apple-system"/>
              </a:rPr>
              <a:t>) technology, </a:t>
            </a:r>
            <a:r>
              <a:rPr lang="en-US" sz="1500" b="1" err="1">
                <a:solidFill>
                  <a:srgbClr val="0A66C2"/>
                </a:solidFill>
                <a:latin typeface="-apple-system"/>
                <a:ea typeface="-apple-system"/>
                <a:cs typeface="-apple-system"/>
                <a:hlinkClick r:id="rId3"/>
              </a:rPr>
              <a:t>hashtag#mapping</a:t>
            </a:r>
            <a:r>
              <a:rPr lang="en-US" sz="1500">
                <a:latin typeface="-apple-system"/>
                <a:ea typeface="-apple-system"/>
                <a:cs typeface="-apple-system"/>
              </a:rPr>
              <a:t>, </a:t>
            </a:r>
            <a:r>
              <a:rPr lang="en-US" sz="1500" b="1" err="1">
                <a:solidFill>
                  <a:srgbClr val="0A66C2"/>
                </a:solidFill>
                <a:latin typeface="-apple-system"/>
                <a:ea typeface="-apple-system"/>
                <a:cs typeface="-apple-system"/>
                <a:hlinkClick r:id="rId4"/>
              </a:rPr>
              <a:t>hashtag#visualization</a:t>
            </a:r>
            <a:r>
              <a:rPr lang="en-US" sz="1500">
                <a:latin typeface="-apple-system"/>
                <a:ea typeface="-apple-system"/>
                <a:cs typeface="-apple-system"/>
              </a:rPr>
              <a:t>, </a:t>
            </a:r>
            <a:r>
              <a:rPr lang="en-US" sz="1500" b="1" err="1">
                <a:solidFill>
                  <a:srgbClr val="0A66C2"/>
                </a:solidFill>
                <a:latin typeface="-apple-system"/>
                <a:ea typeface="-apple-system"/>
                <a:cs typeface="-apple-system"/>
                <a:hlinkClick r:id="rId5"/>
              </a:rPr>
              <a:t>hashtag#analytics</a:t>
            </a:r>
            <a:r>
              <a:rPr lang="en-US" sz="1500">
                <a:latin typeface="-apple-system"/>
                <a:ea typeface="-apple-system"/>
                <a:cs typeface="-apple-system"/>
              </a:rPr>
              <a:t>, and Esri’s suite of geospatial applications. It is self-hosted software in </a:t>
            </a:r>
            <a:r>
              <a:rPr lang="en-US" sz="1500" b="1" err="1">
                <a:solidFill>
                  <a:srgbClr val="0A66C2"/>
                </a:solidFill>
                <a:latin typeface="-apple-system"/>
                <a:ea typeface="-apple-system"/>
                <a:cs typeface="-apple-system"/>
                <a:hlinkClick r:id="rId6"/>
              </a:rPr>
              <a:t>hashtag#public</a:t>
            </a:r>
            <a:r>
              <a:rPr lang="en-US" sz="1500">
                <a:latin typeface="-apple-system"/>
                <a:ea typeface="-apple-system"/>
                <a:cs typeface="-apple-system"/>
              </a:rPr>
              <a:t>, </a:t>
            </a:r>
            <a:r>
              <a:rPr lang="en-US" sz="1500" b="1" err="1">
                <a:solidFill>
                  <a:srgbClr val="0A66C2"/>
                </a:solidFill>
                <a:latin typeface="-apple-system"/>
                <a:ea typeface="-apple-system"/>
                <a:cs typeface="-apple-system"/>
                <a:hlinkClick r:id="rId7"/>
              </a:rPr>
              <a:t>hashtag#private</a:t>
            </a:r>
            <a:r>
              <a:rPr lang="en-US" sz="1500">
                <a:latin typeface="-apple-system"/>
                <a:ea typeface="-apple-system"/>
                <a:cs typeface="-apple-system"/>
              </a:rPr>
              <a:t>, and </a:t>
            </a:r>
            <a:r>
              <a:rPr lang="en-US" sz="1500" b="1" err="1">
                <a:solidFill>
                  <a:srgbClr val="0A66C2"/>
                </a:solidFill>
                <a:latin typeface="-apple-system"/>
                <a:ea typeface="-apple-system"/>
                <a:cs typeface="-apple-system"/>
                <a:hlinkClick r:id="rId8"/>
              </a:rPr>
              <a:t>hashtag#onpremises</a:t>
            </a:r>
            <a:r>
              <a:rPr lang="en-US" sz="1500">
                <a:latin typeface="-apple-system"/>
                <a:ea typeface="-apple-system"/>
                <a:cs typeface="-apple-system"/>
              </a:rPr>
              <a:t> infrastructure. ArcGIS Enterprise can be deployed on </a:t>
            </a:r>
            <a:r>
              <a:rPr lang="en-US" sz="1500" b="1" err="1">
                <a:solidFill>
                  <a:srgbClr val="0A66C2"/>
                </a:solidFill>
                <a:latin typeface="-apple-system"/>
                <a:ea typeface="-apple-system"/>
                <a:cs typeface="-apple-system"/>
                <a:hlinkClick r:id="rId9"/>
              </a:rPr>
              <a:t>hashtag#Windows</a:t>
            </a:r>
            <a:r>
              <a:rPr lang="en-US" sz="1500">
                <a:latin typeface="-apple-system"/>
                <a:ea typeface="-apple-system"/>
                <a:cs typeface="-apple-system"/>
              </a:rPr>
              <a:t>, </a:t>
            </a:r>
            <a:r>
              <a:rPr lang="en-US" sz="1500" b="1" err="1">
                <a:solidFill>
                  <a:srgbClr val="0A66C2"/>
                </a:solidFill>
                <a:latin typeface="-apple-system"/>
                <a:ea typeface="-apple-system"/>
                <a:cs typeface="-apple-system"/>
                <a:hlinkClick r:id="rId10"/>
              </a:rPr>
              <a:t>hashtag#Linux</a:t>
            </a:r>
            <a:r>
              <a:rPr lang="en-US" sz="1500">
                <a:latin typeface="-apple-system"/>
                <a:ea typeface="-apple-system"/>
                <a:cs typeface="-apple-system"/>
              </a:rPr>
              <a:t>, and </a:t>
            </a:r>
            <a:r>
              <a:rPr lang="en-US" sz="1500" b="1" err="1">
                <a:solidFill>
                  <a:srgbClr val="0A66C2"/>
                </a:solidFill>
                <a:latin typeface="-apple-system"/>
                <a:ea typeface="-apple-system"/>
                <a:cs typeface="-apple-system"/>
                <a:hlinkClick r:id="rId11"/>
              </a:rPr>
              <a:t>hashtag#Kubernetes</a:t>
            </a:r>
            <a:r>
              <a:rPr lang="en-US" sz="1500">
                <a:latin typeface="-apple-system"/>
                <a:ea typeface="-apple-system"/>
                <a:cs typeface="-apple-system"/>
              </a:rPr>
              <a:t>. </a:t>
            </a:r>
            <a:br>
              <a:rPr lang="en-US" sz="1500">
                <a:latin typeface="-apple-system"/>
                <a:ea typeface="-apple-system"/>
                <a:cs typeface="-apple-system"/>
              </a:rPr>
            </a:br>
            <a:br>
              <a:rPr lang="en-US" sz="1500">
                <a:latin typeface="-apple-system"/>
                <a:ea typeface="-apple-system"/>
                <a:cs typeface="-apple-system"/>
              </a:rPr>
            </a:br>
            <a:r>
              <a:rPr lang="en-US" sz="1500">
                <a:latin typeface="-apple-system"/>
                <a:ea typeface="-apple-system"/>
                <a:cs typeface="-apple-system"/>
              </a:rPr>
              <a:t>ArcGIS Enterprise comes with enterprise-ready features including full </a:t>
            </a:r>
            <a:r>
              <a:rPr lang="en-US" sz="1500" b="1" err="1">
                <a:solidFill>
                  <a:srgbClr val="0A66C2"/>
                </a:solidFill>
                <a:latin typeface="-apple-system"/>
                <a:ea typeface="-apple-system"/>
                <a:cs typeface="-apple-system"/>
                <a:hlinkClick r:id="rId12"/>
              </a:rPr>
              <a:t>hashtag#datamanagement</a:t>
            </a:r>
            <a:r>
              <a:rPr lang="en-US" sz="1500">
                <a:latin typeface="-apple-system"/>
                <a:ea typeface="-apple-system"/>
                <a:cs typeface="-apple-system"/>
              </a:rPr>
              <a:t> control that empowers users to visualize your </a:t>
            </a:r>
            <a:r>
              <a:rPr lang="en-US" sz="1500" b="1" err="1">
                <a:solidFill>
                  <a:srgbClr val="0A66C2"/>
                </a:solidFill>
                <a:latin typeface="-apple-system"/>
                <a:ea typeface="-apple-system"/>
                <a:cs typeface="-apple-system"/>
                <a:hlinkClick r:id="rId13"/>
              </a:rPr>
              <a:t>hashtag#data</a:t>
            </a:r>
            <a:r>
              <a:rPr lang="en-US" sz="1500">
                <a:latin typeface="-apple-system"/>
                <a:ea typeface="-apple-system"/>
                <a:cs typeface="-apple-system"/>
              </a:rPr>
              <a:t> spatially, perform analysis in the web browser to discover </a:t>
            </a:r>
            <a:r>
              <a:rPr lang="en-US" sz="1500" b="1" err="1">
                <a:solidFill>
                  <a:srgbClr val="0A66C2"/>
                </a:solidFill>
                <a:latin typeface="-apple-system"/>
                <a:ea typeface="-apple-system"/>
                <a:cs typeface="-apple-system"/>
                <a:hlinkClick r:id="rId14"/>
              </a:rPr>
              <a:t>hashtag#patterns</a:t>
            </a:r>
            <a:r>
              <a:rPr lang="en-US" sz="1500">
                <a:latin typeface="-apple-system"/>
                <a:ea typeface="-apple-system"/>
                <a:cs typeface="-apple-system"/>
              </a:rPr>
              <a:t> and </a:t>
            </a:r>
            <a:r>
              <a:rPr lang="en-US" sz="1500" b="1" err="1">
                <a:solidFill>
                  <a:srgbClr val="0A66C2"/>
                </a:solidFill>
                <a:latin typeface="-apple-system"/>
                <a:ea typeface="-apple-system"/>
                <a:cs typeface="-apple-system"/>
                <a:hlinkClick r:id="rId15"/>
              </a:rPr>
              <a:t>hashtag#trends</a:t>
            </a:r>
            <a:r>
              <a:rPr lang="en-US" sz="1500">
                <a:latin typeface="-apple-system"/>
                <a:ea typeface="-apple-system"/>
                <a:cs typeface="-apple-system"/>
              </a:rPr>
              <a:t>, and </a:t>
            </a:r>
            <a:r>
              <a:rPr lang="en-US" sz="1500" b="1" err="1">
                <a:solidFill>
                  <a:srgbClr val="0A66C2"/>
                </a:solidFill>
                <a:latin typeface="-apple-system"/>
                <a:ea typeface="-apple-system"/>
                <a:cs typeface="-apple-system"/>
                <a:hlinkClick r:id="rId16"/>
              </a:rPr>
              <a:t>hashtag#share</a:t>
            </a:r>
            <a:r>
              <a:rPr lang="en-US" sz="1500">
                <a:latin typeface="-apple-system"/>
                <a:ea typeface="-apple-system"/>
                <a:cs typeface="-apple-system"/>
              </a:rPr>
              <a:t> and </a:t>
            </a:r>
            <a:r>
              <a:rPr lang="en-US" sz="1500" b="1" err="1">
                <a:solidFill>
                  <a:srgbClr val="0A66C2"/>
                </a:solidFill>
                <a:latin typeface="-apple-system"/>
                <a:ea typeface="-apple-system"/>
                <a:cs typeface="-apple-system"/>
                <a:hlinkClick r:id="rId17"/>
              </a:rPr>
              <a:t>hashtag#collaborate</a:t>
            </a:r>
            <a:r>
              <a:rPr lang="en-US" sz="1500">
                <a:latin typeface="-apple-system"/>
                <a:ea typeface="-apple-system"/>
                <a:cs typeface="-apple-system"/>
              </a:rPr>
              <a:t> inside and outside your </a:t>
            </a:r>
            <a:r>
              <a:rPr lang="en-US" sz="1500" b="1" err="1">
                <a:solidFill>
                  <a:srgbClr val="0A66C2"/>
                </a:solidFill>
                <a:latin typeface="-apple-system"/>
                <a:ea typeface="-apple-system"/>
                <a:cs typeface="-apple-system"/>
                <a:hlinkClick r:id="rId18"/>
              </a:rPr>
              <a:t>hashtag#organization</a:t>
            </a:r>
            <a:r>
              <a:rPr lang="en-US" sz="1500">
                <a:latin typeface="-apple-system"/>
                <a:ea typeface="-apple-system"/>
                <a:cs typeface="-apple-system"/>
              </a:rPr>
              <a:t>.</a:t>
            </a:r>
            <a:br>
              <a:rPr lang="en-US" sz="1500">
                <a:latin typeface="-apple-system"/>
                <a:ea typeface="-apple-system"/>
                <a:cs typeface="-apple-system"/>
              </a:rPr>
            </a:br>
            <a:br>
              <a:rPr lang="en-US" sz="1500">
                <a:latin typeface="-apple-system"/>
                <a:ea typeface="-apple-system"/>
                <a:cs typeface="-apple-system"/>
              </a:rPr>
            </a:br>
            <a:r>
              <a:rPr lang="en-US" sz="1500">
                <a:latin typeface="-apple-system"/>
                <a:ea typeface="-apple-system"/>
                <a:cs typeface="-apple-system"/>
              </a:rPr>
              <a:t>ArcGIS Enterprise includes options for comprehensive mapping, image exploitation, </a:t>
            </a:r>
            <a:r>
              <a:rPr lang="en-US" sz="1500" b="1" err="1">
                <a:solidFill>
                  <a:srgbClr val="0A66C2"/>
                </a:solidFill>
                <a:latin typeface="-apple-system"/>
                <a:ea typeface="-apple-system"/>
                <a:cs typeface="-apple-system"/>
                <a:hlinkClick r:id="rId19"/>
              </a:rPr>
              <a:t>hashtag#realtime</a:t>
            </a:r>
            <a:r>
              <a:rPr lang="en-US" sz="1500">
                <a:latin typeface="-apple-system"/>
                <a:ea typeface="-apple-system"/>
                <a:cs typeface="-apple-system"/>
              </a:rPr>
              <a:t> data processing, </a:t>
            </a:r>
            <a:r>
              <a:rPr lang="en-US" sz="1500" b="1" err="1">
                <a:solidFill>
                  <a:srgbClr val="0A66C2"/>
                </a:solidFill>
                <a:latin typeface="-apple-system"/>
                <a:ea typeface="-apple-system"/>
                <a:cs typeface="-apple-system"/>
                <a:hlinkClick r:id="rId20"/>
              </a:rPr>
              <a:t>hashtag#bigdata</a:t>
            </a:r>
            <a:r>
              <a:rPr lang="en-US" sz="1500">
                <a:latin typeface="-apple-system"/>
                <a:ea typeface="-apple-system"/>
                <a:cs typeface="-apple-system"/>
              </a:rPr>
              <a:t> analysis, and using data science tools. It also powers the full suite of applications for </a:t>
            </a:r>
            <a:r>
              <a:rPr lang="en-US" sz="1500" b="1" err="1">
                <a:solidFill>
                  <a:srgbClr val="0A66C2"/>
                </a:solidFill>
                <a:latin typeface="-apple-system"/>
                <a:ea typeface="-apple-system"/>
                <a:cs typeface="-apple-system"/>
                <a:hlinkClick r:id="rId21"/>
              </a:rPr>
              <a:t>hashtag#field</a:t>
            </a:r>
            <a:r>
              <a:rPr lang="en-US" sz="1500">
                <a:latin typeface="-apple-system"/>
                <a:ea typeface="-apple-system"/>
                <a:cs typeface="-apple-system"/>
              </a:rPr>
              <a:t> data </a:t>
            </a:r>
            <a:r>
              <a:rPr lang="en-US" sz="1500" b="1" err="1">
                <a:solidFill>
                  <a:srgbClr val="0A66C2"/>
                </a:solidFill>
                <a:latin typeface="-apple-system"/>
                <a:ea typeface="-apple-system"/>
                <a:cs typeface="-apple-system"/>
                <a:hlinkClick r:id="rId22"/>
              </a:rPr>
              <a:t>hashtag#collection</a:t>
            </a:r>
            <a:r>
              <a:rPr lang="en-US" sz="1500">
                <a:latin typeface="-apple-system"/>
                <a:ea typeface="-apple-system"/>
                <a:cs typeface="-apple-system"/>
              </a:rPr>
              <a:t>, analysis, </a:t>
            </a:r>
            <a:r>
              <a:rPr lang="en-US" sz="1500" b="1" err="1">
                <a:solidFill>
                  <a:srgbClr val="0A66C2"/>
                </a:solidFill>
                <a:latin typeface="-apple-system"/>
                <a:ea typeface="-apple-system"/>
                <a:cs typeface="-apple-system"/>
                <a:hlinkClick r:id="rId23"/>
              </a:rPr>
              <a:t>hashtag#operational</a:t>
            </a:r>
            <a:r>
              <a:rPr lang="en-US" sz="1500">
                <a:latin typeface="-apple-system"/>
                <a:ea typeface="-apple-system"/>
                <a:cs typeface="-apple-system"/>
              </a:rPr>
              <a:t> intelligence, and workforce </a:t>
            </a:r>
            <a:r>
              <a:rPr lang="en-US" sz="1500" b="1" err="1">
                <a:solidFill>
                  <a:srgbClr val="0A66C2"/>
                </a:solidFill>
                <a:latin typeface="-apple-system"/>
                <a:ea typeface="-apple-system"/>
                <a:cs typeface="-apple-system"/>
                <a:hlinkClick r:id="rId24"/>
              </a:rPr>
              <a:t>hashtag#tracking</a:t>
            </a:r>
            <a:r>
              <a:rPr lang="en-US" sz="1500">
                <a:latin typeface="-apple-system"/>
                <a:ea typeface="-apple-system"/>
                <a:cs typeface="-apple-system"/>
              </a:rPr>
              <a:t>.</a:t>
            </a:r>
            <a:br>
              <a:rPr lang="en-US" sz="1500">
                <a:latin typeface="-apple-system"/>
                <a:ea typeface="-apple-system"/>
                <a:cs typeface="-apple-system"/>
              </a:rPr>
            </a:br>
            <a:br>
              <a:rPr lang="en-US" sz="1500">
                <a:latin typeface="-apple-system"/>
                <a:ea typeface="-apple-system"/>
                <a:cs typeface="-apple-system"/>
              </a:rPr>
            </a:br>
            <a:r>
              <a:rPr lang="en-US" sz="1500">
                <a:latin typeface="-apple-system"/>
                <a:ea typeface="-apple-system"/>
                <a:cs typeface="-apple-system"/>
              </a:rPr>
              <a:t>The functionality matrix below features the vast and diverse </a:t>
            </a:r>
            <a:r>
              <a:rPr lang="en-US" sz="1500" b="1" err="1">
                <a:solidFill>
                  <a:srgbClr val="0A66C2"/>
                </a:solidFill>
                <a:latin typeface="-apple-system"/>
                <a:ea typeface="-apple-system"/>
                <a:cs typeface="-apple-system"/>
                <a:hlinkClick r:id="rId25"/>
              </a:rPr>
              <a:t>hashtag#capabilities</a:t>
            </a:r>
            <a:r>
              <a:rPr lang="en-US" sz="1500">
                <a:latin typeface="-apple-system"/>
                <a:ea typeface="-apple-system"/>
                <a:cs typeface="-apple-system"/>
              </a:rPr>
              <a:t> of ArcGIS Enterprise. It helps users identify which </a:t>
            </a:r>
            <a:r>
              <a:rPr lang="en-US" sz="1500" b="1" err="1">
                <a:solidFill>
                  <a:srgbClr val="0A66C2"/>
                </a:solidFill>
                <a:latin typeface="-apple-system"/>
                <a:ea typeface="-apple-system"/>
                <a:cs typeface="-apple-system"/>
                <a:hlinkClick r:id="rId26"/>
              </a:rPr>
              <a:t>hashtag#products</a:t>
            </a:r>
            <a:r>
              <a:rPr lang="en-US" sz="1500">
                <a:latin typeface="-apple-system"/>
                <a:ea typeface="-apple-system"/>
                <a:cs typeface="-apple-system"/>
              </a:rPr>
              <a:t>, </a:t>
            </a:r>
            <a:r>
              <a:rPr lang="en-US" sz="1500" b="1" err="1">
                <a:solidFill>
                  <a:srgbClr val="0A66C2"/>
                </a:solidFill>
                <a:latin typeface="-apple-system"/>
                <a:ea typeface="-apple-system"/>
                <a:cs typeface="-apple-system"/>
                <a:hlinkClick r:id="rId27"/>
              </a:rPr>
              <a:t>hashtag#licenses</a:t>
            </a:r>
            <a:r>
              <a:rPr lang="en-US" sz="1500">
                <a:latin typeface="-apple-system"/>
                <a:ea typeface="-apple-system"/>
                <a:cs typeface="-apple-system"/>
              </a:rPr>
              <a:t>, </a:t>
            </a:r>
            <a:r>
              <a:rPr lang="en-US" sz="1500" b="1" err="1">
                <a:solidFill>
                  <a:srgbClr val="0A66C2"/>
                </a:solidFill>
                <a:latin typeface="-apple-system"/>
                <a:ea typeface="-apple-system"/>
                <a:cs typeface="-apple-system"/>
                <a:hlinkClick r:id="rId28"/>
              </a:rPr>
              <a:t>hashtag#usertypes</a:t>
            </a:r>
            <a:r>
              <a:rPr lang="en-US" sz="1500">
                <a:latin typeface="-apple-system"/>
                <a:ea typeface="-apple-system"/>
                <a:cs typeface="-apple-system"/>
              </a:rPr>
              <a:t>, </a:t>
            </a:r>
            <a:r>
              <a:rPr lang="en-US" sz="1500" b="1" err="1">
                <a:solidFill>
                  <a:srgbClr val="0A66C2"/>
                </a:solidFill>
                <a:latin typeface="-apple-system"/>
                <a:ea typeface="-apple-system"/>
                <a:cs typeface="-apple-system"/>
                <a:hlinkClick r:id="rId25"/>
              </a:rPr>
              <a:t>hashtag#capabilities</a:t>
            </a:r>
            <a:r>
              <a:rPr lang="en-US" sz="1500">
                <a:latin typeface="-apple-system"/>
                <a:ea typeface="-apple-system"/>
                <a:cs typeface="-apple-system"/>
              </a:rPr>
              <a:t>, and </a:t>
            </a:r>
            <a:r>
              <a:rPr lang="en-US" sz="1500" b="1" err="1">
                <a:solidFill>
                  <a:srgbClr val="0A66C2"/>
                </a:solidFill>
                <a:latin typeface="-apple-system"/>
                <a:ea typeface="-apple-system"/>
                <a:cs typeface="-apple-system"/>
                <a:hlinkClick r:id="rId29"/>
              </a:rPr>
              <a:t>hashtag#extensions</a:t>
            </a:r>
            <a:r>
              <a:rPr lang="en-US" sz="1500">
                <a:latin typeface="-apple-system"/>
                <a:ea typeface="-apple-system"/>
                <a:cs typeface="-apple-system"/>
              </a:rPr>
              <a:t> best suit user needs and manage, </a:t>
            </a:r>
            <a:r>
              <a:rPr lang="en-US" sz="1500" b="1" err="1">
                <a:solidFill>
                  <a:srgbClr val="0A66C2"/>
                </a:solidFill>
                <a:latin typeface="-apple-system"/>
                <a:ea typeface="-apple-system"/>
                <a:cs typeface="-apple-system"/>
                <a:hlinkClick r:id="rId30"/>
              </a:rPr>
              <a:t>hashtag#map</a:t>
            </a:r>
            <a:r>
              <a:rPr lang="en-US" sz="1500">
                <a:latin typeface="-apple-system"/>
                <a:ea typeface="-apple-system"/>
                <a:cs typeface="-apple-system"/>
              </a:rPr>
              <a:t>, analyze, and share GIS data to power your decisions.</a:t>
            </a:r>
          </a:p>
          <a:p>
            <a:endParaRPr lang="en-US" sz="1500">
              <a:latin typeface="-apple-system"/>
              <a:ea typeface="-apple-system"/>
              <a:cs typeface="-apple-system"/>
            </a:endParaRPr>
          </a:p>
          <a:p>
            <a:pPr algn="ctr"/>
            <a:endParaRPr lang="pt-BR" sz="1500">
              <a:ea typeface="Calibri"/>
              <a:cs typeface="Calibri"/>
            </a:endParaRPr>
          </a:p>
        </p:txBody>
      </p:sp>
      <p:pic>
        <p:nvPicPr>
          <p:cNvPr id="5" name="Imagem 4" descr="Uma imagem contendo Texto&#10;&#10;O conteúdo gerado por IA pode estar incorreto.">
            <a:extLst>
              <a:ext uri="{FF2B5EF4-FFF2-40B4-BE49-F238E27FC236}">
                <a16:creationId xmlns:a16="http://schemas.microsoft.com/office/drawing/2014/main" id="{B68CACA4-9CD8-E03F-381F-C6720357EA16}"/>
              </a:ext>
            </a:extLst>
          </p:cNvPr>
          <p:cNvPicPr>
            <a:picLocks noChangeAspect="1"/>
          </p:cNvPicPr>
          <p:nvPr/>
        </p:nvPicPr>
        <p:blipFill>
          <a:blip r:embed="rId31"/>
          <a:stretch>
            <a:fillRect/>
          </a:stretch>
        </p:blipFill>
        <p:spPr>
          <a:xfrm>
            <a:off x="1374475" y="752475"/>
            <a:ext cx="3347050" cy="4202862"/>
          </a:xfrm>
          <a:prstGeom prst="rect">
            <a:avLst/>
          </a:prstGeom>
        </p:spPr>
      </p:pic>
      <p:sp>
        <p:nvSpPr>
          <p:cNvPr id="6" name="CaixaDeTexto 5">
            <a:extLst>
              <a:ext uri="{FF2B5EF4-FFF2-40B4-BE49-F238E27FC236}">
                <a16:creationId xmlns:a16="http://schemas.microsoft.com/office/drawing/2014/main" id="{EFD91245-9152-ADEB-A622-3FEE8276B838}"/>
              </a:ext>
            </a:extLst>
          </p:cNvPr>
          <p:cNvSpPr txBox="1"/>
          <p:nvPr/>
        </p:nvSpPr>
        <p:spPr>
          <a:xfrm>
            <a:off x="359434" y="5125528"/>
            <a:ext cx="5147095"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https://www.linkedin.com/posts/sherif-osama-elsherif-94082233_arcgis-enterprise-functionality-matrix-activity-7269990885583376384-5g7S?utm_source=share&amp;utm_medium=member_desktop&amp;rcm=ACoAAAMQtAUB5UouXqdBJgo_gWpNVZ7Imay_2Tg</a:t>
            </a:r>
          </a:p>
          <a:p>
            <a:pPr algn="ctr"/>
            <a:endParaRPr lang="pt-BR"/>
          </a:p>
        </p:txBody>
      </p:sp>
    </p:spTree>
    <p:extLst>
      <p:ext uri="{BB962C8B-B14F-4D97-AF65-F5344CB8AC3E}">
        <p14:creationId xmlns:p14="http://schemas.microsoft.com/office/powerpoint/2010/main" val="187104474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03588A9D-7C67-AF52-A4CC-BD7F07BC49D1}"/>
              </a:ext>
            </a:extLst>
          </p:cNvPr>
          <p:cNvSpPr txBox="1"/>
          <p:nvPr/>
        </p:nvSpPr>
        <p:spPr>
          <a:xfrm>
            <a:off x="5564038" y="2135038"/>
            <a:ext cx="6096000"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Do you use GIS to manage wastewater data? Are you interested in learning how the utility network supports some of your most important daily workflows? Check out the new tutorial we just released that does just that! </a:t>
            </a:r>
            <a:r>
              <a:rPr lang="en-US" b="1">
                <a:solidFill>
                  <a:srgbClr val="0A66C2"/>
                </a:solidFill>
                <a:latin typeface="-apple-system"/>
                <a:ea typeface="-apple-system"/>
                <a:cs typeface="-apple-system"/>
                <a:hlinkClick r:id="rId2"/>
              </a:rPr>
              <a:t>https://lnkd.in/gGUsgGrV</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If you're interested in more utility network content for sewer/storm workflows, be sure to check out the sewer/storm learning series: </a:t>
            </a:r>
            <a:r>
              <a:rPr lang="en-US" b="1">
                <a:solidFill>
                  <a:srgbClr val="0A66C2"/>
                </a:solidFill>
                <a:latin typeface="-apple-system"/>
                <a:ea typeface="-apple-system"/>
                <a:cs typeface="-apple-system"/>
                <a:hlinkClick r:id="rId3"/>
              </a:rPr>
              <a:t>https://lnkd.in/gSReh-2E</a:t>
            </a:r>
            <a:endParaRPr lang="en-US"/>
          </a:p>
          <a:p>
            <a:pPr algn="ctr"/>
            <a:endParaRPr lang="pt-BR"/>
          </a:p>
        </p:txBody>
      </p:sp>
      <p:pic>
        <p:nvPicPr>
          <p:cNvPr id="5" name="Imagem 4" descr="Mapa&#10;&#10;O conteúdo gerado por IA pode estar incorreto.">
            <a:extLst>
              <a:ext uri="{FF2B5EF4-FFF2-40B4-BE49-F238E27FC236}">
                <a16:creationId xmlns:a16="http://schemas.microsoft.com/office/drawing/2014/main" id="{E04FD6B8-DAC8-82AC-D5B6-25C837E969D3}"/>
              </a:ext>
            </a:extLst>
          </p:cNvPr>
          <p:cNvPicPr>
            <a:picLocks noChangeAspect="1"/>
          </p:cNvPicPr>
          <p:nvPr/>
        </p:nvPicPr>
        <p:blipFill>
          <a:blip r:embed="rId4"/>
          <a:stretch>
            <a:fillRect/>
          </a:stretch>
        </p:blipFill>
        <p:spPr>
          <a:xfrm>
            <a:off x="330140" y="1300882"/>
            <a:ext cx="5076286" cy="3853672"/>
          </a:xfrm>
          <a:prstGeom prst="rect">
            <a:avLst/>
          </a:prstGeom>
        </p:spPr>
      </p:pic>
      <p:sp>
        <p:nvSpPr>
          <p:cNvPr id="6" name="CaixaDeTexto 5">
            <a:extLst>
              <a:ext uri="{FF2B5EF4-FFF2-40B4-BE49-F238E27FC236}">
                <a16:creationId xmlns:a16="http://schemas.microsoft.com/office/drawing/2014/main" id="{C3FAB9CB-E303-F0B7-DFAE-7958E4D5C146}"/>
              </a:ext>
            </a:extLst>
          </p:cNvPr>
          <p:cNvSpPr txBox="1"/>
          <p:nvPr/>
        </p:nvSpPr>
        <p:spPr>
          <a:xfrm>
            <a:off x="560717" y="5168660"/>
            <a:ext cx="4615133" cy="18466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https://www.linkedin.com/posts/robert-krisher-5a989438_get-started-with-arcgis-utility-network-for-activity-7274428952717238274-QUgJ?utm_source=share&amp;utm_medium=member_desktop&amp;rcm=ACoAAAMQtAUB5UouXqdBJgo_gWpNVZ7Imay_2Tg</a:t>
            </a:r>
          </a:p>
          <a:p>
            <a:pPr algn="ctr"/>
            <a:endParaRPr lang="pt-BR"/>
          </a:p>
        </p:txBody>
      </p:sp>
    </p:spTree>
    <p:extLst>
      <p:ext uri="{BB962C8B-B14F-4D97-AF65-F5344CB8AC3E}">
        <p14:creationId xmlns:p14="http://schemas.microsoft.com/office/powerpoint/2010/main" val="147234726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503D02E6-B45B-8661-DD7E-DD1C0C77806C}"/>
              </a:ext>
            </a:extLst>
          </p:cNvPr>
          <p:cNvSpPr txBox="1"/>
          <p:nvPr/>
        </p:nvSpPr>
        <p:spPr>
          <a:xfrm>
            <a:off x="5607170" y="582283"/>
            <a:ext cx="6096000"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A </a:t>
            </a:r>
            <a:r>
              <a:rPr lang="en-US" b="1">
                <a:solidFill>
                  <a:srgbClr val="0A66C2"/>
                </a:solidFill>
                <a:latin typeface="-apple-system"/>
                <a:ea typeface="-apple-system"/>
                <a:cs typeface="-apple-system"/>
                <a:hlinkClick r:id="rId2"/>
              </a:rPr>
              <a:t>TPF Engenharia</a:t>
            </a:r>
            <a:r>
              <a:rPr lang="en-US">
                <a:latin typeface="-apple-system"/>
                <a:ea typeface="-apple-system"/>
                <a:cs typeface="-apple-system"/>
              </a:rPr>
              <a:t> revolucionou a gestão de projetos complexos com o uso do ArcGIS GeoBIM. 🔝</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 Economia de tempo: Conexão direta entre nuvens, eliminando downloads pesados e acelerando análises críticas. ⏰</a:t>
            </a:r>
            <a:br>
              <a:rPr lang="en-US">
                <a:latin typeface="-apple-system"/>
                <a:ea typeface="-apple-system"/>
                <a:cs typeface="-apple-system"/>
              </a:rPr>
            </a:br>
            <a:r>
              <a:rPr lang="en-US">
                <a:latin typeface="-apple-system"/>
                <a:ea typeface="-apple-system"/>
                <a:cs typeface="-apple-system"/>
              </a:rPr>
              <a:t>• Ampliação do faturamento: Soluções inovadoras, como o PLUG, abriram novas oportunidades no mercado. 💰</a:t>
            </a:r>
            <a:br>
              <a:rPr lang="en-US">
                <a:latin typeface="-apple-system"/>
                <a:ea typeface="-apple-system"/>
                <a:cs typeface="-apple-system"/>
              </a:rPr>
            </a:br>
            <a:r>
              <a:rPr lang="en-US">
                <a:latin typeface="-apple-system"/>
                <a:ea typeface="-apple-system"/>
                <a:cs typeface="-apple-system"/>
              </a:rPr>
              <a:t>• Otimização de dados BIM: Integração eficiente, eliminando gargalos e simplificando fluxos de trabalho. 🌐</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Em parceria com a Imagem Geosistemas, a TPF Engenharia entrega eficiência e inovação no mercado de engenharia consultiva. 😉</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Assista o vídeo e confira agora como a TPF Engenharia escalou resultados integrando GIS e BIM! 👏</a:t>
            </a:r>
            <a:endParaRPr lang="en-US"/>
          </a:p>
          <a:p>
            <a:pPr algn="ctr"/>
            <a:endParaRPr lang="pt-BR"/>
          </a:p>
        </p:txBody>
      </p:sp>
      <p:pic>
        <p:nvPicPr>
          <p:cNvPr id="5" name="Imagem 4" descr="Por do sol e mar&#10;&#10;O conteúdo gerado por IA pode estar incorreto.">
            <a:extLst>
              <a:ext uri="{FF2B5EF4-FFF2-40B4-BE49-F238E27FC236}">
                <a16:creationId xmlns:a16="http://schemas.microsoft.com/office/drawing/2014/main" id="{40203511-C2A3-A03A-1C03-4C235B8143C7}"/>
              </a:ext>
            </a:extLst>
          </p:cNvPr>
          <p:cNvPicPr>
            <a:picLocks noChangeAspect="1"/>
          </p:cNvPicPr>
          <p:nvPr/>
        </p:nvPicPr>
        <p:blipFill>
          <a:blip r:embed="rId3"/>
          <a:stretch>
            <a:fillRect/>
          </a:stretch>
        </p:blipFill>
        <p:spPr>
          <a:xfrm>
            <a:off x="732078" y="1227108"/>
            <a:ext cx="4200525" cy="2362200"/>
          </a:xfrm>
          <a:prstGeom prst="rect">
            <a:avLst/>
          </a:prstGeom>
        </p:spPr>
      </p:pic>
      <p:sp>
        <p:nvSpPr>
          <p:cNvPr id="6" name="CaixaDeTexto 5">
            <a:extLst>
              <a:ext uri="{FF2B5EF4-FFF2-40B4-BE49-F238E27FC236}">
                <a16:creationId xmlns:a16="http://schemas.microsoft.com/office/drawing/2014/main" id="{C44CCC1D-E709-53E3-DA84-1CD4C9E02580}"/>
              </a:ext>
            </a:extLst>
          </p:cNvPr>
          <p:cNvSpPr txBox="1"/>
          <p:nvPr/>
        </p:nvSpPr>
        <p:spPr>
          <a:xfrm>
            <a:off x="301925" y="4176623"/>
            <a:ext cx="5060831"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Link: https://www.linkedin.com/posts/imagemesri_imgesri-gis-arcgis-activity-7274848035329781762-7w-A?utm_source=share&amp;utm_medium=member_desktop&amp;rcm=ACoAAAMQtAUB5UouXqdBJgo_gWpNVZ7Imay_2Tg</a:t>
            </a:r>
          </a:p>
          <a:p>
            <a:pPr algn="ctr"/>
            <a:endParaRPr lang="pt-BR"/>
          </a:p>
        </p:txBody>
      </p:sp>
    </p:spTree>
    <p:extLst>
      <p:ext uri="{BB962C8B-B14F-4D97-AF65-F5344CB8AC3E}">
        <p14:creationId xmlns:p14="http://schemas.microsoft.com/office/powerpoint/2010/main" val="274612485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3B9D1E51-5814-6A99-4EBF-44E3AD3537BB}"/>
              </a:ext>
            </a:extLst>
          </p:cNvPr>
          <p:cNvSpPr txBox="1"/>
          <p:nvPr/>
        </p:nvSpPr>
        <p:spPr>
          <a:xfrm>
            <a:off x="5635925" y="222848"/>
            <a:ext cx="6354792" cy="68322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latin typeface="-apple-system"/>
                <a:ea typeface="-apple-system"/>
                <a:cs typeface="-apple-system"/>
              </a:rPr>
              <a:t>Free breakdown of Data Types and Guide to </a:t>
            </a:r>
            <a:r>
              <a:rPr lang="en-US" sz="1400" err="1">
                <a:latin typeface="-apple-system"/>
                <a:ea typeface="-apple-system"/>
                <a:cs typeface="-apple-system"/>
              </a:rPr>
              <a:t>Digitising</a:t>
            </a:r>
            <a:r>
              <a:rPr lang="en-US" sz="1400">
                <a:latin typeface="-apple-system"/>
                <a:ea typeface="-apple-system"/>
                <a:cs typeface="-apple-system"/>
              </a:rPr>
              <a:t> Accurately 🌍 </a:t>
            </a:r>
            <a:br>
              <a:rPr lang="en-US" sz="1400">
                <a:latin typeface="-apple-system"/>
                <a:ea typeface="-apple-system"/>
                <a:cs typeface="-apple-system"/>
              </a:rPr>
            </a:br>
            <a:br>
              <a:rPr lang="en-US" sz="1400">
                <a:latin typeface="-apple-system"/>
                <a:ea typeface="-apple-system"/>
                <a:cs typeface="-apple-system"/>
              </a:rPr>
            </a:br>
            <a:r>
              <a:rPr lang="en-US" sz="1400">
                <a:latin typeface="-apple-system"/>
                <a:ea typeface="-apple-system"/>
                <a:cs typeface="-apple-system"/>
              </a:rPr>
              <a:t>GIS data types are the building blocks of modern geospatial analysis. Each format has unique characteristics that make it suitable for specific tasks—from </a:t>
            </a:r>
            <a:r>
              <a:rPr lang="en-US" sz="1400" err="1">
                <a:latin typeface="-apple-system"/>
                <a:ea typeface="-apple-system"/>
                <a:cs typeface="-apple-system"/>
              </a:rPr>
              <a:t>visualising</a:t>
            </a:r>
            <a:r>
              <a:rPr lang="en-US" sz="1400">
                <a:latin typeface="-apple-system"/>
                <a:ea typeface="-apple-system"/>
                <a:cs typeface="-apple-system"/>
              </a:rPr>
              <a:t> geographic data to performing advanced spatial analyses. However, navigating these options can feel like a maze, especially with the rapid evolution of technology and the increasing availability of cloud-based and open-source solutions. Here is a breakdown of each one and where you would most likely use them!</a:t>
            </a:r>
            <a:br>
              <a:rPr lang="en-US" sz="1400">
                <a:latin typeface="-apple-system"/>
                <a:ea typeface="-apple-system"/>
                <a:cs typeface="-apple-system"/>
              </a:rPr>
            </a:br>
            <a:r>
              <a:rPr lang="en-US" sz="1400">
                <a:latin typeface="-apple-system"/>
                <a:ea typeface="-apple-system"/>
                <a:cs typeface="-apple-system"/>
              </a:rPr>
              <a:t>To make it easier for everyone, I’ve compiled everything into a single, handy PDF guide! 📄 - See Comment</a:t>
            </a:r>
            <a:br>
              <a:rPr lang="en-US" sz="1400">
                <a:latin typeface="-apple-system"/>
                <a:ea typeface="-apple-system"/>
                <a:cs typeface="-apple-system"/>
              </a:rPr>
            </a:br>
            <a:r>
              <a:rPr lang="en-US" sz="1400">
                <a:latin typeface="-apple-system"/>
                <a:ea typeface="-apple-system"/>
                <a:cs typeface="-apple-system"/>
              </a:rPr>
              <a:t>Whether you're a student, a professional, or just GIS-curious, this guide will help you better understand key data types, including:</a:t>
            </a:r>
            <a:br>
              <a:rPr lang="en-US" sz="1400">
                <a:latin typeface="-apple-system"/>
                <a:ea typeface="-apple-system"/>
                <a:cs typeface="-apple-system"/>
              </a:rPr>
            </a:br>
            <a:r>
              <a:rPr lang="en-US" sz="1400">
                <a:latin typeface="-apple-system"/>
                <a:ea typeface="-apple-system"/>
                <a:cs typeface="-apple-system"/>
              </a:rPr>
              <a:t>✅ </a:t>
            </a:r>
            <a:r>
              <a:rPr lang="en-US" sz="1400" err="1">
                <a:latin typeface="-apple-system"/>
                <a:ea typeface="-apple-system"/>
                <a:cs typeface="-apple-system"/>
              </a:rPr>
              <a:t>Geopackage</a:t>
            </a:r>
            <a:br>
              <a:rPr lang="en-US" sz="1400">
                <a:latin typeface="-apple-system"/>
                <a:ea typeface="-apple-system"/>
                <a:cs typeface="-apple-system"/>
              </a:rPr>
            </a:br>
            <a:r>
              <a:rPr lang="en-US" sz="1400">
                <a:latin typeface="-apple-system"/>
                <a:ea typeface="-apple-system"/>
                <a:cs typeface="-apple-system"/>
              </a:rPr>
              <a:t>✅ </a:t>
            </a:r>
            <a:r>
              <a:rPr lang="en-US" sz="1400" err="1">
                <a:latin typeface="-apple-system"/>
                <a:ea typeface="-apple-system"/>
                <a:cs typeface="-apple-system"/>
              </a:rPr>
              <a:t>GeoJSON</a:t>
            </a:r>
            <a:br>
              <a:rPr lang="en-US" sz="1400">
                <a:latin typeface="-apple-system"/>
                <a:ea typeface="-apple-system"/>
                <a:cs typeface="-apple-system"/>
              </a:rPr>
            </a:br>
            <a:r>
              <a:rPr lang="en-US" sz="1400">
                <a:latin typeface="-apple-system"/>
                <a:ea typeface="-apple-system"/>
                <a:cs typeface="-apple-system"/>
              </a:rPr>
              <a:t>✅ </a:t>
            </a:r>
            <a:r>
              <a:rPr lang="en-US" sz="1400" err="1">
                <a:latin typeface="-apple-system"/>
                <a:ea typeface="-apple-system"/>
                <a:cs typeface="-apple-system"/>
              </a:rPr>
              <a:t>GeoTIFF</a:t>
            </a:r>
            <a:br>
              <a:rPr lang="en-US" sz="1400">
                <a:latin typeface="-apple-system"/>
                <a:ea typeface="-apple-system"/>
                <a:cs typeface="-apple-system"/>
              </a:rPr>
            </a:br>
            <a:r>
              <a:rPr lang="en-US" sz="1400">
                <a:latin typeface="-apple-system"/>
                <a:ea typeface="-apple-system"/>
                <a:cs typeface="-apple-system"/>
              </a:rPr>
              <a:t>✅ COGs (Cloud Optimized </a:t>
            </a:r>
            <a:r>
              <a:rPr lang="en-US" sz="1400" err="1">
                <a:latin typeface="-apple-system"/>
                <a:ea typeface="-apple-system"/>
                <a:cs typeface="-apple-system"/>
              </a:rPr>
              <a:t>GeoTIFFs</a:t>
            </a:r>
            <a:r>
              <a:rPr lang="en-US" sz="1400">
                <a:latin typeface="-apple-system"/>
                <a:ea typeface="-apple-system"/>
                <a:cs typeface="-apple-system"/>
              </a:rPr>
              <a:t>)</a:t>
            </a:r>
            <a:br>
              <a:rPr lang="en-US" sz="1400">
                <a:latin typeface="-apple-system"/>
                <a:ea typeface="-apple-system"/>
                <a:cs typeface="-apple-system"/>
              </a:rPr>
            </a:br>
            <a:r>
              <a:rPr lang="en-US" sz="1400">
                <a:latin typeface="-apple-system"/>
                <a:ea typeface="-apple-system"/>
                <a:cs typeface="-apple-system"/>
              </a:rPr>
              <a:t>✅ Shapefile</a:t>
            </a:r>
            <a:br>
              <a:rPr lang="en-US" sz="1400">
                <a:latin typeface="-apple-system"/>
                <a:ea typeface="-apple-system"/>
                <a:cs typeface="-apple-system"/>
              </a:rPr>
            </a:br>
            <a:r>
              <a:rPr lang="en-US" sz="1400">
                <a:latin typeface="-apple-system"/>
                <a:ea typeface="-apple-system"/>
                <a:cs typeface="-apple-system"/>
              </a:rPr>
              <a:t>✅ </a:t>
            </a:r>
            <a:r>
              <a:rPr lang="en-US" sz="1400" err="1">
                <a:latin typeface="-apple-system"/>
                <a:ea typeface="-apple-system"/>
                <a:cs typeface="-apple-system"/>
              </a:rPr>
              <a:t>GeoParquet</a:t>
            </a:r>
            <a:br>
              <a:rPr lang="en-US" sz="1400">
                <a:latin typeface="-apple-system"/>
                <a:ea typeface="-apple-system"/>
                <a:cs typeface="-apple-system"/>
              </a:rPr>
            </a:br>
            <a:r>
              <a:rPr lang="en-US" sz="1400">
                <a:latin typeface="-apple-system"/>
                <a:ea typeface="-apple-system"/>
                <a:cs typeface="-apple-system"/>
              </a:rPr>
              <a:t>✅ Esri </a:t>
            </a:r>
            <a:r>
              <a:rPr lang="en-US" sz="1400" err="1">
                <a:latin typeface="-apple-system"/>
                <a:ea typeface="-apple-system"/>
                <a:cs typeface="-apple-system"/>
              </a:rPr>
              <a:t>GeoDatabase</a:t>
            </a:r>
            <a:br>
              <a:rPr lang="en-US" sz="1400">
                <a:latin typeface="-apple-system"/>
                <a:ea typeface="-apple-system"/>
                <a:cs typeface="-apple-system"/>
              </a:rPr>
            </a:br>
            <a:r>
              <a:rPr lang="en-US" sz="1400">
                <a:latin typeface="-apple-system"/>
                <a:ea typeface="-apple-system"/>
                <a:cs typeface="-apple-system"/>
              </a:rPr>
              <a:t>✅ KML (Keyhole Markup Language)</a:t>
            </a:r>
            <a:br>
              <a:rPr lang="en-US" sz="1400">
                <a:latin typeface="-apple-system"/>
                <a:ea typeface="-apple-system"/>
                <a:cs typeface="-apple-system"/>
              </a:rPr>
            </a:br>
            <a:r>
              <a:rPr lang="en-US" sz="1400">
                <a:latin typeface="-apple-system"/>
                <a:ea typeface="-apple-system"/>
                <a:cs typeface="-apple-system"/>
              </a:rPr>
              <a:t>✅ Bonus Guide :</a:t>
            </a:r>
            <a:br>
              <a:rPr lang="en-US" sz="1400">
                <a:latin typeface="-apple-system"/>
                <a:ea typeface="-apple-system"/>
                <a:cs typeface="-apple-system"/>
              </a:rPr>
            </a:br>
            <a:r>
              <a:rPr lang="en-US" sz="1400">
                <a:latin typeface="-apple-system"/>
                <a:ea typeface="-apple-system"/>
                <a:cs typeface="-apple-system"/>
              </a:rPr>
              <a:t>🟢- </a:t>
            </a:r>
            <a:r>
              <a:rPr lang="en-US" sz="1400" err="1">
                <a:latin typeface="-apple-system"/>
                <a:ea typeface="-apple-system"/>
                <a:cs typeface="-apple-system"/>
              </a:rPr>
              <a:t>Digitising</a:t>
            </a:r>
            <a:r>
              <a:rPr lang="en-US" sz="1400">
                <a:latin typeface="-apple-system"/>
                <a:ea typeface="-apple-system"/>
                <a:cs typeface="-apple-system"/>
              </a:rPr>
              <a:t> Accurately</a:t>
            </a:r>
            <a:br>
              <a:rPr lang="en-US" sz="1400">
                <a:latin typeface="-apple-system"/>
                <a:ea typeface="-apple-system"/>
                <a:cs typeface="-apple-system"/>
              </a:rPr>
            </a:br>
            <a:r>
              <a:rPr lang="en-US" sz="1400">
                <a:latin typeface="-apple-system"/>
                <a:ea typeface="-apple-system"/>
                <a:cs typeface="-apple-system"/>
              </a:rPr>
              <a:t>Each data type is broken down into:</a:t>
            </a:r>
            <a:br>
              <a:rPr lang="en-US" sz="1400">
                <a:latin typeface="-apple-system"/>
                <a:ea typeface="-apple-system"/>
                <a:cs typeface="-apple-system"/>
              </a:rPr>
            </a:br>
            <a:r>
              <a:rPr lang="en-US" sz="1400">
                <a:latin typeface="-apple-system"/>
                <a:ea typeface="-apple-system"/>
                <a:cs typeface="-apple-system"/>
              </a:rPr>
              <a:t>🟢- Introduction</a:t>
            </a:r>
            <a:br>
              <a:rPr lang="en-US" sz="1400">
                <a:latin typeface="-apple-system"/>
                <a:ea typeface="-apple-system"/>
                <a:cs typeface="-apple-system"/>
              </a:rPr>
            </a:br>
            <a:r>
              <a:rPr lang="en-US" sz="1400">
                <a:latin typeface="-apple-system"/>
                <a:ea typeface="-apple-system"/>
                <a:cs typeface="-apple-system"/>
              </a:rPr>
              <a:t>🟢- How it works</a:t>
            </a:r>
            <a:br>
              <a:rPr lang="en-US" sz="1400">
                <a:latin typeface="-apple-system"/>
                <a:ea typeface="-apple-system"/>
                <a:cs typeface="-apple-system"/>
              </a:rPr>
            </a:br>
            <a:r>
              <a:rPr lang="en-US" sz="1400">
                <a:latin typeface="-apple-system"/>
                <a:ea typeface="-apple-system"/>
                <a:cs typeface="-apple-system"/>
              </a:rPr>
              <a:t>🟢- Why you would use it</a:t>
            </a:r>
            <a:br>
              <a:rPr lang="en-US" sz="1400">
                <a:latin typeface="-apple-system"/>
                <a:ea typeface="-apple-system"/>
                <a:cs typeface="-apple-system"/>
              </a:rPr>
            </a:br>
            <a:r>
              <a:rPr lang="en-US" sz="1400">
                <a:latin typeface="-apple-system"/>
                <a:ea typeface="-apple-system"/>
                <a:cs typeface="-apple-system"/>
              </a:rPr>
              <a:t>🟢- Who’s using it today</a:t>
            </a:r>
            <a:br>
              <a:rPr lang="en-US" sz="1400">
                <a:latin typeface="-apple-system"/>
                <a:ea typeface="-apple-system"/>
                <a:cs typeface="-apple-system"/>
              </a:rPr>
            </a:br>
            <a:br>
              <a:rPr lang="en-US" sz="1400">
                <a:latin typeface="-apple-system"/>
                <a:ea typeface="-apple-system"/>
                <a:cs typeface="-apple-system"/>
              </a:rPr>
            </a:br>
            <a:r>
              <a:rPr lang="en-US" sz="1400">
                <a:latin typeface="-apple-system"/>
                <a:ea typeface="-apple-system"/>
                <a:cs typeface="-apple-system"/>
              </a:rPr>
              <a:t>Feel free to download this guide and keep it as a reference for your GIS journey! 💡</a:t>
            </a:r>
            <a:endParaRPr lang="en-US" sz="1400">
              <a:ea typeface="Calibri"/>
              <a:cs typeface="Calibri"/>
            </a:endParaRPr>
          </a:p>
          <a:p>
            <a:pPr algn="ctr"/>
            <a:endParaRPr lang="pt-BR"/>
          </a:p>
        </p:txBody>
      </p:sp>
      <p:pic>
        <p:nvPicPr>
          <p:cNvPr id="5" name="Imagem 4" descr="Texto&#10;&#10;O conteúdo gerado por IA pode estar incorreto.">
            <a:extLst>
              <a:ext uri="{FF2B5EF4-FFF2-40B4-BE49-F238E27FC236}">
                <a16:creationId xmlns:a16="http://schemas.microsoft.com/office/drawing/2014/main" id="{F8560965-6440-D084-81D4-0CA8595FBA7C}"/>
              </a:ext>
            </a:extLst>
          </p:cNvPr>
          <p:cNvPicPr>
            <a:picLocks noChangeAspect="1"/>
          </p:cNvPicPr>
          <p:nvPr/>
        </p:nvPicPr>
        <p:blipFill>
          <a:blip r:embed="rId2"/>
          <a:stretch>
            <a:fillRect/>
          </a:stretch>
        </p:blipFill>
        <p:spPr>
          <a:xfrm>
            <a:off x="655338" y="1041100"/>
            <a:ext cx="4181475" cy="4171950"/>
          </a:xfrm>
          <a:prstGeom prst="rect">
            <a:avLst/>
          </a:prstGeom>
        </p:spPr>
      </p:pic>
      <p:sp>
        <p:nvSpPr>
          <p:cNvPr id="6" name="CaixaDeTexto 5">
            <a:extLst>
              <a:ext uri="{FF2B5EF4-FFF2-40B4-BE49-F238E27FC236}">
                <a16:creationId xmlns:a16="http://schemas.microsoft.com/office/drawing/2014/main" id="{1017C5AD-BE06-E29C-C62D-A178B3E2A1DA}"/>
              </a:ext>
            </a:extLst>
          </p:cNvPr>
          <p:cNvSpPr txBox="1"/>
          <p:nvPr/>
        </p:nvSpPr>
        <p:spPr>
          <a:xfrm>
            <a:off x="201283" y="5470585"/>
            <a:ext cx="5262114" cy="12311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https://www.linkedin.com/posts/semir-kahrimanovic-44020a175_gis-geospatial-data-activity-7275790852998803456-GOOK?utm_source=share&amp;utm_medium=member_desktop&amp;rcm=ACoAAAMQtAUB5UouXqdBJgo_gWpNVZ7Imay_2Tg</a:t>
            </a:r>
          </a:p>
          <a:p>
            <a:pPr algn="ctr"/>
            <a:endParaRPr lang="pt-BR"/>
          </a:p>
        </p:txBody>
      </p:sp>
    </p:spTree>
    <p:extLst>
      <p:ext uri="{BB962C8B-B14F-4D97-AF65-F5344CB8AC3E}">
        <p14:creationId xmlns:p14="http://schemas.microsoft.com/office/powerpoint/2010/main" val="2469176435"/>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0CFD913D-F84B-D0D7-B62C-374565F0036F}"/>
              </a:ext>
            </a:extLst>
          </p:cNvPr>
          <p:cNvSpPr txBox="1"/>
          <p:nvPr/>
        </p:nvSpPr>
        <p:spPr>
          <a:xfrm>
            <a:off x="5635925" y="1430547"/>
            <a:ext cx="6096000"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ple-system"/>
                <a:ea typeface="-apple-system"/>
                <a:cs typeface="-apple-system"/>
              </a:rPr>
              <a:t>Choosing the best GIS software can make a big difference in how smoothly and effectively you work. </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QGIS, ArcMap, and ArcGIS Pro are some of the most widely used tools for mapping, spatial analysis, and data processing. </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Each has its own strengths, costs, and features.</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This guide breaks down the key differences in a clear and simple way to help you pick the software that fits your needs, budget, and goals.</a:t>
            </a:r>
            <a:br>
              <a:rPr lang="en-US">
                <a:latin typeface="-apple-system"/>
                <a:ea typeface="-apple-system"/>
                <a:cs typeface="-apple-system"/>
              </a:rPr>
            </a:br>
            <a:br>
              <a:rPr lang="en-US">
                <a:latin typeface="-apple-system"/>
                <a:ea typeface="-apple-system"/>
                <a:cs typeface="-apple-system"/>
              </a:rPr>
            </a:br>
            <a:r>
              <a:rPr lang="en-US">
                <a:latin typeface="-apple-system"/>
                <a:ea typeface="-apple-system"/>
                <a:cs typeface="-apple-system"/>
              </a:rPr>
              <a:t>If you find this post valuable, kindly consider reposting. </a:t>
            </a:r>
            <a:endParaRPr lang="en-US"/>
          </a:p>
          <a:p>
            <a:pPr algn="ctr"/>
            <a:endParaRPr lang="pt-BR"/>
          </a:p>
        </p:txBody>
      </p:sp>
      <p:pic>
        <p:nvPicPr>
          <p:cNvPr id="5" name="Imagem 4" descr="Não foi fornecido texto alternativo para esta imagem">
            <a:extLst>
              <a:ext uri="{FF2B5EF4-FFF2-40B4-BE49-F238E27FC236}">
                <a16:creationId xmlns:a16="http://schemas.microsoft.com/office/drawing/2014/main" id="{507CCC3B-83AA-9925-C756-BAE6869A4F42}"/>
              </a:ext>
            </a:extLst>
          </p:cNvPr>
          <p:cNvPicPr>
            <a:picLocks noChangeAspect="1"/>
          </p:cNvPicPr>
          <p:nvPr/>
        </p:nvPicPr>
        <p:blipFill>
          <a:blip r:embed="rId2"/>
          <a:stretch>
            <a:fillRect/>
          </a:stretch>
        </p:blipFill>
        <p:spPr>
          <a:xfrm>
            <a:off x="646083" y="1432794"/>
            <a:ext cx="4803834" cy="3676110"/>
          </a:xfrm>
          <a:prstGeom prst="rect">
            <a:avLst/>
          </a:prstGeom>
        </p:spPr>
      </p:pic>
      <p:sp>
        <p:nvSpPr>
          <p:cNvPr id="6" name="CaixaDeTexto 5">
            <a:extLst>
              <a:ext uri="{FF2B5EF4-FFF2-40B4-BE49-F238E27FC236}">
                <a16:creationId xmlns:a16="http://schemas.microsoft.com/office/drawing/2014/main" id="{CF8192E5-3009-EEDB-B858-6288684BAC4D}"/>
              </a:ext>
            </a:extLst>
          </p:cNvPr>
          <p:cNvSpPr txBox="1"/>
          <p:nvPr/>
        </p:nvSpPr>
        <p:spPr>
          <a:xfrm>
            <a:off x="646981" y="5211792"/>
            <a:ext cx="4802038" cy="18466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Link: https://www.linkedin.com/posts/mashford-mahute-012487178_gis-geospatial-arcmap-activity-7280582420007968769-uTCd?utm_source=share&amp;utm_medium=member_desktop&amp;rcm=ACoAAAMQtAUB5UouXqdBJgo_gWpNVZ7Imay_2Tg</a:t>
            </a:r>
          </a:p>
          <a:p>
            <a:pPr algn="ctr"/>
            <a:endParaRPr lang="pt-BR"/>
          </a:p>
        </p:txBody>
      </p:sp>
    </p:spTree>
    <p:extLst>
      <p:ext uri="{BB962C8B-B14F-4D97-AF65-F5344CB8AC3E}">
        <p14:creationId xmlns:p14="http://schemas.microsoft.com/office/powerpoint/2010/main" val="561308376"/>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22596</Words>
  <Application>Microsoft Office PowerPoint</Application>
  <PresentationFormat>Widescreen</PresentationFormat>
  <Paragraphs>265</Paragraphs>
  <Slides>132</Slides>
  <Notes>0</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132</vt:i4>
      </vt:variant>
    </vt:vector>
  </HeadingPairs>
  <TitlesOfParts>
    <vt:vector size="139" baseType="lpstr">
      <vt:lpstr>-apple-system</vt:lpstr>
      <vt:lpstr>Arial</vt:lpstr>
      <vt:lpstr>Calibri</vt:lpstr>
      <vt:lpstr>Calibri Light</vt:lpstr>
      <vt:lpstr>inherit</vt:lpstr>
      <vt:lpstr>system-ui</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Link: https://www.linkedin.com/posts/field-csi_we-often-get-asked-what-the-difference-is-activity-7437870992259100672-j_Ft?utm_source=share&amp;utm_medium=member_desktop&amp;rcm=ACoAAAMQtAUB5UouXqdBJgo_gWpNVZ7Imay_2Tg</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Nagip Cesar Abrahao</dc:creator>
  <cp:lastModifiedBy>Priscila da Silva Cardoso</cp:lastModifiedBy>
  <cp:revision>264</cp:revision>
  <dcterms:created xsi:type="dcterms:W3CDTF">2023-09-03T01:55:13Z</dcterms:created>
  <dcterms:modified xsi:type="dcterms:W3CDTF">2026-04-27T12:50:59Z</dcterms:modified>
</cp:coreProperties>
</file>